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359ECD-A20D-43D6-A5D8-B3E362563F3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Set the tone: over 2 weeks we build real AI apps and a real backend; today is Generative AI from zero. Energy up. (Your personal intro is the separate slide.)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C75E53-2F18-4542-AEC6-38BDEF9609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Think-pair-share (1 min think, 2 min pair). Draw two columns on the board: CAN / CAN'T. If the room is quiet, prime it: 'you used AI this week — where?'. Seed answers — CAN: write/summarize text, code, translate, extract data, analyze images, brainstorm, tutor. CAN'T reliably: guarantee facts (hallucinates), exact math/counting, know real-time or your private data, take accountability, act on your systems without tools. Say: 'hold both lists — we'll test them all day, especially CAN'T.'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4FF42-9600-47A8-BCD5-1BAB647679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Anchor the pace: three years from ChatGPT to today. Ask: 'who used ChatGPT in 2022? what's changed since?' Point out 2026 is highlighted — the frontier moves monthly. This sets up why the failures at the end still matter.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D67CA-F272-499E-A8FF-806BC67EE0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start with the mental model: where GenAI sits inside AI/ML, and the one distinction that matters — predicting vs generating.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A56FC-09B7-4B94-BCFB-579EE73C5C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Draw the nesting live if you like. Key line: 'GenAI is the same neural-net machinery you know — pointed at a new goal: generate content instead of predicting one value.' Tie ML back to anything they've seen (spam filters, recommendations).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DCFB7-E80A-4519-A2B5-B95C3A635B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core distinction of the day. Ask: 'predicting a house price vs writing its listing — what's fundamentally different about the output?' Answer: a value/label vs new content. Everything today lives on the right side.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D5E455-ED5D-4FAA-856C-66241BF74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C — Write a product description (it creates new content). A, B, D output a label or number (discriminative). Ask why the others aren't generative before revealing. Discussion: 'give me another generative task from your own life.'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6128C-F83E-4A5D-A08D-750F5BA72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enough of the engine to build well: tokens, next-token prediction, context, and why they hallucinate.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DFE405-C3CD-4752-96A5-DACA40F2DF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Demystify it: 'it just predicts the next chunk of text, over and over.' Then the punch: 'yet from that simple objective you get code and reasoning — that's emergence.' Ask: 'if it only predicts the next word, how can it debug code?'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E5A76-6A86-4903-94B2-6DCDB04213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the live tokenizer: paste 'Generative AI', then a line of code, then Hindi/regional text — watch counts rise. Ask: 'Hindi uses ~2x tokens — what does that do to your bill at scale?' This motivates cost thinking + the open-source discussion next.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91BDF4-BDA7-418C-B7B4-AF1977C397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consider more text at once (its working memory). Clarify: bigger context ≠ faster or cheaper (often the opposite), and it does NOT stop hallucination. Discussion: 'what would you put in a 1M-token context?' (a whole codebase, a book).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B0D9D-5128-4D26-BDAB-A9763844FB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families of models — closed (proprietary) and open (open-weight). Understanding the trade-off is a real engineering decision.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74EF6-6948-41B1-AE33-657A3D7B92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are the models we call in the notebook. 'Closed' = you rent intelligence over an API; you never see the weights. Great to start, but you're sending data out and paying per token. Contrast coming up with open models.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65EA92-5057-4246-8BDC-46850C374D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'Open' = you own the model file; run it offline, fine-tune it, keep data in-house. Trade-off: you need GPUs and ops. Note the 'open-weight vs open-source' nuance so they use the term correctly. Ask: 'a hospital chatbot on patient data — closed or open? why?'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566E57-C2D4-44D8-B205-F4BF5A07DD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the rows. The headline: there's no 'best' — it's capability &amp; convenience (closed) vs control &amp; privacy (open). Have them vote row-by-row on what matters most for a project they care about.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4FC322-3C8D-4C55-B05B-BFAAA3F9A7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it as an engineering decision, not fandom. Real teams mix both (closed for hard tasks, open for high-volume/private). Ask each pair to pick a use case and justify closed vs open.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1D9BC-3E53-4ED2-862B-21992105A3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self-host &amp; keep data private. Bust the myths in the others: not always more capable (A), they need infra (C), 'free API' is the closed convenience not open (D). Discussion: 'name a domain where privacy alone forces open models.'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0C5C2-F287-4F18-9BBB-E03E99D7B5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concept to code: one client for any provider, LiteLLM to switch freely, and structured output so code can trust the result.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9456E5-B2E7-427C-B6A2-B8F21A495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big idea before the code: providers converged on one request shape. So you learn ONE interface and reach everyone. Next two slides show the actual syntax.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36CB2-CE42-420E-A35B-E63DFADFE2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the 4 parts on the right. 'system' = the model's instructions/persona; 'user' = the question. Everything else you'll do (tools, JSON) is a small addition to this same call. This is the exact shape in the notebook.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E8CA8C-E11A-4ACC-97FE-DA332B1D2A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OpenAI-shaped call — only the model string changed. LiteLLM shines for multi-provider, fallbacks, and cost control. But don't over-engineer: one provider + simple app = just its SDK. Ask: 'your app is on GPT and Gemini gets cheaper — how much changes with LiteLLM?' (one string).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223F3D-C7A7-4360-AF47-7D3D2E7B1B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problem: free text is unusable by code. The fix: define the shape you want (a Pydantic model), ask for JSON, validate. If validation fails, you catch it — not your users. Code next.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35A62-59D1-41CC-8442-77F277794A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it top-down: shape → ask for JSON → validate → use. Emphasize model_validate_json: it turns text into a checked object. This is the bridge from 'AI toy' to 'AI in a backend'.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A65127-7501-4FA5-B997-CDF1912366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ask for JSON + validate with Pydantic. Why not the others: hope isn't a plan (A); temperature adds randomness (C); asking twice doesn't guarantee structure (D). Discussion: 'what should your code do if validation fails?' (reject / retry / fallback).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757B6-FB15-45B2-9A4C-59B8E6EB6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cheapest way to better output: not a bigger model — a better prompt. A structure you can reuse every time.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CF239-EA79-4591-9BE0-50066EC3AB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both live in the notebook if time allows. The lesson: you don't always need a bigger/pricier model — you need a clearer prompt. Sets up the reusable framework next.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6718FD-17E2-4470-95CE-5DE4179BCB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them the mnemonic: Role · Task · Context · Format. Tell them to keep it as a template and fill the blanks every time. This single habit fixes most 'the AI gave me junk' complaints.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AE453D-307F-45F7-A847-DF846AE2D9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them literally copy the template. Then, live, take a weak prompt from the room and rewrite it with the 4 slots. Ask a volunteer for a task; build the strong prompt together.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A9CD4A-1347-4478-9D5B-6891E83E4B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B — Role + Task + Context + Format. Length ≠ quality (A); caps and politeness don't add structure (C, D). Discussion: 'which of the four slots do people most often forget?' (usually Format).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7FFF04-F7BE-4F16-B7D0-D018372260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GenAI fails in real, expensive ways. Knowing the failure modes — and the guardrails — is the professional's job.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4A7719-AF84-4A3B-87A5-8B99A7B5D0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 each pair one failure: 'in one line, how would you prevent it?' Collect on the board. Punch line: 'every one of these shipped without guardrails — that's the job.' The sources are clickable if anyone doubts a case.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7EB76-BC4A-4CAE-B553-0C836FF7BC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each guardrail back to a failure: verify→hallucination, bias test→Gemini, limit authority→Chevy, scan sources→nullifAI, human-in-loop→deepfake. Next slide shows how to actually do them in code.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C8051-18EC-41F1-A1D3-DB130C40C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it concrete: these are small, cheap habits — a validator, a scoping system prompt, an approval gate. Tie to their capstone: 'where does your project need a human in the loop?'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DF22BE-8400-4CF5-8956-8D98655DDF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Land the four takeaways. Ask the room to give you each one back before you show it. Then point them to the notebook exercises + homework.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DCA76F-72B3-4086-9FF2-EDBA660F36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Send them to the notebook §10 (fill-in-the-blank). Restate homework and the Day-2 read-ahead. Close with one line: 'you can now call any model and make it code-safe — tomorrow we make prompts smarter.'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CC1BCF-2D4F-43B5-BD9B-31E079D865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www.americanbar.org/groups/business_law/resources/business-law-today/2024-february/bc-tribunal-confirms-companies-remain-liable-information-provided-ai-chatbot/" TargetMode="External"/><Relationship Id="rId2" Type="http://schemas.openxmlformats.org/officeDocument/2006/relationships/hyperlink" Target="https://www.axios.com/2024/02/23/google-gemini-images-stereotypes-controversy" TargetMode="External"/><Relationship Id="rId3" Type="http://schemas.openxmlformats.org/officeDocument/2006/relationships/hyperlink" Target="https://venturebeat.com/ai/a-chevy-for-1-car-dealer-chatbots-show-perils-of-ai-for-customer-service" TargetMode="External"/><Relationship Id="rId4" Type="http://schemas.openxmlformats.org/officeDocument/2006/relationships/hyperlink" Target="https://thehackernews.com/2025/02/malicious-ml-models-found-on-hugging.html" TargetMode="External"/><Relationship Id="rId5" Type="http://schemas.openxmlformats.org/officeDocument/2006/relationships/hyperlink" Target="https://www.cnn.com/2024/05/16/tech/arup-deepfake-scam-loss-hong-kong-intl-hnk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237744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Generative AI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35661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Day 1 · Foundations, calling LLMs, and where it breaks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58521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Lovely Professional University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 ·    Backend &amp; Generative AI    ·    Poorit Technologies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914400" y="228600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can AI do today —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914400" y="32918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and what can it still not do?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457200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 wrong answers — say what you think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How we got here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1188720" y="3369600"/>
            <a:ext cx="9783720" cy="27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27432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1078920" y="3273480"/>
            <a:ext cx="219240" cy="2192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91440" y="37033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ChatGPT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launches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274320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3547800" y="3273480"/>
            <a:ext cx="219240" cy="2192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2560320" y="37033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GPT-4 —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 race begins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521208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2024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016680" y="3273480"/>
            <a:ext cx="219240" cy="2192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5029200" y="37033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Multimodal, AI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agents, ~1M context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768096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2025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8485560" y="3273480"/>
            <a:ext cx="219240" cy="2192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7498080" y="37033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Reasoning models,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cheap &amp; fast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10058400" y="251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10817280" y="322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9875520" y="370332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Today: Opus 5 ·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GPT-5.6 · Gemini 3.6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548640" y="52120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Three years — from a chat toy to systems that reason, see, and act.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Generative AI is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From AI to Generative AI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173736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Artificial Intelligence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548640" y="21578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any machine doing a “smart” task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48640" y="27889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Machine Learning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48640" y="32094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learns patterns from data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48640" y="384048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Deep Learning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548640" y="42609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ML using neural networks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48640" y="489204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Generative AI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548640" y="53125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deep learning that creates new content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6675120" y="1600200"/>
            <a:ext cx="4937400" cy="4571640"/>
          </a:xfrm>
          <a:prstGeom prst="roundRect">
            <a:avLst>
              <a:gd name="adj" fmla="val 1200"/>
            </a:avLst>
          </a:prstGeom>
          <a:solidFill>
            <a:srgbClr val="6366F1">
              <a:alpha val="10000"/>
            </a:srgbClr>
          </a:solidFill>
          <a:ln w="190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6812280" y="16916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AI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7269480" y="2194560"/>
            <a:ext cx="3748680" cy="3382920"/>
          </a:xfrm>
          <a:prstGeom prst="roundRect">
            <a:avLst>
              <a:gd name="adj" fmla="val 1622"/>
            </a:avLst>
          </a:prstGeom>
          <a:solidFill>
            <a:srgbClr val="8B8FF5">
              <a:alpha val="10000"/>
            </a:srgbClr>
          </a:solidFill>
          <a:ln w="19050">
            <a:solidFill>
              <a:srgbClr val="8B8F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7406640" y="22860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8FF5"/>
                </a:solidFill>
                <a:effectLst/>
                <a:uFillTx/>
                <a:latin typeface="Calibri"/>
                <a:ea typeface="Calibri"/>
              </a:rPr>
              <a:t>ML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3"/>
          <p:cNvSpPr/>
          <p:nvPr/>
        </p:nvSpPr>
        <p:spPr>
          <a:xfrm>
            <a:off x="7863840" y="2788920"/>
            <a:ext cx="2559960" cy="2194200"/>
          </a:xfrm>
          <a:prstGeom prst="roundRect">
            <a:avLst>
              <a:gd name="adj" fmla="val 2500"/>
            </a:avLst>
          </a:prstGeom>
          <a:solidFill>
            <a:srgbClr val="0891B2">
              <a:alpha val="10000"/>
            </a:srgbClr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8001000" y="2880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Deep Learning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8458200" y="3383280"/>
            <a:ext cx="1737000" cy="1051200"/>
          </a:xfrm>
          <a:prstGeom prst="roundRect">
            <a:avLst>
              <a:gd name="adj" fmla="val 5217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8458200" y="3383280"/>
            <a:ext cx="1737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GenAI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Two kinds of model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548640" y="1737360"/>
            <a:ext cx="5394600" cy="393156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6868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Discriminative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868680" y="246888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draws a boundary → a label or number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868680" y="310896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Regression → a number  (house price)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Classification → a category  (spam / not-spam)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6172200" y="1737360"/>
            <a:ext cx="5394600" cy="3931560"/>
          </a:xfrm>
          <a:prstGeom prst="roundRect">
            <a:avLst>
              <a:gd name="adj" fmla="val 2326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49224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Generative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6492240" y="246888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models the data → new content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6492240" y="310896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Write the email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Generate the code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Create the image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Which of these is a generative task?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Detect whether an email is spam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Predict a house price from its size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Write a product description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Classify a photo as cat or dog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How LLMs work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 LLM predicts the next token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548640" y="2468880"/>
            <a:ext cx="1279800" cy="86832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48640" y="2468880"/>
            <a:ext cx="1279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2011680" y="2468880"/>
            <a:ext cx="1279800" cy="86832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2011680" y="2468880"/>
            <a:ext cx="1279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cat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474720" y="2468880"/>
            <a:ext cx="1279800" cy="86832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474720" y="2468880"/>
            <a:ext cx="1279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4937760" y="2468880"/>
            <a:ext cx="1279800" cy="86832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937760" y="2468880"/>
            <a:ext cx="1279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6400800" y="2468880"/>
            <a:ext cx="1279800" cy="86832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6400800" y="2468880"/>
            <a:ext cx="1279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7909560" y="2697480"/>
            <a:ext cx="8683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8961120" y="2468880"/>
            <a:ext cx="1554120" cy="868320"/>
          </a:xfrm>
          <a:prstGeom prst="roundRect">
            <a:avLst>
              <a:gd name="adj" fmla="val 6316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8961120" y="2468880"/>
            <a:ext cx="1554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 next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548640" y="402336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 that billions of times, one token at a time → paragraphs, code, conversation. The intelligence is emergent.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Tokens — what you pay for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1828800"/>
            <a:ext cx="60346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Models see tokens, not letters or words.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pay per token; context is measured in tokens.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Non-English text uses more tokens — so it costs more.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7040880" y="1828800"/>
            <a:ext cx="4571640" cy="2194200"/>
          </a:xfrm>
          <a:prstGeom prst="roundRect">
            <a:avLst>
              <a:gd name="adj" fmla="val 4167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7040880" y="228600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1 token ≈ ¾ word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040880" y="4160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Live: platform.openai.com/tokenizer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does a larger context window let a model do?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Run faster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Consider more text at once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Cost less per token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Never hallucinate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model landscape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Closed-source models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1234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Proprietary · use via API · weights are private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48640" y="1828800"/>
            <a:ext cx="3474360" cy="1188360"/>
          </a:xfrm>
          <a:prstGeom prst="roundRect">
            <a:avLst>
              <a:gd name="adj" fmla="val 7692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548640" y="182880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Claude Opus 5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Anthropic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4343400" y="1828800"/>
            <a:ext cx="3474360" cy="1188360"/>
          </a:xfrm>
          <a:prstGeom prst="roundRect">
            <a:avLst>
              <a:gd name="adj" fmla="val 7692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4343400" y="182880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GPT-5.6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OpenAI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8138160" y="1828800"/>
            <a:ext cx="3474360" cy="1188360"/>
          </a:xfrm>
          <a:prstGeom prst="roundRect">
            <a:avLst>
              <a:gd name="adj" fmla="val 7692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8138160" y="182880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Gemini 3.6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Google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548640" y="3383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Good: 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frontier capability · easiest to start (just an API key) · no infra to run.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548640" y="40233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Cost: 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pay per token · your data leaves your infra · no self-hosting or full fine-tune · vendor lock-in.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Open-source (open-weight) models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1234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Weights are public · download, self-host, fine-tune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548640" y="1828800"/>
            <a:ext cx="2057040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48640" y="1828800"/>
            <a:ext cx="205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Llama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2779920" y="1828800"/>
            <a:ext cx="2057040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2779920" y="1828800"/>
            <a:ext cx="205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Mistral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5010840" y="1828800"/>
            <a:ext cx="2057040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5010840" y="1828800"/>
            <a:ext cx="205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Qwen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Alibaba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7242120" y="1828800"/>
            <a:ext cx="2057040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7242120" y="1828800"/>
            <a:ext cx="205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DeepSeek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9473040" y="1828800"/>
            <a:ext cx="2057040" cy="1188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9473040" y="1828800"/>
            <a:ext cx="205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Gemma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Google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548640" y="3383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Good: 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run on your own hardware · data stays private · fine-tune &amp; customize · no lock-in.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548640" y="40233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Cost: 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manage infra/GPUs · often behind the frontier · more setup effort.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548640" y="4846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“Open-weight” = weights are public; the training data/code often aren't (so not always fully “open-source”).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Closed vs Open — the trade-off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Table 0"/>
          <p:cNvGraphicFramePr/>
          <p:nvPr/>
        </p:nvGraphicFramePr>
        <p:xfrm>
          <a:off x="548640" y="1554480"/>
          <a:ext cx="1106388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endParaRPr lang="en-US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Closed (proprietary)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Open (open-weight)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0891B2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Capability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frontier / best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strong, catching up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Start effort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API key — minutes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 up infra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pay per token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your hardware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 / privacy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leaves your infra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stays with you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Customize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limited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 fine-tune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Lock-in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Text 1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When to use which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548640" y="1737360"/>
            <a:ext cx="5394600" cy="3657240"/>
          </a:xfrm>
          <a:prstGeom prst="roundRect">
            <a:avLst>
              <a:gd name="adj" fmla="val 2500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86868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Choose CLOSED when…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868680" y="2651760"/>
            <a:ext cx="47545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need the hardest reasoning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want to ship fast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volume is low or spiky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have no infra/ops team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172200" y="1737360"/>
            <a:ext cx="5394600" cy="36572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49224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Choose OPEN when…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6492240" y="2651760"/>
            <a:ext cx="47545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privacy / compliance matters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high steady volume (cost at scale)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need fine-tuning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on-prem / offline / no lock-in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key advantage of open-weight models is…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They are always more capable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can self-host and keep data private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They need no setup at all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They are free to call via API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Using LLMs in code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One client, any provider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548640" y="1920240"/>
            <a:ext cx="3382920" cy="2285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822960" y="21488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822960" y="2148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1508760" y="2176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OpenAI client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822960" y="2971800"/>
            <a:ext cx="2834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the standard call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3950280" y="2880360"/>
            <a:ext cx="38376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4343400" y="1920240"/>
            <a:ext cx="3382920" cy="2285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4617720" y="21488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8B8F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4617720" y="2148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5303520" y="2176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Same client → Gemini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4617720" y="2971800"/>
            <a:ext cx="2834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change key + base_url + model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7745040" y="2880360"/>
            <a:ext cx="38376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3"/>
          <p:cNvSpPr/>
          <p:nvPr/>
        </p:nvSpPr>
        <p:spPr>
          <a:xfrm>
            <a:off x="8138160" y="1920240"/>
            <a:ext cx="3382920" cy="2285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8412480" y="21488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8412480" y="2148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6"/>
          <p:cNvSpPr/>
          <p:nvPr/>
        </p:nvSpPr>
        <p:spPr>
          <a:xfrm>
            <a:off x="9098280" y="217620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LiteLLM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8412480" y="2971800"/>
            <a:ext cx="2834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swap the model string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548640" y="46634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Only 3 lines change. 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That's why the “OpenAI format” became the industry standard.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OpenAI client — the basics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548640" y="1554480"/>
            <a:ext cx="6766200" cy="4205880"/>
          </a:xfrm>
          <a:prstGeom prst="roundRect">
            <a:avLst>
              <a:gd name="adj" fmla="val 1304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804600" y="1737360"/>
            <a:ext cx="625428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pip install openai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openai import OpenAI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client = OpenAI()   # reads OPENAI_API_KEY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resp = client.chat.completions.create(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model="gpt-4o-mini",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messages=[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{"role": "system", "content": "You are helpful."},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{"role": "user",   "content": "Explain APIs in 2 lines."},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],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print(resp.choices[0].message.content)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7589520" y="1737360"/>
            <a:ext cx="40230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client — your connection (holds the key)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model — which model to call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messages — the chat, with roles: system / user / assistant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response — resp.choices[0].message.content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LiteLLM — one call, many providers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"/>
          <p:cNvSpPr/>
          <p:nvPr/>
        </p:nvSpPr>
        <p:spPr>
          <a:xfrm>
            <a:off x="548640" y="1554480"/>
            <a:ext cx="6766200" cy="274284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804600" y="1737360"/>
            <a:ext cx="6254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pip install litellm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litellm import completion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 = completion(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model="gemini/gemini-2.0-flash",  # or openai/gpt-4o-mini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messages=[{"role": "user", "content": "Hello"}],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print(r.choices[0].message.content)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7589520" y="1554480"/>
            <a:ext cx="4023000" cy="2742840"/>
          </a:xfrm>
          <a:prstGeom prst="roundRect">
            <a:avLst>
              <a:gd name="adj" fmla="val 3333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7818120" y="1737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Use LiteLLM when…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7818120" y="2240280"/>
            <a:ext cx="3565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call multiple providers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want easy switching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need cost tracking / fallbacks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you want to avoid lock-in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548640" y="46634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Single provider, simple app? Just use that provider's SDK.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Structured output with Pydantic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"/>
          <p:cNvSpPr/>
          <p:nvPr/>
        </p:nvSpPr>
        <p:spPr>
          <a:xfrm>
            <a:off x="548640" y="2194560"/>
            <a:ext cx="3291480" cy="16455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548640" y="219456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Messy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free text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3858840" y="2788920"/>
            <a:ext cx="4568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4434840" y="2194560"/>
            <a:ext cx="3291480" cy="1645560"/>
          </a:xfrm>
          <a:prstGeom prst="roundRect">
            <a:avLst>
              <a:gd name="adj" fmla="val 5556"/>
            </a:avLst>
          </a:prstGeom>
          <a:solidFill>
            <a:srgbClr val="6366F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4434840" y="219456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Pydantic model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(the contract)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7745040" y="2788920"/>
            <a:ext cx="4568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7"/>
          <p:cNvSpPr/>
          <p:nvPr/>
        </p:nvSpPr>
        <p:spPr>
          <a:xfrm>
            <a:off x="8321040" y="2194560"/>
            <a:ext cx="3291480" cy="1645560"/>
          </a:xfrm>
          <a:prstGeom prst="roundRect">
            <a:avLst>
              <a:gd name="adj" fmla="val 5556"/>
            </a:avLst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8321040" y="219456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Typed object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your code trusts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548640" y="44805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Ask for JSON → validate into an object → use it safely. This is how AI plugs into a real backend.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Structured output — in code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548640" y="1554480"/>
            <a:ext cx="6949080" cy="4297320"/>
          </a:xfrm>
          <a:prstGeom prst="roundRect">
            <a:avLst>
              <a:gd name="adj" fmla="val 1277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804600" y="1737360"/>
            <a:ext cx="64371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from pydantic import BaseModel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class Recipe(BaseModel):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title: str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ingredients: list[str]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minutes: int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resp = client.chat.completions.create(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model="gpt-4o-mini",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messages=[{"role": "user",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"content": "Pasta recipe as JSON: title, ingredients, minutes"}],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response_format={"type": "json_object"},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recipe = Recipe.model_validate_json(resp.choices[0].message.content)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print(recipe.title, recipe.minutes)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7772400" y="1828800"/>
            <a:ext cx="38401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Define the shape (the contract)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response_format = JSON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model_validate_json → typed object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recipe.title is now safe to use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How do you get trustworthy structured data from an LLM?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Trust the text and hope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Ask for JSON and validate it with Pydantic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Raise the temperature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Ask the same question twice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Prompting well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Prompt engineering: weak vs strong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548640" y="1737360"/>
            <a:ext cx="5394600" cy="2651400"/>
          </a:xfrm>
          <a:prstGeom prst="roundRect">
            <a:avLst>
              <a:gd name="adj" fmla="val 3448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86868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WEAK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868680" y="23774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“tell me about sorting”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868680" y="30175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 a vague wall of text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6263640" y="1737360"/>
            <a:ext cx="5394600" cy="2651400"/>
          </a:xfrm>
          <a:prstGeom prst="roundRect">
            <a:avLst>
              <a:gd name="adj" fmla="val 3448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658368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STRONG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6583680" y="2377440"/>
            <a:ext cx="4754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“You are a DSA tutor. Explain bubble sort to a 2nd-year student in exactly 3 bullets, then give its time complexity.”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548640" y="46634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Same model.  </a:t>
            </a: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prompt was the whole difference.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 prompt framework you can reuse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548640" y="1645920"/>
            <a:ext cx="639720" cy="639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548640" y="16459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1417320" y="16459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Role —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who the model should be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6675120" y="164592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“You are a senior Python tutor.”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548640" y="2606040"/>
            <a:ext cx="639720" cy="639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548640" y="26060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417320" y="260604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Task —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to do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6675120" y="260604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“Explain decorators.”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548640" y="3566160"/>
            <a:ext cx="639720" cy="639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548640" y="35661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1417320" y="356616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Context —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data / constraints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6675120" y="356616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“For a 2nd-year student, 100 words.”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3"/>
          <p:cNvSpPr/>
          <p:nvPr/>
        </p:nvSpPr>
        <p:spPr>
          <a:xfrm>
            <a:off x="548640" y="4526280"/>
            <a:ext cx="639720" cy="6397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548640" y="45262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1417320" y="452628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Format — 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how to return it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6675120" y="4526280"/>
            <a:ext cx="4937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“3 bullets, then one code example.”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548640" y="5669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Add Examples (few-shot) when the task is fuzzy — we go deeper on Day 2.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template in action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548640" y="1554480"/>
            <a:ext cx="5486040" cy="329148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804600" y="1737360"/>
            <a:ext cx="4974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You are a [ROLE].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[TASK] for a [AUDIENCE].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Context: [paste the data / rules].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Return as [FORMAT].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6309360" y="1554480"/>
            <a:ext cx="5303160" cy="3291480"/>
          </a:xfrm>
          <a:prstGeom prst="roundRect">
            <a:avLst>
              <a:gd name="adj" fmla="val 2778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6583680" y="1737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Filled in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6583680" y="219456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“You are a DSA tutor. Explain bubble sort for a 2nd-year student. Context: they know arrays &amp; loops. Return as exactly 3 bullets + Big-O.”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548640" y="5212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Copy the left template into your notes — reuse it for every prompt.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48640" y="4572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Quick check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48640" y="105156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What makes a prompt strong?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548640" y="246888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54864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1325880" y="2468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Making it as long as possible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548640" y="333756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54864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1325880" y="3337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Role + Task + Context +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548640" y="420624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548640" y="42062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1325880" y="4206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Writing in ALL CAPS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548640" y="5074920"/>
            <a:ext cx="548280" cy="5482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548640" y="5074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1325880" y="5074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Always saying please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548640" y="182880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603360" y="365760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Where it breaks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When GenAI fails — real cases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9" name="Table 0"/>
          <p:cNvGraphicFramePr/>
          <p:nvPr/>
        </p:nvGraphicFramePr>
        <p:xfrm>
          <a:off x="548640" y="1417320"/>
          <a:ext cx="11063880" cy="394992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Failure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happened  ·  the lesson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Hallucination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Air Canada's bot invented a refund policy → the airline had to pay (2024).  Lesson: confident ≠ correct.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Bias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Gemini's image generator drew historically wrong “diverse” images → paused (2024).  Lesson: test across groups.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Prompt injection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Chevy dealer bot was talked into a “$1, legally binding” car (2023).  Lesson: don't trust user input.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Security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“nullifAI” malicious models slipped past Hugging Face's scanner (2025).  Lesson: models are code — scan sources.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Misuse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$25M deepfake video call impersonated Arup's executives (2024).  Lesson: verify identity.</a:t>
                      </a:r>
                      <a:endParaRPr lang="en-IN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0" name="Text 1"/>
          <p:cNvSpPr/>
          <p:nvPr/>
        </p:nvSpPr>
        <p:spPr>
          <a:xfrm>
            <a:off x="548640" y="5715000"/>
            <a:ext cx="1109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Sources:  </a:t>
            </a:r>
            <a:r>
              <a:rPr lang="en-US" sz="1100" b="0" u="sng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  <a:hlinkClick r:id="rId1"/>
              </a:rPr>
              <a:t>Air Canada (ABA)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·   </a:t>
            </a:r>
            <a:r>
              <a:rPr lang="en-US" sz="1100" b="0" u="sng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  <a:hlinkClick r:id="rId2"/>
              </a:rPr>
              <a:t>Gemini (Axios)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·   </a:t>
            </a:r>
            <a:r>
              <a:rPr lang="en-US" sz="1100" b="0" u="sng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  <a:hlinkClick r:id="rId3"/>
              </a:rPr>
              <a:t>Chevy (VentureBeat)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·   </a:t>
            </a:r>
            <a:r>
              <a:rPr lang="en-US" sz="1100" b="0" u="sng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  <a:hlinkClick r:id="rId4"/>
              </a:rPr>
              <a:t>nullifAI (Hacker News)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·   </a:t>
            </a:r>
            <a:r>
              <a:rPr lang="en-US" sz="1100" b="0" u="sng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  <a:hlinkClick r:id="rId5"/>
              </a:rPr>
              <a:t>Arup (CNN)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Build with guardrails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"/>
          <p:cNvSpPr/>
          <p:nvPr/>
        </p:nvSpPr>
        <p:spPr>
          <a:xfrm>
            <a:off x="1115640" y="2377440"/>
            <a:ext cx="776880" cy="7768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1115640" y="23774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502920" y="33832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Verify outputs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3346560" y="2377440"/>
            <a:ext cx="776880" cy="7768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3346560" y="23774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2734200" y="33832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 for bias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5577840" y="2377440"/>
            <a:ext cx="776880" cy="7768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5577840" y="23774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4965120" y="33832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Limit bot authority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7809120" y="2377440"/>
            <a:ext cx="776880" cy="7768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7809120" y="23774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7196400" y="33832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Scan model sources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3"/>
          <p:cNvSpPr/>
          <p:nvPr/>
        </p:nvSpPr>
        <p:spPr>
          <a:xfrm>
            <a:off x="10040040" y="2377440"/>
            <a:ext cx="776880" cy="7768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10040040" y="23774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9427320" y="33832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Human in the loop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548640" y="50292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Every failure on the last slide shipped without these. Knowing the failure modes is the job.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Guardrails — in practice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"/>
          <p:cNvSpPr/>
          <p:nvPr/>
        </p:nvSpPr>
        <p:spPr>
          <a:xfrm>
            <a:off x="548640" y="1554480"/>
            <a:ext cx="5760360" cy="4023000"/>
          </a:xfrm>
          <a:prstGeom prst="roundRect">
            <a:avLst>
              <a:gd name="adj" fmla="val 1364"/>
            </a:avLst>
          </a:prstGeom>
          <a:solidFill>
            <a:srgbClr val="F3F4F6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804600" y="1737360"/>
            <a:ext cx="5248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1) Validate output shape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Recipe.model_validate_json(text)   # bad JSON -&gt; caught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2) Scope with the system prompt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system = ("Only answer billing questions. "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      "Otherwise say you can't help.")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# 3) Limit authority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if action.cost &gt; 0: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ourier New"/>
                <a:ea typeface="Courier New"/>
              </a:rPr>
              <a:t>    require_human_approval()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6583680" y="178308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Validate outputs → reject bad data (Pydantic)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Scope the bot in the system prompt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irreversible actions without approval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Verify facts with RAG + citations (Day 4)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Log &amp; monitor what the model does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548640" y="1645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548640" y="1645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1417320" y="164592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GenAI generates content by predicting tokens — you steer it with prompts.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548640" y="260604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548640" y="26060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1417320" y="26060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Closed vs open models is a trade-off: capability &amp; ease vs control &amp; privacy.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7"/>
          <p:cNvSpPr/>
          <p:nvPr/>
        </p:nvSpPr>
        <p:spPr>
          <a:xfrm>
            <a:off x="548640" y="356616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548640" y="356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1417320" y="356616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One OpenAI-shaped client reaches everyone; ask for JSON + validate with Pydantic.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0"/>
          <p:cNvSpPr/>
          <p:nvPr/>
        </p:nvSpPr>
        <p:spPr>
          <a:xfrm>
            <a:off x="548640" y="452628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548640" y="4526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2"/>
          <p:cNvSpPr/>
          <p:nvPr/>
        </p:nvSpPr>
        <p:spPr>
          <a:xfrm>
            <a:off x="1417320" y="45262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GenAI hallucinates and can be misused — build with guardrails.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4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548640" y="4572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Over to you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548640" y="1737360"/>
            <a:ext cx="5394600" cy="384012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86868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In the notebook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868680" y="2560320"/>
            <a:ext cx="4754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Q1 — your own OpenAI call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Q2 — switch providers with LiteLLM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Q3 — structured output with Pydantic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6263640" y="1737360"/>
            <a:ext cx="5394600" cy="3840120"/>
          </a:xfrm>
          <a:prstGeom prst="roundRect">
            <a:avLst>
              <a:gd name="adj" fmla="val 2381"/>
            </a:avLst>
          </a:prstGeom>
          <a:solidFill>
            <a:srgbClr val="EEF0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6583680" y="196596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366F1"/>
                </a:solidFill>
                <a:effectLst/>
                <a:uFillTx/>
                <a:latin typeface="Calibri"/>
                <a:ea typeface="Calibri"/>
              </a:rPr>
              <a:t>Homework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6583680" y="2560320"/>
            <a:ext cx="4754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Call the same prompt via OpenAI, Gemini &amp; LiteLLM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Get one Pydantic structured output (a Book)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Write 4–5 lines on one GenAI failure + a fix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Read-ahead: zero-shot vs few-shot (Day 2)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548640" y="6473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Generative AI · Day 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1118304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2026-07-27T14:43:32Z</dcterms:created>
  <dc:creator>Bhupendra Dahal</dc:creator>
  <dc:description/>
  <dc:language>en-IN</dc:language>
  <cp:lastModifiedBy>Bhupendra Dahal</cp:lastModifiedBy>
  <dcterms:modified xsi:type="dcterms:W3CDTF">2026-07-27T14:43:32Z</dcterms:modified>
  <cp:revision>1</cp:revision>
  <dc:subject>PptxGenJS Presentation</dc:subject>
  <dc:title>Generative AI — Day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35</vt:r8>
  </property>
  <property fmtid="{D5CDD505-2E9C-101B-9397-08002B2CF9AE}" pid="3" name="PresentationFormat">
    <vt:lpwstr>On-screen Show (16:9)</vt:lpwstr>
  </property>
  <property fmtid="{D5CDD505-2E9C-101B-9397-08002B2CF9AE}" pid="4" name="Slides">
    <vt:r8>35</vt:r8>
  </property>
</Properties>
</file>