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s/slide13.xml" ContentType="application/vnd.openxmlformats-officedocument.presentationml.slide+xml"/>
  <Override PartName="/ppt/slides/slide21.xml" ContentType="application/vnd.openxmlformats-officedocument.presentationml.slide+xml"/>
  <Override PartName="/ppt/slides/slide14.xml" ContentType="application/vnd.openxmlformats-officedocument.presentationml.slide+xml"/>
  <Override PartName="/ppt/slides/slide4.xml" ContentType="application/vnd.openxmlformats-officedocument.presentationml.slide+xml"/>
  <Override PartName="/ppt/slides/slide35.xml" ContentType="application/vnd.openxmlformats-officedocument.presentationml.slide+xml"/>
  <Override PartName="/ppt/slides/slide27.xml" ContentType="application/vnd.openxmlformats-officedocument.presentationml.slide+xml"/>
  <Override PartName="/ppt/slides/slide22.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3.xml" ContentType="application/vnd.openxmlformats-officedocument.presentationml.slide+xml"/>
  <Override PartName="/ppt/slides/slide26.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10.xml" ContentType="application/vnd.openxmlformats-officedocument.presentationml.slide+xml"/>
  <Override PartName="/ppt/slides/slide3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21.xml" ContentType="application/vnd.openxmlformats-officedocument.presentationml.notesSlide+xml"/>
  <Override PartName="/ppt/notesSlides/notesSlide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9.xml" ContentType="application/vnd.openxmlformats-officedocument.presentationml.notesSlide+xml"/>
  <Override PartName="/ppt/notesSlides/notesSlide15.xml" ContentType="application/vnd.openxmlformats-officedocument.presentationml.notesSlide+xml"/>
  <Override PartName="/ppt/notesSlides/notesSlide10.xml" ContentType="application/vnd.openxmlformats-officedocument.presentationml.notesSlide+xml"/>
  <Override PartName="/ppt/notesSlides/notesSlide3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30.xml" ContentType="application/vnd.openxmlformats-officedocument.presentationml.notesSlide+xml"/>
  <Override PartName="/ppt/notesSlides/notesSlide14.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29.xml" ContentType="application/vnd.openxmlformats-officedocument.presentationml.notesSlide+xml"/>
  <Override PartName="/ppt/notesSlides/notesSlide27.xml" ContentType="application/vnd.openxmlformats-officedocument.presentationml.notesSlide+xml"/>
  <Override PartName="/ppt/notesSlides/notesSlide32.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31.xml" ContentType="application/vnd.openxmlformats-officedocument.presentationml.notesSlide+xml"/>
  <Override PartName="/ppt/notesSlides/notesSlide5.xml" ContentType="application/vnd.openxmlformats-officedocument.presentationml.notesSlide+xml"/>
  <Override PartName="/ppt/notesSlides/notesSlide33.xml" ContentType="application/vnd.openxmlformats-officedocument.presentationml.notesSlide+xml"/>
  <Override PartName="/ppt/notesSlides/notesSlide22.xml" ContentType="application/vnd.openxmlformats-officedocument.presentationml.notesSlide+xml"/>
  <Override PartName="/ppt/notesSlides/notesSlide18.xml" ContentType="application/vnd.openxmlformats-officedocument.presentationml.notesSlide+xml"/>
  <Override PartName="/ppt/notesSlides/notesSlide3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IN" sz="1800" b="0" u="none" strike="noStrike">
                <a:solidFill>
                  <a:schemeClr val="dk1"/>
                </a:solidFill>
                <a:effectLst/>
                <a:uFillTx/>
                <a:latin typeface="Calibri"/>
              </a:rPr>
              <a:t>Click to move the slide</a:t>
            </a:r>
            <a:endParaRPr lang="en-IN"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355C0128-20DE-4A73-A2B9-430AF9192159}" type="slidenum">
              <a:rPr lang="en-IN" sz="1400" b="0" u="none" strike="noStrike">
                <a:solidFill>
                  <a:srgbClr val="000000"/>
                </a:solidFill>
                <a:effectLst/>
                <a:uFillTx/>
                <a:latin typeface="Times New Roman"/>
              </a:rPr>
              <a:t>1</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sldImg"/>
          </p:nvPr>
        </p:nvSpPr>
        <p:spPr>
          <a:xfrm>
            <a:off x="685800" y="1143000"/>
            <a:ext cx="5486040" cy="3085920"/>
          </a:xfrm>
          <a:prstGeom prst="rect">
            <a:avLst/>
          </a:prstGeom>
          <a:ln w="0">
            <a:noFill/>
          </a:ln>
        </p:spPr>
      </p:sp>
      <p:sp>
        <p:nvSpPr>
          <p:cNvPr id="4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Set the arc in one line: yesterday you built retrieval and it worked — but it also confidently returned three chunks for a question the documents never answered. Today that five-line demo becomes a product: it answers only from your documents, says 'I don't know', cites a page you can check, and ships as a chat app they open on their phones. Along the way they learn LangChain, which is just standard names for the six pieces they already wrote by hand.</a:t>
            </a:r>
            <a:endParaRPr lang="en-IN" sz="2000" b="0" u="none" strike="noStrike">
              <a:solidFill>
                <a:srgbClr val="000000"/>
              </a:solidFill>
              <a:effectLst/>
              <a:uFillTx/>
              <a:latin typeface="Arial"/>
            </a:endParaRPr>
          </a:p>
        </p:txBody>
      </p:sp>
      <p:sp>
        <p:nvSpPr>
          <p:cNvPr id="439"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A4F5947-AA9C-4F98-BB18-BFD323BC1558}"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sldImg"/>
          </p:nvPr>
        </p:nvSpPr>
        <p:spPr>
          <a:xfrm>
            <a:off x="685800" y="1143000"/>
            <a:ext cx="5486040" cy="3085920"/>
          </a:xfrm>
          <a:prstGeom prst="rect">
            <a:avLst/>
          </a:prstGeom>
          <a:ln w="0">
            <a:noFill/>
          </a:ln>
        </p:spPr>
      </p:sp>
      <p:sp>
        <p:nvSpPr>
          <p:cNvPr id="4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Think-pair-share, 90 seconds. Let them argue — the point is that you CANNOT tell from the outside. Steer through the three answers: (1) 'the model hallucinated' — maybe, but if search handed it page 7 instead of page 3, the model did the best it could. (2) 'the search was wrong' — maybe, but if search found page 3 and the model ignored it, better search won't help. (3) 'we can't tell' — correct, and that is the point: the FIRST thing we build today is a way to tell. Punch line: "'the LLM is hallucinating' is not a diagnosis, it's a shrug."</a:t>
            </a:r>
            <a:endParaRPr lang="en-IN" sz="2000" b="0" u="none" strike="noStrike">
              <a:solidFill>
                <a:srgbClr val="000000"/>
              </a:solidFill>
              <a:effectLst/>
              <a:uFillTx/>
              <a:latin typeface="Arial"/>
            </a:endParaRPr>
          </a:p>
        </p:txBody>
      </p:sp>
      <p:sp>
        <p:nvSpPr>
          <p:cNvPr id="442"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3F9D77D-ACB5-4E2F-91EE-7D33AE444F3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sldImg"/>
          </p:nvPr>
        </p:nvSpPr>
        <p:spPr>
          <a:xfrm>
            <a:off x="685800" y="1143000"/>
            <a:ext cx="5486040" cy="3085920"/>
          </a:xfrm>
          <a:prstGeom prst="rect">
            <a:avLst/>
          </a:prstGeom>
          <a:ln w="0">
            <a:noFill/>
          </a:ln>
        </p:spPr>
      </p:sp>
      <p:sp>
        <p:nvSpPr>
          <p:cNvPr id="4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Draw this on the board and leave it up all day — point at the correct half after every demo. By the end they should be diagnosing before you ask. The single most useful habit you can give them today is the line in the blue box: print the retrieved chunks first. Students (and plenty of professionals) jump straight to prompt-tweaking when the actual problem is that the right paragraph was never retrieved — no prompt can fix that.</a:t>
            </a:r>
            <a:endParaRPr lang="en-IN" sz="2000" b="0" u="none" strike="noStrike">
              <a:solidFill>
                <a:srgbClr val="000000"/>
              </a:solidFill>
              <a:effectLst/>
              <a:uFillTx/>
              <a:latin typeface="Arial"/>
            </a:endParaRPr>
          </a:p>
        </p:txBody>
      </p:sp>
      <p:sp>
        <p:nvSpPr>
          <p:cNvPr id="445"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517DF1A-0F59-4556-BE37-51A8B910435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Img"/>
          </p:nvPr>
        </p:nvSpPr>
        <p:spPr>
          <a:xfrm>
            <a:off x="685800" y="1143000"/>
            <a:ext cx="5486040" cy="3085920"/>
          </a:xfrm>
          <a:prstGeom prst="rect">
            <a:avLst/>
          </a:prstGeom>
          <a:ln w="0">
            <a:noFill/>
          </a:ln>
        </p:spPr>
      </p:sp>
      <p:sp>
        <p:nvSpPr>
          <p:cNvPr id="4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Frame LangChain honestly: it is not a new idea, it is standard names and one shared interface for the six things they wrote by hand yesterday.</a:t>
            </a:r>
            <a:endParaRPr lang="en-IN" sz="2000" b="0" u="none" strike="noStrike">
              <a:solidFill>
                <a:srgbClr val="000000"/>
              </a:solidFill>
              <a:effectLst/>
              <a:uFillTx/>
              <a:latin typeface="Arial"/>
            </a:endParaRPr>
          </a:p>
        </p:txBody>
      </p:sp>
      <p:sp>
        <p:nvSpPr>
          <p:cNvPr id="448"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1D5465-D308-4752-9D3E-0C5C20CA5879}"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sldImg"/>
          </p:nvPr>
        </p:nvSpPr>
        <p:spPr>
          <a:xfrm>
            <a:off x="685800" y="1143000"/>
            <a:ext cx="5486040" cy="3085920"/>
          </a:xfrm>
          <a:prstGeom prst="rect">
            <a:avLst/>
          </a:prstGeom>
          <a:ln w="0">
            <a:noFill/>
          </a:ln>
        </p:spPr>
      </p:sp>
      <p:sp>
        <p:nvSpPr>
          <p:cNvPr id="4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slide does the emotional work of the section: they are not starting over, they are labelling what they already own. Go row by row and ask the room 'what did we call this yesterday?' before revealing the middle column. The one row worth extra time is Retriever — it is the abstraction the rest of the day hangs on, and it is the one with no exact equivalent in their Day-3 code beyond the search() helper they wrote themselves.</a:t>
            </a:r>
            <a:endParaRPr lang="en-IN" sz="2000" b="0" u="none" strike="noStrike">
              <a:solidFill>
                <a:srgbClr val="000000"/>
              </a:solidFill>
              <a:effectLst/>
              <a:uFillTx/>
              <a:latin typeface="Arial"/>
            </a:endParaRPr>
          </a:p>
        </p:txBody>
      </p:sp>
      <p:sp>
        <p:nvSpPr>
          <p:cNvPr id="451"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B63198D-2C2B-4AE3-96B9-51171C9DD85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type="sldImg"/>
          </p:nvPr>
        </p:nvSpPr>
        <p:spPr>
          <a:xfrm>
            <a:off x="685800" y="1143000"/>
            <a:ext cx="5486040" cy="3085920"/>
          </a:xfrm>
          <a:prstGeom prst="rect">
            <a:avLst/>
          </a:prstGeom>
          <a:ln w="0">
            <a:noFill/>
          </a:ln>
        </p:spPr>
      </p:sp>
      <p:sp>
        <p:nvSpPr>
          <p:cNvPr id="4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it live from notebook §2. The key idea is the shared interface, not the syntax: because every component implements .invoke(), any component can sit where another was. That is why you can swap the model, the provider, the vector store or the embedding model without touching the rest. If someone asks what StrOutputParser is for — without it you get a full message object back and have to reach into .content yourself; the parser is just the 'give me the plain string' step.</a:t>
            </a:r>
            <a:endParaRPr lang="en-IN" sz="2000" b="0" u="none" strike="noStrike">
              <a:solidFill>
                <a:srgbClr val="000000"/>
              </a:solidFill>
              <a:effectLst/>
              <a:uFillTx/>
              <a:latin typeface="Arial"/>
            </a:endParaRPr>
          </a:p>
        </p:txBody>
      </p:sp>
      <p:sp>
        <p:nvSpPr>
          <p:cNvPr id="454"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0B6C4CF-55DA-489F-B7A3-9B2C2DDEC781}"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sldImg"/>
          </p:nvPr>
        </p:nvSpPr>
        <p:spPr>
          <a:xfrm>
            <a:off x="685800" y="1143000"/>
            <a:ext cx="5486040" cy="3085920"/>
          </a:xfrm>
          <a:prstGeom prst="rect">
            <a:avLst/>
          </a:prstGeom>
          <a:ln w="0">
            <a:noFill/>
          </a:ln>
        </p:spPr>
      </p:sp>
      <p:sp>
        <p:nvSpPr>
          <p:cNvPr id="4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slide may be worth more to them than any single technique today. Students WILL google 'langchain rag tutorial' tonight and land on pre-1.0 code — deprecation warnings today, broken imports later. Two concrete facts to say out loud: langchain-classic is scheduled for retirement, and langchain-community was ARCHIVED in June 2026 while thousands of tutorials still import from it. Then the general lesson: in a fast-moving ecosystem, version-awareness is a skill, not a detail.</a:t>
            </a:r>
            <a:endParaRPr lang="en-IN" sz="2000" b="0" u="none" strike="noStrike">
              <a:solidFill>
                <a:srgbClr val="000000"/>
              </a:solidFill>
              <a:effectLst/>
              <a:uFillTx/>
              <a:latin typeface="Arial"/>
            </a:endParaRPr>
          </a:p>
        </p:txBody>
      </p:sp>
      <p:sp>
        <p:nvSpPr>
          <p:cNvPr id="457"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CF13098-FDAB-4D0F-A87F-EB82002E45B2}"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sldImg"/>
          </p:nvPr>
        </p:nvSpPr>
        <p:spPr>
          <a:xfrm>
            <a:off x="685800" y="1143000"/>
            <a:ext cx="5486040" cy="3085920"/>
          </a:xfrm>
          <a:prstGeom prst="rect">
            <a:avLst/>
          </a:prstGeom>
          <a:ln w="0">
            <a:noFill/>
          </a:ln>
        </p:spPr>
      </p:sp>
      <p:sp>
        <p:nvSpPr>
          <p:cNvPr id="4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Give a balanced answer — students hear strong opinions online in both directions. The honest position: frameworks buy you standard interfaces and a huge integration catalogue, and they cost you a layer of indirection plus exposure to breaking changes. Because they wrote it by hand on Day 3, they can now read LangChain's source and recognise every piece — that is the ideal order, and worth saying explicitly. LangGraph gets named now so Day 5 has a hook.</a:t>
            </a:r>
            <a:endParaRPr lang="en-IN" sz="2000" b="0" u="none" strike="noStrike">
              <a:solidFill>
                <a:srgbClr val="000000"/>
              </a:solidFill>
              <a:effectLst/>
              <a:uFillTx/>
              <a:latin typeface="Arial"/>
            </a:endParaRPr>
          </a:p>
        </p:txBody>
      </p:sp>
      <p:sp>
        <p:nvSpPr>
          <p:cNvPr id="460"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70B213C-4778-4682-ABEC-B03FAB68473C}"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sldImg"/>
          </p:nvPr>
        </p:nvSpPr>
        <p:spPr>
          <a:xfrm>
            <a:off x="685800" y="1143000"/>
            <a:ext cx="5486040" cy="3085920"/>
          </a:xfrm>
          <a:prstGeom prst="rect">
            <a:avLst/>
          </a:prstGeom>
          <a:ln w="0">
            <a:noFill/>
          </a:ln>
        </p:spPr>
      </p:sp>
      <p:sp>
        <p:nvSpPr>
          <p:cNvPr id="4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C — every Runnable implements the same two methods, so any component can sit where another was; that shared contract is the whole reason chaining works. Why not the others: Python's | only works here because these classes define __or__, not for any two objects (A); they are not strings (B); and a composed chain is an ordinary object you can invoke anywhere (D). Discussion: 'name three things you could swap in this chain without touching the other components' — model, provider, vector store, embedding model.</a:t>
            </a:r>
            <a:endParaRPr lang="en-IN" sz="2000" b="0" u="none" strike="noStrike">
              <a:solidFill>
                <a:srgbClr val="000000"/>
              </a:solidFill>
              <a:effectLst/>
              <a:uFillTx/>
              <a:latin typeface="Arial"/>
            </a:endParaRPr>
          </a:p>
        </p:txBody>
      </p:sp>
      <p:sp>
        <p:nvSpPr>
          <p:cNvPr id="463"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AC4202A-2010-4D79-AC96-07FF85E2E7A7}"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sldImg"/>
          </p:nvPr>
        </p:nvSpPr>
        <p:spPr>
          <a:xfrm>
            <a:off x="685800" y="1143000"/>
            <a:ext cx="5486040" cy="3085920"/>
          </a:xfrm>
          <a:prstGeom prst="rect">
            <a:avLst/>
          </a:prstGeom>
          <a:ln w="0">
            <a:noFill/>
          </a:ln>
        </p:spPr>
      </p:sp>
      <p:sp>
        <p:nvSpPr>
          <p:cNvPr id="4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 PDF in, Documents out — and the page number that will become a citation.</a:t>
            </a:r>
            <a:endParaRPr lang="en-IN" sz="2000" b="0" u="none" strike="noStrike">
              <a:solidFill>
                <a:srgbClr val="000000"/>
              </a:solidFill>
              <a:effectLst/>
              <a:uFillTx/>
              <a:latin typeface="Arial"/>
            </a:endParaRPr>
          </a:p>
        </p:txBody>
      </p:sp>
      <p:sp>
        <p:nvSpPr>
          <p:cNvPr id="466"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CA66EB7-C2BC-479C-B73E-EE4B7C98393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PlaceHolder 1"/>
          <p:cNvSpPr>
            <a:spLocks noGrp="1"/>
          </p:cNvSpPr>
          <p:nvPr>
            <p:ph type="sldImg"/>
          </p:nvPr>
        </p:nvSpPr>
        <p:spPr>
          <a:xfrm>
            <a:off x="685800" y="1143000"/>
            <a:ext cx="5486040" cy="3085920"/>
          </a:xfrm>
          <a:prstGeom prst="rect">
            <a:avLst/>
          </a:prstGeom>
          <a:ln w="0">
            <a:noFill/>
          </a:ln>
        </p:spPr>
      </p:sp>
      <p:sp>
        <p:nvSpPr>
          <p:cNvPr id="4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notebook §3 — the notebook writes the 8-page policy PDF itself, so the whole room has an identical document with nothing to download. Then the reality check in red, which saves them days on their own projects: a scanned PDF returns EMPTY strings and students assume their code is broken. Say the line plainly: half of real RAG work is getting clean text out of ugly files. Always print the extracted text before trusting it.</a:t>
            </a:r>
            <a:endParaRPr lang="en-IN" sz="2000" b="0" u="none" strike="noStrike">
              <a:solidFill>
                <a:srgbClr val="000000"/>
              </a:solidFill>
              <a:effectLst/>
              <a:uFillTx/>
              <a:latin typeface="Arial"/>
            </a:endParaRPr>
          </a:p>
        </p:txBody>
      </p:sp>
      <p:sp>
        <p:nvSpPr>
          <p:cNvPr id="469"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0CA3A0B-B6B9-4771-8B09-F6334F81078F}"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sldImg"/>
          </p:nvPr>
        </p:nvSpPr>
        <p:spPr>
          <a:xfrm>
            <a:off x="685800" y="1143000"/>
            <a:ext cx="5486040" cy="3085920"/>
          </a:xfrm>
          <a:prstGeom prst="rect">
            <a:avLst/>
          </a:prstGeom>
          <a:ln w="0">
            <a:noFill/>
          </a:ln>
        </p:spPr>
      </p:sp>
      <p:sp>
        <p:nvSpPr>
          <p:cNvPr id="4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arrow strip is the slide — trace one page number all the way from the PDF to the citation at the bottom of the answer, and tell them it survives that entire journey only because it was attached here, at split time. This is a genuine 'wish I'd known' moment in real projects: teams index a corpus, then discover they can't cite anything and have to re-index from scratch. Callback to Day 3: metadata also lets you filter BEFORE searching.</a:t>
            </a:r>
            <a:endParaRPr lang="en-IN" sz="2000" b="0" u="none" strike="noStrike">
              <a:solidFill>
                <a:srgbClr val="000000"/>
              </a:solidFill>
              <a:effectLst/>
              <a:uFillTx/>
              <a:latin typeface="Arial"/>
            </a:endParaRPr>
          </a:p>
        </p:txBody>
      </p:sp>
      <p:sp>
        <p:nvSpPr>
          <p:cNvPr id="472"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B440F27-6BDB-454D-8999-1704DBA43160}"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sldImg"/>
          </p:nvPr>
        </p:nvSpPr>
        <p:spPr>
          <a:xfrm>
            <a:off x="685800" y="1143000"/>
            <a:ext cx="5486040" cy="3085920"/>
          </a:xfrm>
          <a:prstGeom prst="rect">
            <a:avLst/>
          </a:prstGeom>
          <a:ln w="0">
            <a:noFill/>
          </a:ln>
        </p:spPr>
      </p:sp>
      <p:sp>
        <p:nvSpPr>
          <p:cNvPr id="4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A — it is attached at split time and travels with the Document through embedding, storage and retrieval; your code prints it. Why not the others: asking the MODEL to cite (B) is exactly how you get invented page numbers — the thing we are trying to eliminate; the vector store stores metadata but does not invent it (C); and (D) is guesswork. Discussion: 'what else would you attach at split time?' — section, date, author, access level.</a:t>
            </a:r>
            <a:endParaRPr lang="en-IN" sz="2000" b="0" u="none" strike="noStrike">
              <a:solidFill>
                <a:srgbClr val="000000"/>
              </a:solidFill>
              <a:effectLst/>
              <a:uFillTx/>
              <a:latin typeface="Arial"/>
            </a:endParaRPr>
          </a:p>
        </p:txBody>
      </p:sp>
      <p:sp>
        <p:nvSpPr>
          <p:cNvPr id="475"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F5DC13E-9872-4D42-AC44-3E1E15640EAF}"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sldImg"/>
          </p:nvPr>
        </p:nvSpPr>
        <p:spPr>
          <a:xfrm>
            <a:off x="685800" y="1143000"/>
            <a:ext cx="5486040" cy="3085920"/>
          </a:xfrm>
          <a:prstGeom prst="rect">
            <a:avLst/>
          </a:prstGeom>
          <a:ln w="0">
            <a:noFill/>
          </a:ln>
        </p:spPr>
      </p:sp>
      <p:sp>
        <p:nvSpPr>
          <p:cNvPr id="4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Two rules — use only the context, and refuse otherwise — turn a confident liar into a reader.</a:t>
            </a:r>
            <a:endParaRPr lang="en-IN" sz="2000" b="0" u="none" strike="noStrike">
              <a:solidFill>
                <a:srgbClr val="000000"/>
              </a:solidFill>
              <a:effectLst/>
              <a:uFillTx/>
              <a:latin typeface="Arial"/>
            </a:endParaRPr>
          </a:p>
        </p:txBody>
      </p:sp>
      <p:sp>
        <p:nvSpPr>
          <p:cNvPr id="478"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E28FA20-F801-4608-8A5E-85481A83972B}"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sldImg"/>
          </p:nvPr>
        </p:nvSpPr>
        <p:spPr>
          <a:xfrm>
            <a:off x="685800" y="1143000"/>
            <a:ext cx="5486040" cy="3085920"/>
          </a:xfrm>
          <a:prstGeom prst="rect">
            <a:avLst/>
          </a:prstGeom>
          <a:ln w="0">
            <a:noFill/>
          </a:ln>
        </p:spPr>
      </p:sp>
      <p:sp>
        <p:nvSpPr>
          <p:cNvPr id="4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this live from notebook §6 and READ THE ANSWER ALOUD, slowly. Let the room sit with it. The teaching beat is the absence of hedging: no 'I'm not certain', no 'you should check' — just a confident, well-formatted, entirely fabricated policy. Ask: 'if you were a first-year student, would you have doubted that?' Nobody would. That is the problem grounding solves, and they need to feel it before they see the fix.</a:t>
            </a:r>
            <a:endParaRPr lang="en-IN" sz="2000" b="0" u="none" strike="noStrike">
              <a:solidFill>
                <a:srgbClr val="000000"/>
              </a:solidFill>
              <a:effectLst/>
              <a:uFillTx/>
              <a:latin typeface="Arial"/>
            </a:endParaRPr>
          </a:p>
        </p:txBody>
      </p:sp>
      <p:sp>
        <p:nvSpPr>
          <p:cNvPr id="481"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5059108-8984-48C9-84F0-89F2A4288994}"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sldImg"/>
          </p:nvPr>
        </p:nvSpPr>
        <p:spPr>
          <a:xfrm>
            <a:off x="685800" y="1143000"/>
            <a:ext cx="5486040" cy="3085920"/>
          </a:xfrm>
          <a:prstGeom prst="rect">
            <a:avLst/>
          </a:prstGeom>
          <a:ln w="0">
            <a:noFill/>
          </a:ln>
        </p:spPr>
      </p:sp>
      <p:sp>
        <p:nvSpPr>
          <p:cNvPr id="4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Two rules do almost all of the work. Rule 2 is the one people under-think: specifying the EXACT refusal wording means your code downstream can pattern-match it — log it, show a 'contact the office' button, route to a human, count how often it happens. A refusal you can detect is a feature; a differently-worded apology every time is not. On temperature: turn it up to 1 live and re-run the same question three times — watch the answer drift while the source text sits unchanged.</a:t>
            </a:r>
            <a:endParaRPr lang="en-IN" sz="2000" b="0" u="none" strike="noStrike">
              <a:solidFill>
                <a:srgbClr val="000000"/>
              </a:solidFill>
              <a:effectLst/>
              <a:uFillTx/>
              <a:latin typeface="Arial"/>
            </a:endParaRPr>
          </a:p>
        </p:txBody>
      </p:sp>
      <p:sp>
        <p:nvSpPr>
          <p:cNvPr id="484"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790B29-FE04-4ECA-B89B-FBBB3E6EF9A3}"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ldImg"/>
          </p:nvPr>
        </p:nvSpPr>
        <p:spPr>
          <a:xfrm>
            <a:off x="685800" y="1143000"/>
            <a:ext cx="5486040" cy="3085920"/>
          </a:xfrm>
          <a:prstGeom prst="rect">
            <a:avLst/>
          </a:prstGeom>
          <a:ln w="0">
            <a:noFill/>
          </a:ln>
        </p:spPr>
      </p:sp>
      <p:sp>
        <p:nvSpPr>
          <p:cNvPr id="4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densest four lines of the day — walk it slowly on the board as well as the slide. The mental model: the dict at the front is a fork. The question goes down BOTH branches at once — the left branch retrieves and flattens chunks into a string, the right branch just carries the question through untouched. They recombine as the two variables the prompt template needs. If students have seen dictionary comprehensions, tell them a dict of Runnables behaves the same way: keys stay, values get computed.</a:t>
            </a:r>
            <a:endParaRPr lang="en-IN" sz="2000" b="0" u="none" strike="noStrike">
              <a:solidFill>
                <a:srgbClr val="000000"/>
              </a:solidFill>
              <a:effectLst/>
              <a:uFillTx/>
              <a:latin typeface="Arial"/>
            </a:endParaRPr>
          </a:p>
        </p:txBody>
      </p:sp>
      <p:sp>
        <p:nvSpPr>
          <p:cNvPr id="487"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067A96B-B327-43C0-9DE7-86F73415ECF0}"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sldImg"/>
          </p:nvPr>
        </p:nvSpPr>
        <p:spPr>
          <a:xfrm>
            <a:off x="685800" y="1143000"/>
            <a:ext cx="5486040" cy="3085920"/>
          </a:xfrm>
          <a:prstGeom prst="rect">
            <a:avLst/>
          </a:prstGeom>
          <a:ln w="0">
            <a:noFill/>
          </a:ln>
        </p:spPr>
      </p:sp>
      <p:sp>
        <p:nvSpPr>
          <p:cNvPr id="4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emotional payoff of the day's first half — it directly closes the failure you deliberately staged at the end of Day 3, so call that back explicitly: 'remember the hostel fee question?' Two honesty notes to add out loud: (1) grounding makes leakage much rarer, not impossible — a determined model can still blend training knowledge on famous topics, which is why Day 5 does evaluation; (2) the green box is the line to repeat to any manager who asks why the bot refuses sometimes.</a:t>
            </a:r>
            <a:endParaRPr lang="en-IN" sz="2000" b="0" u="none" strike="noStrike">
              <a:solidFill>
                <a:srgbClr val="000000"/>
              </a:solidFill>
              <a:effectLst/>
              <a:uFillTx/>
              <a:latin typeface="Arial"/>
            </a:endParaRPr>
          </a:p>
        </p:txBody>
      </p:sp>
      <p:sp>
        <p:nvSpPr>
          <p:cNvPr id="490"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22ECABA-C598-446C-977D-208F76342178}"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sldImg"/>
          </p:nvPr>
        </p:nvSpPr>
        <p:spPr>
          <a:xfrm>
            <a:off x="685800" y="1143000"/>
            <a:ext cx="5486040" cy="3085920"/>
          </a:xfrm>
          <a:prstGeom prst="rect">
            <a:avLst/>
          </a:prstGeom>
          <a:ln w="0">
            <a:noFill/>
          </a:ln>
        </p:spPr>
      </p:sp>
      <p:sp>
        <p:nvSpPr>
          <p:cNvPr id="4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D — retrieval still returned its top-k chunks; the judgement comes entirely from the prompt. Why not the others: top-k always returns k results, never zero (A); there is no built-in relevance threshold in this chain (B); and temperature=0 reduces randomness but does not stop the model answering from training knowledge (C). Discussion: 'why specify the EXACT refusal words?' — so your code can detect it, log it, and route the user somewhere useful.</a:t>
            </a:r>
            <a:endParaRPr lang="en-IN" sz="2000" b="0" u="none" strike="noStrike">
              <a:solidFill>
                <a:srgbClr val="000000"/>
              </a:solidFill>
              <a:effectLst/>
              <a:uFillTx/>
              <a:latin typeface="Arial"/>
            </a:endParaRPr>
          </a:p>
        </p:txBody>
      </p:sp>
      <p:sp>
        <p:nvSpPr>
          <p:cNvPr id="493"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A7B4F90-3425-4CD4-836A-669741C8DF30}"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sldImg"/>
          </p:nvPr>
        </p:nvSpPr>
        <p:spPr>
          <a:xfrm>
            <a:off x="685800" y="1143000"/>
            <a:ext cx="5486040" cy="3085920"/>
          </a:xfrm>
          <a:prstGeom prst="rect">
            <a:avLst/>
          </a:prstGeom>
          <a:ln w="0">
            <a:noFill/>
          </a:ln>
        </p:spPr>
      </p:sp>
      <p:sp>
        <p:nvSpPr>
          <p:cNvPr id="4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Generated answer, retrieved citation — two completely different trust levels.</a:t>
            </a:r>
            <a:endParaRPr lang="en-IN" sz="2000" b="0" u="none" strike="noStrike">
              <a:solidFill>
                <a:srgbClr val="000000"/>
              </a:solidFill>
              <a:effectLst/>
              <a:uFillTx/>
              <a:latin typeface="Arial"/>
            </a:endParaRPr>
          </a:p>
        </p:txBody>
      </p:sp>
      <p:sp>
        <p:nvSpPr>
          <p:cNvPr id="496"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7E2FDB5-7166-4569-8B2C-6E9D533D42C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sldImg"/>
          </p:nvPr>
        </p:nvSpPr>
        <p:spPr>
          <a:xfrm>
            <a:off x="685800" y="1143000"/>
            <a:ext cx="5486040" cy="3085920"/>
          </a:xfrm>
          <a:prstGeom prst="rect">
            <a:avLst/>
          </a:prstGeom>
          <a:ln w="0">
            <a:noFill/>
          </a:ln>
        </p:spPr>
      </p:sp>
      <p:sp>
        <p:nvSpPr>
          <p:cNvPr id="4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Contrast .assign() with the plain rag_chain: that one threw the Documents away the moment it flattened them into a string, so there was nothing left to cite. The red box is the most important warning of the section — a real law firm was sanctioned after filing a brief citing cases that did not exist, because the model was asked to produce citations rather than carry them. Also mention: printing result['context'] IS the debugging view from slide 3 — it tells you instantly whether retrieval or generation failed.</a:t>
            </a:r>
            <a:endParaRPr lang="en-IN" sz="2000" b="0" u="none" strike="noStrike">
              <a:solidFill>
                <a:srgbClr val="000000"/>
              </a:solidFill>
              <a:effectLst/>
              <a:uFillTx/>
              <a:latin typeface="Arial"/>
            </a:endParaRPr>
          </a:p>
        </p:txBody>
      </p:sp>
      <p:sp>
        <p:nvSpPr>
          <p:cNvPr id="499"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F40F998-BBAC-4009-827E-4BC193210B4C}"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sldImg"/>
          </p:nvPr>
        </p:nvSpPr>
        <p:spPr>
          <a:xfrm>
            <a:off x="685800" y="1143000"/>
            <a:ext cx="5486040" cy="3085920"/>
          </a:xfrm>
          <a:prstGeom prst="rect">
            <a:avLst/>
          </a:prstGeom>
          <a:ln w="0">
            <a:noFill/>
          </a:ln>
        </p:spPr>
      </p:sp>
      <p:sp>
        <p:nvSpPr>
          <p:cNvPr id="5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B — the answer is generated, but the citation must be retrieved. Asking a model to cite is asking it to produce plausible-looking text, which is exactly what it is good at and exactly what you don't want. Why not the others: a small k gives you worse context, not fabricated case names (A); temperature=0 reduces randomness but a confident fabrication at temperature 0 is still a fabrication (C); and the embedding model affects what is retrieved, not what is invented (D). Discussion: 'what would you log to catch this in testing?'</a:t>
            </a:r>
            <a:endParaRPr lang="en-IN" sz="2000" b="0" u="none" strike="noStrike">
              <a:solidFill>
                <a:srgbClr val="000000"/>
              </a:solidFill>
              <a:effectLst/>
              <a:uFillTx/>
              <a:latin typeface="Arial"/>
            </a:endParaRPr>
          </a:p>
        </p:txBody>
      </p:sp>
      <p:sp>
        <p:nvSpPr>
          <p:cNvPr id="502"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CA8C42D-A708-4040-8036-7AFEA84F096A}"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sldImg"/>
          </p:nvPr>
        </p:nvSpPr>
        <p:spPr>
          <a:xfrm>
            <a:off x="685800" y="1143000"/>
            <a:ext cx="5486040" cy="3085920"/>
          </a:xfrm>
          <a:prstGeom prst="rect">
            <a:avLst/>
          </a:prstGeom>
          <a:ln w="0">
            <a:noFill/>
          </a:ln>
        </p:spPr>
      </p:sp>
      <p:sp>
        <p:nvSpPr>
          <p:cNvPr id="5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Grounding stops invention. It does not find a chunk you never retrieved — this is where the engineering lives.</a:t>
            </a:r>
            <a:endParaRPr lang="en-IN" sz="2000" b="0" u="none" strike="noStrike">
              <a:solidFill>
                <a:srgbClr val="000000"/>
              </a:solidFill>
              <a:effectLst/>
              <a:uFillTx/>
              <a:latin typeface="Arial"/>
            </a:endParaRPr>
          </a:p>
        </p:txBody>
      </p:sp>
      <p:sp>
        <p:nvSpPr>
          <p:cNvPr id="505"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6B7292F-ED22-4FBB-8B22-63A61CE1C8A3}"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PlaceHolder 1"/>
          <p:cNvSpPr>
            <a:spLocks noGrp="1"/>
          </p:cNvSpPr>
          <p:nvPr>
            <p:ph type="sldImg"/>
          </p:nvPr>
        </p:nvSpPr>
        <p:spPr>
          <a:xfrm>
            <a:off x="685800" y="1143000"/>
            <a:ext cx="5486040" cy="3085920"/>
          </a:xfrm>
          <a:prstGeom prst="rect">
            <a:avLst/>
          </a:prstGeom>
          <a:ln w="0">
            <a:noFill/>
          </a:ln>
        </p:spPr>
      </p:sp>
      <p:sp>
        <p:nvSpPr>
          <p:cNvPr id="5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Point back at the board diagram from slide 3 — this is where it pays off. Make the habit concrete: four lines of print, every time, before touching anything else. Then the binary question in the blue box splits the rest of the day's debugging in two. Tell them honestly that this is now their most common bug: a correctly-behaving grounded system that refuses to answer something the document definitely contains.</a:t>
            </a:r>
            <a:endParaRPr lang="en-IN" sz="2000" b="0" u="none" strike="noStrike">
              <a:solidFill>
                <a:srgbClr val="000000"/>
              </a:solidFill>
              <a:effectLst/>
              <a:uFillTx/>
              <a:latin typeface="Arial"/>
            </a:endParaRPr>
          </a:p>
        </p:txBody>
      </p:sp>
      <p:sp>
        <p:nvSpPr>
          <p:cNvPr id="508"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8110B65-F6D1-491B-BADA-DE4CB2F2F4B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sldImg"/>
          </p:nvPr>
        </p:nvSpPr>
        <p:spPr>
          <a:xfrm>
            <a:off x="685800" y="1143000"/>
            <a:ext cx="5486040" cy="3085920"/>
          </a:xfrm>
          <a:prstGeom prst="rect">
            <a:avLst/>
          </a:prstGeom>
          <a:ln w="0">
            <a:noFill/>
          </a:ln>
        </p:spPr>
      </p:sp>
      <p:sp>
        <p:nvSpPr>
          <p:cNvPr id="5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Do the cheap fix first — that's honest engineering, and students reach for exotic techniques too early. Then the counter-intuitive bit: more context is not monotonically better. Lost in the Middle is worth naming as a real paper they can cite. The MMR motivation lands well on a policy document: plain top-3 often returns the same paragraph in three overlapping chunks, so you paid for three slots and learned one thing.</a:t>
            </a:r>
            <a:endParaRPr lang="en-IN" sz="2000" b="0" u="none" strike="noStrike">
              <a:solidFill>
                <a:srgbClr val="000000"/>
              </a:solidFill>
              <a:effectLst/>
              <a:uFillTx/>
              <a:latin typeface="Arial"/>
            </a:endParaRPr>
          </a:p>
        </p:txBody>
      </p:sp>
      <p:sp>
        <p:nvSpPr>
          <p:cNvPr id="511"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8F320F-1968-496C-9264-2A652180CE45}"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type="sldImg"/>
          </p:nvPr>
        </p:nvSpPr>
        <p:spPr>
          <a:xfrm>
            <a:off x="685800" y="1143000"/>
            <a:ext cx="5486040" cy="3085920"/>
          </a:xfrm>
          <a:prstGeom prst="rect">
            <a:avLst/>
          </a:prstGeom>
          <a:ln w="0">
            <a:noFill/>
          </a:ln>
        </p:spPr>
      </p:sp>
      <p:sp>
        <p:nvSpPr>
          <p:cNvPr id="5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notebook §9.2 live and compare which pages each version finds — the rewrite usually moves the right page from nowhere into the top 3. Cost is one extra LLM call, and in a conversational product it is often the single biggest quality win. Flag the third row hard: it is the setup for section 6, where the same rewriter gets the chat history and turns a bare follow-up into a standalone query.</a:t>
            </a:r>
            <a:endParaRPr lang="en-IN" sz="2000" b="0" u="none" strike="noStrike">
              <a:solidFill>
                <a:srgbClr val="000000"/>
              </a:solidFill>
              <a:effectLst/>
              <a:uFillTx/>
              <a:latin typeface="Arial"/>
            </a:endParaRPr>
          </a:p>
        </p:txBody>
      </p:sp>
      <p:sp>
        <p:nvSpPr>
          <p:cNvPr id="514"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C1F23E0-A922-4756-AEEB-70E976C4FEAB}"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sldImg"/>
          </p:nvPr>
        </p:nvSpPr>
        <p:spPr>
          <a:xfrm>
            <a:off x="685800" y="1143000"/>
            <a:ext cx="5486040" cy="3085920"/>
          </a:xfrm>
          <a:prstGeom prst="rect">
            <a:avLst/>
          </a:prstGeom>
          <a:ln w="0">
            <a:noFill/>
          </a:ln>
        </p:spPr>
      </p:sp>
      <p:sp>
        <p:nvSpPr>
          <p:cNvPr id="5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Callback to Day 3, where you flagged hybrid search and promised to come back to it — this is that promise kept. The concrete example lands best: ask the vector index for 'UMC' and it may return paragraphs ABOUT misconduct that never contain the acronym, while BM25 finds it instantly. Why RRF rather than averaging scores: cosine similarity and BM25 scores are not in the same units and not even on the same scale, so averaging them is meaningless — ranks are comparable, scores are not. The 60 is a standard constant that stops rank 1 dominating.</a:t>
            </a:r>
            <a:endParaRPr lang="en-IN" sz="2000" b="0" u="none" strike="noStrike">
              <a:solidFill>
                <a:srgbClr val="000000"/>
              </a:solidFill>
              <a:effectLst/>
              <a:uFillTx/>
              <a:latin typeface="Arial"/>
            </a:endParaRPr>
          </a:p>
        </p:txBody>
      </p:sp>
      <p:sp>
        <p:nvSpPr>
          <p:cNvPr id="517"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F483084-CBAB-44E5-8526-7087A55DC748}"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sldImg"/>
          </p:nvPr>
        </p:nvSpPr>
        <p:spPr>
          <a:xfrm>
            <a:off x="685800" y="1143000"/>
            <a:ext cx="5486040" cy="3085920"/>
          </a:xfrm>
          <a:prstGeom prst="rect">
            <a:avLst/>
          </a:prstGeom>
          <a:ln w="0">
            <a:noFill/>
          </a:ln>
        </p:spPr>
      </p:sp>
      <p:sp>
        <p:nvSpPr>
          <p:cNvPr id="5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core insight, said plainly: the embedding model encoded every chunk BEFORE it ever saw your question. That is what makes search fast and also what makes it approximate. A cross-encoder reads the question and one chunk together, so it can notice that 'PhD from MIT' answers 'who has an advanced degree?' even though the words differ. Why not use it for everything — it scores one pair at a time, so scoring a million chunks per query is impossible. Hence the cascade. Latest 2026 pricing on the Cohere line — re-check on the day.</a:t>
            </a:r>
            <a:endParaRPr lang="en-IN" sz="2000" b="0" u="none" strike="noStrike">
              <a:solidFill>
                <a:srgbClr val="000000"/>
              </a:solidFill>
              <a:effectLst/>
              <a:uFillTx/>
              <a:latin typeface="Arial"/>
            </a:endParaRPr>
          </a:p>
        </p:txBody>
      </p:sp>
      <p:sp>
        <p:nvSpPr>
          <p:cNvPr id="520"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17D872D-AF5D-4B2E-8BD4-839A619B95D5}"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sldImg"/>
          </p:nvPr>
        </p:nvSpPr>
        <p:spPr>
          <a:xfrm>
            <a:off x="685800" y="1143000"/>
            <a:ext cx="5486040" cy="3085920"/>
          </a:xfrm>
          <a:prstGeom prst="rect">
            <a:avLst/>
          </a:prstGeom>
          <a:ln w="0">
            <a:noFill/>
          </a:ln>
        </p:spPr>
      </p:sp>
      <p:sp>
        <p:nvSpPr>
          <p:cNvPr id="5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take-home table of the whole day — tell them to photograph it. The discipline it encodes: symptom first, tool second. Junior engineers add reranking and rewriting to everything and then wonder why latency tripled; the table exists to stop that. Note the last row is not a retrieval fix at all — sometimes the honest answer is that the document does not contain it, and the system correctly says so.</a:t>
            </a:r>
            <a:endParaRPr lang="en-IN" sz="2000" b="0" u="none" strike="noStrike">
              <a:solidFill>
                <a:srgbClr val="000000"/>
              </a:solidFill>
              <a:effectLst/>
              <a:uFillTx/>
              <a:latin typeface="Arial"/>
            </a:endParaRPr>
          </a:p>
        </p:txBody>
      </p:sp>
      <p:sp>
        <p:nvSpPr>
          <p:cNvPr id="523"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28AF6B1-E327-41A5-A58F-713A937E9EF9}"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sldImg"/>
          </p:nvPr>
        </p:nvSpPr>
        <p:spPr>
          <a:xfrm>
            <a:off x="685800" y="1143000"/>
            <a:ext cx="5486040" cy="3085920"/>
          </a:xfrm>
          <a:prstGeom prst="rect">
            <a:avLst/>
          </a:prstGeom>
          <a:ln w="0">
            <a:noFill/>
          </a:ln>
        </p:spPr>
      </p:sp>
      <p:sp>
        <p:nvSpPr>
          <p:cNvPr id="5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C — 'UMC' is an exact token, and vector search is weak precisely there: it may return paragraphs about misconduct that never contain the acronym. BM25 finds it instantly, so run both and merge. Why not the others: more of the same bad ranking doesn't help (A); the problem is relevance, not redundancy (B); and no prompt can use a chunk that was never retrieved (D). Discussion: 'what other terms in YOUR project would break vector search?' — order IDs, error codes, SKUs, person names.</a:t>
            </a:r>
            <a:endParaRPr lang="en-IN" sz="2000" b="0" u="none" strike="noStrike">
              <a:solidFill>
                <a:srgbClr val="000000"/>
              </a:solidFill>
              <a:effectLst/>
              <a:uFillTx/>
              <a:latin typeface="Arial"/>
            </a:endParaRPr>
          </a:p>
        </p:txBody>
      </p:sp>
      <p:sp>
        <p:nvSpPr>
          <p:cNvPr id="526"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AE79336-FF00-4B23-813D-5CEAD860900E}"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sldImg"/>
          </p:nvPr>
        </p:nvSpPr>
        <p:spPr>
          <a:xfrm>
            <a:off x="685800" y="1143000"/>
            <a:ext cx="5486040" cy="3085920"/>
          </a:xfrm>
          <a:prstGeom prst="rect">
            <a:avLst/>
          </a:prstGeom>
          <a:ln w="0">
            <a:noFill/>
          </a:ln>
        </p:spPr>
      </p:sp>
      <p:sp>
        <p:nvSpPr>
          <p:cNvPr id="5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Every knob in section 5 is a guess until you measure it — then wrap the whole thing in a chat app.</a:t>
            </a:r>
            <a:endParaRPr lang="en-IN" sz="2000" b="0" u="none" strike="noStrike">
              <a:solidFill>
                <a:srgbClr val="000000"/>
              </a:solidFill>
              <a:effectLst/>
              <a:uFillTx/>
              <a:latin typeface="Arial"/>
            </a:endParaRPr>
          </a:p>
        </p:txBody>
      </p:sp>
      <p:sp>
        <p:nvSpPr>
          <p:cNvPr id="529"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1E4FAAB-B3D1-4F5B-876F-3997777EBFB7}"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sldImg"/>
          </p:nvPr>
        </p:nvSpPr>
        <p:spPr>
          <a:xfrm>
            <a:off x="685800" y="1143000"/>
            <a:ext cx="5486040" cy="3085920"/>
          </a:xfrm>
          <a:prstGeom prst="rect">
            <a:avLst/>
          </a:prstGeom>
          <a:ln w="0">
            <a:noFill/>
          </a:ln>
        </p:spPr>
      </p:sp>
      <p:sp>
        <p:nvSpPr>
          <p:cNvPr id="5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notebook §10 live, then change k and re-run so they watch the number move — that moment converts more students than any explanation. Two honest caveats to state: (1) six questions is a TEACHING size; aim for 30–100 real user questions before you trust the number; (2) this measures RETRIEVAL ONLY — it says nothing about whether the final answer was good. Judging answers (LLM-as-judge, faithfulness, RAGAS) is Day 5, so this is a deliberate hand-off.</a:t>
            </a:r>
            <a:endParaRPr lang="en-IN" sz="2000" b="0" u="none" strike="noStrike">
              <a:solidFill>
                <a:srgbClr val="000000"/>
              </a:solidFill>
              <a:effectLst/>
              <a:uFillTx/>
              <a:latin typeface="Arial"/>
            </a:endParaRPr>
          </a:p>
        </p:txBody>
      </p:sp>
      <p:sp>
        <p:nvSpPr>
          <p:cNvPr id="532"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5BB4FE0-D70A-4004-B78A-90132029D13A}"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sldImg"/>
          </p:nvPr>
        </p:nvSpPr>
        <p:spPr>
          <a:xfrm>
            <a:off x="685800" y="1143000"/>
            <a:ext cx="5486040" cy="3085920"/>
          </a:xfrm>
          <a:prstGeom prst="rect">
            <a:avLst/>
          </a:prstGeom>
          <a:ln w="0">
            <a:noFill/>
          </a:ln>
        </p:spPr>
      </p:sp>
      <p:sp>
        <p:nvSpPr>
          <p:cNvPr id="5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green box is the subtle bit and worth reading out twice — it is a real bug people ship. The rewritten query is a SEARCH artefact; it should never be what the model is asked to answer, or the bot drifts away from the user's actual words. Then launch it: gr.ChatInterface(type='messages').launch(share=True) and the room opens the gradio.live link on their phones. Have a student tap the deliberately-unanswerable 'What is the hostel fee?' example in front of everyone — that refusal, on their own phone, is the whole day in one screenshot.</a:t>
            </a:r>
            <a:endParaRPr lang="en-IN" sz="2000" b="0" u="none" strike="noStrike">
              <a:solidFill>
                <a:srgbClr val="000000"/>
              </a:solidFill>
              <a:effectLst/>
              <a:uFillTx/>
              <a:latin typeface="Arial"/>
            </a:endParaRPr>
          </a:p>
        </p:txBody>
      </p:sp>
      <p:sp>
        <p:nvSpPr>
          <p:cNvPr id="535"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9CEF4ED-6C22-448A-9091-F897CB523985}"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PlaceHolder 1"/>
          <p:cNvSpPr>
            <a:spLocks noGrp="1"/>
          </p:cNvSpPr>
          <p:nvPr>
            <p:ph type="sldImg"/>
          </p:nvPr>
        </p:nvSpPr>
        <p:spPr>
          <a:xfrm>
            <a:off x="685800" y="1143000"/>
            <a:ext cx="5486040" cy="3085920"/>
          </a:xfrm>
          <a:prstGeom prst="rect">
            <a:avLst/>
          </a:prstGeom>
          <a:ln w="0">
            <a:noFill/>
          </a:ln>
        </p:spPr>
      </p:sp>
      <p:sp>
        <p:nvSpPr>
          <p:cNvPr id="5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Name these, do not build them — the point is that students leave knowing what they don't yet have. Access control is the one with real consequences: metadata filtering must happen BEFORE the similarity search, or a user can retrieve a chunk from a document they were never allowed to open. Observability connects straight to backend week: this is logging, and LangSmith is one hosted option for LangChain apps. The closing line matters — most of production RAG is ordinary engineering.</a:t>
            </a:r>
            <a:endParaRPr lang="en-IN" sz="2000" b="0" u="none" strike="noStrike">
              <a:solidFill>
                <a:srgbClr val="000000"/>
              </a:solidFill>
              <a:effectLst/>
              <a:uFillTx/>
              <a:latin typeface="Arial"/>
            </a:endParaRPr>
          </a:p>
        </p:txBody>
      </p:sp>
      <p:sp>
        <p:nvSpPr>
          <p:cNvPr id="538"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8A45082-B884-4BD0-ABB8-FB8AA119351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sldImg"/>
          </p:nvPr>
        </p:nvSpPr>
        <p:spPr>
          <a:xfrm>
            <a:off x="685800" y="1143000"/>
            <a:ext cx="5486040" cy="3085920"/>
          </a:xfrm>
          <a:prstGeom prst="rect">
            <a:avLst/>
          </a:prstGeom>
          <a:ln w="0">
            <a:noFill/>
          </a:ln>
        </p:spPr>
      </p:sp>
      <p:sp>
        <p:nvSpPr>
          <p:cNvPr id="5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A — each is an extra model call at query time, on every single question including the easy ones. Why not the others: both call an LLM in this implementation (B); they are chat calls, not embedding calls (C); and both run at query time, not index time (D). Discussion: 'how would you decide WHICH questions deserve the extra calls?' — e.g. only rewrite when there is conversation history, only rerank when the top scores are close together.</a:t>
            </a:r>
            <a:endParaRPr lang="en-IN" sz="2000" b="0" u="none" strike="noStrike">
              <a:solidFill>
                <a:srgbClr val="000000"/>
              </a:solidFill>
              <a:effectLst/>
              <a:uFillTx/>
              <a:latin typeface="Arial"/>
            </a:endParaRPr>
          </a:p>
        </p:txBody>
      </p:sp>
      <p:sp>
        <p:nvSpPr>
          <p:cNvPr id="541"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535A6BB-F38F-48F0-A238-07ADCCF6B542}"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sldImg"/>
          </p:nvPr>
        </p:nvSpPr>
        <p:spPr>
          <a:xfrm>
            <a:off x="685800" y="1143000"/>
            <a:ext cx="5486040" cy="3085920"/>
          </a:xfrm>
          <a:prstGeom prst="rect">
            <a:avLst/>
          </a:prstGeom>
          <a:ln w="0">
            <a:noFill/>
          </a:ln>
        </p:spPr>
      </p:sp>
      <p:sp>
        <p:nvSpPr>
          <p:cNvPr id="5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Ask the room to give each line back before you reveal it. Then send them to notebook §12 (fill-in-the-blank) and the homework in the run book — especially 'swap in a PDF you actually care about', because that is the RAG assignment and the seed of a capstone project. One-line close: 'yesterday you could find the right paragraph; today your system can answer from it honestly, tell you where it read it, and admit when it doesn't know. Tomorrow it starts deciding what to do next.'</a:t>
            </a:r>
            <a:endParaRPr lang="en-IN" sz="2000" b="0" u="none" strike="noStrike">
              <a:solidFill>
                <a:srgbClr val="000000"/>
              </a:solidFill>
              <a:effectLst/>
              <a:uFillTx/>
              <a:latin typeface="Arial"/>
            </a:endParaRPr>
          </a:p>
        </p:txBody>
      </p:sp>
      <p:sp>
        <p:nvSpPr>
          <p:cNvPr id="544"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05CBCB2-8864-4D3B-89A2-FFD1553D7E69}"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IN" sz="1800" b="0" u="none" strike="noStrike">
                <a:solidFill>
                  <a:schemeClr val="dk1"/>
                </a:solidFill>
                <a:effectLst/>
                <a:uFillTx/>
                <a:latin typeface="Calibri"/>
              </a:defRPr>
            </a:lvl1pPr>
          </a:lstStyle>
          <a:p>
            <a:pPr indent="0" algn="l">
              <a:buNone/>
            </a:pPr>
            <a:r>
              <a:rPr lang="en-IN" sz="1800" b="0" u="none" strike="noStrike">
                <a:solidFill>
                  <a:schemeClr val="dk1"/>
                </a:solidFill>
                <a:effectLst/>
                <a:uFillTx/>
                <a:latin typeface="Calibri"/>
              </a:rPr>
              <a:t>Click to edit the title text format</a:t>
            </a:r>
            <a:endParaRPr lang="en-IN"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IN"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IN"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IN"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IN"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IN" sz="3200" b="0" u="none" strike="noStrike">
                <a:solidFill>
                  <a:schemeClr val="dk1"/>
                </a:solidFill>
                <a:effectLst/>
                <a:uFillTx/>
                <a:latin typeface="Calibri"/>
              </a:rPr>
              <a:t>Click to edit the outline text format</a:t>
            </a:r>
            <a:endParaRPr lang="en-IN"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IN" sz="2400" b="0" u="none" strike="noStrike">
                <a:solidFill>
                  <a:schemeClr val="dk1"/>
                </a:solidFill>
                <a:effectLst/>
                <a:uFillTx/>
                <a:latin typeface="Calibri"/>
              </a:rPr>
              <a:t>Second Outline Level</a:t>
            </a:r>
            <a:endParaRPr lang="en-IN"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IN" sz="2000" b="0" u="none" strike="noStrike">
                <a:solidFill>
                  <a:schemeClr val="dk1"/>
                </a:solidFill>
                <a:effectLst/>
                <a:uFillTx/>
                <a:latin typeface="Calibri"/>
              </a:rPr>
              <a:t>Third Outline Level</a:t>
            </a:r>
            <a:endParaRPr lang="en-IN"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IN" sz="2000" b="0" u="none" strike="noStrike">
                <a:solidFill>
                  <a:schemeClr val="dk1"/>
                </a:solidFill>
                <a:effectLst/>
                <a:uFillTx/>
                <a:latin typeface="Calibri"/>
              </a:rPr>
              <a:t>Fourth Outline Level</a:t>
            </a:r>
            <a:endParaRPr lang="en-IN"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Fifth Outline Level</a:t>
            </a:r>
            <a:endParaRPr lang="en-IN"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Sixth Outline Level</a:t>
            </a:r>
            <a:endParaRPr lang="en-IN"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Seventh Outline Level</a:t>
            </a:r>
            <a:endParaRPr lang="en-IN"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 name="Text 0"/>
          <p:cNvSpPr/>
          <p:nvPr/>
        </p:nvSpPr>
        <p:spPr>
          <a:xfrm>
            <a:off x="548640" y="2377440"/>
            <a:ext cx="1005804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000" b="1" u="none" strike="noStrike">
                <a:solidFill>
                  <a:srgbClr val="1E293B"/>
                </a:solidFill>
                <a:effectLst/>
                <a:uFillTx/>
                <a:latin typeface="Calibri"/>
                <a:ea typeface="Calibri"/>
              </a:rPr>
              <a:t>Generative AI</a:t>
            </a:r>
            <a:endParaRPr lang="en-IN" sz="6000" b="0" u="none" strike="noStrike">
              <a:solidFill>
                <a:srgbClr val="000000"/>
              </a:solidFill>
              <a:effectLst/>
              <a:uFillTx/>
              <a:latin typeface="Arial"/>
            </a:endParaRPr>
          </a:p>
        </p:txBody>
      </p:sp>
      <p:sp>
        <p:nvSpPr>
          <p:cNvPr id="11" name="Text 1"/>
          <p:cNvSpPr/>
          <p:nvPr/>
        </p:nvSpPr>
        <p:spPr>
          <a:xfrm>
            <a:off x="548640" y="3566160"/>
            <a:ext cx="109724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0" u="none" strike="noStrike">
                <a:solidFill>
                  <a:srgbClr val="6366F1"/>
                </a:solidFill>
                <a:effectLst/>
                <a:uFillTx/>
                <a:latin typeface="Calibri"/>
                <a:ea typeface="Calibri"/>
              </a:rPr>
              <a:t>Day 4 · RAG end to end — grounding, citations &amp; a real app</a:t>
            </a:r>
            <a:endParaRPr lang="en-IN" sz="2000" b="0" u="none" strike="noStrike">
              <a:solidFill>
                <a:srgbClr val="000000"/>
              </a:solidFill>
              <a:effectLst/>
              <a:uFillTx/>
              <a:latin typeface="Arial"/>
            </a:endParaRPr>
          </a:p>
        </p:txBody>
      </p:sp>
      <p:sp>
        <p:nvSpPr>
          <p:cNvPr id="12" name="Text 2"/>
          <p:cNvSpPr/>
          <p:nvPr/>
        </p:nvSpPr>
        <p:spPr>
          <a:xfrm>
            <a:off x="548640" y="585216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E293B"/>
                </a:solidFill>
                <a:effectLst/>
                <a:uFillTx/>
                <a:latin typeface="Calibri"/>
                <a:ea typeface="Calibri"/>
              </a:rPr>
              <a:t>Lovely Professional University</a:t>
            </a:r>
            <a:r>
              <a:rPr lang="en-US" sz="1300" b="0" u="none" strike="noStrike">
                <a:solidFill>
                  <a:srgbClr val="64748B"/>
                </a:solidFill>
                <a:effectLst/>
                <a:uFillTx/>
                <a:latin typeface="Calibri"/>
                <a:ea typeface="Calibri"/>
              </a:rPr>
              <a:t>    ·    Backend &amp; Generative AI    ·    Poorit Technologies</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Text 0"/>
          <p:cNvSpPr/>
          <p:nvPr/>
        </p:nvSpPr>
        <p:spPr>
          <a:xfrm>
            <a:off x="914400" y="1600200"/>
            <a:ext cx="1035972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900" b="0" i="1" u="none" strike="noStrike">
                <a:solidFill>
                  <a:srgbClr val="64748B"/>
                </a:solidFill>
                <a:effectLst/>
                <a:uFillTx/>
                <a:latin typeface="Calibri"/>
                <a:ea typeface="Calibri"/>
              </a:rPr>
              <a:t>Your bot tells a student the re-evaluation fee is Rs. 500, deadline 30 days.</a:t>
            </a:r>
            <a:endParaRPr lang="en-IN" sz="1900" b="0" u="none" strike="noStrike">
              <a:solidFill>
                <a:srgbClr val="000000"/>
              </a:solidFill>
              <a:effectLst/>
              <a:uFillTx/>
              <a:latin typeface="Arial"/>
            </a:endParaRPr>
          </a:p>
        </p:txBody>
      </p:sp>
      <p:sp>
        <p:nvSpPr>
          <p:cNvPr id="14" name="Text 1"/>
          <p:cNvSpPr/>
          <p:nvPr/>
        </p:nvSpPr>
        <p:spPr>
          <a:xfrm>
            <a:off x="914400" y="2240280"/>
            <a:ext cx="1035972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200" b="1" u="none" strike="noStrike">
                <a:solidFill>
                  <a:srgbClr val="1E293B"/>
                </a:solidFill>
                <a:effectLst/>
                <a:uFillTx/>
                <a:latin typeface="Calibri"/>
                <a:ea typeface="Calibri"/>
              </a:rPr>
              <a:t>Both numbers</a:t>
            </a:r>
            <a:endParaRPr lang="en-IN" sz="4200" b="0" u="none" strike="noStrike">
              <a:solidFill>
                <a:srgbClr val="000000"/>
              </a:solidFill>
              <a:effectLst/>
              <a:uFillTx/>
              <a:latin typeface="Arial"/>
            </a:endParaRPr>
          </a:p>
        </p:txBody>
      </p:sp>
      <p:sp>
        <p:nvSpPr>
          <p:cNvPr id="15" name="Text 2"/>
          <p:cNvSpPr/>
          <p:nvPr/>
        </p:nvSpPr>
        <p:spPr>
          <a:xfrm>
            <a:off x="914400" y="3154680"/>
            <a:ext cx="1035972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200" b="1" u="none" strike="noStrike">
                <a:solidFill>
                  <a:srgbClr val="B91C1C"/>
                </a:solidFill>
                <a:effectLst/>
                <a:uFillTx/>
                <a:latin typeface="Calibri"/>
                <a:ea typeface="Calibri"/>
              </a:rPr>
              <a:t>are wrong.</a:t>
            </a:r>
            <a:endParaRPr lang="en-IN" sz="4200" b="0" u="none" strike="noStrike">
              <a:solidFill>
                <a:srgbClr val="000000"/>
              </a:solidFill>
              <a:effectLst/>
              <a:uFillTx/>
              <a:latin typeface="Arial"/>
            </a:endParaRPr>
          </a:p>
        </p:txBody>
      </p:sp>
      <p:sp>
        <p:nvSpPr>
          <p:cNvPr id="16" name="Text 3"/>
          <p:cNvSpPr/>
          <p:nvPr/>
        </p:nvSpPr>
        <p:spPr>
          <a:xfrm>
            <a:off x="914400" y="4434840"/>
            <a:ext cx="103597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i="1" u="none" strike="noStrike">
                <a:solidFill>
                  <a:srgbClr val="64748B"/>
                </a:solidFill>
                <a:effectLst/>
                <a:uFillTx/>
                <a:latin typeface="Calibri"/>
                <a:ea typeface="Calibri"/>
              </a:rPr>
              <a:t>The policy says Rs. 1,000 and 15 days.   Whose fault is it — the search, or the model?</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Two failures that look identical from outside</a:t>
            </a:r>
            <a:endParaRPr lang="en-IN" sz="3000" b="0" u="none" strike="noStrike">
              <a:solidFill>
                <a:srgbClr val="000000"/>
              </a:solidFill>
              <a:effectLst/>
              <a:uFillTx/>
              <a:latin typeface="Arial"/>
            </a:endParaRPr>
          </a:p>
        </p:txBody>
      </p:sp>
      <p:sp>
        <p:nvSpPr>
          <p:cNvPr id="18" name="Text 1"/>
          <p:cNvSpPr/>
          <p:nvPr/>
        </p:nvSpPr>
        <p:spPr>
          <a:xfrm>
            <a:off x="548640" y="120708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Every bad RAG answer is one of these two. They need completely different fixes.</a:t>
            </a:r>
            <a:endParaRPr lang="en-IN" sz="1500" b="0" u="none" strike="noStrike">
              <a:solidFill>
                <a:srgbClr val="000000"/>
              </a:solidFill>
              <a:effectLst/>
              <a:uFillTx/>
              <a:latin typeface="Arial"/>
            </a:endParaRPr>
          </a:p>
        </p:txBody>
      </p:sp>
      <p:sp>
        <p:nvSpPr>
          <p:cNvPr id="19" name="Shape 2"/>
          <p:cNvSpPr/>
          <p:nvPr/>
        </p:nvSpPr>
        <p:spPr>
          <a:xfrm>
            <a:off x="548640" y="1737360"/>
            <a:ext cx="5394600" cy="3200040"/>
          </a:xfrm>
          <a:prstGeom prst="roundRect">
            <a:avLst>
              <a:gd name="adj" fmla="val 2857"/>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0" name="Text 3"/>
          <p:cNvSpPr/>
          <p:nvPr/>
        </p:nvSpPr>
        <p:spPr>
          <a:xfrm>
            <a:off x="868680" y="1920240"/>
            <a:ext cx="47545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RETRIEVAL FAILURE</a:t>
            </a:r>
            <a:endParaRPr lang="en-IN" sz="1500" b="0" u="none" strike="noStrike">
              <a:solidFill>
                <a:srgbClr val="000000"/>
              </a:solidFill>
              <a:effectLst/>
              <a:uFillTx/>
              <a:latin typeface="Arial"/>
            </a:endParaRPr>
          </a:p>
        </p:txBody>
      </p:sp>
      <p:sp>
        <p:nvSpPr>
          <p:cNvPr id="21" name="Text 4"/>
          <p:cNvSpPr/>
          <p:nvPr/>
        </p:nvSpPr>
        <p:spPr>
          <a:xfrm>
            <a:off x="868680" y="2377440"/>
            <a:ext cx="47545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1E293B"/>
                </a:solidFill>
                <a:effectLst/>
                <a:uFillTx/>
                <a:latin typeface="Calibri"/>
                <a:ea typeface="Calibri"/>
              </a:rPr>
              <a:t>The right chunk was never found.</a:t>
            </a:r>
            <a:endParaRPr lang="en-IN" sz="1600" b="0" u="none" strike="noStrike">
              <a:solidFill>
                <a:srgbClr val="000000"/>
              </a:solidFill>
              <a:effectLst/>
              <a:uFillTx/>
              <a:latin typeface="Arial"/>
            </a:endParaRPr>
          </a:p>
        </p:txBody>
      </p:sp>
      <p:sp>
        <p:nvSpPr>
          <p:cNvPr id="22" name="Text 5"/>
          <p:cNvSpPr/>
          <p:nvPr/>
        </p:nvSpPr>
        <p:spPr>
          <a:xfrm>
            <a:off x="868680" y="2834640"/>
            <a:ext cx="475452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The model was handed page 7 and asked about page 3. It never had a chance.</a:t>
            </a:r>
            <a:endParaRPr lang="en-IN" sz="1400" b="0" u="none" strike="noStrike">
              <a:solidFill>
                <a:srgbClr val="000000"/>
              </a:solidFill>
              <a:effectLst/>
              <a:uFillTx/>
              <a:latin typeface="Arial"/>
            </a:endParaRPr>
          </a:p>
        </p:txBody>
      </p:sp>
      <p:sp>
        <p:nvSpPr>
          <p:cNvPr id="23" name="Text 6"/>
          <p:cNvSpPr/>
          <p:nvPr/>
        </p:nvSpPr>
        <p:spPr>
          <a:xfrm>
            <a:off x="868680" y="4206240"/>
            <a:ext cx="47545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91C1C"/>
                </a:solidFill>
                <a:effectLst/>
                <a:uFillTx/>
                <a:latin typeface="Calibri"/>
                <a:ea typeface="Calibri"/>
              </a:rPr>
              <a:t>Fix:  </a:t>
            </a:r>
            <a:r>
              <a:rPr lang="en-US" sz="1400" b="0" u="none" strike="noStrike">
                <a:solidFill>
                  <a:srgbClr val="1E293B"/>
                </a:solidFill>
                <a:effectLst/>
                <a:uFillTx/>
                <a:latin typeface="Calibri"/>
                <a:ea typeface="Calibri"/>
              </a:rPr>
              <a:t>k · MMR · rewriting · hybrid · reranking</a:t>
            </a:r>
            <a:endParaRPr lang="en-IN" sz="1400" b="0" u="none" strike="noStrike">
              <a:solidFill>
                <a:srgbClr val="000000"/>
              </a:solidFill>
              <a:effectLst/>
              <a:uFillTx/>
              <a:latin typeface="Arial"/>
            </a:endParaRPr>
          </a:p>
        </p:txBody>
      </p:sp>
      <p:sp>
        <p:nvSpPr>
          <p:cNvPr id="24" name="Shape 7"/>
          <p:cNvSpPr/>
          <p:nvPr/>
        </p:nvSpPr>
        <p:spPr>
          <a:xfrm>
            <a:off x="6263640" y="1737360"/>
            <a:ext cx="5394600" cy="3200040"/>
          </a:xfrm>
          <a:prstGeom prst="roundRect">
            <a:avLst>
              <a:gd name="adj" fmla="val 2857"/>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5" name="Text 8"/>
          <p:cNvSpPr/>
          <p:nvPr/>
        </p:nvSpPr>
        <p:spPr>
          <a:xfrm>
            <a:off x="6583680" y="1920240"/>
            <a:ext cx="47545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GENERATION FAILURE</a:t>
            </a:r>
            <a:endParaRPr lang="en-IN" sz="1500" b="0" u="none" strike="noStrike">
              <a:solidFill>
                <a:srgbClr val="000000"/>
              </a:solidFill>
              <a:effectLst/>
              <a:uFillTx/>
              <a:latin typeface="Arial"/>
            </a:endParaRPr>
          </a:p>
        </p:txBody>
      </p:sp>
      <p:sp>
        <p:nvSpPr>
          <p:cNvPr id="26" name="Text 9"/>
          <p:cNvSpPr/>
          <p:nvPr/>
        </p:nvSpPr>
        <p:spPr>
          <a:xfrm>
            <a:off x="6583680" y="2377440"/>
            <a:ext cx="47545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1E293B"/>
                </a:solidFill>
                <a:effectLst/>
                <a:uFillTx/>
                <a:latin typeface="Calibri"/>
                <a:ea typeface="Calibri"/>
              </a:rPr>
              <a:t>The right chunk was there.</a:t>
            </a:r>
            <a:endParaRPr lang="en-IN" sz="1600" b="0" u="none" strike="noStrike">
              <a:solidFill>
                <a:srgbClr val="000000"/>
              </a:solidFill>
              <a:effectLst/>
              <a:uFillTx/>
              <a:latin typeface="Arial"/>
            </a:endParaRPr>
          </a:p>
        </p:txBody>
      </p:sp>
      <p:sp>
        <p:nvSpPr>
          <p:cNvPr id="27" name="Text 10"/>
          <p:cNvSpPr/>
          <p:nvPr/>
        </p:nvSpPr>
        <p:spPr>
          <a:xfrm>
            <a:off x="6583680" y="2834640"/>
            <a:ext cx="475452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It was on page 3, in the prompt — and the answer still came out wrong.</a:t>
            </a:r>
            <a:endParaRPr lang="en-IN" sz="1400" b="0" u="none" strike="noStrike">
              <a:solidFill>
                <a:srgbClr val="000000"/>
              </a:solidFill>
              <a:effectLst/>
              <a:uFillTx/>
              <a:latin typeface="Arial"/>
            </a:endParaRPr>
          </a:p>
        </p:txBody>
      </p:sp>
      <p:sp>
        <p:nvSpPr>
          <p:cNvPr id="28" name="Text 11"/>
          <p:cNvSpPr/>
          <p:nvPr/>
        </p:nvSpPr>
        <p:spPr>
          <a:xfrm>
            <a:off x="6583680" y="4206240"/>
            <a:ext cx="47545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45309"/>
                </a:solidFill>
                <a:effectLst/>
                <a:uFillTx/>
                <a:latin typeface="Calibri"/>
                <a:ea typeface="Calibri"/>
              </a:rPr>
              <a:t>Fix:  </a:t>
            </a:r>
            <a:r>
              <a:rPr lang="en-US" sz="1400" b="0" u="none" strike="noStrike">
                <a:solidFill>
                  <a:srgbClr val="1E293B"/>
                </a:solidFill>
                <a:effectLst/>
                <a:uFillTx/>
                <a:latin typeface="Calibri"/>
                <a:ea typeface="Calibri"/>
              </a:rPr>
              <a:t>the prompt — the grounding contract</a:t>
            </a:r>
            <a:endParaRPr lang="en-IN" sz="1400" b="0" u="none" strike="noStrike">
              <a:solidFill>
                <a:srgbClr val="000000"/>
              </a:solidFill>
              <a:effectLst/>
              <a:uFillTx/>
              <a:latin typeface="Arial"/>
            </a:endParaRPr>
          </a:p>
        </p:txBody>
      </p:sp>
      <p:sp>
        <p:nvSpPr>
          <p:cNvPr id="29" name="Shape 12"/>
          <p:cNvSpPr/>
          <p:nvPr/>
        </p:nvSpPr>
        <p:spPr>
          <a:xfrm>
            <a:off x="548640" y="5166360"/>
            <a:ext cx="11091240" cy="914040"/>
          </a:xfrm>
          <a:prstGeom prst="roundRect">
            <a:avLst>
              <a:gd name="adj" fmla="val 10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0" name="Text 13"/>
          <p:cNvSpPr/>
          <p:nvPr/>
        </p:nvSpPr>
        <p:spPr>
          <a:xfrm>
            <a:off x="868680" y="5166360"/>
            <a:ext cx="1042380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The diagnostic:  </a:t>
            </a:r>
            <a:r>
              <a:rPr lang="en-US" sz="1500" b="0" u="none" strike="noStrike">
                <a:solidFill>
                  <a:srgbClr val="1E293B"/>
                </a:solidFill>
                <a:effectLst/>
                <a:uFillTx/>
                <a:latin typeface="Calibri"/>
                <a:ea typeface="Calibri"/>
              </a:rPr>
              <a:t>before blaming the model, print the chunks it was actually given. Almost every “the LLM is hallucinating” bug turns out to be a retrieval bug.</a:t>
            </a:r>
            <a:endParaRPr lang="en-IN" sz="1500" b="0" u="none" strike="noStrike">
              <a:solidFill>
                <a:srgbClr val="000000"/>
              </a:solidFill>
              <a:effectLst/>
              <a:uFillTx/>
              <a:latin typeface="Arial"/>
            </a:endParaRPr>
          </a:p>
        </p:txBody>
      </p:sp>
      <p:sp>
        <p:nvSpPr>
          <p:cNvPr id="31"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32"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33"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01</a:t>
            </a:r>
            <a:endParaRPr lang="en-IN" sz="9600" b="0" u="none" strike="noStrike">
              <a:solidFill>
                <a:srgbClr val="000000"/>
              </a:solidFill>
              <a:effectLst/>
              <a:uFillTx/>
              <a:latin typeface="Arial"/>
            </a:endParaRPr>
          </a:p>
        </p:txBody>
      </p:sp>
      <p:sp>
        <p:nvSpPr>
          <p:cNvPr id="34"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The pieces you already built</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Yesterday by hand, today by name</a:t>
            </a:r>
            <a:endParaRPr lang="en-IN" sz="3000" b="0" u="none" strike="noStrike">
              <a:solidFill>
                <a:srgbClr val="000000"/>
              </a:solidFill>
              <a:effectLst/>
              <a:uFillTx/>
              <a:latin typeface="Arial"/>
            </a:endParaRPr>
          </a:p>
        </p:txBody>
      </p:sp>
      <p:graphicFrame>
        <p:nvGraphicFramePr>
          <p:cNvPr id="36" name="Table 0"/>
          <p:cNvGraphicFramePr/>
          <p:nvPr/>
        </p:nvGraphicFramePr>
        <p:xfrm>
          <a:off x="548640" y="1554480"/>
          <a:ext cx="11091240" cy="3511080"/>
        </p:xfrm>
        <a:graphic>
          <a:graphicData uri="http://schemas.openxmlformats.org/drawingml/2006/table">
            <a:tbl>
              <a:tblPr/>
              <a:tblGrid>
                <a:gridCol w="3931920"/>
                <a:gridCol w="3291840"/>
                <a:gridCol w="3867840"/>
              </a:tblGrid>
              <a:tr h="43884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What you wrote yesterday</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The standard name</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Today</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43884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reading a file into a string</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Document Loader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PdfReader → page text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3884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naive_chunks() / the splitter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Text Splitter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RecursiveCharacterTextSplitter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3884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model.encode(...)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Embeddings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OpenAIEmbeddings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3884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the Chroma collection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Vector Store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Chroma</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3884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search(query, n_results=3)</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alibri"/>
                          <a:ea typeface="Calibri"/>
                        </a:rPr>
                        <a:t>Retriever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vectorstore.as_retriever()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3884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the system prompt + chat call</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Prompt + Chat Model</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ChatPromptTemplate + ChatOpenAI</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3884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gluing it together by hand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LCEL — the | pipe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prompt | llm | parser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37" name="Shape 1"/>
          <p:cNvSpPr/>
          <p:nvPr/>
        </p:nvSpPr>
        <p:spPr>
          <a:xfrm>
            <a:off x="548640" y="5440680"/>
            <a:ext cx="11091240" cy="731160"/>
          </a:xfrm>
          <a:prstGeom prst="roundRect">
            <a:avLst>
              <a:gd name="adj" fmla="val 125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8" name="Text 2"/>
          <p:cNvSpPr/>
          <p:nvPr/>
        </p:nvSpPr>
        <p:spPr>
          <a:xfrm>
            <a:off x="868680" y="5440680"/>
            <a:ext cx="104238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Nothing new is happening. The same six boxes — with names everyone in the industry recognises.</a:t>
            </a:r>
            <a:endParaRPr lang="en-IN" sz="1600" b="0" u="none" strike="noStrike">
              <a:solidFill>
                <a:srgbClr val="000000"/>
              </a:solidFill>
              <a:effectLst/>
              <a:uFillTx/>
              <a:latin typeface="Arial"/>
            </a:endParaRPr>
          </a:p>
        </p:txBody>
      </p:sp>
      <p:sp>
        <p:nvSpPr>
          <p:cNvPr id="39" name="Text 3"/>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40" name="Text 4"/>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LCEL — why the pipe works</a:t>
            </a:r>
            <a:endParaRPr lang="en-IN" sz="3000" b="0" u="none" strike="noStrike">
              <a:solidFill>
                <a:srgbClr val="000000"/>
              </a:solidFill>
              <a:effectLst/>
              <a:uFillTx/>
              <a:latin typeface="Arial"/>
            </a:endParaRPr>
          </a:p>
        </p:txBody>
      </p:sp>
      <p:sp>
        <p:nvSpPr>
          <p:cNvPr id="42" name="Shape 1"/>
          <p:cNvSpPr/>
          <p:nvPr/>
        </p:nvSpPr>
        <p:spPr>
          <a:xfrm>
            <a:off x="548640" y="1463040"/>
            <a:ext cx="6857640" cy="2377080"/>
          </a:xfrm>
          <a:prstGeom prst="roundRect">
            <a:avLst>
              <a:gd name="adj" fmla="val 2308"/>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3" name="Text 2"/>
          <p:cNvSpPr/>
          <p:nvPr/>
        </p:nvSpPr>
        <p:spPr>
          <a:xfrm>
            <a:off x="804600" y="1645920"/>
            <a:ext cx="6345720" cy="20113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1E293B"/>
                </a:solidFill>
                <a:effectLst/>
                <a:uFillTx/>
                <a:latin typeface="Courier New"/>
                <a:ea typeface="Courier New"/>
              </a:rPr>
              <a:t>llm    = ChatOpenAI(model="gpt-4o-mini", temperature=0)</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prompt = ChatPromptTemplate.from_template(</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"Explain {thing} in one short sentence.")</a:t>
            </a:r>
            <a:endParaRPr lang="en-IN" sz="1250" b="0" u="none" strike="noStrike">
              <a:solidFill>
                <a:srgbClr val="000000"/>
              </a:solidFill>
              <a:effectLst/>
              <a:uFillTx/>
              <a:latin typeface="Arial"/>
            </a:endParaRPr>
          </a:p>
          <a:p>
            <a:pPr defTabSz="914400">
              <a:lnSpc>
                <a:spcPct val="115000"/>
              </a:lnSpc>
              <a:tabLst>
                <a:tab pos="0" algn="l"/>
              </a:tabLst>
            </a:pP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chain = prompt | llm | StrOutputParser()</a:t>
            </a:r>
            <a:endParaRPr lang="en-IN" sz="1250" b="0" u="none" strike="noStrike">
              <a:solidFill>
                <a:srgbClr val="000000"/>
              </a:solidFill>
              <a:effectLst/>
              <a:uFillTx/>
              <a:latin typeface="Arial"/>
            </a:endParaRPr>
          </a:p>
          <a:p>
            <a:pPr defTabSz="914400">
              <a:lnSpc>
                <a:spcPct val="115000"/>
              </a:lnSpc>
              <a:tabLst>
                <a:tab pos="0" algn="l"/>
              </a:tabLst>
            </a:pP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chain.invoke({"thing": "a vector database"})</a:t>
            </a:r>
            <a:endParaRPr lang="en-IN" sz="1250" b="0" u="none" strike="noStrike">
              <a:solidFill>
                <a:srgbClr val="000000"/>
              </a:solidFill>
              <a:effectLst/>
              <a:uFillTx/>
              <a:latin typeface="Arial"/>
            </a:endParaRPr>
          </a:p>
        </p:txBody>
      </p:sp>
      <p:sp>
        <p:nvSpPr>
          <p:cNvPr id="44" name="Shape 3"/>
          <p:cNvSpPr/>
          <p:nvPr/>
        </p:nvSpPr>
        <p:spPr>
          <a:xfrm>
            <a:off x="7772400" y="1463040"/>
            <a:ext cx="3840120" cy="2377080"/>
          </a:xfrm>
          <a:prstGeom prst="roundRect">
            <a:avLst>
              <a:gd name="adj" fmla="val 3846"/>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5" name="Text 4"/>
          <p:cNvSpPr/>
          <p:nvPr/>
        </p:nvSpPr>
        <p:spPr>
          <a:xfrm>
            <a:off x="8046720" y="1664280"/>
            <a:ext cx="33829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One shared interface</a:t>
            </a:r>
            <a:endParaRPr lang="en-IN" sz="1600" b="0" u="none" strike="noStrike">
              <a:solidFill>
                <a:srgbClr val="000000"/>
              </a:solidFill>
              <a:effectLst/>
              <a:uFillTx/>
              <a:latin typeface="Arial"/>
            </a:endParaRPr>
          </a:p>
        </p:txBody>
      </p:sp>
      <p:sp>
        <p:nvSpPr>
          <p:cNvPr id="46" name="Text 5"/>
          <p:cNvSpPr/>
          <p:nvPr/>
        </p:nvSpPr>
        <p:spPr>
          <a:xfrm>
            <a:off x="8046720" y="2103120"/>
            <a:ext cx="3382920" cy="155412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001"/>
              </a:spcAft>
              <a:buClr>
                <a:srgbClr val="1E293B"/>
              </a:buClr>
              <a:buFont typeface="Symbol" charset="2"/>
              <a:buChar char=""/>
            </a:pPr>
            <a:r>
              <a:rPr lang="en-US" sz="1400" b="0" u="none" strike="noStrike">
                <a:solidFill>
                  <a:srgbClr val="1E293B"/>
                </a:solidFill>
                <a:effectLst/>
                <a:uFillTx/>
                <a:latin typeface="Calibri"/>
                <a:ea typeface="Calibri"/>
              </a:rPr>
              <a:t>.invoke() and .stream()</a:t>
            </a:r>
            <a:endParaRPr lang="en-IN" sz="14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400" b="0" u="none" strike="noStrike">
                <a:solidFill>
                  <a:srgbClr val="1E293B"/>
                </a:solidFill>
                <a:effectLst/>
                <a:uFillTx/>
                <a:latin typeface="Calibri"/>
                <a:ea typeface="Calibri"/>
              </a:rPr>
              <a:t>every component speaks both</a:t>
            </a:r>
            <a:endParaRPr lang="en-IN" sz="14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400" b="0" u="none" strike="noStrike">
                <a:solidFill>
                  <a:srgbClr val="1E293B"/>
                </a:solidFill>
                <a:effectLst/>
                <a:uFillTx/>
                <a:latin typeface="Calibri"/>
                <a:ea typeface="Calibri"/>
              </a:rPr>
              <a:t>so any box fits any slot</a:t>
            </a:r>
            <a:endParaRPr lang="en-IN" sz="1400" b="0" u="none" strike="noStrike">
              <a:solidFill>
                <a:srgbClr val="000000"/>
              </a:solidFill>
              <a:effectLst/>
              <a:uFillTx/>
              <a:latin typeface="Arial"/>
            </a:endParaRPr>
          </a:p>
        </p:txBody>
      </p:sp>
      <p:sp>
        <p:nvSpPr>
          <p:cNvPr id="47" name="Shape 6"/>
          <p:cNvSpPr/>
          <p:nvPr/>
        </p:nvSpPr>
        <p:spPr>
          <a:xfrm>
            <a:off x="548640" y="4114800"/>
            <a:ext cx="3520080" cy="1234080"/>
          </a:xfrm>
          <a:prstGeom prst="roundRect">
            <a:avLst>
              <a:gd name="adj" fmla="val 7407"/>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8" name="Text 7"/>
          <p:cNvSpPr/>
          <p:nvPr/>
        </p:nvSpPr>
        <p:spPr>
          <a:xfrm>
            <a:off x="822960" y="4279320"/>
            <a:ext cx="301716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6366F1"/>
                </a:solidFill>
                <a:effectLst/>
                <a:uFillTx/>
                <a:latin typeface="Courier New"/>
                <a:ea typeface="Courier New"/>
              </a:rPr>
              <a:t>prompt</a:t>
            </a:r>
            <a:endParaRPr lang="en-IN" sz="1400" b="0" u="none" strike="noStrike">
              <a:solidFill>
                <a:srgbClr val="000000"/>
              </a:solidFill>
              <a:effectLst/>
              <a:uFillTx/>
              <a:latin typeface="Arial"/>
            </a:endParaRPr>
          </a:p>
        </p:txBody>
      </p:sp>
      <p:sp>
        <p:nvSpPr>
          <p:cNvPr id="49" name="Text 8"/>
          <p:cNvSpPr/>
          <p:nvPr/>
        </p:nvSpPr>
        <p:spPr>
          <a:xfrm>
            <a:off x="822960" y="4681800"/>
            <a:ext cx="30171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fills in the {variables}</a:t>
            </a:r>
            <a:endParaRPr lang="en-IN" sz="1350" b="0" u="none" strike="noStrike">
              <a:solidFill>
                <a:srgbClr val="000000"/>
              </a:solidFill>
              <a:effectLst/>
              <a:uFillTx/>
              <a:latin typeface="Arial"/>
            </a:endParaRPr>
          </a:p>
        </p:txBody>
      </p:sp>
      <p:sp>
        <p:nvSpPr>
          <p:cNvPr id="50" name="Shape 9"/>
          <p:cNvSpPr/>
          <p:nvPr/>
        </p:nvSpPr>
        <p:spPr>
          <a:xfrm>
            <a:off x="4096440" y="4617720"/>
            <a:ext cx="219240" cy="27396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51" name="Shape 10"/>
          <p:cNvSpPr/>
          <p:nvPr/>
        </p:nvSpPr>
        <p:spPr>
          <a:xfrm>
            <a:off x="4343400" y="4114800"/>
            <a:ext cx="3520080" cy="1234080"/>
          </a:xfrm>
          <a:prstGeom prst="roundRect">
            <a:avLst>
              <a:gd name="adj" fmla="val 7407"/>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2" name="Text 11"/>
          <p:cNvSpPr/>
          <p:nvPr/>
        </p:nvSpPr>
        <p:spPr>
          <a:xfrm>
            <a:off x="4617720" y="4279320"/>
            <a:ext cx="301716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6366F1"/>
                </a:solidFill>
                <a:effectLst/>
                <a:uFillTx/>
                <a:latin typeface="Courier New"/>
                <a:ea typeface="Courier New"/>
              </a:rPr>
              <a:t>llm</a:t>
            </a:r>
            <a:endParaRPr lang="en-IN" sz="1400" b="0" u="none" strike="noStrike">
              <a:solidFill>
                <a:srgbClr val="000000"/>
              </a:solidFill>
              <a:effectLst/>
              <a:uFillTx/>
              <a:latin typeface="Arial"/>
            </a:endParaRPr>
          </a:p>
        </p:txBody>
      </p:sp>
      <p:sp>
        <p:nvSpPr>
          <p:cNvPr id="53" name="Text 12"/>
          <p:cNvSpPr/>
          <p:nvPr/>
        </p:nvSpPr>
        <p:spPr>
          <a:xfrm>
            <a:off x="4617720" y="4681800"/>
            <a:ext cx="30171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sends it to the model</a:t>
            </a:r>
            <a:endParaRPr lang="en-IN" sz="1350" b="0" u="none" strike="noStrike">
              <a:solidFill>
                <a:srgbClr val="000000"/>
              </a:solidFill>
              <a:effectLst/>
              <a:uFillTx/>
              <a:latin typeface="Arial"/>
            </a:endParaRPr>
          </a:p>
        </p:txBody>
      </p:sp>
      <p:sp>
        <p:nvSpPr>
          <p:cNvPr id="54" name="Shape 13"/>
          <p:cNvSpPr/>
          <p:nvPr/>
        </p:nvSpPr>
        <p:spPr>
          <a:xfrm>
            <a:off x="7891200" y="4617720"/>
            <a:ext cx="219240" cy="27396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55" name="Shape 14"/>
          <p:cNvSpPr/>
          <p:nvPr/>
        </p:nvSpPr>
        <p:spPr>
          <a:xfrm>
            <a:off x="8138160" y="4114800"/>
            <a:ext cx="3520080" cy="1234080"/>
          </a:xfrm>
          <a:prstGeom prst="roundRect">
            <a:avLst>
              <a:gd name="adj" fmla="val 7407"/>
            </a:avLst>
          </a:prstGeom>
          <a:solidFill>
            <a:srgbClr val="EEF0FF"/>
          </a:solidFill>
          <a:ln w="12700">
            <a:solidFill>
              <a:srgbClr val="0891B2"/>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6" name="Text 15"/>
          <p:cNvSpPr/>
          <p:nvPr/>
        </p:nvSpPr>
        <p:spPr>
          <a:xfrm>
            <a:off x="8412480" y="4279320"/>
            <a:ext cx="301716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891B2"/>
                </a:solidFill>
                <a:effectLst/>
                <a:uFillTx/>
                <a:latin typeface="Courier New"/>
                <a:ea typeface="Courier New"/>
              </a:rPr>
              <a:t>StrOutputParser</a:t>
            </a:r>
            <a:endParaRPr lang="en-IN" sz="1400" b="0" u="none" strike="noStrike">
              <a:solidFill>
                <a:srgbClr val="000000"/>
              </a:solidFill>
              <a:effectLst/>
              <a:uFillTx/>
              <a:latin typeface="Arial"/>
            </a:endParaRPr>
          </a:p>
        </p:txBody>
      </p:sp>
      <p:sp>
        <p:nvSpPr>
          <p:cNvPr id="57" name="Text 16"/>
          <p:cNvSpPr/>
          <p:nvPr/>
        </p:nvSpPr>
        <p:spPr>
          <a:xfrm>
            <a:off x="8412480" y="4681800"/>
            <a:ext cx="30171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hands back a plain string</a:t>
            </a:r>
            <a:endParaRPr lang="en-IN" sz="1350" b="0" u="none" strike="noStrike">
              <a:solidFill>
                <a:srgbClr val="000000"/>
              </a:solidFill>
              <a:effectLst/>
              <a:uFillTx/>
              <a:latin typeface="Arial"/>
            </a:endParaRPr>
          </a:p>
        </p:txBody>
      </p:sp>
      <p:sp>
        <p:nvSpPr>
          <p:cNvPr id="58" name="Text 17"/>
          <p:cNvSpPr/>
          <p:nvPr/>
        </p:nvSpPr>
        <p:spPr>
          <a:xfrm>
            <a:off x="548640" y="562356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1E293B"/>
                </a:solidFill>
                <a:effectLst/>
                <a:uFillTx/>
                <a:latin typeface="Calibri"/>
                <a:ea typeface="Calibri"/>
              </a:rPr>
              <a:t>It is the Unix pipe. Swap ChatOpenAI for Gemini or Claude and the rest of the chain never changes.</a:t>
            </a:r>
            <a:endParaRPr lang="en-IN" sz="1550" b="0" u="none" strike="noStrike">
              <a:solidFill>
                <a:srgbClr val="000000"/>
              </a:solidFill>
              <a:effectLst/>
              <a:uFillTx/>
              <a:latin typeface="Arial"/>
            </a:endParaRPr>
          </a:p>
        </p:txBody>
      </p:sp>
      <p:sp>
        <p:nvSpPr>
          <p:cNvPr id="59" name="Text 18"/>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60" name="Text 19"/>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6</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  LangChain 1.0 broke every old tutorial</a:t>
            </a:r>
            <a:endParaRPr lang="en-IN" sz="3000" b="0" u="none" strike="noStrike">
              <a:solidFill>
                <a:srgbClr val="000000"/>
              </a:solidFill>
              <a:effectLst/>
              <a:uFillTx/>
              <a:latin typeface="Arial"/>
            </a:endParaRPr>
          </a:p>
        </p:txBody>
      </p:sp>
      <p:sp>
        <p:nvSpPr>
          <p:cNvPr id="62" name="Text 1"/>
          <p:cNvSpPr/>
          <p:nvPr/>
        </p:nvSpPr>
        <p:spPr>
          <a:xfrm>
            <a:off x="548640" y="120708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If a blog post or video uses any of these, it was written for the old version:</a:t>
            </a:r>
            <a:endParaRPr lang="en-IN" sz="1500" b="0" u="none" strike="noStrike">
              <a:solidFill>
                <a:srgbClr val="000000"/>
              </a:solidFill>
              <a:effectLst/>
              <a:uFillTx/>
              <a:latin typeface="Arial"/>
            </a:endParaRPr>
          </a:p>
        </p:txBody>
      </p:sp>
      <p:graphicFrame>
        <p:nvGraphicFramePr>
          <p:cNvPr id="63" name="Table 0"/>
          <p:cNvGraphicFramePr/>
          <p:nvPr/>
        </p:nvGraphicFramePr>
        <p:xfrm>
          <a:off x="548640" y="1691640"/>
          <a:ext cx="11091240" cy="3017520"/>
        </p:xfrm>
        <a:graphic>
          <a:graphicData uri="http://schemas.openxmlformats.org/drawingml/2006/table">
            <a:tbl>
              <a:tblPr/>
              <a:tblGrid>
                <a:gridCol w="4572000"/>
                <a:gridCol w="3291840"/>
                <a:gridCol w="3227760"/>
              </a:tblGrid>
              <a:tr h="50292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If you see this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It means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Use instead</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ourier New"/>
                          <a:ea typeface="Courier New"/>
                        </a:rPr>
                        <a:t>RetrievalQA.from_chain_type(...)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pre-1.0</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an LCEL chain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ourier New"/>
                          <a:ea typeface="Courier New"/>
                        </a:rPr>
                        <a:t>LLMChain(llm=..., prompt=...)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pre-1.0</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ourier New"/>
                          <a:ea typeface="Courier New"/>
                        </a:rPr>
                        <a:t>prompt | llm</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ourier New"/>
                          <a:ea typeface="Courier New"/>
                        </a:rPr>
                        <a:t>create_retrieval_chain(...)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pre-1.0 · langchain-classic</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an LCEL chain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ourier New"/>
                          <a:ea typeface="Courier New"/>
                        </a:rPr>
                        <a:t>from langchain.retrievers import ...</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moved out of langchain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build it yourself (§5)</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ourier New"/>
                          <a:ea typeface="Courier New"/>
                        </a:rPr>
                        <a:t>from langchain_community import ...</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archived June 2026</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a standalone package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64" name="Shape 2"/>
          <p:cNvSpPr/>
          <p:nvPr/>
        </p:nvSpPr>
        <p:spPr>
          <a:xfrm>
            <a:off x="548640" y="5029200"/>
            <a:ext cx="11091240" cy="1051200"/>
          </a:xfrm>
          <a:prstGeom prst="roundRect">
            <a:avLst>
              <a:gd name="adj" fmla="val 8696"/>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65" name="Text 3"/>
          <p:cNvSpPr/>
          <p:nvPr/>
        </p:nvSpPr>
        <p:spPr>
          <a:xfrm>
            <a:off x="868680" y="5029200"/>
            <a:ext cx="10423800" cy="1051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The durable skill isn't the syntax — it's recognising which era a code sample is from.  </a:t>
            </a:r>
            <a:r>
              <a:rPr lang="en-US" sz="1500" b="0" u="none" strike="noStrike">
                <a:solidFill>
                  <a:srgbClr val="1E293B"/>
                </a:solidFill>
                <a:effectLst/>
                <a:uFillTx/>
                <a:latin typeface="Calibri"/>
                <a:ea typeface="Calibri"/>
              </a:rPr>
              <a:t>This field moves fast. Check the version before you copy anything, and prefer the official docs over blog posts.</a:t>
            </a:r>
            <a:endParaRPr lang="en-IN" sz="1500" b="0" u="none" strike="noStrike">
              <a:solidFill>
                <a:srgbClr val="000000"/>
              </a:solidFill>
              <a:effectLst/>
              <a:uFillTx/>
              <a:latin typeface="Arial"/>
            </a:endParaRPr>
          </a:p>
        </p:txBody>
      </p:sp>
      <p:sp>
        <p:nvSpPr>
          <p:cNvPr id="66" name="Text 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67" name="Text 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Framework, or write it yourself?</a:t>
            </a:r>
            <a:endParaRPr lang="en-IN" sz="3000" b="0" u="none" strike="noStrike">
              <a:solidFill>
                <a:srgbClr val="000000"/>
              </a:solidFill>
              <a:effectLst/>
              <a:uFillTx/>
              <a:latin typeface="Arial"/>
            </a:endParaRPr>
          </a:p>
        </p:txBody>
      </p:sp>
      <p:graphicFrame>
        <p:nvGraphicFramePr>
          <p:cNvPr id="69" name="Table 0"/>
          <p:cNvGraphicFramePr/>
          <p:nvPr/>
        </p:nvGraphicFramePr>
        <p:xfrm>
          <a:off x="548640" y="1691640"/>
          <a:ext cx="11091240" cy="3017160"/>
        </p:xfrm>
        <a:graphic>
          <a:graphicData uri="http://schemas.openxmlformats.org/drawingml/2006/table">
            <a:tbl>
              <a:tblPr/>
              <a:tblGrid>
                <a:gridCol w="2743200"/>
                <a:gridCol w="4023360"/>
                <a:gridCol w="4325040"/>
              </a:tblGrid>
              <a:tr h="60336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Tool</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It is…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Reach for it when</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60336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Plain Python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no dependency, full control</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learning, small pipelines ✓ (Day 3)</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60336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LangChain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components + LCEL + integrations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standard pieces, swappable providers ✓ (today)</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60336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LlamaIndex</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the same idea, built data-first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document-heavy apps, complex indexes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603360">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ourier New"/>
                          <a:ea typeface="Courier New"/>
                        </a:rPr>
                        <a:t>LangGraph</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graphs with state, loops, branching</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alibri"/>
                          <a:ea typeface="Calibri"/>
                        </a:rPr>
                        <a:t>agents that decide and retry ★ (Day 5)</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70" name="Shape 1"/>
          <p:cNvSpPr/>
          <p:nvPr/>
        </p:nvSpPr>
        <p:spPr>
          <a:xfrm>
            <a:off x="548640" y="5029200"/>
            <a:ext cx="11091240" cy="1051200"/>
          </a:xfrm>
          <a:prstGeom prst="roundRect">
            <a:avLst>
              <a:gd name="adj" fmla="val 8696"/>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1" name="Text 2"/>
          <p:cNvSpPr/>
          <p:nvPr/>
        </p:nvSpPr>
        <p:spPr>
          <a:xfrm>
            <a:off x="868680" y="5029200"/>
            <a:ext cx="10423800" cy="1051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A framework is worth it when you'd otherwise write the same glue for the tenth time.  </a:t>
            </a:r>
            <a:r>
              <a:rPr lang="en-US" sz="1500" b="0" u="none" strike="noStrike">
                <a:solidFill>
                  <a:srgbClr val="1E293B"/>
                </a:solidFill>
                <a:effectLst/>
                <a:uFillTx/>
                <a:latin typeface="Calibri"/>
                <a:ea typeface="Calibri"/>
              </a:rPr>
              <a:t>It is not worth it when you don't yet understand what the glue does — which is exactly why we built it by hand first.</a:t>
            </a:r>
            <a:endParaRPr lang="en-IN" sz="1500" b="0" u="none" strike="noStrike">
              <a:solidFill>
                <a:srgbClr val="000000"/>
              </a:solidFill>
              <a:effectLst/>
              <a:uFillTx/>
              <a:latin typeface="Arial"/>
            </a:endParaRPr>
          </a:p>
        </p:txBody>
      </p:sp>
      <p:sp>
        <p:nvSpPr>
          <p:cNvPr id="72" name="Text 3"/>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73" name="Text 4"/>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8</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75" name="Text 1"/>
          <p:cNvSpPr/>
          <p:nvPr/>
        </p:nvSpPr>
        <p:spPr>
          <a:xfrm>
            <a:off x="548640" y="1051560"/>
            <a:ext cx="11091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Why can LangChain components be joined with the | pipe?</a:t>
            </a:r>
            <a:endParaRPr lang="en-IN" sz="2500" b="0" u="none" strike="noStrike">
              <a:solidFill>
                <a:srgbClr val="000000"/>
              </a:solidFill>
              <a:effectLst/>
              <a:uFillTx/>
              <a:latin typeface="Arial"/>
            </a:endParaRPr>
          </a:p>
        </p:txBody>
      </p:sp>
      <p:sp>
        <p:nvSpPr>
          <p:cNvPr id="76" name="Shape 2"/>
          <p:cNvSpPr/>
          <p:nvPr/>
        </p:nvSpPr>
        <p:spPr>
          <a:xfrm>
            <a:off x="548640" y="24688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77" name="Text 3"/>
          <p:cNvSpPr/>
          <p:nvPr/>
        </p:nvSpPr>
        <p:spPr>
          <a:xfrm>
            <a:off x="548640" y="24688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78" name="Text 4"/>
          <p:cNvSpPr/>
          <p:nvPr/>
        </p:nvSpPr>
        <p:spPr>
          <a:xfrm>
            <a:off x="1325880" y="24688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Python overloads | for any two objects</a:t>
            </a:r>
            <a:endParaRPr lang="en-IN" sz="1700" b="0" u="none" strike="noStrike">
              <a:solidFill>
                <a:srgbClr val="000000"/>
              </a:solidFill>
              <a:effectLst/>
              <a:uFillTx/>
              <a:latin typeface="Arial"/>
            </a:endParaRPr>
          </a:p>
        </p:txBody>
      </p:sp>
      <p:sp>
        <p:nvSpPr>
          <p:cNvPr id="79" name="Shape 5"/>
          <p:cNvSpPr/>
          <p:nvPr/>
        </p:nvSpPr>
        <p:spPr>
          <a:xfrm>
            <a:off x="548640" y="333756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80" name="Text 6"/>
          <p:cNvSpPr/>
          <p:nvPr/>
        </p:nvSpPr>
        <p:spPr>
          <a:xfrm>
            <a:off x="548640" y="333756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81" name="Text 7"/>
          <p:cNvSpPr/>
          <p:nvPr/>
        </p:nvSpPr>
        <p:spPr>
          <a:xfrm>
            <a:off x="1325880" y="333756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They are all subclasses of str</a:t>
            </a:r>
            <a:endParaRPr lang="en-IN" sz="1700" b="0" u="none" strike="noStrike">
              <a:solidFill>
                <a:srgbClr val="000000"/>
              </a:solidFill>
              <a:effectLst/>
              <a:uFillTx/>
              <a:latin typeface="Arial"/>
            </a:endParaRPr>
          </a:p>
        </p:txBody>
      </p:sp>
      <p:sp>
        <p:nvSpPr>
          <p:cNvPr id="82" name="Shape 8"/>
          <p:cNvSpPr/>
          <p:nvPr/>
        </p:nvSpPr>
        <p:spPr>
          <a:xfrm>
            <a:off x="548640" y="42062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83" name="Text 9"/>
          <p:cNvSpPr/>
          <p:nvPr/>
        </p:nvSpPr>
        <p:spPr>
          <a:xfrm>
            <a:off x="548640" y="42062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84" name="Text 10"/>
          <p:cNvSpPr/>
          <p:nvPr/>
        </p:nvSpPr>
        <p:spPr>
          <a:xfrm>
            <a:off x="1325880" y="42062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They all implement the same interface — .invoke() / .stream()</a:t>
            </a:r>
            <a:endParaRPr lang="en-IN" sz="1700" b="0" u="none" strike="noStrike">
              <a:solidFill>
                <a:srgbClr val="000000"/>
              </a:solidFill>
              <a:effectLst/>
              <a:uFillTx/>
              <a:latin typeface="Arial"/>
            </a:endParaRPr>
          </a:p>
        </p:txBody>
      </p:sp>
      <p:sp>
        <p:nvSpPr>
          <p:cNvPr id="85" name="Shape 11"/>
          <p:cNvSpPr/>
          <p:nvPr/>
        </p:nvSpPr>
        <p:spPr>
          <a:xfrm>
            <a:off x="548640" y="50749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86" name="Text 12"/>
          <p:cNvSpPr/>
          <p:nvPr/>
        </p:nvSpPr>
        <p:spPr>
          <a:xfrm>
            <a:off x="548640" y="50749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87" name="Text 13"/>
          <p:cNvSpPr/>
          <p:nvPr/>
        </p:nvSpPr>
        <p:spPr>
          <a:xfrm>
            <a:off x="1325880" y="50749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pipe only works inside LangChain's own functions</a:t>
            </a:r>
            <a:endParaRPr lang="en-IN" sz="1700" b="0" u="none" strike="noStrike">
              <a:solidFill>
                <a:srgbClr val="000000"/>
              </a:solidFill>
              <a:effectLst/>
              <a:uFillTx/>
              <a:latin typeface="Arial"/>
            </a:endParaRPr>
          </a:p>
        </p:txBody>
      </p:sp>
      <p:sp>
        <p:nvSpPr>
          <p:cNvPr id="88"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89"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9</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90"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02</a:t>
            </a:r>
            <a:endParaRPr lang="en-IN" sz="9600" b="0" u="none" strike="noStrike">
              <a:solidFill>
                <a:srgbClr val="000000"/>
              </a:solidFill>
              <a:effectLst/>
              <a:uFillTx/>
              <a:latin typeface="Arial"/>
            </a:endParaRPr>
          </a:p>
        </p:txBody>
      </p:sp>
      <p:sp>
        <p:nvSpPr>
          <p:cNvPr id="91"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Real documents</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A PDF in, page strings out</a:t>
            </a:r>
            <a:endParaRPr lang="en-IN" sz="3000" b="0" u="none" strike="noStrike">
              <a:solidFill>
                <a:srgbClr val="000000"/>
              </a:solidFill>
              <a:effectLst/>
              <a:uFillTx/>
              <a:latin typeface="Arial"/>
            </a:endParaRPr>
          </a:p>
        </p:txBody>
      </p:sp>
      <p:sp>
        <p:nvSpPr>
          <p:cNvPr id="93" name="Shape 1"/>
          <p:cNvSpPr/>
          <p:nvPr/>
        </p:nvSpPr>
        <p:spPr>
          <a:xfrm>
            <a:off x="548640" y="1463040"/>
            <a:ext cx="6857640" cy="2011320"/>
          </a:xfrm>
          <a:prstGeom prst="roundRect">
            <a:avLst>
              <a:gd name="adj" fmla="val 2727"/>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4" name="Text 2"/>
          <p:cNvSpPr/>
          <p:nvPr/>
        </p:nvSpPr>
        <p:spPr>
          <a:xfrm>
            <a:off x="804600" y="1645920"/>
            <a:ext cx="6345720" cy="16455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1E293B"/>
                </a:solidFill>
                <a:effectLst/>
                <a:uFillTx/>
                <a:latin typeface="Courier New"/>
                <a:ea typeface="Courier New"/>
              </a:rPr>
              <a:t>from pypdf import PdfReader</a:t>
            </a:r>
            <a:endParaRPr lang="en-IN" sz="1250" b="0" u="none" strike="noStrike">
              <a:solidFill>
                <a:srgbClr val="000000"/>
              </a:solidFill>
              <a:effectLst/>
              <a:uFillTx/>
              <a:latin typeface="Arial"/>
            </a:endParaRPr>
          </a:p>
          <a:p>
            <a:pPr defTabSz="914400">
              <a:lnSpc>
                <a:spcPct val="115000"/>
              </a:lnSpc>
              <a:tabLst>
                <a:tab pos="0" algn="l"/>
              </a:tabLst>
            </a:pP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reader = PdfReader("lpu_exam_policy.pdf")</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page_texts = [page.extract_text()</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for page in reader.pages]</a:t>
            </a:r>
            <a:endParaRPr lang="en-IN" sz="1250" b="0" u="none" strike="noStrike">
              <a:solidFill>
                <a:srgbClr val="000000"/>
              </a:solidFill>
              <a:effectLst/>
              <a:uFillTx/>
              <a:latin typeface="Arial"/>
            </a:endParaRPr>
          </a:p>
          <a:p>
            <a:pPr defTabSz="914400">
              <a:lnSpc>
                <a:spcPct val="115000"/>
              </a:lnSpc>
              <a:tabLst>
                <a:tab pos="0" algn="l"/>
              </a:tabLst>
            </a:pP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len(page_texts)      # 8</a:t>
            </a:r>
            <a:endParaRPr lang="en-IN" sz="1250" b="0" u="none" strike="noStrike">
              <a:solidFill>
                <a:srgbClr val="000000"/>
              </a:solidFill>
              <a:effectLst/>
              <a:uFillTx/>
              <a:latin typeface="Arial"/>
            </a:endParaRPr>
          </a:p>
        </p:txBody>
      </p:sp>
      <p:sp>
        <p:nvSpPr>
          <p:cNvPr id="95" name="Shape 3"/>
          <p:cNvSpPr/>
          <p:nvPr/>
        </p:nvSpPr>
        <p:spPr>
          <a:xfrm>
            <a:off x="7772400" y="1463040"/>
            <a:ext cx="3840120" cy="2011320"/>
          </a:xfrm>
          <a:prstGeom prst="roundRect">
            <a:avLst>
              <a:gd name="adj" fmla="val 4545"/>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6" name="Text 4"/>
          <p:cNvSpPr/>
          <p:nvPr/>
        </p:nvSpPr>
        <p:spPr>
          <a:xfrm>
            <a:off x="8046720" y="1664280"/>
            <a:ext cx="33829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That's it</a:t>
            </a:r>
            <a:endParaRPr lang="en-IN" sz="1600" b="0" u="none" strike="noStrike">
              <a:solidFill>
                <a:srgbClr val="000000"/>
              </a:solidFill>
              <a:effectLst/>
              <a:uFillTx/>
              <a:latin typeface="Arial"/>
            </a:endParaRPr>
          </a:p>
        </p:txBody>
      </p:sp>
      <p:sp>
        <p:nvSpPr>
          <p:cNvPr id="97" name="Text 5"/>
          <p:cNvSpPr/>
          <p:nvPr/>
        </p:nvSpPr>
        <p:spPr>
          <a:xfrm>
            <a:off x="8046720" y="2103120"/>
            <a:ext cx="338292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alibri"/>
                <a:ea typeface="Calibri"/>
              </a:rPr>
              <a:t>“Document loading” is a PDF in and a list of strings out. No magic.</a:t>
            </a:r>
            <a:endParaRPr lang="en-IN" sz="1400" b="0" u="none" strike="noStrike">
              <a:solidFill>
                <a:srgbClr val="000000"/>
              </a:solidFill>
              <a:effectLst/>
              <a:uFillTx/>
              <a:latin typeface="Arial"/>
            </a:endParaRPr>
          </a:p>
        </p:txBody>
      </p:sp>
      <p:sp>
        <p:nvSpPr>
          <p:cNvPr id="98" name="Shape 6"/>
          <p:cNvSpPr/>
          <p:nvPr/>
        </p:nvSpPr>
        <p:spPr>
          <a:xfrm>
            <a:off x="548640" y="3749040"/>
            <a:ext cx="11091240" cy="2331360"/>
          </a:xfrm>
          <a:prstGeom prst="roundRect">
            <a:avLst>
              <a:gd name="adj" fmla="val 3922"/>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9" name="Text 7"/>
          <p:cNvSpPr/>
          <p:nvPr/>
        </p:nvSpPr>
        <p:spPr>
          <a:xfrm>
            <a:off x="868680" y="3931920"/>
            <a:ext cx="104238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B91C1C"/>
                </a:solidFill>
                <a:effectLst/>
                <a:uFillTx/>
                <a:latin typeface="Calibri"/>
                <a:ea typeface="Calibri"/>
              </a:rPr>
              <a:t>Real PDFs are far worse than this one</a:t>
            </a:r>
            <a:endParaRPr lang="en-IN" sz="1800" b="0" u="none" strike="noStrike">
              <a:solidFill>
                <a:srgbClr val="000000"/>
              </a:solidFill>
              <a:effectLst/>
              <a:uFillTx/>
              <a:latin typeface="Arial"/>
            </a:endParaRPr>
          </a:p>
        </p:txBody>
      </p:sp>
      <p:sp>
        <p:nvSpPr>
          <p:cNvPr id="100" name="Text 8"/>
          <p:cNvSpPr/>
          <p:nvPr/>
        </p:nvSpPr>
        <p:spPr>
          <a:xfrm>
            <a:off x="868680" y="4434840"/>
            <a:ext cx="26514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91C1C"/>
                </a:solidFill>
                <a:effectLst/>
                <a:uFillTx/>
                <a:latin typeface="Calibri"/>
                <a:ea typeface="Calibri"/>
              </a:rPr>
              <a:t>Scanned pages</a:t>
            </a:r>
            <a:endParaRPr lang="en-IN" sz="1400" b="0" u="none" strike="noStrike">
              <a:solidFill>
                <a:srgbClr val="000000"/>
              </a:solidFill>
              <a:effectLst/>
              <a:uFillTx/>
              <a:latin typeface="Arial"/>
            </a:endParaRPr>
          </a:p>
        </p:txBody>
      </p:sp>
      <p:sp>
        <p:nvSpPr>
          <p:cNvPr id="101" name="Text 9"/>
          <p:cNvSpPr/>
          <p:nvPr/>
        </p:nvSpPr>
        <p:spPr>
          <a:xfrm>
            <a:off x="3611880" y="4434840"/>
            <a:ext cx="76806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no text layer at all — extract_text() returns empty strings. You need OCR.</a:t>
            </a:r>
            <a:endParaRPr lang="en-IN" sz="1350" b="0" u="none" strike="noStrike">
              <a:solidFill>
                <a:srgbClr val="000000"/>
              </a:solidFill>
              <a:effectLst/>
              <a:uFillTx/>
              <a:latin typeface="Arial"/>
            </a:endParaRPr>
          </a:p>
        </p:txBody>
      </p:sp>
      <p:sp>
        <p:nvSpPr>
          <p:cNvPr id="102" name="Text 10"/>
          <p:cNvSpPr/>
          <p:nvPr/>
        </p:nvSpPr>
        <p:spPr>
          <a:xfrm>
            <a:off x="868680" y="4937760"/>
            <a:ext cx="26514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91C1C"/>
                </a:solidFill>
                <a:effectLst/>
                <a:uFillTx/>
                <a:latin typeface="Calibri"/>
                <a:ea typeface="Calibri"/>
              </a:rPr>
              <a:t>Two-column layouts</a:t>
            </a:r>
            <a:endParaRPr lang="en-IN" sz="1400" b="0" u="none" strike="noStrike">
              <a:solidFill>
                <a:srgbClr val="000000"/>
              </a:solidFill>
              <a:effectLst/>
              <a:uFillTx/>
              <a:latin typeface="Arial"/>
            </a:endParaRPr>
          </a:p>
        </p:txBody>
      </p:sp>
      <p:sp>
        <p:nvSpPr>
          <p:cNvPr id="103" name="Text 11"/>
          <p:cNvSpPr/>
          <p:nvPr/>
        </p:nvSpPr>
        <p:spPr>
          <a:xfrm>
            <a:off x="3611880" y="4937760"/>
            <a:ext cx="76806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extract in the wrong reading order, so sentences interleave</a:t>
            </a:r>
            <a:endParaRPr lang="en-IN" sz="1350" b="0" u="none" strike="noStrike">
              <a:solidFill>
                <a:srgbClr val="000000"/>
              </a:solidFill>
              <a:effectLst/>
              <a:uFillTx/>
              <a:latin typeface="Arial"/>
            </a:endParaRPr>
          </a:p>
        </p:txBody>
      </p:sp>
      <p:sp>
        <p:nvSpPr>
          <p:cNvPr id="104" name="Text 12"/>
          <p:cNvSpPr/>
          <p:nvPr/>
        </p:nvSpPr>
        <p:spPr>
          <a:xfrm>
            <a:off x="868680" y="5440680"/>
            <a:ext cx="26514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91C1C"/>
                </a:solidFill>
                <a:effectLst/>
                <a:uFillTx/>
                <a:latin typeface="Calibri"/>
                <a:ea typeface="Calibri"/>
              </a:rPr>
              <a:t>Tables</a:t>
            </a:r>
            <a:endParaRPr lang="en-IN" sz="1400" b="0" u="none" strike="noStrike">
              <a:solidFill>
                <a:srgbClr val="000000"/>
              </a:solidFill>
              <a:effectLst/>
              <a:uFillTx/>
              <a:latin typeface="Arial"/>
            </a:endParaRPr>
          </a:p>
        </p:txBody>
      </p:sp>
      <p:sp>
        <p:nvSpPr>
          <p:cNvPr id="105" name="Text 13"/>
          <p:cNvSpPr/>
          <p:nvPr/>
        </p:nvSpPr>
        <p:spPr>
          <a:xfrm>
            <a:off x="3611880" y="5440680"/>
            <a:ext cx="76806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come out as word soup with the structure gone</a:t>
            </a:r>
            <a:endParaRPr lang="en-IN" sz="1350" b="0" u="none" strike="noStrike">
              <a:solidFill>
                <a:srgbClr val="000000"/>
              </a:solidFill>
              <a:effectLst/>
              <a:uFillTx/>
              <a:latin typeface="Arial"/>
            </a:endParaRPr>
          </a:p>
        </p:txBody>
      </p:sp>
      <p:sp>
        <p:nvSpPr>
          <p:cNvPr id="106"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107"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11</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Metadata is the whole point</a:t>
            </a:r>
            <a:endParaRPr lang="en-IN" sz="3000" b="0" u="none" strike="noStrike">
              <a:solidFill>
                <a:srgbClr val="000000"/>
              </a:solidFill>
              <a:effectLst/>
              <a:uFillTx/>
              <a:latin typeface="Arial"/>
            </a:endParaRPr>
          </a:p>
        </p:txBody>
      </p:sp>
      <p:sp>
        <p:nvSpPr>
          <p:cNvPr id="109" name="Shape 1"/>
          <p:cNvSpPr/>
          <p:nvPr/>
        </p:nvSpPr>
        <p:spPr>
          <a:xfrm>
            <a:off x="548640" y="1417320"/>
            <a:ext cx="6857640" cy="1828440"/>
          </a:xfrm>
          <a:prstGeom prst="roundRect">
            <a:avLst>
              <a:gd name="adj" fmla="val 30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0" name="Text 2"/>
          <p:cNvSpPr/>
          <p:nvPr/>
        </p:nvSpPr>
        <p:spPr>
          <a:xfrm>
            <a:off x="804600" y="1600200"/>
            <a:ext cx="6345720" cy="14626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1E293B"/>
                </a:solidFill>
                <a:effectLst/>
                <a:uFillTx/>
                <a:latin typeface="Courier New"/>
                <a:ea typeface="Courier New"/>
              </a:rPr>
              <a:t>chunks = splitter.create_documents(</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page_texts,</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metadatas=[{"source": "lpu_exam_policy.pdf",</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"page": i + 1}</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for i in range(len(page_texts))],</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a:t>
            </a:r>
            <a:endParaRPr lang="en-IN" sz="1250" b="0" u="none" strike="noStrike">
              <a:solidFill>
                <a:srgbClr val="000000"/>
              </a:solidFill>
              <a:effectLst/>
              <a:uFillTx/>
              <a:latin typeface="Arial"/>
            </a:endParaRPr>
          </a:p>
        </p:txBody>
      </p:sp>
      <p:sp>
        <p:nvSpPr>
          <p:cNvPr id="111" name="Shape 3"/>
          <p:cNvSpPr/>
          <p:nvPr/>
        </p:nvSpPr>
        <p:spPr>
          <a:xfrm>
            <a:off x="7772400" y="1417320"/>
            <a:ext cx="3840120" cy="1828440"/>
          </a:xfrm>
          <a:prstGeom prst="roundRect">
            <a:avLst>
              <a:gd name="adj" fmla="val 5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2" name="Text 4"/>
          <p:cNvSpPr/>
          <p:nvPr/>
        </p:nvSpPr>
        <p:spPr>
          <a:xfrm>
            <a:off x="8046720" y="1572840"/>
            <a:ext cx="33829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A Document is</a:t>
            </a:r>
            <a:endParaRPr lang="en-IN"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rgbClr val="6366F1"/>
                </a:solidFill>
                <a:effectLst/>
                <a:uFillTx/>
                <a:latin typeface="Calibri"/>
                <a:ea typeface="Calibri"/>
              </a:rPr>
              <a:t>exactly two things</a:t>
            </a:r>
            <a:endParaRPr lang="en-IN" sz="1600" b="0" u="none" strike="noStrike">
              <a:solidFill>
                <a:srgbClr val="000000"/>
              </a:solidFill>
              <a:effectLst/>
              <a:uFillTx/>
              <a:latin typeface="Arial"/>
            </a:endParaRPr>
          </a:p>
        </p:txBody>
      </p:sp>
      <p:sp>
        <p:nvSpPr>
          <p:cNvPr id="113" name="Text 5"/>
          <p:cNvSpPr/>
          <p:nvPr/>
        </p:nvSpPr>
        <p:spPr>
          <a:xfrm>
            <a:off x="8046720" y="2286000"/>
            <a:ext cx="338292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E293B"/>
                </a:solidFill>
                <a:effectLst/>
                <a:uFillTx/>
                <a:latin typeface="Courier New"/>
                <a:ea typeface="Courier New"/>
              </a:rPr>
              <a:t>page_content</a:t>
            </a:r>
            <a:endParaRPr lang="en-IN" sz="1400" b="0" u="none" strike="noStrike">
              <a:solidFill>
                <a:srgbClr val="000000"/>
              </a:solidFill>
              <a:effectLst/>
              <a:uFillTx/>
              <a:latin typeface="Arial"/>
            </a:endParaRPr>
          </a:p>
          <a:p>
            <a:pPr defTabSz="914400">
              <a:lnSpc>
                <a:spcPct val="100000"/>
              </a:lnSpc>
              <a:tabLst>
                <a:tab pos="0" algn="l"/>
              </a:tabLst>
            </a:pPr>
            <a:r>
              <a:rPr lang="en-US" sz="1400" b="1" u="none" strike="noStrike">
                <a:solidFill>
                  <a:srgbClr val="1E293B"/>
                </a:solidFill>
                <a:effectLst/>
                <a:uFillTx/>
                <a:latin typeface="Courier New"/>
                <a:ea typeface="Courier New"/>
              </a:rPr>
              <a:t>metadata</a:t>
            </a:r>
            <a:endParaRPr lang="en-IN" sz="1400" b="0" u="none" strike="noStrike">
              <a:solidFill>
                <a:srgbClr val="000000"/>
              </a:solidFill>
              <a:effectLst/>
              <a:uFillTx/>
              <a:latin typeface="Arial"/>
            </a:endParaRPr>
          </a:p>
        </p:txBody>
      </p:sp>
      <p:sp>
        <p:nvSpPr>
          <p:cNvPr id="114" name="Text 6"/>
          <p:cNvSpPr/>
          <p:nvPr/>
        </p:nvSpPr>
        <p:spPr>
          <a:xfrm>
            <a:off x="548640" y="342900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The journey of one page number:</a:t>
            </a:r>
            <a:endParaRPr lang="en-IN" sz="1500" b="0" u="none" strike="noStrike">
              <a:solidFill>
                <a:srgbClr val="000000"/>
              </a:solidFill>
              <a:effectLst/>
              <a:uFillTx/>
              <a:latin typeface="Arial"/>
            </a:endParaRPr>
          </a:p>
        </p:txBody>
      </p:sp>
      <p:sp>
        <p:nvSpPr>
          <p:cNvPr id="115" name="Shape 7"/>
          <p:cNvSpPr/>
          <p:nvPr/>
        </p:nvSpPr>
        <p:spPr>
          <a:xfrm>
            <a:off x="548640" y="3886200"/>
            <a:ext cx="1874160" cy="776880"/>
          </a:xfrm>
          <a:prstGeom prst="roundRect">
            <a:avLst>
              <a:gd name="adj" fmla="val 11765"/>
            </a:avLst>
          </a:prstGeom>
          <a:solidFill>
            <a:srgbClr val="FFFFFF"/>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6" name="Text 8"/>
          <p:cNvSpPr/>
          <p:nvPr/>
        </p:nvSpPr>
        <p:spPr>
          <a:xfrm>
            <a:off x="548640" y="3886200"/>
            <a:ext cx="187416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1E293B"/>
                </a:solidFill>
                <a:effectLst/>
                <a:uFillTx/>
                <a:latin typeface="Calibri"/>
                <a:ea typeface="Calibri"/>
              </a:rPr>
              <a:t>PDF</a:t>
            </a:r>
            <a:endParaRPr lang="en-IN" sz="1500" b="0" u="none" strike="noStrike">
              <a:solidFill>
                <a:srgbClr val="000000"/>
              </a:solidFill>
              <a:effectLst/>
              <a:uFillTx/>
              <a:latin typeface="Arial"/>
            </a:endParaRPr>
          </a:p>
        </p:txBody>
      </p:sp>
      <p:sp>
        <p:nvSpPr>
          <p:cNvPr id="117" name="Shape 9"/>
          <p:cNvSpPr/>
          <p:nvPr/>
        </p:nvSpPr>
        <p:spPr>
          <a:xfrm>
            <a:off x="2459880" y="4160520"/>
            <a:ext cx="255600" cy="25560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18" name="Shape 10"/>
          <p:cNvSpPr/>
          <p:nvPr/>
        </p:nvSpPr>
        <p:spPr>
          <a:xfrm>
            <a:off x="2788920" y="3886200"/>
            <a:ext cx="1874160" cy="776880"/>
          </a:xfrm>
          <a:prstGeom prst="roundRect">
            <a:avLst>
              <a:gd name="adj" fmla="val 11765"/>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9" name="Text 11"/>
          <p:cNvSpPr/>
          <p:nvPr/>
        </p:nvSpPr>
        <p:spPr>
          <a:xfrm>
            <a:off x="2788920" y="3886200"/>
            <a:ext cx="187416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6366F1"/>
                </a:solidFill>
                <a:effectLst/>
                <a:uFillTx/>
                <a:latin typeface="Calibri"/>
                <a:ea typeface="Calibri"/>
              </a:rPr>
              <a:t>splitter</a:t>
            </a:r>
            <a:endParaRPr lang="en-IN" sz="1500" b="0" u="none" strike="noStrike">
              <a:solidFill>
                <a:srgbClr val="000000"/>
              </a:solidFill>
              <a:effectLst/>
              <a:uFillTx/>
              <a:latin typeface="Arial"/>
            </a:endParaRPr>
          </a:p>
        </p:txBody>
      </p:sp>
      <p:sp>
        <p:nvSpPr>
          <p:cNvPr id="120" name="Shape 12"/>
          <p:cNvSpPr/>
          <p:nvPr/>
        </p:nvSpPr>
        <p:spPr>
          <a:xfrm>
            <a:off x="4700160" y="4160520"/>
            <a:ext cx="255600" cy="25560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21" name="Shape 13"/>
          <p:cNvSpPr/>
          <p:nvPr/>
        </p:nvSpPr>
        <p:spPr>
          <a:xfrm>
            <a:off x="5029200" y="3886200"/>
            <a:ext cx="1874160" cy="776880"/>
          </a:xfrm>
          <a:prstGeom prst="roundRect">
            <a:avLst>
              <a:gd name="adj" fmla="val 11765"/>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2" name="Text 14"/>
          <p:cNvSpPr/>
          <p:nvPr/>
        </p:nvSpPr>
        <p:spPr>
          <a:xfrm>
            <a:off x="5029200" y="3886200"/>
            <a:ext cx="187416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6366F1"/>
                </a:solidFill>
                <a:effectLst/>
                <a:uFillTx/>
                <a:latin typeface="Calibri"/>
                <a:ea typeface="Calibri"/>
              </a:rPr>
              <a:t>vector DB</a:t>
            </a:r>
            <a:endParaRPr lang="en-IN" sz="1500" b="0" u="none" strike="noStrike">
              <a:solidFill>
                <a:srgbClr val="000000"/>
              </a:solidFill>
              <a:effectLst/>
              <a:uFillTx/>
              <a:latin typeface="Arial"/>
            </a:endParaRPr>
          </a:p>
        </p:txBody>
      </p:sp>
      <p:sp>
        <p:nvSpPr>
          <p:cNvPr id="123" name="Shape 15"/>
          <p:cNvSpPr/>
          <p:nvPr/>
        </p:nvSpPr>
        <p:spPr>
          <a:xfrm>
            <a:off x="6940440" y="4160520"/>
            <a:ext cx="255600" cy="25560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24" name="Shape 16"/>
          <p:cNvSpPr/>
          <p:nvPr/>
        </p:nvSpPr>
        <p:spPr>
          <a:xfrm>
            <a:off x="7269480" y="3886200"/>
            <a:ext cx="1874160" cy="776880"/>
          </a:xfrm>
          <a:prstGeom prst="roundRect">
            <a:avLst>
              <a:gd name="adj" fmla="val 11765"/>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5" name="Text 17"/>
          <p:cNvSpPr/>
          <p:nvPr/>
        </p:nvSpPr>
        <p:spPr>
          <a:xfrm>
            <a:off x="7269480" y="3886200"/>
            <a:ext cx="187416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6366F1"/>
                </a:solidFill>
                <a:effectLst/>
                <a:uFillTx/>
                <a:latin typeface="Calibri"/>
                <a:ea typeface="Calibri"/>
              </a:rPr>
              <a:t>retrieved</a:t>
            </a:r>
            <a:endParaRPr lang="en-IN" sz="1500" b="0" u="none" strike="noStrike">
              <a:solidFill>
                <a:srgbClr val="000000"/>
              </a:solidFill>
              <a:effectLst/>
              <a:uFillTx/>
              <a:latin typeface="Arial"/>
            </a:endParaRPr>
          </a:p>
        </p:txBody>
      </p:sp>
      <p:sp>
        <p:nvSpPr>
          <p:cNvPr id="126" name="Shape 18"/>
          <p:cNvSpPr/>
          <p:nvPr/>
        </p:nvSpPr>
        <p:spPr>
          <a:xfrm>
            <a:off x="9180720" y="4160520"/>
            <a:ext cx="255600" cy="25560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27" name="Shape 19"/>
          <p:cNvSpPr/>
          <p:nvPr/>
        </p:nvSpPr>
        <p:spPr>
          <a:xfrm>
            <a:off x="9509760" y="3886200"/>
            <a:ext cx="1874160" cy="776880"/>
          </a:xfrm>
          <a:prstGeom prst="roundRect">
            <a:avLst>
              <a:gd name="adj" fmla="val 11765"/>
            </a:avLst>
          </a:prstGeom>
          <a:solidFill>
            <a:srgbClr val="F0FDF4"/>
          </a:solidFill>
          <a:ln w="12700">
            <a:solidFill>
              <a:srgbClr val="15803D"/>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8" name="Text 20"/>
          <p:cNvSpPr/>
          <p:nvPr/>
        </p:nvSpPr>
        <p:spPr>
          <a:xfrm>
            <a:off x="9509760" y="3886200"/>
            <a:ext cx="187416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15803D"/>
                </a:solidFill>
                <a:effectLst/>
                <a:uFillTx/>
                <a:latin typeface="Calibri"/>
                <a:ea typeface="Calibri"/>
              </a:rPr>
              <a:t>citation</a:t>
            </a:r>
            <a:endParaRPr lang="en-IN" sz="1500" b="0" u="none" strike="noStrike">
              <a:solidFill>
                <a:srgbClr val="000000"/>
              </a:solidFill>
              <a:effectLst/>
              <a:uFillTx/>
              <a:latin typeface="Arial"/>
            </a:endParaRPr>
          </a:p>
        </p:txBody>
      </p:sp>
      <p:sp>
        <p:nvSpPr>
          <p:cNvPr id="129" name="Shape 21"/>
          <p:cNvSpPr/>
          <p:nvPr/>
        </p:nvSpPr>
        <p:spPr>
          <a:xfrm>
            <a:off x="548640" y="5029200"/>
            <a:ext cx="11091240" cy="1051200"/>
          </a:xfrm>
          <a:prstGeom prst="roundRect">
            <a:avLst>
              <a:gd name="adj" fmla="val 8696"/>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30" name="Text 22"/>
          <p:cNvSpPr/>
          <p:nvPr/>
        </p:nvSpPr>
        <p:spPr>
          <a:xfrm>
            <a:off x="868680" y="5029200"/>
            <a:ext cx="10423800" cy="1051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Attach metadata at split time, not later.  </a:t>
            </a:r>
            <a:r>
              <a:rPr lang="en-US" sz="1500" b="0" u="none" strike="noStrike">
                <a:solidFill>
                  <a:srgbClr val="1E293B"/>
                </a:solidFill>
                <a:effectLst/>
                <a:uFillTx/>
                <a:latin typeface="Calibri"/>
                <a:ea typeface="Calibri"/>
              </a:rPr>
              <a:t>Once chunks are embedded and stored, working out which page a chunk came from means redoing the work. That page number is what turns an answer you must trust into an answer you can check.</a:t>
            </a:r>
            <a:endParaRPr lang="en-IN" sz="1500" b="0" u="none" strike="noStrike">
              <a:solidFill>
                <a:srgbClr val="000000"/>
              </a:solidFill>
              <a:effectLst/>
              <a:uFillTx/>
              <a:latin typeface="Arial"/>
            </a:endParaRPr>
          </a:p>
        </p:txBody>
      </p:sp>
      <p:sp>
        <p:nvSpPr>
          <p:cNvPr id="131" name="Text 23"/>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132" name="Text 24"/>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12</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134" name="Text 1"/>
          <p:cNvSpPr/>
          <p:nvPr/>
        </p:nvSpPr>
        <p:spPr>
          <a:xfrm>
            <a:off x="548640" y="1051560"/>
            <a:ext cx="11091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Where does the page number in a citation come from?</a:t>
            </a:r>
            <a:endParaRPr lang="en-IN" sz="2500" b="0" u="none" strike="noStrike">
              <a:solidFill>
                <a:srgbClr val="000000"/>
              </a:solidFill>
              <a:effectLst/>
              <a:uFillTx/>
              <a:latin typeface="Arial"/>
            </a:endParaRPr>
          </a:p>
        </p:txBody>
      </p:sp>
      <p:sp>
        <p:nvSpPr>
          <p:cNvPr id="135" name="Shape 2"/>
          <p:cNvSpPr/>
          <p:nvPr/>
        </p:nvSpPr>
        <p:spPr>
          <a:xfrm>
            <a:off x="548640" y="24688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36" name="Text 3"/>
          <p:cNvSpPr/>
          <p:nvPr/>
        </p:nvSpPr>
        <p:spPr>
          <a:xfrm>
            <a:off x="548640" y="24688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137" name="Text 4"/>
          <p:cNvSpPr/>
          <p:nvPr/>
        </p:nvSpPr>
        <p:spPr>
          <a:xfrm>
            <a:off x="1325880" y="24688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chunk's metadata, carried from the loader</a:t>
            </a:r>
            <a:endParaRPr lang="en-IN" sz="1700" b="0" u="none" strike="noStrike">
              <a:solidFill>
                <a:srgbClr val="000000"/>
              </a:solidFill>
              <a:effectLst/>
              <a:uFillTx/>
              <a:latin typeface="Arial"/>
            </a:endParaRPr>
          </a:p>
        </p:txBody>
      </p:sp>
      <p:sp>
        <p:nvSpPr>
          <p:cNvPr id="138" name="Shape 5"/>
          <p:cNvSpPr/>
          <p:nvPr/>
        </p:nvSpPr>
        <p:spPr>
          <a:xfrm>
            <a:off x="548640" y="333756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39" name="Text 6"/>
          <p:cNvSpPr/>
          <p:nvPr/>
        </p:nvSpPr>
        <p:spPr>
          <a:xfrm>
            <a:off x="548640" y="333756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140" name="Text 7"/>
          <p:cNvSpPr/>
          <p:nvPr/>
        </p:nvSpPr>
        <p:spPr>
          <a:xfrm>
            <a:off x="1325880" y="333756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model reads it off the document and reports it</a:t>
            </a:r>
            <a:endParaRPr lang="en-IN" sz="1700" b="0" u="none" strike="noStrike">
              <a:solidFill>
                <a:srgbClr val="000000"/>
              </a:solidFill>
              <a:effectLst/>
              <a:uFillTx/>
              <a:latin typeface="Arial"/>
            </a:endParaRPr>
          </a:p>
        </p:txBody>
      </p:sp>
      <p:sp>
        <p:nvSpPr>
          <p:cNvPr id="141" name="Shape 8"/>
          <p:cNvSpPr/>
          <p:nvPr/>
        </p:nvSpPr>
        <p:spPr>
          <a:xfrm>
            <a:off x="548640" y="42062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42" name="Text 9"/>
          <p:cNvSpPr/>
          <p:nvPr/>
        </p:nvSpPr>
        <p:spPr>
          <a:xfrm>
            <a:off x="548640" y="42062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143" name="Text 10"/>
          <p:cNvSpPr/>
          <p:nvPr/>
        </p:nvSpPr>
        <p:spPr>
          <a:xfrm>
            <a:off x="1325880" y="42062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vector store generates it at query time</a:t>
            </a:r>
            <a:endParaRPr lang="en-IN" sz="1700" b="0" u="none" strike="noStrike">
              <a:solidFill>
                <a:srgbClr val="000000"/>
              </a:solidFill>
              <a:effectLst/>
              <a:uFillTx/>
              <a:latin typeface="Arial"/>
            </a:endParaRPr>
          </a:p>
        </p:txBody>
      </p:sp>
      <p:sp>
        <p:nvSpPr>
          <p:cNvPr id="144" name="Shape 11"/>
          <p:cNvSpPr/>
          <p:nvPr/>
        </p:nvSpPr>
        <p:spPr>
          <a:xfrm>
            <a:off x="548640" y="50749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45" name="Text 12"/>
          <p:cNvSpPr/>
          <p:nvPr/>
        </p:nvSpPr>
        <p:spPr>
          <a:xfrm>
            <a:off x="548640" y="50749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146" name="Text 13"/>
          <p:cNvSpPr/>
          <p:nvPr/>
        </p:nvSpPr>
        <p:spPr>
          <a:xfrm>
            <a:off x="1325880" y="50749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You count the characters and divide by page length</a:t>
            </a:r>
            <a:endParaRPr lang="en-IN" sz="1700" b="0" u="none" strike="noStrike">
              <a:solidFill>
                <a:srgbClr val="000000"/>
              </a:solidFill>
              <a:effectLst/>
              <a:uFillTx/>
              <a:latin typeface="Arial"/>
            </a:endParaRPr>
          </a:p>
        </p:txBody>
      </p:sp>
      <p:sp>
        <p:nvSpPr>
          <p:cNvPr id="147"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148"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149"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03</a:t>
            </a:r>
            <a:endParaRPr lang="en-IN" sz="9600" b="0" u="none" strike="noStrike">
              <a:solidFill>
                <a:srgbClr val="000000"/>
              </a:solidFill>
              <a:effectLst/>
              <a:uFillTx/>
              <a:latin typeface="Arial"/>
            </a:endParaRPr>
          </a:p>
        </p:txBody>
      </p:sp>
      <p:sp>
        <p:nvSpPr>
          <p:cNvPr id="150"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Grounding</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First, watch it lie</a:t>
            </a:r>
            <a:endParaRPr lang="en-IN" sz="3000" b="0" u="none" strike="noStrike">
              <a:solidFill>
                <a:srgbClr val="000000"/>
              </a:solidFill>
              <a:effectLst/>
              <a:uFillTx/>
              <a:latin typeface="Arial"/>
            </a:endParaRPr>
          </a:p>
        </p:txBody>
      </p:sp>
      <p:sp>
        <p:nvSpPr>
          <p:cNvPr id="152" name="Shape 1"/>
          <p:cNvSpPr/>
          <p:nvPr/>
        </p:nvSpPr>
        <p:spPr>
          <a:xfrm>
            <a:off x="548640" y="1463040"/>
            <a:ext cx="11091240" cy="914040"/>
          </a:xfrm>
          <a:prstGeom prst="roundRect">
            <a:avLst>
              <a:gd name="adj" fmla="val 60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3" name="Text 2"/>
          <p:cNvSpPr/>
          <p:nvPr/>
        </p:nvSpPr>
        <p:spPr>
          <a:xfrm>
            <a:off x="804600" y="1645920"/>
            <a:ext cx="10579320" cy="5482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1E293B"/>
                </a:solidFill>
                <a:effectLst/>
                <a:uFillTx/>
                <a:latin typeface="Courier New"/>
                <a:ea typeface="Courier New"/>
              </a:rPr>
              <a:t>llm.invoke("What is the re-evaluation fee at LPU, and how many days do I have to apply?")</a:t>
            </a:r>
            <a:endParaRPr lang="en-IN" sz="1300" b="0" u="none" strike="noStrike">
              <a:solidFill>
                <a:srgbClr val="000000"/>
              </a:solidFill>
              <a:effectLst/>
              <a:uFillTx/>
              <a:latin typeface="Arial"/>
            </a:endParaRPr>
          </a:p>
        </p:txBody>
      </p:sp>
      <p:sp>
        <p:nvSpPr>
          <p:cNvPr id="154" name="Shape 3"/>
          <p:cNvSpPr/>
          <p:nvPr/>
        </p:nvSpPr>
        <p:spPr>
          <a:xfrm>
            <a:off x="548640" y="2606040"/>
            <a:ext cx="11091240" cy="1599840"/>
          </a:xfrm>
          <a:prstGeom prst="roundRect">
            <a:avLst>
              <a:gd name="adj" fmla="val 5714"/>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5" name="Text 4"/>
          <p:cNvSpPr/>
          <p:nvPr/>
        </p:nvSpPr>
        <p:spPr>
          <a:xfrm>
            <a:off x="868680" y="2761560"/>
            <a:ext cx="104238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91C1C"/>
                </a:solidFill>
                <a:effectLst/>
                <a:uFillTx/>
                <a:latin typeface="Calibri"/>
                <a:ea typeface="Calibri"/>
              </a:rPr>
              <a:t>The answer comes back…</a:t>
            </a:r>
            <a:endParaRPr lang="en-IN" sz="1300" b="0" u="none" strike="noStrike">
              <a:solidFill>
                <a:srgbClr val="000000"/>
              </a:solidFill>
              <a:effectLst/>
              <a:uFillTx/>
              <a:latin typeface="Arial"/>
            </a:endParaRPr>
          </a:p>
        </p:txBody>
      </p:sp>
      <p:sp>
        <p:nvSpPr>
          <p:cNvPr id="156" name="Text 5"/>
          <p:cNvSpPr/>
          <p:nvPr/>
        </p:nvSpPr>
        <p:spPr>
          <a:xfrm>
            <a:off x="868680" y="3154680"/>
            <a:ext cx="10423800" cy="95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ourier New"/>
                <a:ea typeface="Courier New"/>
              </a:rPr>
              <a:t>“The re-evaluation fee at LPU is approximately Rs. 500 per subject, and applications must be submitted within 30 days of the declaration of results…”</a:t>
            </a:r>
            <a:endParaRPr lang="en-IN" sz="1300" b="0" u="none" strike="noStrike">
              <a:solidFill>
                <a:srgbClr val="000000"/>
              </a:solidFill>
              <a:effectLst/>
              <a:uFillTx/>
              <a:latin typeface="Arial"/>
            </a:endParaRPr>
          </a:p>
        </p:txBody>
      </p:sp>
      <p:sp>
        <p:nvSpPr>
          <p:cNvPr id="157" name="Shape 6"/>
          <p:cNvSpPr/>
          <p:nvPr/>
        </p:nvSpPr>
        <p:spPr>
          <a:xfrm>
            <a:off x="548640" y="4434840"/>
            <a:ext cx="3520080" cy="1051200"/>
          </a:xfrm>
          <a:prstGeom prst="roundRect">
            <a:avLst>
              <a:gd name="adj" fmla="val 8696"/>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8" name="Text 7"/>
          <p:cNvSpPr/>
          <p:nvPr/>
        </p:nvSpPr>
        <p:spPr>
          <a:xfrm>
            <a:off x="822960" y="4572000"/>
            <a:ext cx="30171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93B"/>
                </a:solidFill>
                <a:effectLst/>
                <a:uFillTx/>
                <a:latin typeface="Calibri"/>
                <a:ea typeface="Calibri"/>
              </a:rPr>
              <a:t>Fluent</a:t>
            </a:r>
            <a:endParaRPr lang="en-IN" sz="1700" b="0" u="none" strike="noStrike">
              <a:solidFill>
                <a:srgbClr val="000000"/>
              </a:solidFill>
              <a:effectLst/>
              <a:uFillTx/>
              <a:latin typeface="Arial"/>
            </a:endParaRPr>
          </a:p>
        </p:txBody>
      </p:sp>
      <p:sp>
        <p:nvSpPr>
          <p:cNvPr id="159" name="Text 8"/>
          <p:cNvSpPr/>
          <p:nvPr/>
        </p:nvSpPr>
        <p:spPr>
          <a:xfrm>
            <a:off x="822960" y="4956120"/>
            <a:ext cx="30171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i="1" u="none" strike="noStrike">
                <a:solidFill>
                  <a:srgbClr val="64748B"/>
                </a:solidFill>
                <a:effectLst/>
                <a:uFillTx/>
                <a:latin typeface="Calibri"/>
                <a:ea typeface="Calibri"/>
              </a:rPr>
              <a:t>reads like a real policy</a:t>
            </a:r>
            <a:endParaRPr lang="en-IN" sz="1350" b="0" u="none" strike="noStrike">
              <a:solidFill>
                <a:srgbClr val="000000"/>
              </a:solidFill>
              <a:effectLst/>
              <a:uFillTx/>
              <a:latin typeface="Arial"/>
            </a:endParaRPr>
          </a:p>
        </p:txBody>
      </p:sp>
      <p:sp>
        <p:nvSpPr>
          <p:cNvPr id="160" name="Shape 9"/>
          <p:cNvSpPr/>
          <p:nvPr/>
        </p:nvSpPr>
        <p:spPr>
          <a:xfrm>
            <a:off x="4343400" y="4434840"/>
            <a:ext cx="3520080" cy="1051200"/>
          </a:xfrm>
          <a:prstGeom prst="roundRect">
            <a:avLst>
              <a:gd name="adj" fmla="val 8696"/>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61" name="Text 10"/>
          <p:cNvSpPr/>
          <p:nvPr/>
        </p:nvSpPr>
        <p:spPr>
          <a:xfrm>
            <a:off x="4617720" y="4572000"/>
            <a:ext cx="30171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93B"/>
                </a:solidFill>
                <a:effectLst/>
                <a:uFillTx/>
                <a:latin typeface="Calibri"/>
                <a:ea typeface="Calibri"/>
              </a:rPr>
              <a:t>Specific</a:t>
            </a:r>
            <a:endParaRPr lang="en-IN" sz="1700" b="0" u="none" strike="noStrike">
              <a:solidFill>
                <a:srgbClr val="000000"/>
              </a:solidFill>
              <a:effectLst/>
              <a:uFillTx/>
              <a:latin typeface="Arial"/>
            </a:endParaRPr>
          </a:p>
        </p:txBody>
      </p:sp>
      <p:sp>
        <p:nvSpPr>
          <p:cNvPr id="162" name="Text 11"/>
          <p:cNvSpPr/>
          <p:nvPr/>
        </p:nvSpPr>
        <p:spPr>
          <a:xfrm>
            <a:off x="4617720" y="4956120"/>
            <a:ext cx="30171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i="1" u="none" strike="noStrike">
                <a:solidFill>
                  <a:srgbClr val="64748B"/>
                </a:solidFill>
                <a:effectLst/>
                <a:uFillTx/>
                <a:latin typeface="Calibri"/>
                <a:ea typeface="Calibri"/>
              </a:rPr>
              <a:t>exact numbers, exact units</a:t>
            </a:r>
            <a:endParaRPr lang="en-IN" sz="1350" b="0" u="none" strike="noStrike">
              <a:solidFill>
                <a:srgbClr val="000000"/>
              </a:solidFill>
              <a:effectLst/>
              <a:uFillTx/>
              <a:latin typeface="Arial"/>
            </a:endParaRPr>
          </a:p>
        </p:txBody>
      </p:sp>
      <p:sp>
        <p:nvSpPr>
          <p:cNvPr id="163" name="Shape 12"/>
          <p:cNvSpPr/>
          <p:nvPr/>
        </p:nvSpPr>
        <p:spPr>
          <a:xfrm>
            <a:off x="8138160" y="4434840"/>
            <a:ext cx="3520080" cy="1051200"/>
          </a:xfrm>
          <a:prstGeom prst="roundRect">
            <a:avLst>
              <a:gd name="adj" fmla="val 8696"/>
            </a:avLst>
          </a:prstGeom>
          <a:solidFill>
            <a:srgbClr val="FEF2F2"/>
          </a:solidFill>
          <a:ln w="12700">
            <a:solidFill>
              <a:srgbClr val="B91C1C"/>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64" name="Text 13"/>
          <p:cNvSpPr/>
          <p:nvPr/>
        </p:nvSpPr>
        <p:spPr>
          <a:xfrm>
            <a:off x="8412480" y="4572000"/>
            <a:ext cx="30171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B91C1C"/>
                </a:solidFill>
                <a:effectLst/>
                <a:uFillTx/>
                <a:latin typeface="Calibri"/>
                <a:ea typeface="Calibri"/>
              </a:rPr>
              <a:t>Invented</a:t>
            </a:r>
            <a:endParaRPr lang="en-IN" sz="1700" b="0" u="none" strike="noStrike">
              <a:solidFill>
                <a:srgbClr val="000000"/>
              </a:solidFill>
              <a:effectLst/>
              <a:uFillTx/>
              <a:latin typeface="Arial"/>
            </a:endParaRPr>
          </a:p>
        </p:txBody>
      </p:sp>
      <p:sp>
        <p:nvSpPr>
          <p:cNvPr id="165" name="Text 14"/>
          <p:cNvSpPr/>
          <p:nvPr/>
        </p:nvSpPr>
        <p:spPr>
          <a:xfrm>
            <a:off x="8412480" y="4956120"/>
            <a:ext cx="30171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i="1" u="none" strike="noStrike">
                <a:solidFill>
                  <a:srgbClr val="64748B"/>
                </a:solidFill>
                <a:effectLst/>
                <a:uFillTx/>
                <a:latin typeface="Calibri"/>
                <a:ea typeface="Calibri"/>
              </a:rPr>
              <a:t>it has never seen this document</a:t>
            </a:r>
            <a:endParaRPr lang="en-IN" sz="1350" b="0" u="none" strike="noStrike">
              <a:solidFill>
                <a:srgbClr val="000000"/>
              </a:solidFill>
              <a:effectLst/>
              <a:uFillTx/>
              <a:latin typeface="Arial"/>
            </a:endParaRPr>
          </a:p>
        </p:txBody>
      </p:sp>
      <p:sp>
        <p:nvSpPr>
          <p:cNvPr id="166" name="Text 15"/>
          <p:cNvSpPr/>
          <p:nvPr/>
        </p:nvSpPr>
        <p:spPr>
          <a:xfrm>
            <a:off x="548640" y="566928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1E293B"/>
                </a:solidFill>
                <a:effectLst/>
                <a:uFillTx/>
                <a:latin typeface="Calibri"/>
                <a:ea typeface="Calibri"/>
              </a:rPr>
              <a:t>It didn't hedge. Fluency is not knowledge — and the model cannot tell you which answers are memories and which are guesses.</a:t>
            </a:r>
            <a:endParaRPr lang="en-IN" sz="1550" b="0" u="none" strike="noStrike">
              <a:solidFill>
                <a:srgbClr val="000000"/>
              </a:solidFill>
              <a:effectLst/>
              <a:uFillTx/>
              <a:latin typeface="Arial"/>
            </a:endParaRPr>
          </a:p>
        </p:txBody>
      </p:sp>
      <p:sp>
        <p:nvSpPr>
          <p:cNvPr id="167" name="Text 16"/>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168" name="Text 17"/>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The contract — two rules</a:t>
            </a:r>
            <a:endParaRPr lang="en-IN" sz="3000" b="0" u="none" strike="noStrike">
              <a:solidFill>
                <a:srgbClr val="000000"/>
              </a:solidFill>
              <a:effectLst/>
              <a:uFillTx/>
              <a:latin typeface="Arial"/>
            </a:endParaRPr>
          </a:p>
        </p:txBody>
      </p:sp>
      <p:sp>
        <p:nvSpPr>
          <p:cNvPr id="170" name="Shape 1"/>
          <p:cNvSpPr/>
          <p:nvPr/>
        </p:nvSpPr>
        <p:spPr>
          <a:xfrm>
            <a:off x="548640" y="1463040"/>
            <a:ext cx="11091240" cy="2285640"/>
          </a:xfrm>
          <a:prstGeom prst="roundRect">
            <a:avLst>
              <a:gd name="adj" fmla="val 24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1" name="Text 2"/>
          <p:cNvSpPr/>
          <p:nvPr/>
        </p:nvSpPr>
        <p:spPr>
          <a:xfrm>
            <a:off x="804600" y="1645920"/>
            <a:ext cx="10579320" cy="19198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1E293B"/>
                </a:solidFill>
                <a:effectLst/>
                <a:uFillTx/>
                <a:latin typeface="Courier New"/>
                <a:ea typeface="Courier New"/>
              </a:rPr>
              <a:t>RAG_PROMPT = ChatPromptTemplate.from_messages([</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("system",</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"You answer questions about the LPU examination policy.\n"</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"Use ONLY the context below. Do not use any other knowledge.\n"</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"If the context does not contain the answer, reply exactly: "</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"I don't know based on the policy document.\n\n"</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"Context:\n{context}"),</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("human", "{question}"),</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a:t>
            </a:r>
            <a:endParaRPr lang="en-IN" sz="1250" b="0" u="none" strike="noStrike">
              <a:solidFill>
                <a:srgbClr val="000000"/>
              </a:solidFill>
              <a:effectLst/>
              <a:uFillTx/>
              <a:latin typeface="Arial"/>
            </a:endParaRPr>
          </a:p>
        </p:txBody>
      </p:sp>
      <p:sp>
        <p:nvSpPr>
          <p:cNvPr id="172" name="Shape 3"/>
          <p:cNvSpPr/>
          <p:nvPr/>
        </p:nvSpPr>
        <p:spPr>
          <a:xfrm>
            <a:off x="548640" y="3977640"/>
            <a:ext cx="5394600" cy="1234080"/>
          </a:xfrm>
          <a:prstGeom prst="roundRect">
            <a:avLst>
              <a:gd name="adj" fmla="val 7407"/>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3" name="Text 4"/>
          <p:cNvSpPr/>
          <p:nvPr/>
        </p:nvSpPr>
        <p:spPr>
          <a:xfrm>
            <a:off x="822960" y="411480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Rule 1 · Use only the context</a:t>
            </a:r>
            <a:endParaRPr lang="en-IN" sz="1500" b="0" u="none" strike="noStrike">
              <a:solidFill>
                <a:srgbClr val="000000"/>
              </a:solidFill>
              <a:effectLst/>
              <a:uFillTx/>
              <a:latin typeface="Arial"/>
            </a:endParaRPr>
          </a:p>
        </p:txBody>
      </p:sp>
      <p:sp>
        <p:nvSpPr>
          <p:cNvPr id="174" name="Text 5"/>
          <p:cNvSpPr/>
          <p:nvPr/>
        </p:nvSpPr>
        <p:spPr>
          <a:xfrm>
            <a:off x="822960" y="4498920"/>
            <a:ext cx="484596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stops it blending training knowledge into your answer</a:t>
            </a:r>
            <a:endParaRPr lang="en-IN" sz="1350" b="0" u="none" strike="noStrike">
              <a:solidFill>
                <a:srgbClr val="000000"/>
              </a:solidFill>
              <a:effectLst/>
              <a:uFillTx/>
              <a:latin typeface="Arial"/>
            </a:endParaRPr>
          </a:p>
        </p:txBody>
      </p:sp>
      <p:sp>
        <p:nvSpPr>
          <p:cNvPr id="175" name="Shape 6"/>
          <p:cNvSpPr/>
          <p:nvPr/>
        </p:nvSpPr>
        <p:spPr>
          <a:xfrm>
            <a:off x="6263640" y="3977640"/>
            <a:ext cx="5394600" cy="1234080"/>
          </a:xfrm>
          <a:prstGeom prst="roundRect">
            <a:avLst>
              <a:gd name="adj" fmla="val 7407"/>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6" name="Text 7"/>
          <p:cNvSpPr/>
          <p:nvPr/>
        </p:nvSpPr>
        <p:spPr>
          <a:xfrm>
            <a:off x="6537960" y="411480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Rule 2 · Refuse in exact words</a:t>
            </a:r>
            <a:endParaRPr lang="en-IN" sz="1500" b="0" u="none" strike="noStrike">
              <a:solidFill>
                <a:srgbClr val="000000"/>
              </a:solidFill>
              <a:effectLst/>
              <a:uFillTx/>
              <a:latin typeface="Arial"/>
            </a:endParaRPr>
          </a:p>
        </p:txBody>
      </p:sp>
      <p:sp>
        <p:nvSpPr>
          <p:cNvPr id="177" name="Text 8"/>
          <p:cNvSpPr/>
          <p:nvPr/>
        </p:nvSpPr>
        <p:spPr>
          <a:xfrm>
            <a:off x="6537960" y="4498920"/>
            <a:ext cx="484596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a fixed refusal string your code can detect and act on</a:t>
            </a:r>
            <a:endParaRPr lang="en-IN" sz="1350" b="0" u="none" strike="noStrike">
              <a:solidFill>
                <a:srgbClr val="000000"/>
              </a:solidFill>
              <a:effectLst/>
              <a:uFillTx/>
              <a:latin typeface="Arial"/>
            </a:endParaRPr>
          </a:p>
        </p:txBody>
      </p:sp>
      <p:sp>
        <p:nvSpPr>
          <p:cNvPr id="178" name="Shape 9"/>
          <p:cNvSpPr/>
          <p:nvPr/>
        </p:nvSpPr>
        <p:spPr>
          <a:xfrm>
            <a:off x="548640" y="5440680"/>
            <a:ext cx="11091240" cy="685440"/>
          </a:xfrm>
          <a:prstGeom prst="roundRect">
            <a:avLst>
              <a:gd name="adj" fmla="val 13333"/>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9" name="Text 10"/>
          <p:cNvSpPr/>
          <p:nvPr/>
        </p:nvSpPr>
        <p:spPr>
          <a:xfrm>
            <a:off x="868680" y="5440680"/>
            <a:ext cx="104238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ourier New"/>
                <a:ea typeface="Courier New"/>
              </a:rPr>
              <a:t>temperature=0</a:t>
            </a:r>
            <a:r>
              <a:rPr lang="en-US" sz="1500" b="0" u="none" strike="noStrike">
                <a:solidFill>
                  <a:srgbClr val="1E293B"/>
                </a:solidFill>
                <a:effectLst/>
                <a:uFillTx/>
                <a:latin typeface="Calibri"/>
                <a:ea typeface="Calibri"/>
              </a:rPr>
              <a:t>  —  for RAG you want the model reading and reporting, not writing creatively.</a:t>
            </a:r>
            <a:endParaRPr lang="en-IN" sz="1500" b="0" u="none" strike="noStrike">
              <a:solidFill>
                <a:srgbClr val="000000"/>
              </a:solidFill>
              <a:effectLst/>
              <a:uFillTx/>
              <a:latin typeface="Arial"/>
            </a:endParaRPr>
          </a:p>
        </p:txBody>
      </p:sp>
      <p:sp>
        <p:nvSpPr>
          <p:cNvPr id="180" name="Text 11"/>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181" name="Text 12"/>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16</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The chain, read top to bottom</a:t>
            </a:r>
            <a:endParaRPr lang="en-IN" sz="3000" b="0" u="none" strike="noStrike">
              <a:solidFill>
                <a:srgbClr val="000000"/>
              </a:solidFill>
              <a:effectLst/>
              <a:uFillTx/>
              <a:latin typeface="Arial"/>
            </a:endParaRPr>
          </a:p>
        </p:txBody>
      </p:sp>
      <p:sp>
        <p:nvSpPr>
          <p:cNvPr id="183" name="Shape 1"/>
          <p:cNvSpPr/>
          <p:nvPr/>
        </p:nvSpPr>
        <p:spPr>
          <a:xfrm>
            <a:off x="548640" y="1371600"/>
            <a:ext cx="5943240" cy="1874160"/>
          </a:xfrm>
          <a:prstGeom prst="roundRect">
            <a:avLst>
              <a:gd name="adj" fmla="val 2927"/>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84" name="Text 2"/>
          <p:cNvSpPr/>
          <p:nvPr/>
        </p:nvSpPr>
        <p:spPr>
          <a:xfrm>
            <a:off x="804600" y="1554480"/>
            <a:ext cx="5431320" cy="15084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1E293B"/>
                </a:solidFill>
                <a:effectLst/>
                <a:uFillTx/>
                <a:latin typeface="Courier New"/>
                <a:ea typeface="Courier New"/>
              </a:rPr>
              <a:t>rag_chain = (</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{"context":  retriever | format_docs,</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"question": RunnablePassthrough()}</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 RAG_PROMPT</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 llm</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 StrOutputParser()</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a:t>
            </a:r>
            <a:endParaRPr lang="en-IN" sz="1250" b="0" u="none" strike="noStrike">
              <a:solidFill>
                <a:srgbClr val="000000"/>
              </a:solidFill>
              <a:effectLst/>
              <a:uFillTx/>
              <a:latin typeface="Arial"/>
            </a:endParaRPr>
          </a:p>
        </p:txBody>
      </p:sp>
      <p:sp>
        <p:nvSpPr>
          <p:cNvPr id="185" name="Shape 3"/>
          <p:cNvSpPr/>
          <p:nvPr/>
        </p:nvSpPr>
        <p:spPr>
          <a:xfrm>
            <a:off x="548640" y="3429000"/>
            <a:ext cx="5943240" cy="2651400"/>
          </a:xfrm>
          <a:prstGeom prst="roundRect">
            <a:avLst>
              <a:gd name="adj" fmla="val 3448"/>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86" name="Text 4"/>
          <p:cNvSpPr/>
          <p:nvPr/>
        </p:nvSpPr>
        <p:spPr>
          <a:xfrm>
            <a:off x="822960" y="3593520"/>
            <a:ext cx="53946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The dict is the bit that confuses everyone</a:t>
            </a:r>
            <a:endParaRPr lang="en-IN" sz="1500" b="0" u="none" strike="noStrike">
              <a:solidFill>
                <a:srgbClr val="000000"/>
              </a:solidFill>
              <a:effectLst/>
              <a:uFillTx/>
              <a:latin typeface="Arial"/>
            </a:endParaRPr>
          </a:p>
        </p:txBody>
      </p:sp>
      <p:sp>
        <p:nvSpPr>
          <p:cNvPr id="187" name="Text 5"/>
          <p:cNvSpPr/>
          <p:nvPr/>
        </p:nvSpPr>
        <p:spPr>
          <a:xfrm>
            <a:off x="822960" y="4069080"/>
            <a:ext cx="5394600" cy="191988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001"/>
              </a:spcAft>
              <a:buClr>
                <a:srgbClr val="1E293B"/>
              </a:buClr>
              <a:buFont typeface="Symbol" charset="2"/>
              <a:buChar char=""/>
            </a:pPr>
            <a:r>
              <a:rPr lang="en-US" sz="1350" b="0" u="none" strike="noStrike">
                <a:solidFill>
                  <a:srgbClr val="1E293B"/>
                </a:solidFill>
                <a:effectLst/>
                <a:uFillTx/>
                <a:latin typeface="Calibri"/>
                <a:ea typeface="Calibri"/>
              </a:rPr>
              <a:t>each key is computed in parallel</a:t>
            </a:r>
            <a:endParaRPr lang="en-IN" sz="13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350" b="0" u="none" strike="noStrike">
                <a:solidFill>
                  <a:srgbClr val="1E293B"/>
                </a:solidFill>
                <a:effectLst/>
                <a:uFillTx/>
                <a:latin typeface="Calibri"/>
                <a:ea typeface="Calibri"/>
              </a:rPr>
              <a:t>the result is exactly the {context} and {question} the prompt asks for</a:t>
            </a:r>
            <a:endParaRPr lang="en-IN" sz="13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350" b="0" u="none" strike="noStrike">
                <a:solidFill>
                  <a:srgbClr val="1E293B"/>
                </a:solidFill>
                <a:effectLst/>
                <a:uFillTx/>
                <a:latin typeface="Calibri"/>
                <a:ea typeface="Calibri"/>
              </a:rPr>
              <a:t>RunnablePassthrough() = “this key is just the input, unchanged”</a:t>
            </a:r>
            <a:endParaRPr lang="en-IN" sz="1350" b="0" u="none" strike="noStrike">
              <a:solidFill>
                <a:srgbClr val="000000"/>
              </a:solidFill>
              <a:effectLst/>
              <a:uFillTx/>
              <a:latin typeface="Arial"/>
            </a:endParaRPr>
          </a:p>
        </p:txBody>
      </p:sp>
      <p:sp>
        <p:nvSpPr>
          <p:cNvPr id="188" name="Shape 6"/>
          <p:cNvSpPr/>
          <p:nvPr/>
        </p:nvSpPr>
        <p:spPr>
          <a:xfrm>
            <a:off x="6858000" y="1371600"/>
            <a:ext cx="4781880" cy="4708800"/>
          </a:xfrm>
          <a:prstGeom prst="roundRect">
            <a:avLst>
              <a:gd name="adj" fmla="val 1942"/>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89" name="Text 7"/>
          <p:cNvSpPr/>
          <p:nvPr/>
        </p:nvSpPr>
        <p:spPr>
          <a:xfrm>
            <a:off x="6995160" y="1508760"/>
            <a:ext cx="450756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1E293B"/>
                </a:solidFill>
                <a:effectLst/>
                <a:uFillTx/>
                <a:latin typeface="Courier New"/>
                <a:ea typeface="Courier New"/>
              </a:rPr>
              <a:t>"What is the re-evaluation fee?"</a:t>
            </a:r>
            <a:endParaRPr lang="en-IN" sz="1100" b="0" u="none" strike="noStrike">
              <a:solidFill>
                <a:srgbClr val="000000"/>
              </a:solidFill>
              <a:effectLst/>
              <a:uFillTx/>
              <a:latin typeface="Arial"/>
            </a:endParaRPr>
          </a:p>
        </p:txBody>
      </p:sp>
      <p:sp>
        <p:nvSpPr>
          <p:cNvPr id="190" name="Shape 8"/>
          <p:cNvSpPr/>
          <p:nvPr/>
        </p:nvSpPr>
        <p:spPr>
          <a:xfrm>
            <a:off x="7040880" y="1965960"/>
            <a:ext cx="2148480" cy="456840"/>
          </a:xfrm>
          <a:prstGeom prst="roundRect">
            <a:avLst>
              <a:gd name="adj" fmla="val 16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1" name="Text 9"/>
          <p:cNvSpPr/>
          <p:nvPr/>
        </p:nvSpPr>
        <p:spPr>
          <a:xfrm>
            <a:off x="7040880" y="1965960"/>
            <a:ext cx="214848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rgbClr val="6366F1"/>
                </a:solidFill>
                <a:effectLst/>
                <a:uFillTx/>
                <a:latin typeface="Courier New"/>
                <a:ea typeface="Courier New"/>
              </a:rPr>
              <a:t>retriever</a:t>
            </a:r>
            <a:endParaRPr lang="en-IN" sz="1050" b="0" u="none" strike="noStrike">
              <a:solidFill>
                <a:srgbClr val="000000"/>
              </a:solidFill>
              <a:effectLst/>
              <a:uFillTx/>
              <a:latin typeface="Arial"/>
            </a:endParaRPr>
          </a:p>
        </p:txBody>
      </p:sp>
      <p:sp>
        <p:nvSpPr>
          <p:cNvPr id="192" name="Shape 10"/>
          <p:cNvSpPr/>
          <p:nvPr/>
        </p:nvSpPr>
        <p:spPr>
          <a:xfrm>
            <a:off x="9372600" y="1965960"/>
            <a:ext cx="2148480" cy="456840"/>
          </a:xfrm>
          <a:prstGeom prst="roundRect">
            <a:avLst>
              <a:gd name="adj" fmla="val 16000"/>
            </a:avLst>
          </a:prstGeom>
          <a:solidFill>
            <a:srgbClr val="FFFFFF"/>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3" name="Text 11"/>
          <p:cNvSpPr/>
          <p:nvPr/>
        </p:nvSpPr>
        <p:spPr>
          <a:xfrm>
            <a:off x="9372600" y="1965960"/>
            <a:ext cx="214848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rgbClr val="1E293B"/>
                </a:solidFill>
                <a:effectLst/>
                <a:uFillTx/>
                <a:latin typeface="Courier New"/>
                <a:ea typeface="Courier New"/>
              </a:rPr>
              <a:t>RunnablePassthrough</a:t>
            </a:r>
            <a:endParaRPr lang="en-IN" sz="1050" b="0" u="none" strike="noStrike">
              <a:solidFill>
                <a:srgbClr val="000000"/>
              </a:solidFill>
              <a:effectLst/>
              <a:uFillTx/>
              <a:latin typeface="Arial"/>
            </a:endParaRPr>
          </a:p>
        </p:txBody>
      </p:sp>
      <p:sp>
        <p:nvSpPr>
          <p:cNvPr id="194" name="Shape 12"/>
          <p:cNvSpPr/>
          <p:nvPr/>
        </p:nvSpPr>
        <p:spPr>
          <a:xfrm>
            <a:off x="7040880" y="2624400"/>
            <a:ext cx="2148480" cy="456840"/>
          </a:xfrm>
          <a:prstGeom prst="roundRect">
            <a:avLst>
              <a:gd name="adj" fmla="val 16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5" name="Text 13"/>
          <p:cNvSpPr/>
          <p:nvPr/>
        </p:nvSpPr>
        <p:spPr>
          <a:xfrm>
            <a:off x="7040880" y="2624400"/>
            <a:ext cx="214848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rgbClr val="6366F1"/>
                </a:solidFill>
                <a:effectLst/>
                <a:uFillTx/>
                <a:latin typeface="Courier New"/>
                <a:ea typeface="Courier New"/>
              </a:rPr>
              <a:t>format_docs</a:t>
            </a:r>
            <a:endParaRPr lang="en-IN" sz="1050" b="0" u="none" strike="noStrike">
              <a:solidFill>
                <a:srgbClr val="000000"/>
              </a:solidFill>
              <a:effectLst/>
              <a:uFillTx/>
              <a:latin typeface="Arial"/>
            </a:endParaRPr>
          </a:p>
        </p:txBody>
      </p:sp>
      <p:sp>
        <p:nvSpPr>
          <p:cNvPr id="196" name="Shape 14"/>
          <p:cNvSpPr/>
          <p:nvPr/>
        </p:nvSpPr>
        <p:spPr>
          <a:xfrm>
            <a:off x="7680960" y="3429000"/>
            <a:ext cx="3200040" cy="456840"/>
          </a:xfrm>
          <a:prstGeom prst="roundRect">
            <a:avLst>
              <a:gd name="adj" fmla="val 16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7" name="Text 15"/>
          <p:cNvSpPr/>
          <p:nvPr/>
        </p:nvSpPr>
        <p:spPr>
          <a:xfrm>
            <a:off x="7680960" y="3429000"/>
            <a:ext cx="32000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6366F1"/>
                </a:solidFill>
                <a:effectLst/>
                <a:uFillTx/>
                <a:latin typeface="Courier New"/>
                <a:ea typeface="Courier New"/>
              </a:rPr>
              <a:t>RAG_PROMPT</a:t>
            </a:r>
            <a:endParaRPr lang="en-IN" sz="1100" b="0" u="none" strike="noStrike">
              <a:solidFill>
                <a:srgbClr val="000000"/>
              </a:solidFill>
              <a:effectLst/>
              <a:uFillTx/>
              <a:latin typeface="Arial"/>
            </a:endParaRPr>
          </a:p>
        </p:txBody>
      </p:sp>
      <p:sp>
        <p:nvSpPr>
          <p:cNvPr id="198" name="Shape 16"/>
          <p:cNvSpPr/>
          <p:nvPr/>
        </p:nvSpPr>
        <p:spPr>
          <a:xfrm>
            <a:off x="7680960" y="4087440"/>
            <a:ext cx="3200040" cy="456840"/>
          </a:xfrm>
          <a:prstGeom prst="roundRect">
            <a:avLst>
              <a:gd name="adj" fmla="val 16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9" name="Text 17"/>
          <p:cNvSpPr/>
          <p:nvPr/>
        </p:nvSpPr>
        <p:spPr>
          <a:xfrm>
            <a:off x="7680960" y="4087440"/>
            <a:ext cx="32000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6366F1"/>
                </a:solidFill>
                <a:effectLst/>
                <a:uFillTx/>
                <a:latin typeface="Courier New"/>
                <a:ea typeface="Courier New"/>
              </a:rPr>
              <a:t>llm    ·  temperature=0</a:t>
            </a:r>
            <a:endParaRPr lang="en-IN" sz="1100" b="0" u="none" strike="noStrike">
              <a:solidFill>
                <a:srgbClr val="000000"/>
              </a:solidFill>
              <a:effectLst/>
              <a:uFillTx/>
              <a:latin typeface="Arial"/>
            </a:endParaRPr>
          </a:p>
        </p:txBody>
      </p:sp>
      <p:sp>
        <p:nvSpPr>
          <p:cNvPr id="200" name="Shape 18"/>
          <p:cNvSpPr/>
          <p:nvPr/>
        </p:nvSpPr>
        <p:spPr>
          <a:xfrm>
            <a:off x="7680960" y="4745880"/>
            <a:ext cx="3200040" cy="456840"/>
          </a:xfrm>
          <a:prstGeom prst="roundRect">
            <a:avLst>
              <a:gd name="adj" fmla="val 16000"/>
            </a:avLst>
          </a:prstGeom>
          <a:solidFill>
            <a:srgbClr val="F0FDF4"/>
          </a:solidFill>
          <a:ln w="12700">
            <a:solidFill>
              <a:srgbClr val="15803D"/>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01" name="Text 19"/>
          <p:cNvSpPr/>
          <p:nvPr/>
        </p:nvSpPr>
        <p:spPr>
          <a:xfrm>
            <a:off x="7680960" y="4745880"/>
            <a:ext cx="32000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5803D"/>
                </a:solidFill>
                <a:effectLst/>
                <a:uFillTx/>
                <a:latin typeface="Courier New"/>
                <a:ea typeface="Courier New"/>
              </a:rPr>
              <a:t>StrOutputParser</a:t>
            </a:r>
            <a:endParaRPr lang="en-IN" sz="1100" b="0" u="none" strike="noStrike">
              <a:solidFill>
                <a:srgbClr val="000000"/>
              </a:solidFill>
              <a:effectLst/>
              <a:uFillTx/>
              <a:latin typeface="Arial"/>
            </a:endParaRPr>
          </a:p>
        </p:txBody>
      </p:sp>
      <p:sp>
        <p:nvSpPr>
          <p:cNvPr id="202" name="Text 20"/>
          <p:cNvSpPr/>
          <p:nvPr/>
        </p:nvSpPr>
        <p:spPr>
          <a:xfrm>
            <a:off x="7680960" y="5440680"/>
            <a:ext cx="320004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E293B"/>
                </a:solidFill>
                <a:effectLst/>
                <a:uFillTx/>
                <a:latin typeface="Calibri"/>
                <a:ea typeface="Calibri"/>
              </a:rPr>
              <a:t>answer</a:t>
            </a:r>
            <a:endParaRPr lang="en-IN" sz="1600" b="0" u="none" strike="noStrike">
              <a:solidFill>
                <a:srgbClr val="000000"/>
              </a:solidFill>
              <a:effectLst/>
              <a:uFillTx/>
              <a:latin typeface="Arial"/>
            </a:endParaRPr>
          </a:p>
        </p:txBody>
      </p:sp>
      <p:sp>
        <p:nvSpPr>
          <p:cNvPr id="203" name="Text 21"/>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204" name="Text 22"/>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Yesterday's failure, fixed</a:t>
            </a:r>
            <a:endParaRPr lang="en-IN" sz="3000" b="0" u="none" strike="noStrike">
              <a:solidFill>
                <a:srgbClr val="000000"/>
              </a:solidFill>
              <a:effectLst/>
              <a:uFillTx/>
              <a:latin typeface="Arial"/>
            </a:endParaRPr>
          </a:p>
        </p:txBody>
      </p:sp>
      <p:sp>
        <p:nvSpPr>
          <p:cNvPr id="206" name="Shape 1"/>
          <p:cNvSpPr/>
          <p:nvPr/>
        </p:nvSpPr>
        <p:spPr>
          <a:xfrm>
            <a:off x="548640" y="1508760"/>
            <a:ext cx="5394600" cy="2285640"/>
          </a:xfrm>
          <a:prstGeom prst="roundRect">
            <a:avLst>
              <a:gd name="adj" fmla="val 4000"/>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07" name="Text 2"/>
          <p:cNvSpPr/>
          <p:nvPr/>
        </p:nvSpPr>
        <p:spPr>
          <a:xfrm>
            <a:off x="822960" y="166428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B91C1C"/>
                </a:solidFill>
                <a:effectLst/>
                <a:uFillTx/>
                <a:latin typeface="Calibri"/>
                <a:ea typeface="Calibri"/>
              </a:rPr>
              <a:t>DAY 3 · plain similarity search</a:t>
            </a:r>
            <a:endParaRPr lang="en-IN" sz="1200" b="0" u="none" strike="noStrike">
              <a:solidFill>
                <a:srgbClr val="000000"/>
              </a:solidFill>
              <a:effectLst/>
              <a:uFillTx/>
              <a:latin typeface="Arial"/>
            </a:endParaRPr>
          </a:p>
        </p:txBody>
      </p:sp>
      <p:sp>
        <p:nvSpPr>
          <p:cNvPr id="208" name="Text 3"/>
          <p:cNvSpPr/>
          <p:nvPr/>
        </p:nvSpPr>
        <p:spPr>
          <a:xfrm>
            <a:off x="822960" y="205740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ourier New"/>
                <a:ea typeface="Courier New"/>
              </a:rPr>
              <a:t>“What is the hostel fee?”</a:t>
            </a:r>
            <a:endParaRPr lang="en-IN" sz="1400" b="0" u="none" strike="noStrike">
              <a:solidFill>
                <a:srgbClr val="000000"/>
              </a:solidFill>
              <a:effectLst/>
              <a:uFillTx/>
              <a:latin typeface="Arial"/>
            </a:endParaRPr>
          </a:p>
        </p:txBody>
      </p:sp>
      <p:sp>
        <p:nvSpPr>
          <p:cNvPr id="209" name="Text 4"/>
          <p:cNvSpPr/>
          <p:nvPr/>
        </p:nvSpPr>
        <p:spPr>
          <a:xfrm>
            <a:off x="822960" y="2514600"/>
            <a:ext cx="484596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alibri"/>
                <a:ea typeface="Calibri"/>
              </a:rPr>
              <a:t>→  three confident chunks about</a:t>
            </a:r>
            <a:endParaRPr lang="en-IN"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1E293B"/>
                </a:solidFill>
                <a:effectLst/>
                <a:uFillTx/>
                <a:latin typeface="Calibri"/>
                <a:ea typeface="Calibri"/>
              </a:rPr>
              <a:t>     attendance, grading and re-appear</a:t>
            </a:r>
            <a:endParaRPr lang="en-IN" sz="1400" b="0" u="none" strike="noStrike">
              <a:solidFill>
                <a:srgbClr val="000000"/>
              </a:solidFill>
              <a:effectLst/>
              <a:uFillTx/>
              <a:latin typeface="Arial"/>
            </a:endParaRPr>
          </a:p>
        </p:txBody>
      </p:sp>
      <p:sp>
        <p:nvSpPr>
          <p:cNvPr id="210" name="Text 5"/>
          <p:cNvSpPr/>
          <p:nvPr/>
        </p:nvSpPr>
        <p:spPr>
          <a:xfrm>
            <a:off x="822960" y="329184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i="1" u="none" strike="noStrike">
                <a:solidFill>
                  <a:srgbClr val="B91C1C"/>
                </a:solidFill>
                <a:effectLst/>
                <a:uFillTx/>
                <a:latin typeface="Calibri"/>
                <a:ea typeface="Calibri"/>
              </a:rPr>
              <a:t>Top-k always returns k.</a:t>
            </a:r>
            <a:endParaRPr lang="en-IN" sz="1400" b="0" u="none" strike="noStrike">
              <a:solidFill>
                <a:srgbClr val="000000"/>
              </a:solidFill>
              <a:effectLst/>
              <a:uFillTx/>
              <a:latin typeface="Arial"/>
            </a:endParaRPr>
          </a:p>
        </p:txBody>
      </p:sp>
      <p:sp>
        <p:nvSpPr>
          <p:cNvPr id="211" name="Shape 6"/>
          <p:cNvSpPr/>
          <p:nvPr/>
        </p:nvSpPr>
        <p:spPr>
          <a:xfrm>
            <a:off x="6263640" y="1508760"/>
            <a:ext cx="5394600" cy="2285640"/>
          </a:xfrm>
          <a:prstGeom prst="roundRect">
            <a:avLst>
              <a:gd name="adj" fmla="val 4000"/>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2" name="Text 7"/>
          <p:cNvSpPr/>
          <p:nvPr/>
        </p:nvSpPr>
        <p:spPr>
          <a:xfrm>
            <a:off x="6537960" y="166428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15803D"/>
                </a:solidFill>
                <a:effectLst/>
                <a:uFillTx/>
                <a:latin typeface="Calibri"/>
                <a:ea typeface="Calibri"/>
              </a:rPr>
              <a:t>DAY 4 · the grounded chain</a:t>
            </a:r>
            <a:endParaRPr lang="en-IN" sz="1200" b="0" u="none" strike="noStrike">
              <a:solidFill>
                <a:srgbClr val="000000"/>
              </a:solidFill>
              <a:effectLst/>
              <a:uFillTx/>
              <a:latin typeface="Arial"/>
            </a:endParaRPr>
          </a:p>
        </p:txBody>
      </p:sp>
      <p:sp>
        <p:nvSpPr>
          <p:cNvPr id="213" name="Text 8"/>
          <p:cNvSpPr/>
          <p:nvPr/>
        </p:nvSpPr>
        <p:spPr>
          <a:xfrm>
            <a:off x="6537960" y="205740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ourier New"/>
                <a:ea typeface="Courier New"/>
              </a:rPr>
              <a:t>“What is the hostel fee?”</a:t>
            </a:r>
            <a:endParaRPr lang="en-IN" sz="1400" b="0" u="none" strike="noStrike">
              <a:solidFill>
                <a:srgbClr val="000000"/>
              </a:solidFill>
              <a:effectLst/>
              <a:uFillTx/>
              <a:latin typeface="Arial"/>
            </a:endParaRPr>
          </a:p>
        </p:txBody>
      </p:sp>
      <p:sp>
        <p:nvSpPr>
          <p:cNvPr id="214" name="Text 9"/>
          <p:cNvSpPr/>
          <p:nvPr/>
        </p:nvSpPr>
        <p:spPr>
          <a:xfrm>
            <a:off x="6537960" y="2514600"/>
            <a:ext cx="484596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alibri"/>
                <a:ea typeface="Calibri"/>
              </a:rPr>
              <a:t>→  “I don't know based on the</a:t>
            </a:r>
            <a:endParaRPr lang="en-IN"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1E293B"/>
                </a:solidFill>
                <a:effectLst/>
                <a:uFillTx/>
                <a:latin typeface="Calibri"/>
                <a:ea typeface="Calibri"/>
              </a:rPr>
              <a:t>     policy document.”</a:t>
            </a:r>
            <a:endParaRPr lang="en-IN" sz="1400" b="0" u="none" strike="noStrike">
              <a:solidFill>
                <a:srgbClr val="000000"/>
              </a:solidFill>
              <a:effectLst/>
              <a:uFillTx/>
              <a:latin typeface="Arial"/>
            </a:endParaRPr>
          </a:p>
        </p:txBody>
      </p:sp>
      <p:sp>
        <p:nvSpPr>
          <p:cNvPr id="215" name="Text 10"/>
          <p:cNvSpPr/>
          <p:nvPr/>
        </p:nvSpPr>
        <p:spPr>
          <a:xfrm>
            <a:off x="6537960" y="329184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i="1" u="none" strike="noStrike">
                <a:solidFill>
                  <a:srgbClr val="15803D"/>
                </a:solidFill>
                <a:effectLst/>
                <a:uFillTx/>
                <a:latin typeface="Calibri"/>
                <a:ea typeface="Calibri"/>
              </a:rPr>
              <a:t>The prompt supplies the judgement.</a:t>
            </a:r>
            <a:endParaRPr lang="en-IN" sz="1400" b="0" u="none" strike="noStrike">
              <a:solidFill>
                <a:srgbClr val="000000"/>
              </a:solidFill>
              <a:effectLst/>
              <a:uFillTx/>
              <a:latin typeface="Arial"/>
            </a:endParaRPr>
          </a:p>
        </p:txBody>
      </p:sp>
      <p:sp>
        <p:nvSpPr>
          <p:cNvPr id="216" name="Shape 11"/>
          <p:cNvSpPr/>
          <p:nvPr/>
        </p:nvSpPr>
        <p:spPr>
          <a:xfrm>
            <a:off x="548640" y="4069080"/>
            <a:ext cx="11091240" cy="914040"/>
          </a:xfrm>
          <a:prstGeom prst="roundRect">
            <a:avLst>
              <a:gd name="adj" fmla="val 10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7" name="Text 12"/>
          <p:cNvSpPr/>
          <p:nvPr/>
        </p:nvSpPr>
        <p:spPr>
          <a:xfrm>
            <a:off x="868680" y="4069080"/>
            <a:ext cx="1042380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Retrieval has no concept of “nothing here is relevant”  </a:t>
            </a:r>
            <a:r>
              <a:rPr lang="en-US" sz="1500" b="0" u="none" strike="noStrike">
                <a:solidFill>
                  <a:srgbClr val="1E293B"/>
                </a:solidFill>
                <a:effectLst/>
                <a:uFillTx/>
                <a:latin typeface="Calibri"/>
                <a:ea typeface="Calibri"/>
              </a:rPr>
              <a:t>— it always returns its top-k. The prompt is what turns “here are the 3 closest chunks” into “this document doesn't answer your question.”</a:t>
            </a:r>
            <a:endParaRPr lang="en-IN" sz="1500" b="0" u="none" strike="noStrike">
              <a:solidFill>
                <a:srgbClr val="000000"/>
              </a:solidFill>
              <a:effectLst/>
              <a:uFillTx/>
              <a:latin typeface="Arial"/>
            </a:endParaRPr>
          </a:p>
        </p:txBody>
      </p:sp>
      <p:sp>
        <p:nvSpPr>
          <p:cNvPr id="218" name="Shape 13"/>
          <p:cNvSpPr/>
          <p:nvPr/>
        </p:nvSpPr>
        <p:spPr>
          <a:xfrm>
            <a:off x="548640" y="5166360"/>
            <a:ext cx="11091240" cy="914040"/>
          </a:xfrm>
          <a:prstGeom prst="roundRect">
            <a:avLst>
              <a:gd name="adj" fmla="val 10000"/>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9" name="Text 14"/>
          <p:cNvSpPr/>
          <p:nvPr/>
        </p:nvSpPr>
        <p:spPr>
          <a:xfrm>
            <a:off x="868680" y="5166360"/>
            <a:ext cx="1042380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The business case:  </a:t>
            </a:r>
            <a:r>
              <a:rPr lang="en-US" sz="1500" b="0" u="none" strike="noStrike">
                <a:solidFill>
                  <a:srgbClr val="1E293B"/>
                </a:solidFill>
                <a:effectLst/>
                <a:uFillTx/>
                <a:latin typeface="Calibri"/>
                <a:ea typeface="Calibri"/>
              </a:rPr>
              <a:t>a system that says “I don't know” 5% of the time is worth far more than one that is confidently wrong 5% of the time — because nobody can tell which 5% they're reading.</a:t>
            </a:r>
            <a:endParaRPr lang="en-IN" sz="1500" b="0" u="none" strike="noStrike">
              <a:solidFill>
                <a:srgbClr val="000000"/>
              </a:solidFill>
              <a:effectLst/>
              <a:uFillTx/>
              <a:latin typeface="Arial"/>
            </a:endParaRPr>
          </a:p>
        </p:txBody>
      </p:sp>
      <p:sp>
        <p:nvSpPr>
          <p:cNvPr id="220" name="Text 15"/>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221" name="Text 16"/>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18</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223" name="Text 1"/>
          <p:cNvSpPr/>
          <p:nvPr/>
        </p:nvSpPr>
        <p:spPr>
          <a:xfrm>
            <a:off x="548640" y="1051560"/>
            <a:ext cx="11091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Why does the grounded chain say “I don't know” when plain retrieval could not?</a:t>
            </a:r>
            <a:endParaRPr lang="en-IN" sz="2500" b="0" u="none" strike="noStrike">
              <a:solidFill>
                <a:srgbClr val="000000"/>
              </a:solidFill>
              <a:effectLst/>
              <a:uFillTx/>
              <a:latin typeface="Arial"/>
            </a:endParaRPr>
          </a:p>
        </p:txBody>
      </p:sp>
      <p:sp>
        <p:nvSpPr>
          <p:cNvPr id="224" name="Shape 2"/>
          <p:cNvSpPr/>
          <p:nvPr/>
        </p:nvSpPr>
        <p:spPr>
          <a:xfrm>
            <a:off x="548640" y="24688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25" name="Text 3"/>
          <p:cNvSpPr/>
          <p:nvPr/>
        </p:nvSpPr>
        <p:spPr>
          <a:xfrm>
            <a:off x="548640" y="24688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226" name="Text 4"/>
          <p:cNvSpPr/>
          <p:nvPr/>
        </p:nvSpPr>
        <p:spPr>
          <a:xfrm>
            <a:off x="1325880" y="24688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retriever returned zero chunks this time</a:t>
            </a:r>
            <a:endParaRPr lang="en-IN" sz="1700" b="0" u="none" strike="noStrike">
              <a:solidFill>
                <a:srgbClr val="000000"/>
              </a:solidFill>
              <a:effectLst/>
              <a:uFillTx/>
              <a:latin typeface="Arial"/>
            </a:endParaRPr>
          </a:p>
        </p:txBody>
      </p:sp>
      <p:sp>
        <p:nvSpPr>
          <p:cNvPr id="227" name="Shape 5"/>
          <p:cNvSpPr/>
          <p:nvPr/>
        </p:nvSpPr>
        <p:spPr>
          <a:xfrm>
            <a:off x="548640" y="333756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28" name="Text 6"/>
          <p:cNvSpPr/>
          <p:nvPr/>
        </p:nvSpPr>
        <p:spPr>
          <a:xfrm>
            <a:off x="548640" y="333756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229" name="Text 7"/>
          <p:cNvSpPr/>
          <p:nvPr/>
        </p:nvSpPr>
        <p:spPr>
          <a:xfrm>
            <a:off x="1325880" y="333756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similarity score fell below a built-in threshold</a:t>
            </a:r>
            <a:endParaRPr lang="en-IN" sz="1700" b="0" u="none" strike="noStrike">
              <a:solidFill>
                <a:srgbClr val="000000"/>
              </a:solidFill>
              <a:effectLst/>
              <a:uFillTx/>
              <a:latin typeface="Arial"/>
            </a:endParaRPr>
          </a:p>
        </p:txBody>
      </p:sp>
      <p:sp>
        <p:nvSpPr>
          <p:cNvPr id="230" name="Shape 8"/>
          <p:cNvSpPr/>
          <p:nvPr/>
        </p:nvSpPr>
        <p:spPr>
          <a:xfrm>
            <a:off x="548640" y="42062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31" name="Text 9"/>
          <p:cNvSpPr/>
          <p:nvPr/>
        </p:nvSpPr>
        <p:spPr>
          <a:xfrm>
            <a:off x="548640" y="42062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232" name="Text 10"/>
          <p:cNvSpPr/>
          <p:nvPr/>
        </p:nvSpPr>
        <p:spPr>
          <a:xfrm>
            <a:off x="1325880" y="42062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temperature=0 disables guessing</a:t>
            </a:r>
            <a:endParaRPr lang="en-IN" sz="1700" b="0" u="none" strike="noStrike">
              <a:solidFill>
                <a:srgbClr val="000000"/>
              </a:solidFill>
              <a:effectLst/>
              <a:uFillTx/>
              <a:latin typeface="Arial"/>
            </a:endParaRPr>
          </a:p>
        </p:txBody>
      </p:sp>
      <p:sp>
        <p:nvSpPr>
          <p:cNvPr id="233" name="Shape 11"/>
          <p:cNvSpPr/>
          <p:nvPr/>
        </p:nvSpPr>
        <p:spPr>
          <a:xfrm>
            <a:off x="548640" y="50749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34" name="Text 12"/>
          <p:cNvSpPr/>
          <p:nvPr/>
        </p:nvSpPr>
        <p:spPr>
          <a:xfrm>
            <a:off x="548640" y="50749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235" name="Text 13"/>
          <p:cNvSpPr/>
          <p:nvPr/>
        </p:nvSpPr>
        <p:spPr>
          <a:xfrm>
            <a:off x="1325880" y="50749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prompt tells the model to refuse when the context lacks the answer</a:t>
            </a:r>
            <a:endParaRPr lang="en-IN" sz="1700" b="0" u="none" strike="noStrike">
              <a:solidFill>
                <a:srgbClr val="000000"/>
              </a:solidFill>
              <a:effectLst/>
              <a:uFillTx/>
              <a:latin typeface="Arial"/>
            </a:endParaRPr>
          </a:p>
        </p:txBody>
      </p:sp>
      <p:sp>
        <p:nvSpPr>
          <p:cNvPr id="236"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237"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19</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238"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04</a:t>
            </a:r>
            <a:endParaRPr lang="en-IN" sz="9600" b="0" u="none" strike="noStrike">
              <a:solidFill>
                <a:srgbClr val="000000"/>
              </a:solidFill>
              <a:effectLst/>
              <a:uFillTx/>
              <a:latin typeface="Arial"/>
            </a:endParaRPr>
          </a:p>
        </p:txBody>
      </p:sp>
      <p:sp>
        <p:nvSpPr>
          <p:cNvPr id="239"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Citations</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Keep the documents, print the pages</a:t>
            </a:r>
            <a:endParaRPr lang="en-IN" sz="3000" b="0" u="none" strike="noStrike">
              <a:solidFill>
                <a:srgbClr val="000000"/>
              </a:solidFill>
              <a:effectLst/>
              <a:uFillTx/>
              <a:latin typeface="Arial"/>
            </a:endParaRPr>
          </a:p>
        </p:txBody>
      </p:sp>
      <p:sp>
        <p:nvSpPr>
          <p:cNvPr id="241" name="Shape 1"/>
          <p:cNvSpPr/>
          <p:nvPr/>
        </p:nvSpPr>
        <p:spPr>
          <a:xfrm>
            <a:off x="548640" y="1417320"/>
            <a:ext cx="6949080" cy="2880000"/>
          </a:xfrm>
          <a:prstGeom prst="roundRect">
            <a:avLst>
              <a:gd name="adj" fmla="val 1905"/>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42" name="Text 2"/>
          <p:cNvSpPr/>
          <p:nvPr/>
        </p:nvSpPr>
        <p:spPr>
          <a:xfrm>
            <a:off x="804600" y="1600200"/>
            <a:ext cx="6437160" cy="25142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150" b="0" u="none" strike="noStrike">
                <a:solidFill>
                  <a:srgbClr val="1E293B"/>
                </a:solidFill>
                <a:effectLst/>
                <a:uFillTx/>
                <a:latin typeface="Courier New"/>
                <a:ea typeface="Courier New"/>
              </a:rPr>
              <a:t>rag_with_sources = RunnableParallel(</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context=retriever,</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question=RunnablePassthrough(),</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).assign(</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answer=(lambda x: {"context":  format_docs(x["context"]),</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"question": x["question"]})</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 RAG_PROMPT | llm | StrOutputParser()</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a:t>
            </a:r>
            <a:endParaRPr lang="en-IN" sz="1150" b="0" u="none" strike="noStrike">
              <a:solidFill>
                <a:srgbClr val="000000"/>
              </a:solidFill>
              <a:effectLst/>
              <a:uFillTx/>
              <a:latin typeface="Arial"/>
            </a:endParaRPr>
          </a:p>
          <a:p>
            <a:pPr defTabSz="914400">
              <a:lnSpc>
                <a:spcPct val="115000"/>
              </a:lnSpc>
              <a:tabLst>
                <a:tab pos="0" algn="l"/>
              </a:tabLst>
            </a:pP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for doc in result["context"]:</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print(doc.metadata["source"], doc.metadata["page"])</a:t>
            </a:r>
            <a:endParaRPr lang="en-IN" sz="1150" b="0" u="none" strike="noStrike">
              <a:solidFill>
                <a:srgbClr val="000000"/>
              </a:solidFill>
              <a:effectLst/>
              <a:uFillTx/>
              <a:latin typeface="Arial"/>
            </a:endParaRPr>
          </a:p>
        </p:txBody>
      </p:sp>
      <p:sp>
        <p:nvSpPr>
          <p:cNvPr id="243" name="Shape 3"/>
          <p:cNvSpPr/>
          <p:nvPr/>
        </p:nvSpPr>
        <p:spPr>
          <a:xfrm>
            <a:off x="7863840" y="1417320"/>
            <a:ext cx="3748680" cy="2880000"/>
          </a:xfrm>
          <a:prstGeom prst="roundRect">
            <a:avLst>
              <a:gd name="adj" fmla="val 3175"/>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44" name="Text 4"/>
          <p:cNvSpPr/>
          <p:nvPr/>
        </p:nvSpPr>
        <p:spPr>
          <a:xfrm>
            <a:off x="8119800" y="1600200"/>
            <a:ext cx="32914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ourier New"/>
                <a:ea typeface="Courier New"/>
              </a:rPr>
              <a:t>.assign()</a:t>
            </a:r>
            <a:endParaRPr lang="en-IN" sz="1600" b="0" u="none" strike="noStrike">
              <a:solidFill>
                <a:srgbClr val="000000"/>
              </a:solidFill>
              <a:effectLst/>
              <a:uFillTx/>
              <a:latin typeface="Arial"/>
            </a:endParaRPr>
          </a:p>
        </p:txBody>
      </p:sp>
      <p:sp>
        <p:nvSpPr>
          <p:cNvPr id="245" name="Text 5"/>
          <p:cNvSpPr/>
          <p:nvPr/>
        </p:nvSpPr>
        <p:spPr>
          <a:xfrm>
            <a:off x="8119800" y="2011680"/>
            <a:ext cx="32914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runs the answer chain but keeps the retrieved Documents alongside it.</a:t>
            </a:r>
            <a:endParaRPr lang="en-IN" sz="1350" b="0" u="none" strike="noStrike">
              <a:solidFill>
                <a:srgbClr val="000000"/>
              </a:solidFill>
              <a:effectLst/>
              <a:uFillTx/>
              <a:latin typeface="Arial"/>
            </a:endParaRPr>
          </a:p>
        </p:txBody>
      </p:sp>
      <p:sp>
        <p:nvSpPr>
          <p:cNvPr id="246" name="Text 6"/>
          <p:cNvSpPr/>
          <p:nvPr/>
        </p:nvSpPr>
        <p:spPr>
          <a:xfrm>
            <a:off x="8119800" y="2971800"/>
            <a:ext cx="32914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64748B"/>
                </a:solidFill>
                <a:effectLst/>
                <a:uFillTx/>
                <a:latin typeface="Calibri"/>
                <a:ea typeface="Calibri"/>
              </a:rPr>
              <a:t>You get back a dict:</a:t>
            </a:r>
            <a:endParaRPr lang="en-IN" sz="1300" b="0" u="none" strike="noStrike">
              <a:solidFill>
                <a:srgbClr val="000000"/>
              </a:solidFill>
              <a:effectLst/>
              <a:uFillTx/>
              <a:latin typeface="Arial"/>
            </a:endParaRPr>
          </a:p>
        </p:txBody>
      </p:sp>
      <p:sp>
        <p:nvSpPr>
          <p:cNvPr id="247" name="Text 7"/>
          <p:cNvSpPr/>
          <p:nvPr/>
        </p:nvSpPr>
        <p:spPr>
          <a:xfrm>
            <a:off x="8119800" y="3291840"/>
            <a:ext cx="32914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E293B"/>
                </a:solidFill>
                <a:effectLst/>
                <a:uFillTx/>
                <a:latin typeface="Courier New"/>
                <a:ea typeface="Courier New"/>
              </a:rPr>
              <a:t>question</a:t>
            </a:r>
            <a:endParaRPr lang="en-IN" sz="1300" b="0" u="none" strike="noStrike">
              <a:solidFill>
                <a:srgbClr val="000000"/>
              </a:solidFill>
              <a:effectLst/>
              <a:uFillTx/>
              <a:latin typeface="Arial"/>
            </a:endParaRPr>
          </a:p>
          <a:p>
            <a:pPr defTabSz="914400">
              <a:lnSpc>
                <a:spcPct val="100000"/>
              </a:lnSpc>
              <a:tabLst>
                <a:tab pos="0" algn="l"/>
              </a:tabLst>
            </a:pPr>
            <a:r>
              <a:rPr lang="en-US" sz="1300" b="1" u="none" strike="noStrike">
                <a:solidFill>
                  <a:srgbClr val="1E293B"/>
                </a:solidFill>
                <a:effectLst/>
                <a:uFillTx/>
                <a:latin typeface="Courier New"/>
                <a:ea typeface="Courier New"/>
              </a:rPr>
              <a:t>context</a:t>
            </a:r>
            <a:endParaRPr lang="en-IN" sz="1300" b="0" u="none" strike="noStrike">
              <a:solidFill>
                <a:srgbClr val="000000"/>
              </a:solidFill>
              <a:effectLst/>
              <a:uFillTx/>
              <a:latin typeface="Arial"/>
            </a:endParaRPr>
          </a:p>
          <a:p>
            <a:pPr defTabSz="914400">
              <a:lnSpc>
                <a:spcPct val="100000"/>
              </a:lnSpc>
              <a:tabLst>
                <a:tab pos="0" algn="l"/>
              </a:tabLst>
            </a:pPr>
            <a:r>
              <a:rPr lang="en-US" sz="1300" b="1" u="none" strike="noStrike">
                <a:solidFill>
                  <a:srgbClr val="1E293B"/>
                </a:solidFill>
                <a:effectLst/>
                <a:uFillTx/>
                <a:latin typeface="Courier New"/>
                <a:ea typeface="Courier New"/>
              </a:rPr>
              <a:t>answer</a:t>
            </a:r>
            <a:endParaRPr lang="en-IN" sz="1300" b="0" u="none" strike="noStrike">
              <a:solidFill>
                <a:srgbClr val="000000"/>
              </a:solidFill>
              <a:effectLst/>
              <a:uFillTx/>
              <a:latin typeface="Arial"/>
            </a:endParaRPr>
          </a:p>
        </p:txBody>
      </p:sp>
      <p:sp>
        <p:nvSpPr>
          <p:cNvPr id="248" name="Shape 8"/>
          <p:cNvSpPr/>
          <p:nvPr/>
        </p:nvSpPr>
        <p:spPr>
          <a:xfrm>
            <a:off x="548640" y="4526280"/>
            <a:ext cx="11091240" cy="1554120"/>
          </a:xfrm>
          <a:prstGeom prst="roundRect">
            <a:avLst>
              <a:gd name="adj" fmla="val 5882"/>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49" name="Text 9"/>
          <p:cNvSpPr/>
          <p:nvPr/>
        </p:nvSpPr>
        <p:spPr>
          <a:xfrm>
            <a:off x="868680" y="4663440"/>
            <a:ext cx="104238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B91C1C"/>
                </a:solidFill>
                <a:effectLst/>
                <a:uFillTx/>
                <a:latin typeface="Calibri"/>
                <a:ea typeface="Calibri"/>
              </a:rPr>
              <a:t>Never ask the model to produce the citation</a:t>
            </a:r>
            <a:endParaRPr lang="en-IN" sz="1800" b="0" u="none" strike="noStrike">
              <a:solidFill>
                <a:srgbClr val="000000"/>
              </a:solidFill>
              <a:effectLst/>
              <a:uFillTx/>
              <a:latin typeface="Arial"/>
            </a:endParaRPr>
          </a:p>
        </p:txBody>
      </p:sp>
      <p:sp>
        <p:nvSpPr>
          <p:cNvPr id="250" name="Text 10"/>
          <p:cNvSpPr/>
          <p:nvPr/>
        </p:nvSpPr>
        <p:spPr>
          <a:xfrm>
            <a:off x="868680" y="5120640"/>
            <a:ext cx="1042380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50" b="0" u="none" strike="noStrike">
                <a:solidFill>
                  <a:srgbClr val="1E293B"/>
                </a:solidFill>
                <a:effectLst/>
                <a:uFillTx/>
                <a:latin typeface="Calibri"/>
                <a:ea typeface="Calibri"/>
              </a:rPr>
              <a:t>A model told to “cite your source” will invent a plausible page number — which is precisely the behaviour you are trying to eliminate. The page above was carried from the PDF, through the splitter, through the vector store, and printed by </a:t>
            </a:r>
            <a:r>
              <a:rPr lang="en-US" sz="1450" b="1" u="none" strike="noStrike">
                <a:solidFill>
                  <a:srgbClr val="1E293B"/>
                </a:solidFill>
                <a:effectLst/>
                <a:uFillTx/>
                <a:latin typeface="Calibri"/>
                <a:ea typeface="Calibri"/>
              </a:rPr>
              <a:t>your code. The model never touched it.</a:t>
            </a:r>
            <a:endParaRPr lang="en-IN" sz="1450" b="0" u="none" strike="noStrike">
              <a:solidFill>
                <a:srgbClr val="000000"/>
              </a:solidFill>
              <a:effectLst/>
              <a:uFillTx/>
              <a:latin typeface="Arial"/>
            </a:endParaRPr>
          </a:p>
        </p:txBody>
      </p:sp>
      <p:sp>
        <p:nvSpPr>
          <p:cNvPr id="251" name="Text 11"/>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252" name="Text 12"/>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21</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254" name="Text 1"/>
          <p:cNvSpPr/>
          <p:nvPr/>
        </p:nvSpPr>
        <p:spPr>
          <a:xfrm>
            <a:off x="548640" y="1051560"/>
            <a:ext cx="11091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A legal-research tool cited three court cases that don't exist. What did the team get wrong?</a:t>
            </a:r>
            <a:endParaRPr lang="en-IN" sz="2500" b="0" u="none" strike="noStrike">
              <a:solidFill>
                <a:srgbClr val="000000"/>
              </a:solidFill>
              <a:effectLst/>
              <a:uFillTx/>
              <a:latin typeface="Arial"/>
            </a:endParaRPr>
          </a:p>
        </p:txBody>
      </p:sp>
      <p:sp>
        <p:nvSpPr>
          <p:cNvPr id="255" name="Shape 2"/>
          <p:cNvSpPr/>
          <p:nvPr/>
        </p:nvSpPr>
        <p:spPr>
          <a:xfrm>
            <a:off x="548640" y="24688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56" name="Text 3"/>
          <p:cNvSpPr/>
          <p:nvPr/>
        </p:nvSpPr>
        <p:spPr>
          <a:xfrm>
            <a:off x="548640" y="24688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257" name="Text 4"/>
          <p:cNvSpPr/>
          <p:nvPr/>
        </p:nvSpPr>
        <p:spPr>
          <a:xfrm>
            <a:off x="1325880" y="24688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They used too small a value of k</a:t>
            </a:r>
            <a:endParaRPr lang="en-IN" sz="1700" b="0" u="none" strike="noStrike">
              <a:solidFill>
                <a:srgbClr val="000000"/>
              </a:solidFill>
              <a:effectLst/>
              <a:uFillTx/>
              <a:latin typeface="Arial"/>
            </a:endParaRPr>
          </a:p>
        </p:txBody>
      </p:sp>
      <p:sp>
        <p:nvSpPr>
          <p:cNvPr id="258" name="Shape 5"/>
          <p:cNvSpPr/>
          <p:nvPr/>
        </p:nvSpPr>
        <p:spPr>
          <a:xfrm>
            <a:off x="548640" y="333756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59" name="Text 6"/>
          <p:cNvSpPr/>
          <p:nvPr/>
        </p:nvSpPr>
        <p:spPr>
          <a:xfrm>
            <a:off x="548640" y="333756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260" name="Text 7"/>
          <p:cNvSpPr/>
          <p:nvPr/>
        </p:nvSpPr>
        <p:spPr>
          <a:xfrm>
            <a:off x="1325880" y="333756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They let the model write the citations instead of carrying metadata</a:t>
            </a:r>
            <a:endParaRPr lang="en-IN" sz="1700" b="0" u="none" strike="noStrike">
              <a:solidFill>
                <a:srgbClr val="000000"/>
              </a:solidFill>
              <a:effectLst/>
              <a:uFillTx/>
              <a:latin typeface="Arial"/>
            </a:endParaRPr>
          </a:p>
        </p:txBody>
      </p:sp>
      <p:sp>
        <p:nvSpPr>
          <p:cNvPr id="261" name="Shape 8"/>
          <p:cNvSpPr/>
          <p:nvPr/>
        </p:nvSpPr>
        <p:spPr>
          <a:xfrm>
            <a:off x="548640" y="42062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62" name="Text 9"/>
          <p:cNvSpPr/>
          <p:nvPr/>
        </p:nvSpPr>
        <p:spPr>
          <a:xfrm>
            <a:off x="548640" y="42062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263" name="Text 10"/>
          <p:cNvSpPr/>
          <p:nvPr/>
        </p:nvSpPr>
        <p:spPr>
          <a:xfrm>
            <a:off x="1325880" y="42062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They forgot to set temperature=0</a:t>
            </a:r>
            <a:endParaRPr lang="en-IN" sz="1700" b="0" u="none" strike="noStrike">
              <a:solidFill>
                <a:srgbClr val="000000"/>
              </a:solidFill>
              <a:effectLst/>
              <a:uFillTx/>
              <a:latin typeface="Arial"/>
            </a:endParaRPr>
          </a:p>
        </p:txBody>
      </p:sp>
      <p:sp>
        <p:nvSpPr>
          <p:cNvPr id="264" name="Shape 11"/>
          <p:cNvSpPr/>
          <p:nvPr/>
        </p:nvSpPr>
        <p:spPr>
          <a:xfrm>
            <a:off x="548640" y="50749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65" name="Text 12"/>
          <p:cNvSpPr/>
          <p:nvPr/>
        </p:nvSpPr>
        <p:spPr>
          <a:xfrm>
            <a:off x="548640" y="50749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266" name="Text 13"/>
          <p:cNvSpPr/>
          <p:nvPr/>
        </p:nvSpPr>
        <p:spPr>
          <a:xfrm>
            <a:off x="1325880" y="50749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Their embedding model was out of date</a:t>
            </a:r>
            <a:endParaRPr lang="en-IN" sz="1700" b="0" u="none" strike="noStrike">
              <a:solidFill>
                <a:srgbClr val="000000"/>
              </a:solidFill>
              <a:effectLst/>
              <a:uFillTx/>
              <a:latin typeface="Arial"/>
            </a:endParaRPr>
          </a:p>
        </p:txBody>
      </p:sp>
      <p:sp>
        <p:nvSpPr>
          <p:cNvPr id="267"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268"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22</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269"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05</a:t>
            </a:r>
            <a:endParaRPr lang="en-IN" sz="9600" b="0" u="none" strike="noStrike">
              <a:solidFill>
                <a:srgbClr val="000000"/>
              </a:solidFill>
              <a:effectLst/>
              <a:uFillTx/>
              <a:latin typeface="Arial"/>
            </a:endParaRPr>
          </a:p>
        </p:txBody>
      </p:sp>
      <p:sp>
        <p:nvSpPr>
          <p:cNvPr id="270"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When retrieval fails</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The new failure mode you just created</a:t>
            </a:r>
            <a:endParaRPr lang="en-IN" sz="3000" b="0" u="none" strike="noStrike">
              <a:solidFill>
                <a:srgbClr val="000000"/>
              </a:solidFill>
              <a:effectLst/>
              <a:uFillTx/>
              <a:latin typeface="Arial"/>
            </a:endParaRPr>
          </a:p>
        </p:txBody>
      </p:sp>
      <p:sp>
        <p:nvSpPr>
          <p:cNvPr id="272" name="Shape 1"/>
          <p:cNvSpPr/>
          <p:nvPr/>
        </p:nvSpPr>
        <p:spPr>
          <a:xfrm>
            <a:off x="548640" y="1554480"/>
            <a:ext cx="11091240" cy="1234080"/>
          </a:xfrm>
          <a:prstGeom prst="roundRect">
            <a:avLst>
              <a:gd name="adj" fmla="val 7407"/>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3" name="Text 2"/>
          <p:cNvSpPr/>
          <p:nvPr/>
        </p:nvSpPr>
        <p:spPr>
          <a:xfrm>
            <a:off x="868680" y="1554480"/>
            <a:ext cx="10423800" cy="1234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1E293B"/>
                </a:solidFill>
                <a:effectLst/>
                <a:uFillTx/>
                <a:latin typeface="Calibri"/>
                <a:ea typeface="Calibri"/>
              </a:rPr>
              <a:t>Grounding stops the model inventing. It does not help when the right chunk was never retrieved — </a:t>
            </a:r>
            <a:r>
              <a:rPr lang="en-US" sz="1600" b="1" u="none" strike="noStrike">
                <a:solidFill>
                  <a:srgbClr val="B45309"/>
                </a:solidFill>
                <a:effectLst/>
                <a:uFillTx/>
                <a:latin typeface="Calibri"/>
                <a:ea typeface="Calibri"/>
              </a:rPr>
              <a:t>then a well-behaved system politely says “I don't know” about something printed on page 3.</a:t>
            </a:r>
            <a:endParaRPr lang="en-IN" sz="1600" b="0" u="none" strike="noStrike">
              <a:solidFill>
                <a:srgbClr val="000000"/>
              </a:solidFill>
              <a:effectLst/>
              <a:uFillTx/>
              <a:latin typeface="Arial"/>
            </a:endParaRPr>
          </a:p>
        </p:txBody>
      </p:sp>
      <p:sp>
        <p:nvSpPr>
          <p:cNvPr id="274" name="Text 3"/>
          <p:cNvSpPr/>
          <p:nvPr/>
        </p:nvSpPr>
        <p:spPr>
          <a:xfrm>
            <a:off x="548640" y="297180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So start every investigation the same way:</a:t>
            </a:r>
            <a:endParaRPr lang="en-IN" sz="1500" b="0" u="none" strike="noStrike">
              <a:solidFill>
                <a:srgbClr val="000000"/>
              </a:solidFill>
              <a:effectLst/>
              <a:uFillTx/>
              <a:latin typeface="Arial"/>
            </a:endParaRPr>
          </a:p>
        </p:txBody>
      </p:sp>
      <p:sp>
        <p:nvSpPr>
          <p:cNvPr id="275" name="Shape 4"/>
          <p:cNvSpPr/>
          <p:nvPr/>
        </p:nvSpPr>
        <p:spPr>
          <a:xfrm>
            <a:off x="548640" y="3429000"/>
            <a:ext cx="11091240" cy="1554120"/>
          </a:xfrm>
          <a:prstGeom prst="roundRect">
            <a:avLst>
              <a:gd name="adj" fmla="val 3529"/>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6" name="Text 5"/>
          <p:cNvSpPr/>
          <p:nvPr/>
        </p:nvSpPr>
        <p:spPr>
          <a:xfrm>
            <a:off x="804600" y="3611880"/>
            <a:ext cx="10579320" cy="11883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1E293B"/>
                </a:solidFill>
                <a:effectLst/>
                <a:uFillTx/>
                <a:latin typeface="Courier New"/>
                <a:ea typeface="Courier New"/>
              </a:rPr>
              <a:t>docs = retriever.invoke(question)</a:t>
            </a:r>
            <a:endParaRPr lang="en-IN" sz="1300" b="0" u="none" strike="noStrike">
              <a:solidFill>
                <a:srgbClr val="000000"/>
              </a:solidFill>
              <a:effectLst/>
              <a:uFillTx/>
              <a:latin typeface="Arial"/>
            </a:endParaRPr>
          </a:p>
          <a:p>
            <a:pPr defTabSz="914400">
              <a:lnSpc>
                <a:spcPct val="115000"/>
              </a:lnSpc>
              <a:tabLst>
                <a:tab pos="0" algn="l"/>
              </a:tabLst>
            </a:pP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for i, doc in enumerate(docs, 1):</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print(f"[{i}] page {doc.metadata['page']}: {doc.page_content[:110]}...")</a:t>
            </a:r>
            <a:endParaRPr lang="en-IN" sz="1300" b="0" u="none" strike="noStrike">
              <a:solidFill>
                <a:srgbClr val="000000"/>
              </a:solidFill>
              <a:effectLst/>
              <a:uFillTx/>
              <a:latin typeface="Arial"/>
            </a:endParaRPr>
          </a:p>
        </p:txBody>
      </p:sp>
      <p:sp>
        <p:nvSpPr>
          <p:cNvPr id="277" name="Shape 6"/>
          <p:cNvSpPr/>
          <p:nvPr/>
        </p:nvSpPr>
        <p:spPr>
          <a:xfrm>
            <a:off x="548640" y="5212080"/>
            <a:ext cx="11091240" cy="868320"/>
          </a:xfrm>
          <a:prstGeom prst="roundRect">
            <a:avLst>
              <a:gd name="adj" fmla="val 10526"/>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8" name="Text 7"/>
          <p:cNvSpPr/>
          <p:nvPr/>
        </p:nvSpPr>
        <p:spPr>
          <a:xfrm>
            <a:off x="868680" y="5212080"/>
            <a:ext cx="1042380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6366F1"/>
                </a:solidFill>
                <a:effectLst/>
                <a:uFillTx/>
                <a:latin typeface="Calibri"/>
                <a:ea typeface="Calibri"/>
              </a:rPr>
              <a:t>Is the answer in those chunks?  </a:t>
            </a:r>
            <a:r>
              <a:rPr lang="en-US" sz="1550" b="0" u="none" strike="noStrike">
                <a:solidFill>
                  <a:srgbClr val="1E293B"/>
                </a:solidFill>
                <a:effectLst/>
                <a:uFillTx/>
                <a:latin typeface="Calibri"/>
                <a:ea typeface="Calibri"/>
              </a:rPr>
              <a:t>No → retrieval failure, fix it in this section.   Yes → generation failure, fix the prompt.</a:t>
            </a:r>
            <a:endParaRPr lang="en-IN" sz="1550" b="0" u="none" strike="noStrike">
              <a:solidFill>
                <a:srgbClr val="000000"/>
              </a:solidFill>
              <a:effectLst/>
              <a:uFillTx/>
              <a:latin typeface="Arial"/>
            </a:endParaRPr>
          </a:p>
        </p:txBody>
      </p:sp>
      <p:sp>
        <p:nvSpPr>
          <p:cNvPr id="279" name="Text 8"/>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280" name="Text 9"/>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24</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Turn the knobs — k and MMR</a:t>
            </a:r>
            <a:endParaRPr lang="en-IN" sz="3000" b="0" u="none" strike="noStrike">
              <a:solidFill>
                <a:srgbClr val="000000"/>
              </a:solidFill>
              <a:effectLst/>
              <a:uFillTx/>
              <a:latin typeface="Arial"/>
            </a:endParaRPr>
          </a:p>
        </p:txBody>
      </p:sp>
      <p:sp>
        <p:nvSpPr>
          <p:cNvPr id="282" name="Shape 1"/>
          <p:cNvSpPr/>
          <p:nvPr/>
        </p:nvSpPr>
        <p:spPr>
          <a:xfrm>
            <a:off x="548640" y="1463040"/>
            <a:ext cx="5394600" cy="2148480"/>
          </a:xfrm>
          <a:prstGeom prst="roundRect">
            <a:avLst>
              <a:gd name="adj" fmla="val 4255"/>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83" name="Text 2"/>
          <p:cNvSpPr/>
          <p:nvPr/>
        </p:nvSpPr>
        <p:spPr>
          <a:xfrm>
            <a:off x="822960" y="162756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6366F1"/>
                </a:solidFill>
                <a:effectLst/>
                <a:uFillTx/>
                <a:latin typeface="Calibri"/>
                <a:ea typeface="Calibri"/>
              </a:rPr>
              <a:t>k  —  retrieve more</a:t>
            </a:r>
            <a:endParaRPr lang="en-IN" sz="1700" b="0" u="none" strike="noStrike">
              <a:solidFill>
                <a:srgbClr val="000000"/>
              </a:solidFill>
              <a:effectLst/>
              <a:uFillTx/>
              <a:latin typeface="Arial"/>
            </a:endParaRPr>
          </a:p>
        </p:txBody>
      </p:sp>
      <p:sp>
        <p:nvSpPr>
          <p:cNvPr id="284" name="Text 3"/>
          <p:cNvSpPr/>
          <p:nvPr/>
        </p:nvSpPr>
        <p:spPr>
          <a:xfrm>
            <a:off x="822960" y="2030040"/>
            <a:ext cx="49374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E293B"/>
                </a:solidFill>
                <a:effectLst/>
                <a:uFillTx/>
                <a:latin typeface="Courier New"/>
                <a:ea typeface="Courier New"/>
              </a:rPr>
              <a:t>as_retriever(search_kwargs={"k": 6})</a:t>
            </a:r>
            <a:endParaRPr lang="en-IN" sz="1150" b="0" u="none" strike="noStrike">
              <a:solidFill>
                <a:srgbClr val="000000"/>
              </a:solidFill>
              <a:effectLst/>
              <a:uFillTx/>
              <a:latin typeface="Arial"/>
            </a:endParaRPr>
          </a:p>
        </p:txBody>
      </p:sp>
      <p:sp>
        <p:nvSpPr>
          <p:cNvPr id="285" name="Text 4"/>
          <p:cNvSpPr/>
          <p:nvPr/>
        </p:nvSpPr>
        <p:spPr>
          <a:xfrm>
            <a:off x="822960" y="2468880"/>
            <a:ext cx="484596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Better odds of catching the right chunk — and a longer, costlier, noisier prompt.</a:t>
            </a:r>
            <a:endParaRPr lang="en-IN" sz="1350" b="0" u="none" strike="noStrike">
              <a:solidFill>
                <a:srgbClr val="000000"/>
              </a:solidFill>
              <a:effectLst/>
              <a:uFillTx/>
              <a:latin typeface="Arial"/>
            </a:endParaRPr>
          </a:p>
        </p:txBody>
      </p:sp>
      <p:sp>
        <p:nvSpPr>
          <p:cNvPr id="286" name="Shape 5"/>
          <p:cNvSpPr/>
          <p:nvPr/>
        </p:nvSpPr>
        <p:spPr>
          <a:xfrm>
            <a:off x="6263640" y="1463040"/>
            <a:ext cx="5394600" cy="2148480"/>
          </a:xfrm>
          <a:prstGeom prst="roundRect">
            <a:avLst>
              <a:gd name="adj" fmla="val 4255"/>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87" name="Text 6"/>
          <p:cNvSpPr/>
          <p:nvPr/>
        </p:nvSpPr>
        <p:spPr>
          <a:xfrm>
            <a:off x="6537960" y="162756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6366F1"/>
                </a:solidFill>
                <a:effectLst/>
                <a:uFillTx/>
                <a:latin typeface="Calibri"/>
                <a:ea typeface="Calibri"/>
              </a:rPr>
              <a:t>MMR  —  retrieve different</a:t>
            </a:r>
            <a:endParaRPr lang="en-IN" sz="1700" b="0" u="none" strike="noStrike">
              <a:solidFill>
                <a:srgbClr val="000000"/>
              </a:solidFill>
              <a:effectLst/>
              <a:uFillTx/>
              <a:latin typeface="Arial"/>
            </a:endParaRPr>
          </a:p>
        </p:txBody>
      </p:sp>
      <p:sp>
        <p:nvSpPr>
          <p:cNvPr id="288" name="Text 7"/>
          <p:cNvSpPr/>
          <p:nvPr/>
        </p:nvSpPr>
        <p:spPr>
          <a:xfrm>
            <a:off x="6537960" y="2030040"/>
            <a:ext cx="49374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E293B"/>
                </a:solidFill>
                <a:effectLst/>
                <a:uFillTx/>
                <a:latin typeface="Courier New"/>
                <a:ea typeface="Courier New"/>
              </a:rPr>
              <a:t>search_type="mmr", fetch_k=10</a:t>
            </a:r>
            <a:endParaRPr lang="en-IN" sz="1150" b="0" u="none" strike="noStrike">
              <a:solidFill>
                <a:srgbClr val="000000"/>
              </a:solidFill>
              <a:effectLst/>
              <a:uFillTx/>
              <a:latin typeface="Arial"/>
            </a:endParaRPr>
          </a:p>
        </p:txBody>
      </p:sp>
      <p:sp>
        <p:nvSpPr>
          <p:cNvPr id="289" name="Text 8"/>
          <p:cNvSpPr/>
          <p:nvPr/>
        </p:nvSpPr>
        <p:spPr>
          <a:xfrm>
            <a:off x="6537960" y="2468880"/>
            <a:ext cx="484596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Picks chunks that are relevant AND unlike each other, instead of three copies of one paragraph.</a:t>
            </a:r>
            <a:endParaRPr lang="en-IN" sz="1350" b="0" u="none" strike="noStrike">
              <a:solidFill>
                <a:srgbClr val="000000"/>
              </a:solidFill>
              <a:effectLst/>
              <a:uFillTx/>
              <a:latin typeface="Arial"/>
            </a:endParaRPr>
          </a:p>
        </p:txBody>
      </p:sp>
      <p:sp>
        <p:nvSpPr>
          <p:cNvPr id="290" name="Shape 9"/>
          <p:cNvSpPr/>
          <p:nvPr/>
        </p:nvSpPr>
        <p:spPr>
          <a:xfrm>
            <a:off x="548640" y="3794760"/>
            <a:ext cx="11091240" cy="1279800"/>
          </a:xfrm>
          <a:prstGeom prst="roundRect">
            <a:avLst>
              <a:gd name="adj" fmla="val 7143"/>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1" name="Text 10"/>
          <p:cNvSpPr/>
          <p:nvPr/>
        </p:nvSpPr>
        <p:spPr>
          <a:xfrm>
            <a:off x="868680" y="3913560"/>
            <a:ext cx="10423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B91C1C"/>
                </a:solidFill>
                <a:effectLst/>
                <a:uFillTx/>
                <a:latin typeface="Calibri"/>
                <a:ea typeface="Calibri"/>
              </a:rPr>
              <a:t>“Lost in the Middle”  —  why bigger k can make things worse</a:t>
            </a:r>
            <a:endParaRPr lang="en-IN" sz="1600" b="0" u="none" strike="noStrike">
              <a:solidFill>
                <a:srgbClr val="000000"/>
              </a:solidFill>
              <a:effectLst/>
              <a:uFillTx/>
              <a:latin typeface="Arial"/>
            </a:endParaRPr>
          </a:p>
        </p:txBody>
      </p:sp>
      <p:sp>
        <p:nvSpPr>
          <p:cNvPr id="292" name="Text 11"/>
          <p:cNvSpPr/>
          <p:nvPr/>
        </p:nvSpPr>
        <p:spPr>
          <a:xfrm>
            <a:off x="868680" y="431604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alibri"/>
                <a:ea typeface="Calibri"/>
              </a:rPr>
              <a:t>Models attend best to the start and end of their context. Bury the good chunk among ten others and the answer can get worse, not better. (Liu et al., 2023)</a:t>
            </a:r>
            <a:endParaRPr lang="en-IN" sz="1400" b="0" u="none" strike="noStrike">
              <a:solidFill>
                <a:srgbClr val="000000"/>
              </a:solidFill>
              <a:effectLst/>
              <a:uFillTx/>
              <a:latin typeface="Arial"/>
            </a:endParaRPr>
          </a:p>
        </p:txBody>
      </p:sp>
      <p:sp>
        <p:nvSpPr>
          <p:cNvPr id="293" name="Shape 12"/>
          <p:cNvSpPr/>
          <p:nvPr/>
        </p:nvSpPr>
        <p:spPr>
          <a:xfrm>
            <a:off x="548640" y="5257800"/>
            <a:ext cx="11091240" cy="822600"/>
          </a:xfrm>
          <a:prstGeom prst="roundRect">
            <a:avLst>
              <a:gd name="adj" fmla="val 11111"/>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4" name="Text 13"/>
          <p:cNvSpPr/>
          <p:nvPr/>
        </p:nvSpPr>
        <p:spPr>
          <a:xfrm>
            <a:off x="868680" y="5257800"/>
            <a:ext cx="1042380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15803D"/>
                </a:solidFill>
                <a:effectLst/>
                <a:uFillTx/>
                <a:latin typeface="Calibri"/>
                <a:ea typeface="Calibri"/>
              </a:rPr>
              <a:t>So the shape that actually works:  </a:t>
            </a:r>
            <a:r>
              <a:rPr lang="en-US" sz="1550" b="0" u="none" strike="noStrike">
                <a:solidFill>
                  <a:srgbClr val="1E293B"/>
                </a:solidFill>
                <a:effectLst/>
                <a:uFillTx/>
                <a:latin typeface="Calibri"/>
                <a:ea typeface="Calibri"/>
              </a:rPr>
              <a:t>retrieve broad, then narrow. Which is reranking — two slides away.</a:t>
            </a:r>
            <a:endParaRPr lang="en-IN" sz="1550" b="0" u="none" strike="noStrike">
              <a:solidFill>
                <a:srgbClr val="000000"/>
              </a:solidFill>
              <a:effectLst/>
              <a:uFillTx/>
              <a:latin typeface="Arial"/>
            </a:endParaRPr>
          </a:p>
        </p:txBody>
      </p:sp>
      <p:sp>
        <p:nvSpPr>
          <p:cNvPr id="295"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296"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Users don't write search queries</a:t>
            </a:r>
            <a:endParaRPr lang="en-IN" sz="3000" b="0" u="none" strike="noStrike">
              <a:solidFill>
                <a:srgbClr val="000000"/>
              </a:solidFill>
              <a:effectLst/>
              <a:uFillTx/>
              <a:latin typeface="Arial"/>
            </a:endParaRPr>
          </a:p>
        </p:txBody>
      </p:sp>
      <p:graphicFrame>
        <p:nvGraphicFramePr>
          <p:cNvPr id="298" name="Table 0"/>
          <p:cNvGraphicFramePr/>
          <p:nvPr/>
        </p:nvGraphicFramePr>
        <p:xfrm>
          <a:off x="548640" y="1600200"/>
          <a:ext cx="11091240" cy="2413800"/>
        </p:xfrm>
        <a:graphic>
          <a:graphicData uri="http://schemas.openxmlformats.org/drawingml/2006/table">
            <a:tbl>
              <a:tblPr/>
              <a:tblGrid>
                <a:gridCol w="5577840"/>
                <a:gridCol w="5513760"/>
              </a:tblGrid>
              <a:tr h="60336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A student types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What would actually retrieve well</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60336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“i missed loads of classes, am i in trouble?”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attendance requirement debarment percentage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60336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“how do I complain about my marks?”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re-evaluation application fee deadline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60336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“and what if I was ill?”   (a follow-up)</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ourier New"/>
                          <a:ea typeface="Courier New"/>
                        </a:rPr>
                        <a:t>medical grounds attendance relaxation certificate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299" name="Shape 1"/>
          <p:cNvSpPr/>
          <p:nvPr/>
        </p:nvSpPr>
        <p:spPr>
          <a:xfrm>
            <a:off x="548640" y="4297680"/>
            <a:ext cx="11091240" cy="868320"/>
          </a:xfrm>
          <a:prstGeom prst="roundRect">
            <a:avLst>
              <a:gd name="adj" fmla="val 6316"/>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00" name="Text 2"/>
          <p:cNvSpPr/>
          <p:nvPr/>
        </p:nvSpPr>
        <p:spPr>
          <a:xfrm>
            <a:off x="804600" y="4480560"/>
            <a:ext cx="10579320" cy="5025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1E293B"/>
                </a:solidFill>
                <a:effectLst/>
                <a:uFillTx/>
                <a:latin typeface="Courier New"/>
                <a:ea typeface="Courier New"/>
              </a:rPr>
              <a:t>rewriter = REWRITE_PROMPT | llm | StrOutputParser()      # one more chain, one more LLM call</a:t>
            </a:r>
            <a:endParaRPr lang="en-IN" sz="1300" b="0" u="none" strike="noStrike">
              <a:solidFill>
                <a:srgbClr val="000000"/>
              </a:solidFill>
              <a:effectLst/>
              <a:uFillTx/>
              <a:latin typeface="Arial"/>
            </a:endParaRPr>
          </a:p>
        </p:txBody>
      </p:sp>
      <p:sp>
        <p:nvSpPr>
          <p:cNvPr id="301" name="Shape 3"/>
          <p:cNvSpPr/>
          <p:nvPr/>
        </p:nvSpPr>
        <p:spPr>
          <a:xfrm>
            <a:off x="548640" y="5303520"/>
            <a:ext cx="11091240" cy="776880"/>
          </a:xfrm>
          <a:prstGeom prst="roundRect">
            <a:avLst>
              <a:gd name="adj" fmla="val 11765"/>
            </a:avLst>
          </a:prstGeom>
          <a:solidFill>
            <a:srgbClr val="EEF0FF"/>
          </a:solidFill>
          <a:ln w="12700">
            <a:solidFill>
              <a:srgbClr val="0891B2"/>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02" name="Text 4"/>
          <p:cNvSpPr/>
          <p:nvPr/>
        </p:nvSpPr>
        <p:spPr>
          <a:xfrm>
            <a:off x="868680" y="5303520"/>
            <a:ext cx="1042380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0891B2"/>
                </a:solidFill>
                <a:effectLst/>
                <a:uFillTx/>
                <a:latin typeface="Calibri"/>
                <a:ea typeface="Calibri"/>
              </a:rPr>
              <a:t>The third row is the one that matters for a chat app:  </a:t>
            </a:r>
            <a:r>
              <a:rPr lang="en-US" sz="1450" b="0" u="none" strike="noStrike">
                <a:solidFill>
                  <a:srgbClr val="1E293B"/>
                </a:solidFill>
                <a:effectLst/>
                <a:uFillTx/>
                <a:latin typeface="Calibri"/>
                <a:ea typeface="Calibri"/>
              </a:rPr>
              <a:t>“and what if I was ill?” has nothing searchable in it. Rewriting WITH the conversation history is what makes multi-turn RAG work at all.</a:t>
            </a:r>
            <a:endParaRPr lang="en-IN" sz="1450" b="0" u="none" strike="noStrike">
              <a:solidFill>
                <a:srgbClr val="000000"/>
              </a:solidFill>
              <a:effectLst/>
              <a:uFillTx/>
              <a:latin typeface="Arial"/>
            </a:endParaRPr>
          </a:p>
        </p:txBody>
      </p:sp>
      <p:sp>
        <p:nvSpPr>
          <p:cNvPr id="303" name="Text 5"/>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304" name="Text 6"/>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26</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Hybrid search — meaning plus exact words</a:t>
            </a:r>
            <a:endParaRPr lang="en-IN" sz="3000" b="0" u="none" strike="noStrike">
              <a:solidFill>
                <a:srgbClr val="000000"/>
              </a:solidFill>
              <a:effectLst/>
              <a:uFillTx/>
              <a:latin typeface="Arial"/>
            </a:endParaRPr>
          </a:p>
        </p:txBody>
      </p:sp>
      <p:sp>
        <p:nvSpPr>
          <p:cNvPr id="306" name="Shape 1"/>
          <p:cNvSpPr/>
          <p:nvPr/>
        </p:nvSpPr>
        <p:spPr>
          <a:xfrm>
            <a:off x="548640" y="1463040"/>
            <a:ext cx="5394600" cy="2011320"/>
          </a:xfrm>
          <a:prstGeom prst="roundRect">
            <a:avLst>
              <a:gd name="adj" fmla="val 4545"/>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07" name="Text 2"/>
          <p:cNvSpPr/>
          <p:nvPr/>
        </p:nvSpPr>
        <p:spPr>
          <a:xfrm>
            <a:off x="822960" y="162756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6366F1"/>
                </a:solidFill>
                <a:effectLst/>
                <a:uFillTx/>
                <a:latin typeface="Calibri"/>
                <a:ea typeface="Calibri"/>
              </a:rPr>
              <a:t>Vector search</a:t>
            </a:r>
            <a:endParaRPr lang="en-IN" sz="1700" b="0" u="none" strike="noStrike">
              <a:solidFill>
                <a:srgbClr val="000000"/>
              </a:solidFill>
              <a:effectLst/>
              <a:uFillTx/>
              <a:latin typeface="Arial"/>
            </a:endParaRPr>
          </a:p>
        </p:txBody>
      </p:sp>
      <p:sp>
        <p:nvSpPr>
          <p:cNvPr id="308" name="Text 3"/>
          <p:cNvSpPr/>
          <p:nvPr/>
        </p:nvSpPr>
        <p:spPr>
          <a:xfrm>
            <a:off x="822960" y="2057400"/>
            <a:ext cx="484596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alibri"/>
                <a:ea typeface="Calibri"/>
              </a:rPr>
              <a:t>✓  meaning, paraphrase, synonyms</a:t>
            </a:r>
            <a:endParaRPr lang="en-IN"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1E293B"/>
                </a:solidFill>
                <a:effectLst/>
                <a:uFillTx/>
                <a:latin typeface="Calibri"/>
                <a:ea typeface="Calibri"/>
              </a:rPr>
              <a:t>✗  exact codes: “UMC”, “A123”</a:t>
            </a:r>
            <a:endParaRPr lang="en-IN" sz="1400" b="0" u="none" strike="noStrike">
              <a:solidFill>
                <a:srgbClr val="000000"/>
              </a:solidFill>
              <a:effectLst/>
              <a:uFillTx/>
              <a:latin typeface="Arial"/>
            </a:endParaRPr>
          </a:p>
        </p:txBody>
      </p:sp>
      <p:sp>
        <p:nvSpPr>
          <p:cNvPr id="309" name="Shape 4"/>
          <p:cNvSpPr/>
          <p:nvPr/>
        </p:nvSpPr>
        <p:spPr>
          <a:xfrm>
            <a:off x="6263640" y="1463040"/>
            <a:ext cx="5394600" cy="2011320"/>
          </a:xfrm>
          <a:prstGeom prst="roundRect">
            <a:avLst>
              <a:gd name="adj" fmla="val 4545"/>
            </a:avLst>
          </a:prstGeom>
          <a:solidFill>
            <a:srgbClr val="EEF0FF"/>
          </a:solidFill>
          <a:ln w="12700">
            <a:solidFill>
              <a:srgbClr val="0891B2"/>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0" name="Text 5"/>
          <p:cNvSpPr/>
          <p:nvPr/>
        </p:nvSpPr>
        <p:spPr>
          <a:xfrm>
            <a:off x="6537960" y="162756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0891B2"/>
                </a:solidFill>
                <a:effectLst/>
                <a:uFillTx/>
                <a:latin typeface="Calibri"/>
                <a:ea typeface="Calibri"/>
              </a:rPr>
              <a:t>Keyword search (BM25)</a:t>
            </a:r>
            <a:endParaRPr lang="en-IN" sz="1700" b="0" u="none" strike="noStrike">
              <a:solidFill>
                <a:srgbClr val="000000"/>
              </a:solidFill>
              <a:effectLst/>
              <a:uFillTx/>
              <a:latin typeface="Arial"/>
            </a:endParaRPr>
          </a:p>
        </p:txBody>
      </p:sp>
      <p:sp>
        <p:nvSpPr>
          <p:cNvPr id="311" name="Text 6"/>
          <p:cNvSpPr/>
          <p:nvPr/>
        </p:nvSpPr>
        <p:spPr>
          <a:xfrm>
            <a:off x="6537960" y="2057400"/>
            <a:ext cx="484596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alibri"/>
                <a:ea typeface="Calibri"/>
              </a:rPr>
              <a:t>✓  exact codes, names, acronyms</a:t>
            </a:r>
            <a:endParaRPr lang="en-IN"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1E293B"/>
                </a:solidFill>
                <a:effectLst/>
                <a:uFillTx/>
                <a:latin typeface="Calibri"/>
                <a:ea typeface="Calibri"/>
              </a:rPr>
              <a:t>✗  synonyms, rephrasing</a:t>
            </a:r>
            <a:endParaRPr lang="en-IN" sz="1400" b="0" u="none" strike="noStrike">
              <a:solidFill>
                <a:srgbClr val="000000"/>
              </a:solidFill>
              <a:effectLst/>
              <a:uFillTx/>
              <a:latin typeface="Arial"/>
            </a:endParaRPr>
          </a:p>
        </p:txBody>
      </p:sp>
      <p:sp>
        <p:nvSpPr>
          <p:cNvPr id="312" name="Text 7"/>
          <p:cNvSpPr/>
          <p:nvPr/>
        </p:nvSpPr>
        <p:spPr>
          <a:xfrm>
            <a:off x="548640" y="3611880"/>
            <a:ext cx="1097244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50" b="1" u="none" strike="noStrike">
                <a:solidFill>
                  <a:srgbClr val="1E293B"/>
                </a:solidFill>
                <a:effectLst/>
                <a:uFillTx/>
                <a:latin typeface="Calibri"/>
                <a:ea typeface="Calibri"/>
              </a:rPr>
              <a:t>They fail in opposite directions — so run both and merge the rankings.</a:t>
            </a:r>
            <a:endParaRPr lang="en-IN" sz="1550" b="0" u="none" strike="noStrike">
              <a:solidFill>
                <a:srgbClr val="000000"/>
              </a:solidFill>
              <a:effectLst/>
              <a:uFillTx/>
              <a:latin typeface="Arial"/>
            </a:endParaRPr>
          </a:p>
        </p:txBody>
      </p:sp>
      <p:sp>
        <p:nvSpPr>
          <p:cNvPr id="313" name="Shape 8"/>
          <p:cNvSpPr/>
          <p:nvPr/>
        </p:nvSpPr>
        <p:spPr>
          <a:xfrm>
            <a:off x="548640" y="4114800"/>
            <a:ext cx="11091240" cy="1051200"/>
          </a:xfrm>
          <a:prstGeom prst="roundRect">
            <a:avLst>
              <a:gd name="adj" fmla="val 8696"/>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4" name="Text 9"/>
          <p:cNvSpPr/>
          <p:nvPr/>
        </p:nvSpPr>
        <p:spPr>
          <a:xfrm>
            <a:off x="868680" y="4224600"/>
            <a:ext cx="4114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Reciprocal Rank Fusion</a:t>
            </a:r>
            <a:endParaRPr lang="en-IN" sz="1600" b="0" u="none" strike="noStrike">
              <a:solidFill>
                <a:srgbClr val="000000"/>
              </a:solidFill>
              <a:effectLst/>
              <a:uFillTx/>
              <a:latin typeface="Arial"/>
            </a:endParaRPr>
          </a:p>
        </p:txBody>
      </p:sp>
      <p:sp>
        <p:nvSpPr>
          <p:cNvPr id="315" name="Text 10"/>
          <p:cNvSpPr/>
          <p:nvPr/>
        </p:nvSpPr>
        <p:spPr>
          <a:xfrm>
            <a:off x="4937760" y="4279320"/>
            <a:ext cx="65833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E293B"/>
                </a:solidFill>
                <a:effectLst/>
                <a:uFillTx/>
                <a:latin typeface="Courier New"/>
                <a:ea typeface="Courier New"/>
              </a:rPr>
              <a:t>score(chunk)  =  sum over both lists of   1 / (60 + rank)</a:t>
            </a:r>
            <a:endParaRPr lang="en-IN" sz="1400" b="0" u="none" strike="noStrike">
              <a:solidFill>
                <a:srgbClr val="000000"/>
              </a:solidFill>
              <a:effectLst/>
              <a:uFillTx/>
              <a:latin typeface="Arial"/>
            </a:endParaRPr>
          </a:p>
        </p:txBody>
      </p:sp>
      <p:sp>
        <p:nvSpPr>
          <p:cNvPr id="316" name="Text 11"/>
          <p:cNvSpPr/>
          <p:nvPr/>
        </p:nvSpPr>
        <p:spPr>
          <a:xfrm>
            <a:off x="868680" y="4645080"/>
            <a:ext cx="10423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i="1" u="none" strike="noStrike">
                <a:solidFill>
                  <a:srgbClr val="64748B"/>
                </a:solidFill>
                <a:effectLst/>
                <a:uFillTx/>
                <a:latin typeface="Calibri"/>
                <a:ea typeface="Calibri"/>
              </a:rPr>
              <a:t>Merges by position, not by score — so the two systems' incompatible score scales never have to be normalised.</a:t>
            </a:r>
            <a:endParaRPr lang="en-IN" sz="1350" b="0" u="none" strike="noStrike">
              <a:solidFill>
                <a:srgbClr val="000000"/>
              </a:solidFill>
              <a:effectLst/>
              <a:uFillTx/>
              <a:latin typeface="Arial"/>
            </a:endParaRPr>
          </a:p>
        </p:txBody>
      </p:sp>
      <p:sp>
        <p:nvSpPr>
          <p:cNvPr id="317" name="Shape 12"/>
          <p:cNvSpPr/>
          <p:nvPr/>
        </p:nvSpPr>
        <p:spPr>
          <a:xfrm>
            <a:off x="548640" y="5349240"/>
            <a:ext cx="11091240" cy="731160"/>
          </a:xfrm>
          <a:prstGeom prst="roundRect">
            <a:avLst>
              <a:gd name="adj" fmla="val 12500"/>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8" name="Text 13"/>
          <p:cNvSpPr/>
          <p:nvPr/>
        </p:nvSpPr>
        <p:spPr>
          <a:xfrm>
            <a:off x="868680" y="5349240"/>
            <a:ext cx="104238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No tuning, no training, no normalisation.  </a:t>
            </a:r>
            <a:r>
              <a:rPr lang="en-US" sz="1500" b="0" u="none" strike="noStrike">
                <a:solidFill>
                  <a:srgbClr val="1E293B"/>
                </a:solidFill>
                <a:effectLst/>
                <a:uFillTx/>
                <a:latin typeface="Calibri"/>
                <a:ea typeface="Calibri"/>
              </a:rPr>
              <a:t>A chunk both methods like wins; a chunk only one method loves still gets a chance.</a:t>
            </a:r>
            <a:endParaRPr lang="en-IN" sz="1500" b="0" u="none" strike="noStrike">
              <a:solidFill>
                <a:srgbClr val="000000"/>
              </a:solidFill>
              <a:effectLst/>
              <a:uFillTx/>
              <a:latin typeface="Arial"/>
            </a:endParaRPr>
          </a:p>
        </p:txBody>
      </p:sp>
      <p:sp>
        <p:nvSpPr>
          <p:cNvPr id="319"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320"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Reranking — score the pair, not the pieces</a:t>
            </a:r>
            <a:endParaRPr lang="en-IN" sz="3000" b="0" u="none" strike="noStrike">
              <a:solidFill>
                <a:srgbClr val="000000"/>
              </a:solidFill>
              <a:effectLst/>
              <a:uFillTx/>
              <a:latin typeface="Arial"/>
            </a:endParaRPr>
          </a:p>
        </p:txBody>
      </p:sp>
      <p:graphicFrame>
        <p:nvGraphicFramePr>
          <p:cNvPr id="322" name="Table 0"/>
          <p:cNvGraphicFramePr/>
          <p:nvPr/>
        </p:nvGraphicFramePr>
        <p:xfrm>
          <a:off x="548640" y="1554480"/>
          <a:ext cx="11091240" cy="2377080"/>
        </p:xfrm>
        <a:graphic>
          <a:graphicData uri="http://schemas.openxmlformats.org/drawingml/2006/table">
            <a:tbl>
              <a:tblPr/>
              <a:tblGrid>
                <a:gridCol w="1554480"/>
                <a:gridCol w="4754880"/>
                <a:gridCol w="4782240"/>
              </a:tblGrid>
              <a:tr h="475200">
                <a:tc>
                  <a:txBody>
                    <a:bodyPr lIns="101520" tIns="37800" rIns="101520" bIns="37800" anchor="ctr">
                      <a:noAutofit/>
                    </a:bodyPr>
                    <a:p>
                      <a:endParaRPr lang="en-US" sz="1300" b="0" u="none" strike="noStrike">
                        <a:solidFill>
                          <a:schemeClr val="dk1"/>
                        </a:solidFill>
                        <a:effectLst/>
                        <a:uFillTx/>
                        <a:latin typeface="Calibri"/>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Bi-encoder  ·  retrieval</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Cross-encoder  ·  reranking</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475200">
                <a:tc>
                  <a:txBody>
                    <a:bodyPr lIns="101520" tIns="37800" rIns="101520" bIns="37800" anchor="ctr">
                      <a:noAutofit/>
                    </a:bodyPr>
                    <a:p>
                      <a:pPr defTabSz="914400">
                        <a:lnSpc>
                          <a:spcPct val="100000"/>
                        </a:lnSpc>
                        <a:tabLst>
                          <a:tab pos="0" algn="l"/>
                        </a:tabLst>
                      </a:pPr>
                      <a:r>
                        <a:rPr lang="en-US" sz="1250" b="0" u="none" strike="noStrike">
                          <a:solidFill>
                            <a:srgbClr val="64748B"/>
                          </a:solidFill>
                          <a:effectLst/>
                          <a:uFillTx/>
                          <a:latin typeface="Calibri"/>
                          <a:ea typeface="Calibri"/>
                        </a:rPr>
                        <a:t>Sees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query and document separately</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query and document TOGETHER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75200">
                <a:tc>
                  <a:txBody>
                    <a:bodyPr lIns="101520" tIns="37800" rIns="101520" bIns="37800" anchor="ctr">
                      <a:noAutofit/>
                    </a:bodyPr>
                    <a:p>
                      <a:pPr defTabSz="914400">
                        <a:lnSpc>
                          <a:spcPct val="100000"/>
                        </a:lnSpc>
                        <a:tabLst>
                          <a:tab pos="0" algn="l"/>
                        </a:tabLst>
                      </a:pPr>
                      <a:r>
                        <a:rPr lang="en-US" sz="1250" b="0" u="none" strike="noStrike">
                          <a:solidFill>
                            <a:srgbClr val="64748B"/>
                          </a:solidFill>
                          <a:effectLst/>
                          <a:uFillTx/>
                          <a:latin typeface="Calibri"/>
                          <a:ea typeface="Calibri"/>
                        </a:rPr>
                        <a:t>When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documents encoded before your question existed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at query time, one pair at a time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75200">
                <a:tc>
                  <a:txBody>
                    <a:bodyPr lIns="101520" tIns="37800" rIns="101520" bIns="37800" anchor="ctr">
                      <a:noAutofit/>
                    </a:bodyPr>
                    <a:p>
                      <a:pPr defTabSz="914400">
                        <a:lnSpc>
                          <a:spcPct val="100000"/>
                        </a:lnSpc>
                        <a:tabLst>
                          <a:tab pos="0" algn="l"/>
                        </a:tabLst>
                      </a:pPr>
                      <a:r>
                        <a:rPr lang="en-US" sz="1250" b="0" u="none" strike="noStrike">
                          <a:solidFill>
                            <a:srgbClr val="64748B"/>
                          </a:solidFill>
                          <a:effectLst/>
                          <a:uFillTx/>
                          <a:latin typeface="Calibri"/>
                          <a:ea typeface="Calibri"/>
                        </a:rPr>
                        <a:t>Speed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millions of docs in milliseconds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slow — seconds for hundreds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75200">
                <a:tc>
                  <a:txBody>
                    <a:bodyPr lIns="101520" tIns="37800" rIns="101520" bIns="37800" anchor="ctr">
                      <a:noAutofit/>
                    </a:bodyPr>
                    <a:p>
                      <a:pPr defTabSz="914400">
                        <a:lnSpc>
                          <a:spcPct val="100000"/>
                        </a:lnSpc>
                        <a:tabLst>
                          <a:tab pos="0" algn="l"/>
                        </a:tabLst>
                      </a:pPr>
                      <a:r>
                        <a:rPr lang="en-US" sz="1250" b="0" u="none" strike="noStrike">
                          <a:solidFill>
                            <a:srgbClr val="64748B"/>
                          </a:solidFill>
                          <a:effectLst/>
                          <a:uFillTx/>
                          <a:latin typeface="Calibri"/>
                          <a:ea typeface="Calibri"/>
                        </a:rPr>
                        <a:t>Use for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narrowing to ~20 candidates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ordering those 20 properly</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323" name="Text 1"/>
          <p:cNvSpPr/>
          <p:nvPr/>
        </p:nvSpPr>
        <p:spPr>
          <a:xfrm>
            <a:off x="548640" y="4316040"/>
            <a:ext cx="1828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The cascade:</a:t>
            </a:r>
            <a:endParaRPr lang="en-IN" sz="1400" b="0" u="none" strike="noStrike">
              <a:solidFill>
                <a:srgbClr val="000000"/>
              </a:solidFill>
              <a:effectLst/>
              <a:uFillTx/>
              <a:latin typeface="Arial"/>
            </a:endParaRPr>
          </a:p>
        </p:txBody>
      </p:sp>
      <p:sp>
        <p:nvSpPr>
          <p:cNvPr id="324" name="Shape 2"/>
          <p:cNvSpPr/>
          <p:nvPr/>
        </p:nvSpPr>
        <p:spPr>
          <a:xfrm>
            <a:off x="2148840" y="4224600"/>
            <a:ext cx="2102760" cy="685440"/>
          </a:xfrm>
          <a:prstGeom prst="roundRect">
            <a:avLst>
              <a:gd name="adj" fmla="val 13333"/>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25" name="Text 3"/>
          <p:cNvSpPr/>
          <p:nvPr/>
        </p:nvSpPr>
        <p:spPr>
          <a:xfrm>
            <a:off x="2148840" y="4297680"/>
            <a:ext cx="210276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6366F1"/>
                </a:solidFill>
                <a:effectLst/>
                <a:uFillTx/>
                <a:latin typeface="Calibri"/>
                <a:ea typeface="Calibri"/>
              </a:rPr>
              <a:t>retrieve 6</a:t>
            </a:r>
            <a:endParaRPr lang="en-IN" sz="1400" b="0" u="none" strike="noStrike">
              <a:solidFill>
                <a:srgbClr val="000000"/>
              </a:solidFill>
              <a:effectLst/>
              <a:uFillTx/>
              <a:latin typeface="Arial"/>
            </a:endParaRPr>
          </a:p>
        </p:txBody>
      </p:sp>
      <p:sp>
        <p:nvSpPr>
          <p:cNvPr id="326" name="Text 4"/>
          <p:cNvSpPr/>
          <p:nvPr/>
        </p:nvSpPr>
        <p:spPr>
          <a:xfrm>
            <a:off x="2148840" y="4590360"/>
            <a:ext cx="210276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0" i="1" u="none" strike="noStrike">
                <a:solidFill>
                  <a:srgbClr val="64748B"/>
                </a:solidFill>
                <a:effectLst/>
                <a:uFillTx/>
                <a:latin typeface="Calibri"/>
                <a:ea typeface="Calibri"/>
              </a:rPr>
              <a:t>fast, approximate</a:t>
            </a:r>
            <a:endParaRPr lang="en-IN" sz="1050" b="0" u="none" strike="noStrike">
              <a:solidFill>
                <a:srgbClr val="000000"/>
              </a:solidFill>
              <a:effectLst/>
              <a:uFillTx/>
              <a:latin typeface="Arial"/>
            </a:endParaRPr>
          </a:p>
        </p:txBody>
      </p:sp>
      <p:sp>
        <p:nvSpPr>
          <p:cNvPr id="327" name="Shape 5"/>
          <p:cNvSpPr/>
          <p:nvPr/>
        </p:nvSpPr>
        <p:spPr>
          <a:xfrm>
            <a:off x="4288680" y="4453200"/>
            <a:ext cx="255600" cy="23724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28" name="Shape 6"/>
          <p:cNvSpPr/>
          <p:nvPr/>
        </p:nvSpPr>
        <p:spPr>
          <a:xfrm>
            <a:off x="4617720" y="4224600"/>
            <a:ext cx="2102760" cy="685440"/>
          </a:xfrm>
          <a:prstGeom prst="roundRect">
            <a:avLst>
              <a:gd name="adj" fmla="val 13333"/>
            </a:avLst>
          </a:prstGeom>
          <a:solidFill>
            <a:srgbClr val="EEF0FF"/>
          </a:solidFill>
          <a:ln w="12700">
            <a:solidFill>
              <a:srgbClr val="0891B2"/>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29" name="Text 7"/>
          <p:cNvSpPr/>
          <p:nvPr/>
        </p:nvSpPr>
        <p:spPr>
          <a:xfrm>
            <a:off x="4617720" y="4297680"/>
            <a:ext cx="210276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0891B2"/>
                </a:solidFill>
                <a:effectLst/>
                <a:uFillTx/>
                <a:latin typeface="Calibri"/>
                <a:ea typeface="Calibri"/>
              </a:rPr>
              <a:t>rerank</a:t>
            </a:r>
            <a:endParaRPr lang="en-IN" sz="1400" b="0" u="none" strike="noStrike">
              <a:solidFill>
                <a:srgbClr val="000000"/>
              </a:solidFill>
              <a:effectLst/>
              <a:uFillTx/>
              <a:latin typeface="Arial"/>
            </a:endParaRPr>
          </a:p>
        </p:txBody>
      </p:sp>
      <p:sp>
        <p:nvSpPr>
          <p:cNvPr id="330" name="Text 8"/>
          <p:cNvSpPr/>
          <p:nvPr/>
        </p:nvSpPr>
        <p:spPr>
          <a:xfrm>
            <a:off x="4617720" y="4590360"/>
            <a:ext cx="210276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0" i="1" u="none" strike="noStrike">
                <a:solidFill>
                  <a:srgbClr val="64748B"/>
                </a:solidFill>
                <a:effectLst/>
                <a:uFillTx/>
                <a:latin typeface="Calibri"/>
                <a:ea typeface="Calibri"/>
              </a:rPr>
              <a:t>slow, accurate</a:t>
            </a:r>
            <a:endParaRPr lang="en-IN" sz="1050" b="0" u="none" strike="noStrike">
              <a:solidFill>
                <a:srgbClr val="000000"/>
              </a:solidFill>
              <a:effectLst/>
              <a:uFillTx/>
              <a:latin typeface="Arial"/>
            </a:endParaRPr>
          </a:p>
        </p:txBody>
      </p:sp>
      <p:sp>
        <p:nvSpPr>
          <p:cNvPr id="331" name="Shape 9"/>
          <p:cNvSpPr/>
          <p:nvPr/>
        </p:nvSpPr>
        <p:spPr>
          <a:xfrm>
            <a:off x="6757560" y="4453200"/>
            <a:ext cx="255600" cy="23724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32" name="Shape 10"/>
          <p:cNvSpPr/>
          <p:nvPr/>
        </p:nvSpPr>
        <p:spPr>
          <a:xfrm>
            <a:off x="7086600" y="4224600"/>
            <a:ext cx="2102760" cy="685440"/>
          </a:xfrm>
          <a:prstGeom prst="roundRect">
            <a:avLst>
              <a:gd name="adj" fmla="val 13333"/>
            </a:avLst>
          </a:prstGeom>
          <a:solidFill>
            <a:srgbClr val="EEF0FF"/>
          </a:solidFill>
          <a:ln w="12700">
            <a:solidFill>
              <a:srgbClr val="15803D"/>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3" name="Text 11"/>
          <p:cNvSpPr/>
          <p:nvPr/>
        </p:nvSpPr>
        <p:spPr>
          <a:xfrm>
            <a:off x="7086600" y="4297680"/>
            <a:ext cx="210276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5803D"/>
                </a:solidFill>
                <a:effectLst/>
                <a:uFillTx/>
                <a:latin typeface="Calibri"/>
                <a:ea typeface="Calibri"/>
              </a:rPr>
              <a:t>keep top 3</a:t>
            </a:r>
            <a:endParaRPr lang="en-IN" sz="1400" b="0" u="none" strike="noStrike">
              <a:solidFill>
                <a:srgbClr val="000000"/>
              </a:solidFill>
              <a:effectLst/>
              <a:uFillTx/>
              <a:latin typeface="Arial"/>
            </a:endParaRPr>
          </a:p>
        </p:txBody>
      </p:sp>
      <p:sp>
        <p:nvSpPr>
          <p:cNvPr id="334" name="Text 12"/>
          <p:cNvSpPr/>
          <p:nvPr/>
        </p:nvSpPr>
        <p:spPr>
          <a:xfrm>
            <a:off x="7086600" y="4590360"/>
            <a:ext cx="210276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0" i="1" u="none" strike="noStrike">
                <a:solidFill>
                  <a:srgbClr val="64748B"/>
                </a:solidFill>
                <a:effectLst/>
                <a:uFillTx/>
                <a:latin typeface="Calibri"/>
                <a:ea typeface="Calibri"/>
              </a:rPr>
              <a:t>precise context</a:t>
            </a:r>
            <a:endParaRPr lang="en-IN" sz="1050" b="0" u="none" strike="noStrike">
              <a:solidFill>
                <a:srgbClr val="000000"/>
              </a:solidFill>
              <a:effectLst/>
              <a:uFillTx/>
              <a:latin typeface="Arial"/>
            </a:endParaRPr>
          </a:p>
        </p:txBody>
      </p:sp>
      <p:sp>
        <p:nvSpPr>
          <p:cNvPr id="335" name="Shape 13"/>
          <p:cNvSpPr/>
          <p:nvPr/>
        </p:nvSpPr>
        <p:spPr>
          <a:xfrm>
            <a:off x="9226440" y="4453200"/>
            <a:ext cx="255600" cy="23724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36" name="Shape 14"/>
          <p:cNvSpPr/>
          <p:nvPr/>
        </p:nvSpPr>
        <p:spPr>
          <a:xfrm>
            <a:off x="9555480" y="4224600"/>
            <a:ext cx="2102760" cy="685440"/>
          </a:xfrm>
          <a:prstGeom prst="roundRect">
            <a:avLst>
              <a:gd name="adj" fmla="val 13333"/>
            </a:avLst>
          </a:prstGeom>
          <a:solidFill>
            <a:srgbClr val="FFFFFF"/>
          </a:solidFill>
          <a:ln w="12700">
            <a:solidFill>
              <a:srgbClr val="1E293B"/>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7" name="Text 15"/>
          <p:cNvSpPr/>
          <p:nvPr/>
        </p:nvSpPr>
        <p:spPr>
          <a:xfrm>
            <a:off x="9555480" y="4297680"/>
            <a:ext cx="210276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E293B"/>
                </a:solidFill>
                <a:effectLst/>
                <a:uFillTx/>
                <a:latin typeface="Calibri"/>
                <a:ea typeface="Calibri"/>
              </a:rPr>
              <a:t>LLM</a:t>
            </a:r>
            <a:endParaRPr lang="en-IN" sz="1400" b="0" u="none" strike="noStrike">
              <a:solidFill>
                <a:srgbClr val="000000"/>
              </a:solidFill>
              <a:effectLst/>
              <a:uFillTx/>
              <a:latin typeface="Arial"/>
            </a:endParaRPr>
          </a:p>
        </p:txBody>
      </p:sp>
      <p:sp>
        <p:nvSpPr>
          <p:cNvPr id="338" name="Text 16"/>
          <p:cNvSpPr/>
          <p:nvPr/>
        </p:nvSpPr>
        <p:spPr>
          <a:xfrm>
            <a:off x="9555480" y="4590360"/>
            <a:ext cx="210276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0" i="1" u="none" strike="noStrike">
                <a:solidFill>
                  <a:srgbClr val="64748B"/>
                </a:solidFill>
                <a:effectLst/>
                <a:uFillTx/>
                <a:latin typeface="Calibri"/>
                <a:ea typeface="Calibri"/>
              </a:rPr>
              <a:t>the answer</a:t>
            </a:r>
            <a:endParaRPr lang="en-IN" sz="1050" b="0" u="none" strike="noStrike">
              <a:solidFill>
                <a:srgbClr val="000000"/>
              </a:solidFill>
              <a:effectLst/>
              <a:uFillTx/>
              <a:latin typeface="Arial"/>
            </a:endParaRPr>
          </a:p>
        </p:txBody>
      </p:sp>
      <p:sp>
        <p:nvSpPr>
          <p:cNvPr id="339" name="Shape 17"/>
          <p:cNvSpPr/>
          <p:nvPr/>
        </p:nvSpPr>
        <p:spPr>
          <a:xfrm>
            <a:off x="548640" y="5120640"/>
            <a:ext cx="11091240" cy="1051200"/>
          </a:xfrm>
          <a:prstGeom prst="roundRect">
            <a:avLst>
              <a:gd name="adj" fmla="val 8696"/>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40" name="Text 18"/>
          <p:cNvSpPr/>
          <p:nvPr/>
        </p:nvSpPr>
        <p:spPr>
          <a:xfrm>
            <a:off x="868680" y="5120640"/>
            <a:ext cx="10423800" cy="1051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45309"/>
                </a:solidFill>
                <a:effectLst/>
                <a:uFillTx/>
                <a:latin typeface="Calibri"/>
                <a:ea typeface="Calibri"/>
              </a:rPr>
              <a:t>In production, don't use an LLM for this.  </a:t>
            </a:r>
            <a:r>
              <a:rPr lang="en-US" sz="1400" b="0" u="none" strike="noStrike">
                <a:solidFill>
                  <a:srgbClr val="1E293B"/>
                </a:solidFill>
                <a:effectLst/>
                <a:uFillTx/>
                <a:latin typeface="Calibri"/>
                <a:ea typeface="Calibri"/>
              </a:rPr>
              <a:t>A dedicated cross-encoder is 10–100× faster and cheaper: cross-encoder/ms-marco-MiniLM-L-6-v2 is free and local, Cohere Rerank is the common hosted option (~$0.0025 per search of up to 100 docs). We use the LLM today only because you already have the key.</a:t>
            </a:r>
            <a:endParaRPr lang="en-IN" sz="1400" b="0" u="none" strike="noStrike">
              <a:solidFill>
                <a:srgbClr val="000000"/>
              </a:solidFill>
              <a:effectLst/>
              <a:uFillTx/>
              <a:latin typeface="Arial"/>
            </a:endParaRPr>
          </a:p>
        </p:txBody>
      </p:sp>
      <p:sp>
        <p:nvSpPr>
          <p:cNvPr id="341" name="Text 19"/>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342" name="Text 20"/>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28</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The fix kit</a:t>
            </a:r>
            <a:endParaRPr lang="en-IN" sz="3000" b="0" u="none" strike="noStrike">
              <a:solidFill>
                <a:srgbClr val="000000"/>
              </a:solidFill>
              <a:effectLst/>
              <a:uFillTx/>
              <a:latin typeface="Arial"/>
            </a:endParaRPr>
          </a:p>
        </p:txBody>
      </p:sp>
      <p:graphicFrame>
        <p:nvGraphicFramePr>
          <p:cNvPr id="344" name="Table 0"/>
          <p:cNvGraphicFramePr/>
          <p:nvPr/>
        </p:nvGraphicFramePr>
        <p:xfrm>
          <a:off x="548640" y="1645920"/>
          <a:ext cx="11091240" cy="3200400"/>
        </p:xfrm>
        <a:graphic>
          <a:graphicData uri="http://schemas.openxmlformats.org/drawingml/2006/table">
            <a:tbl>
              <a:tblPr/>
              <a:tblGrid>
                <a:gridCol w="4937760"/>
                <a:gridCol w="3291840"/>
                <a:gridCol w="2862000"/>
              </a:tblGrid>
              <a:tr h="45720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Symptom</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Reach for</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Cost</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4572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right chunk just missed the cut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bigger k</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longer prompt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572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three chunks all say the same thing</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MMR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none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572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question is vague or conversational</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query rewriting</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+1 LLM call</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572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exact terms, codes, acronyms missed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ourier New"/>
                          <a:ea typeface="Courier New"/>
                        </a:rPr>
                        <a:t>hybrid search</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none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572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right chunk retrieved but ranked 5th</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ourier New"/>
                          <a:ea typeface="Courier New"/>
                        </a:rPr>
                        <a:t>reranking</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+1 call / latency</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572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nothing relevant exists in the corpus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ourier New"/>
                          <a:ea typeface="Courier New"/>
                        </a:rPr>
                        <a:t>the grounding prompt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none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345" name="Shape 1"/>
          <p:cNvSpPr/>
          <p:nvPr/>
        </p:nvSpPr>
        <p:spPr>
          <a:xfrm>
            <a:off x="548640" y="5212080"/>
            <a:ext cx="11091240" cy="776880"/>
          </a:xfrm>
          <a:prstGeom prst="roundRect">
            <a:avLst>
              <a:gd name="adj" fmla="val 11765"/>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46" name="Text 2"/>
          <p:cNvSpPr/>
          <p:nvPr/>
        </p:nvSpPr>
        <p:spPr>
          <a:xfrm>
            <a:off x="868680" y="5212080"/>
            <a:ext cx="1042380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6366F1"/>
                </a:solidFill>
                <a:effectLst/>
                <a:uFillTx/>
                <a:latin typeface="Calibri"/>
                <a:ea typeface="Calibri"/>
              </a:rPr>
              <a:t>Diagnose first, then pick one. Adding all five by reflex costs you two extra LLM calls on every question — including the easy ones.</a:t>
            </a:r>
            <a:endParaRPr lang="en-IN" sz="1550" b="0" u="none" strike="noStrike">
              <a:solidFill>
                <a:srgbClr val="000000"/>
              </a:solidFill>
              <a:effectLst/>
              <a:uFillTx/>
              <a:latin typeface="Arial"/>
            </a:endParaRPr>
          </a:p>
        </p:txBody>
      </p:sp>
      <p:sp>
        <p:nvSpPr>
          <p:cNvPr id="347" name="Text 3"/>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348" name="Text 4"/>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29</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350" name="Text 1"/>
          <p:cNvSpPr/>
          <p:nvPr/>
        </p:nvSpPr>
        <p:spPr>
          <a:xfrm>
            <a:off x="548640" y="1051560"/>
            <a:ext cx="11091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Your bot can't find anything when users search for “UMC”. Which tool, and why?</a:t>
            </a:r>
            <a:endParaRPr lang="en-IN" sz="2500" b="0" u="none" strike="noStrike">
              <a:solidFill>
                <a:srgbClr val="000000"/>
              </a:solidFill>
              <a:effectLst/>
              <a:uFillTx/>
              <a:latin typeface="Arial"/>
            </a:endParaRPr>
          </a:p>
        </p:txBody>
      </p:sp>
      <p:sp>
        <p:nvSpPr>
          <p:cNvPr id="351" name="Shape 2"/>
          <p:cNvSpPr/>
          <p:nvPr/>
        </p:nvSpPr>
        <p:spPr>
          <a:xfrm>
            <a:off x="548640" y="24688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52" name="Text 3"/>
          <p:cNvSpPr/>
          <p:nvPr/>
        </p:nvSpPr>
        <p:spPr>
          <a:xfrm>
            <a:off x="548640" y="24688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353" name="Text 4"/>
          <p:cNvSpPr/>
          <p:nvPr/>
        </p:nvSpPr>
        <p:spPr>
          <a:xfrm>
            <a:off x="1325880" y="24688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Bigger k — retrieve more chunks</a:t>
            </a:r>
            <a:endParaRPr lang="en-IN" sz="1700" b="0" u="none" strike="noStrike">
              <a:solidFill>
                <a:srgbClr val="000000"/>
              </a:solidFill>
              <a:effectLst/>
              <a:uFillTx/>
              <a:latin typeface="Arial"/>
            </a:endParaRPr>
          </a:p>
        </p:txBody>
      </p:sp>
      <p:sp>
        <p:nvSpPr>
          <p:cNvPr id="354" name="Shape 5"/>
          <p:cNvSpPr/>
          <p:nvPr/>
        </p:nvSpPr>
        <p:spPr>
          <a:xfrm>
            <a:off x="548640" y="333756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55" name="Text 6"/>
          <p:cNvSpPr/>
          <p:nvPr/>
        </p:nvSpPr>
        <p:spPr>
          <a:xfrm>
            <a:off x="548640" y="333756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356" name="Text 7"/>
          <p:cNvSpPr/>
          <p:nvPr/>
        </p:nvSpPr>
        <p:spPr>
          <a:xfrm>
            <a:off x="1325880" y="333756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MMR — the results are too similar</a:t>
            </a:r>
            <a:endParaRPr lang="en-IN" sz="1700" b="0" u="none" strike="noStrike">
              <a:solidFill>
                <a:srgbClr val="000000"/>
              </a:solidFill>
              <a:effectLst/>
              <a:uFillTx/>
              <a:latin typeface="Arial"/>
            </a:endParaRPr>
          </a:p>
        </p:txBody>
      </p:sp>
      <p:sp>
        <p:nvSpPr>
          <p:cNvPr id="357" name="Shape 8"/>
          <p:cNvSpPr/>
          <p:nvPr/>
        </p:nvSpPr>
        <p:spPr>
          <a:xfrm>
            <a:off x="548640" y="42062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58" name="Text 9"/>
          <p:cNvSpPr/>
          <p:nvPr/>
        </p:nvSpPr>
        <p:spPr>
          <a:xfrm>
            <a:off x="548640" y="42062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359" name="Text 10"/>
          <p:cNvSpPr/>
          <p:nvPr/>
        </p:nvSpPr>
        <p:spPr>
          <a:xfrm>
            <a:off x="1325880" y="42062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Hybrid search — vectors are bad at exact tokens</a:t>
            </a:r>
            <a:endParaRPr lang="en-IN" sz="1700" b="0" u="none" strike="noStrike">
              <a:solidFill>
                <a:srgbClr val="000000"/>
              </a:solidFill>
              <a:effectLst/>
              <a:uFillTx/>
              <a:latin typeface="Arial"/>
            </a:endParaRPr>
          </a:p>
        </p:txBody>
      </p:sp>
      <p:sp>
        <p:nvSpPr>
          <p:cNvPr id="360" name="Shape 11"/>
          <p:cNvSpPr/>
          <p:nvPr/>
        </p:nvSpPr>
        <p:spPr>
          <a:xfrm>
            <a:off x="548640" y="50749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61" name="Text 12"/>
          <p:cNvSpPr/>
          <p:nvPr/>
        </p:nvSpPr>
        <p:spPr>
          <a:xfrm>
            <a:off x="548640" y="50749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362" name="Text 13"/>
          <p:cNvSpPr/>
          <p:nvPr/>
        </p:nvSpPr>
        <p:spPr>
          <a:xfrm>
            <a:off x="1325880" y="50749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A better grounding prompt</a:t>
            </a:r>
            <a:endParaRPr lang="en-IN" sz="1700" b="0" u="none" strike="noStrike">
              <a:solidFill>
                <a:srgbClr val="000000"/>
              </a:solidFill>
              <a:effectLst/>
              <a:uFillTx/>
              <a:latin typeface="Arial"/>
            </a:endParaRPr>
          </a:p>
        </p:txBody>
      </p:sp>
      <p:sp>
        <p:nvSpPr>
          <p:cNvPr id="363"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364"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30</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365"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06</a:t>
            </a:r>
            <a:endParaRPr lang="en-IN" sz="9600" b="0" u="none" strike="noStrike">
              <a:solidFill>
                <a:srgbClr val="000000"/>
              </a:solidFill>
              <a:effectLst/>
              <a:uFillTx/>
              <a:latin typeface="Arial"/>
            </a:endParaRPr>
          </a:p>
        </p:txBody>
      </p:sp>
      <p:sp>
        <p:nvSpPr>
          <p:cNvPr id="366"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Measure it, then ship it</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A golden set — six questions beats six opinions</a:t>
            </a:r>
            <a:endParaRPr lang="en-IN" sz="3000" b="0" u="none" strike="noStrike">
              <a:solidFill>
                <a:srgbClr val="000000"/>
              </a:solidFill>
              <a:effectLst/>
              <a:uFillTx/>
              <a:latin typeface="Arial"/>
            </a:endParaRPr>
          </a:p>
        </p:txBody>
      </p:sp>
      <p:sp>
        <p:nvSpPr>
          <p:cNvPr id="368" name="Shape 1"/>
          <p:cNvSpPr/>
          <p:nvPr/>
        </p:nvSpPr>
        <p:spPr>
          <a:xfrm>
            <a:off x="548640" y="1417320"/>
            <a:ext cx="6857640" cy="2377080"/>
          </a:xfrm>
          <a:prstGeom prst="roundRect">
            <a:avLst>
              <a:gd name="adj" fmla="val 2308"/>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69" name="Text 2"/>
          <p:cNvSpPr/>
          <p:nvPr/>
        </p:nvSpPr>
        <p:spPr>
          <a:xfrm>
            <a:off x="804600" y="1600200"/>
            <a:ext cx="6345720" cy="20113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100" b="0" u="none" strike="noStrike">
                <a:solidFill>
                  <a:srgbClr val="1E293B"/>
                </a:solidFill>
                <a:effectLst/>
                <a:uFillTx/>
                <a:latin typeface="Courier New"/>
                <a:ea typeface="Courier New"/>
              </a:rPr>
              <a:t>GOLDEN = [</a:t>
            </a:r>
            <a:endParaRPr lang="en-IN" sz="1100" b="0" u="none" strike="noStrike">
              <a:solidFill>
                <a:srgbClr val="000000"/>
              </a:solidFill>
              <a:effectLst/>
              <a:uFillTx/>
              <a:latin typeface="Arial"/>
            </a:endParaRPr>
          </a:p>
          <a:p>
            <a:pPr defTabSz="914400">
              <a:lnSpc>
                <a:spcPct val="115000"/>
              </a:lnSpc>
              <a:tabLst>
                <a:tab pos="0" algn="l"/>
              </a:tabLst>
            </a:pPr>
            <a:r>
              <a:rPr lang="en-US" sz="1100" b="0" u="none" strike="noStrike">
                <a:solidFill>
                  <a:srgbClr val="1E293B"/>
                </a:solidFill>
                <a:effectLst/>
                <a:uFillTx/>
                <a:latin typeface="Courier New"/>
                <a:ea typeface="Courier New"/>
              </a:rPr>
              <a:t>  ("How much attendance do I need?",           "75 percent"),</a:t>
            </a:r>
            <a:endParaRPr lang="en-IN" sz="1100" b="0" u="none" strike="noStrike">
              <a:solidFill>
                <a:srgbClr val="000000"/>
              </a:solidFill>
              <a:effectLst/>
              <a:uFillTx/>
              <a:latin typeface="Arial"/>
            </a:endParaRPr>
          </a:p>
          <a:p>
            <a:pPr defTabSz="914400">
              <a:lnSpc>
                <a:spcPct val="115000"/>
              </a:lnSpc>
              <a:tabLst>
                <a:tab pos="0" algn="l"/>
              </a:tabLst>
            </a:pPr>
            <a:r>
              <a:rPr lang="en-US" sz="1100" b="0" u="none" strike="noStrike">
                <a:solidFill>
                  <a:srgbClr val="1E293B"/>
                </a:solidFill>
                <a:effectLst/>
                <a:uFillTx/>
                <a:latin typeface="Courier New"/>
                <a:ea typeface="Courier New"/>
              </a:rPr>
              <a:t>  ("What is the passing mark in a course?",     "40 percent"),</a:t>
            </a:r>
            <a:endParaRPr lang="en-IN" sz="1100" b="0" u="none" strike="noStrike">
              <a:solidFill>
                <a:srgbClr val="000000"/>
              </a:solidFill>
              <a:effectLst/>
              <a:uFillTx/>
              <a:latin typeface="Arial"/>
            </a:endParaRPr>
          </a:p>
          <a:p>
            <a:pPr defTabSz="914400">
              <a:lnSpc>
                <a:spcPct val="115000"/>
              </a:lnSpc>
              <a:tabLst>
                <a:tab pos="0" algn="l"/>
              </a:tabLst>
            </a:pPr>
            <a:r>
              <a:rPr lang="en-US" sz="1100" b="0" u="none" strike="noStrike">
                <a:solidFill>
                  <a:srgbClr val="1E293B"/>
                </a:solidFill>
                <a:effectLst/>
                <a:uFillTx/>
                <a:latin typeface="Courier New"/>
                <a:ea typeface="Courier New"/>
              </a:rPr>
              <a:t>  ("How long to apply for re-evaluation?",      "15 days"),</a:t>
            </a:r>
            <a:endParaRPr lang="en-IN" sz="1100" b="0" u="none" strike="noStrike">
              <a:solidFill>
                <a:srgbClr val="000000"/>
              </a:solidFill>
              <a:effectLst/>
              <a:uFillTx/>
              <a:latin typeface="Arial"/>
            </a:endParaRPr>
          </a:p>
          <a:p>
            <a:pPr defTabSz="914400">
              <a:lnSpc>
                <a:spcPct val="115000"/>
              </a:lnSpc>
              <a:tabLst>
                <a:tab pos="0" algn="l"/>
              </a:tabLst>
            </a:pPr>
            <a:r>
              <a:rPr lang="en-US" sz="1100" b="0" u="none" strike="noStrike">
                <a:solidFill>
                  <a:srgbClr val="1E293B"/>
                </a:solidFill>
                <a:effectLst/>
                <a:uFillTx/>
                <a:latin typeface="Courier New"/>
                <a:ea typeface="Courier New"/>
              </a:rPr>
              <a:t>  ("What is the re-evaluation fee?",            "1,000"),</a:t>
            </a:r>
            <a:endParaRPr lang="en-IN" sz="1100" b="0" u="none" strike="noStrike">
              <a:solidFill>
                <a:srgbClr val="000000"/>
              </a:solidFill>
              <a:effectLst/>
              <a:uFillTx/>
              <a:latin typeface="Arial"/>
            </a:endParaRPr>
          </a:p>
          <a:p>
            <a:pPr defTabSz="914400">
              <a:lnSpc>
                <a:spcPct val="115000"/>
              </a:lnSpc>
              <a:tabLst>
                <a:tab pos="0" algn="l"/>
              </a:tabLst>
            </a:pPr>
            <a:r>
              <a:rPr lang="en-US" sz="1100" b="0" u="none" strike="noStrike">
                <a:solidFill>
                  <a:srgbClr val="1E293B"/>
                </a:solidFill>
                <a:effectLst/>
                <a:uFillTx/>
                <a:latin typeface="Courier New"/>
                <a:ea typeface="Courier New"/>
              </a:rPr>
              <a:t>  ("Caught with a phone in the exam hall?",     "mobile phone"),</a:t>
            </a:r>
            <a:endParaRPr lang="en-IN" sz="1100" b="0" u="none" strike="noStrike">
              <a:solidFill>
                <a:srgbClr val="000000"/>
              </a:solidFill>
              <a:effectLst/>
              <a:uFillTx/>
              <a:latin typeface="Arial"/>
            </a:endParaRPr>
          </a:p>
          <a:p>
            <a:pPr defTabSz="914400">
              <a:lnSpc>
                <a:spcPct val="115000"/>
              </a:lnSpc>
              <a:tabLst>
                <a:tab pos="0" algn="l"/>
              </a:tabLst>
            </a:pPr>
            <a:r>
              <a:rPr lang="en-US" sz="1100" b="0" u="none" strike="noStrike">
                <a:solidFill>
                  <a:srgbClr val="1E293B"/>
                </a:solidFill>
                <a:effectLst/>
                <a:uFillTx/>
                <a:latin typeface="Courier New"/>
                <a:ea typeface="Courier New"/>
              </a:rPr>
              <a:t>  ("When are backlog exams held?",              "summer"),</a:t>
            </a:r>
            <a:endParaRPr lang="en-IN" sz="1100" b="0" u="none" strike="noStrike">
              <a:solidFill>
                <a:srgbClr val="000000"/>
              </a:solidFill>
              <a:effectLst/>
              <a:uFillTx/>
              <a:latin typeface="Arial"/>
            </a:endParaRPr>
          </a:p>
          <a:p>
            <a:pPr defTabSz="914400">
              <a:lnSpc>
                <a:spcPct val="115000"/>
              </a:lnSpc>
              <a:tabLst>
                <a:tab pos="0" algn="l"/>
              </a:tabLst>
            </a:pPr>
            <a:r>
              <a:rPr lang="en-US" sz="1100" b="0" u="none" strike="noStrike">
                <a:solidFill>
                  <a:srgbClr val="1E293B"/>
                </a:solidFill>
                <a:effectLst/>
                <a:uFillTx/>
                <a:latin typeface="Courier New"/>
                <a:ea typeface="Courier New"/>
              </a:rPr>
              <a:t>]</a:t>
            </a:r>
            <a:endParaRPr lang="en-IN" sz="1100" b="0" u="none" strike="noStrike">
              <a:solidFill>
                <a:srgbClr val="000000"/>
              </a:solidFill>
              <a:effectLst/>
              <a:uFillTx/>
              <a:latin typeface="Arial"/>
            </a:endParaRPr>
          </a:p>
        </p:txBody>
      </p:sp>
      <p:sp>
        <p:nvSpPr>
          <p:cNvPr id="370" name="Shape 3"/>
          <p:cNvSpPr/>
          <p:nvPr/>
        </p:nvSpPr>
        <p:spPr>
          <a:xfrm>
            <a:off x="7772400" y="1417320"/>
            <a:ext cx="3840120" cy="2377080"/>
          </a:xfrm>
          <a:prstGeom prst="roundRect">
            <a:avLst>
              <a:gd name="adj" fmla="val 3846"/>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71" name="Text 4"/>
          <p:cNvSpPr/>
          <p:nvPr/>
        </p:nvSpPr>
        <p:spPr>
          <a:xfrm>
            <a:off x="8046720" y="1600200"/>
            <a:ext cx="33829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6366F1"/>
                </a:solidFill>
                <a:effectLst/>
                <a:uFillTx/>
                <a:latin typeface="Calibri"/>
                <a:ea typeface="Calibri"/>
              </a:rPr>
              <a:t>hit rate @ k</a:t>
            </a:r>
            <a:endParaRPr lang="en-IN" sz="1700" b="0" u="none" strike="noStrike">
              <a:solidFill>
                <a:srgbClr val="000000"/>
              </a:solidFill>
              <a:effectLst/>
              <a:uFillTx/>
              <a:latin typeface="Arial"/>
            </a:endParaRPr>
          </a:p>
        </p:txBody>
      </p:sp>
      <p:sp>
        <p:nvSpPr>
          <p:cNvPr id="372" name="Text 5"/>
          <p:cNvSpPr/>
          <p:nvPr/>
        </p:nvSpPr>
        <p:spPr>
          <a:xfrm>
            <a:off x="8046720" y="2011680"/>
            <a:ext cx="338292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the fraction of questions whose expected fact appears somewhere in the top-k chunks.</a:t>
            </a:r>
            <a:endParaRPr lang="en-IN" sz="1350" b="0" u="none" strike="noStrike">
              <a:solidFill>
                <a:srgbClr val="000000"/>
              </a:solidFill>
              <a:effectLst/>
              <a:uFillTx/>
              <a:latin typeface="Arial"/>
            </a:endParaRPr>
          </a:p>
        </p:txBody>
      </p:sp>
      <p:sp>
        <p:nvSpPr>
          <p:cNvPr id="373" name="Text 6"/>
          <p:cNvSpPr/>
          <p:nvPr/>
        </p:nvSpPr>
        <p:spPr>
          <a:xfrm>
            <a:off x="8046720" y="3200400"/>
            <a:ext cx="33829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E293B"/>
                </a:solidFill>
                <a:effectLst/>
                <a:uFillTx/>
                <a:latin typeface="Calibri"/>
                <a:ea typeface="Calibri"/>
              </a:rPr>
              <a:t>One number.</a:t>
            </a:r>
            <a:endParaRPr lang="en-IN" sz="1400" b="0" u="none" strike="noStrike">
              <a:solidFill>
                <a:srgbClr val="000000"/>
              </a:solidFill>
              <a:effectLst/>
              <a:uFillTx/>
              <a:latin typeface="Arial"/>
            </a:endParaRPr>
          </a:p>
        </p:txBody>
      </p:sp>
      <p:sp>
        <p:nvSpPr>
          <p:cNvPr id="374" name="Text 7"/>
          <p:cNvSpPr/>
          <p:nvPr/>
        </p:nvSpPr>
        <p:spPr>
          <a:xfrm>
            <a:off x="548640" y="397764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Now these stop being matters of opinion:</a:t>
            </a:r>
            <a:endParaRPr lang="en-IN" sz="1500" b="0" u="none" strike="noStrike">
              <a:solidFill>
                <a:srgbClr val="000000"/>
              </a:solidFill>
              <a:effectLst/>
              <a:uFillTx/>
              <a:latin typeface="Arial"/>
            </a:endParaRPr>
          </a:p>
        </p:txBody>
      </p:sp>
      <p:sp>
        <p:nvSpPr>
          <p:cNvPr id="375" name="Shape 8"/>
          <p:cNvSpPr/>
          <p:nvPr/>
        </p:nvSpPr>
        <p:spPr>
          <a:xfrm>
            <a:off x="548640" y="4434840"/>
            <a:ext cx="3520080" cy="685440"/>
          </a:xfrm>
          <a:prstGeom prst="roundRect">
            <a:avLst>
              <a:gd name="adj" fmla="val 13333"/>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76" name="Text 9"/>
          <p:cNvSpPr/>
          <p:nvPr/>
        </p:nvSpPr>
        <p:spPr>
          <a:xfrm>
            <a:off x="731520" y="4434840"/>
            <a:ext cx="320004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6366F1"/>
                </a:solidFill>
                <a:effectLst/>
                <a:uFillTx/>
                <a:latin typeface="Calibri"/>
                <a:ea typeface="Calibri"/>
              </a:rPr>
              <a:t>Does k=1 still work?</a:t>
            </a:r>
            <a:endParaRPr lang="en-IN" sz="1500" b="0" u="none" strike="noStrike">
              <a:solidFill>
                <a:srgbClr val="000000"/>
              </a:solidFill>
              <a:effectLst/>
              <a:uFillTx/>
              <a:latin typeface="Arial"/>
            </a:endParaRPr>
          </a:p>
        </p:txBody>
      </p:sp>
      <p:sp>
        <p:nvSpPr>
          <p:cNvPr id="377" name="Shape 10"/>
          <p:cNvSpPr/>
          <p:nvPr/>
        </p:nvSpPr>
        <p:spPr>
          <a:xfrm>
            <a:off x="4343400" y="4434840"/>
            <a:ext cx="3520080" cy="685440"/>
          </a:xfrm>
          <a:prstGeom prst="roundRect">
            <a:avLst>
              <a:gd name="adj" fmla="val 13333"/>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78" name="Text 11"/>
          <p:cNvSpPr/>
          <p:nvPr/>
        </p:nvSpPr>
        <p:spPr>
          <a:xfrm>
            <a:off x="4526280" y="4434840"/>
            <a:ext cx="320004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6366F1"/>
                </a:solidFill>
                <a:effectLst/>
                <a:uFillTx/>
                <a:latin typeface="Calibri"/>
                <a:ea typeface="Calibri"/>
              </a:rPr>
              <a:t>Is hybrid better here?</a:t>
            </a:r>
            <a:endParaRPr lang="en-IN" sz="1500" b="0" u="none" strike="noStrike">
              <a:solidFill>
                <a:srgbClr val="000000"/>
              </a:solidFill>
              <a:effectLst/>
              <a:uFillTx/>
              <a:latin typeface="Arial"/>
            </a:endParaRPr>
          </a:p>
        </p:txBody>
      </p:sp>
      <p:sp>
        <p:nvSpPr>
          <p:cNvPr id="379" name="Shape 12"/>
          <p:cNvSpPr/>
          <p:nvPr/>
        </p:nvSpPr>
        <p:spPr>
          <a:xfrm>
            <a:off x="8138160" y="4434840"/>
            <a:ext cx="3520080" cy="685440"/>
          </a:xfrm>
          <a:prstGeom prst="roundRect">
            <a:avLst>
              <a:gd name="adj" fmla="val 13333"/>
            </a:avLst>
          </a:prstGeom>
          <a:solidFill>
            <a:srgbClr val="EEF0FF"/>
          </a:solidFill>
          <a:ln w="12700">
            <a:solidFill>
              <a:srgbClr val="0891B2"/>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80" name="Text 13"/>
          <p:cNvSpPr/>
          <p:nvPr/>
        </p:nvSpPr>
        <p:spPr>
          <a:xfrm>
            <a:off x="8321040" y="4434840"/>
            <a:ext cx="320004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0891B2"/>
                </a:solidFill>
                <a:effectLst/>
                <a:uFillTx/>
                <a:latin typeface="Calibri"/>
                <a:ea typeface="Calibri"/>
              </a:rPr>
              <a:t>Was chunk_size=400 right?</a:t>
            </a:r>
            <a:endParaRPr lang="en-IN" sz="1500" b="0" u="none" strike="noStrike">
              <a:solidFill>
                <a:srgbClr val="000000"/>
              </a:solidFill>
              <a:effectLst/>
              <a:uFillTx/>
              <a:latin typeface="Arial"/>
            </a:endParaRPr>
          </a:p>
        </p:txBody>
      </p:sp>
      <p:sp>
        <p:nvSpPr>
          <p:cNvPr id="381" name="Shape 14"/>
          <p:cNvSpPr/>
          <p:nvPr/>
        </p:nvSpPr>
        <p:spPr>
          <a:xfrm>
            <a:off x="548640" y="5349240"/>
            <a:ext cx="11091240" cy="731160"/>
          </a:xfrm>
          <a:prstGeom prst="roundRect">
            <a:avLst>
              <a:gd name="adj" fmla="val 12500"/>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82" name="Text 15"/>
          <p:cNvSpPr/>
          <p:nvPr/>
        </p:nvSpPr>
        <p:spPr>
          <a:xfrm>
            <a:off x="868680" y="5349240"/>
            <a:ext cx="104238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15803D"/>
                </a:solidFill>
                <a:effectLst/>
                <a:uFillTx/>
                <a:latin typeface="Calibri"/>
                <a:ea typeface="Calibri"/>
              </a:rPr>
              <a:t>This is the honest answer to “what chunk size should I use?”  </a:t>
            </a:r>
            <a:r>
              <a:rPr lang="en-US" sz="1550" b="0" u="none" strike="noStrike">
                <a:solidFill>
                  <a:srgbClr val="1E293B"/>
                </a:solidFill>
                <a:effectLst/>
                <a:uFillTx/>
                <a:latin typeface="Calibri"/>
                <a:ea typeface="Calibri"/>
              </a:rPr>
              <a:t>You measure it. Not vibes, not a blog post.</a:t>
            </a:r>
            <a:endParaRPr lang="en-IN" sz="1550" b="0" u="none" strike="noStrike">
              <a:solidFill>
                <a:srgbClr val="000000"/>
              </a:solidFill>
              <a:effectLst/>
              <a:uFillTx/>
              <a:latin typeface="Arial"/>
            </a:endParaRPr>
          </a:p>
        </p:txBody>
      </p:sp>
      <p:sp>
        <p:nvSpPr>
          <p:cNvPr id="383" name="Text 16"/>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384" name="Text 17"/>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32</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Ship it — and the follow-up problem</a:t>
            </a:r>
            <a:endParaRPr lang="en-IN" sz="3000" b="0" u="none" strike="noStrike">
              <a:solidFill>
                <a:srgbClr val="000000"/>
              </a:solidFill>
              <a:effectLst/>
              <a:uFillTx/>
              <a:latin typeface="Arial"/>
            </a:endParaRPr>
          </a:p>
        </p:txBody>
      </p:sp>
      <p:sp>
        <p:nvSpPr>
          <p:cNvPr id="386" name="Shape 1"/>
          <p:cNvSpPr/>
          <p:nvPr/>
        </p:nvSpPr>
        <p:spPr>
          <a:xfrm>
            <a:off x="548640" y="1463040"/>
            <a:ext cx="11091240" cy="1096920"/>
          </a:xfrm>
          <a:prstGeom prst="roundRect">
            <a:avLst>
              <a:gd name="adj" fmla="val 8333"/>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87" name="Text 2"/>
          <p:cNvSpPr/>
          <p:nvPr/>
        </p:nvSpPr>
        <p:spPr>
          <a:xfrm>
            <a:off x="868680" y="1572840"/>
            <a:ext cx="10423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ourier New"/>
                <a:ea typeface="Courier New"/>
              </a:rPr>
              <a:t>“How much attendance do I need?”   →   75 percent</a:t>
            </a:r>
            <a:endParaRPr lang="en-IN" sz="1350" b="0" u="none" strike="noStrike">
              <a:solidFill>
                <a:srgbClr val="000000"/>
              </a:solidFill>
              <a:effectLst/>
              <a:uFillTx/>
              <a:latin typeface="Arial"/>
            </a:endParaRPr>
          </a:p>
        </p:txBody>
      </p:sp>
      <p:sp>
        <p:nvSpPr>
          <p:cNvPr id="388" name="Text 3"/>
          <p:cNvSpPr/>
          <p:nvPr/>
        </p:nvSpPr>
        <p:spPr>
          <a:xfrm>
            <a:off x="868680" y="2011680"/>
            <a:ext cx="104238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45309"/>
                </a:solidFill>
                <a:effectLst/>
                <a:uFillTx/>
                <a:latin typeface="Courier New"/>
                <a:ea typeface="Courier New"/>
              </a:rPr>
              <a:t>“and what if I was ill?”</a:t>
            </a:r>
            <a:r>
              <a:rPr lang="en-US" sz="1400" b="0" u="none" strike="noStrike">
                <a:solidFill>
                  <a:srgbClr val="1E293B"/>
                </a:solidFill>
                <a:effectLst/>
                <a:uFillTx/>
                <a:latin typeface="Calibri"/>
                <a:ea typeface="Calibri"/>
              </a:rPr>
              <a:t>   ←  embed that on its own and you retrieve nothing useful.</a:t>
            </a:r>
            <a:endParaRPr lang="en-IN" sz="1400" b="0" u="none" strike="noStrike">
              <a:solidFill>
                <a:srgbClr val="000000"/>
              </a:solidFill>
              <a:effectLst/>
              <a:uFillTx/>
              <a:latin typeface="Arial"/>
            </a:endParaRPr>
          </a:p>
        </p:txBody>
      </p:sp>
      <p:sp>
        <p:nvSpPr>
          <p:cNvPr id="389" name="Shape 4"/>
          <p:cNvSpPr/>
          <p:nvPr/>
        </p:nvSpPr>
        <p:spPr>
          <a:xfrm>
            <a:off x="548640" y="2743200"/>
            <a:ext cx="11091240" cy="2285640"/>
          </a:xfrm>
          <a:prstGeom prst="roundRect">
            <a:avLst>
              <a:gd name="adj" fmla="val 24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0" name="Text 5"/>
          <p:cNvSpPr/>
          <p:nvPr/>
        </p:nvSpPr>
        <p:spPr>
          <a:xfrm>
            <a:off x="804600" y="2926080"/>
            <a:ext cx="10579320" cy="19198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150" b="0" u="none" strike="noStrike">
                <a:solidFill>
                  <a:srgbClr val="1E293B"/>
                </a:solidFill>
                <a:effectLst/>
                <a:uFillTx/>
                <a:latin typeface="Courier New"/>
                <a:ea typeface="Courier New"/>
              </a:rPr>
              <a:t>def rag_answer(message, history):</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recent = "\n".join(f"{m['role']}: {m['content']}" for m in history[-4:])</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search_query = rewriter.invoke({"question": f"{recent}\nFollow-up: {message}"})</a:t>
            </a:r>
            <a:endParaRPr lang="en-IN" sz="1150" b="0" u="none" strike="noStrike">
              <a:solidFill>
                <a:srgbClr val="000000"/>
              </a:solidFill>
              <a:effectLst/>
              <a:uFillTx/>
              <a:latin typeface="Arial"/>
            </a:endParaRPr>
          </a:p>
          <a:p>
            <a:pPr defTabSz="914400">
              <a:lnSpc>
                <a:spcPct val="115000"/>
              </a:lnSpc>
              <a:tabLst>
                <a:tab pos="0" algn="l"/>
              </a:tabLst>
            </a:pP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docs   = retriever.invoke(search_query)          # retrieve on the REWRITTEN query</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answer = (RAG_PROMPT | llm | StrOutputParser()).invoke(</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{"context": format_docs(docs), "question": message})   # answer the REAL one</a:t>
            </a:r>
            <a:endParaRPr lang="en-IN" sz="1150" b="0" u="none" strike="noStrike">
              <a:solidFill>
                <a:srgbClr val="000000"/>
              </a:solidFill>
              <a:effectLst/>
              <a:uFillTx/>
              <a:latin typeface="Arial"/>
            </a:endParaRPr>
          </a:p>
          <a:p>
            <a:pPr defTabSz="914400">
              <a:lnSpc>
                <a:spcPct val="115000"/>
              </a:lnSpc>
              <a:tabLst>
                <a:tab pos="0" algn="l"/>
              </a:tabLst>
            </a:pP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pages = sorted({d.metadata["page"] for d in docs})</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return f"{answer}\n\n*Source: page {pages}*"</a:t>
            </a:r>
            <a:endParaRPr lang="en-IN" sz="1150" b="0" u="none" strike="noStrike">
              <a:solidFill>
                <a:srgbClr val="000000"/>
              </a:solidFill>
              <a:effectLst/>
              <a:uFillTx/>
              <a:latin typeface="Arial"/>
            </a:endParaRPr>
          </a:p>
        </p:txBody>
      </p:sp>
      <p:sp>
        <p:nvSpPr>
          <p:cNvPr id="391" name="Shape 6"/>
          <p:cNvSpPr/>
          <p:nvPr/>
        </p:nvSpPr>
        <p:spPr>
          <a:xfrm>
            <a:off x="548640" y="5212080"/>
            <a:ext cx="11091240" cy="868320"/>
          </a:xfrm>
          <a:prstGeom prst="roundRect">
            <a:avLst>
              <a:gd name="adj" fmla="val 10526"/>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2" name="Text 7"/>
          <p:cNvSpPr/>
          <p:nvPr/>
        </p:nvSpPr>
        <p:spPr>
          <a:xfrm>
            <a:off x="868680" y="5212080"/>
            <a:ext cx="1042380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Retrieve on the rewritten query. Answer the question the user actually asked.  </a:t>
            </a:r>
            <a:r>
              <a:rPr lang="en-US" sz="1500" b="0" u="none" strike="noStrike">
                <a:solidFill>
                  <a:srgbClr val="1E293B"/>
                </a:solidFill>
                <a:effectLst/>
                <a:uFillTx/>
                <a:latin typeface="Calibri"/>
                <a:ea typeface="Calibri"/>
              </a:rPr>
              <a:t>Mix those two up and your bot starts answering questions nobody asked.</a:t>
            </a:r>
            <a:endParaRPr lang="en-IN" sz="1500" b="0" u="none" strike="noStrike">
              <a:solidFill>
                <a:srgbClr val="000000"/>
              </a:solidFill>
              <a:effectLst/>
              <a:uFillTx/>
              <a:latin typeface="Arial"/>
            </a:endParaRPr>
          </a:p>
        </p:txBody>
      </p:sp>
      <p:sp>
        <p:nvSpPr>
          <p:cNvPr id="393" name="Text 8"/>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394" name="Text 9"/>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What production adds</a:t>
            </a:r>
            <a:endParaRPr lang="en-IN" sz="3000" b="0" u="none" strike="noStrike">
              <a:solidFill>
                <a:srgbClr val="000000"/>
              </a:solidFill>
              <a:effectLst/>
              <a:uFillTx/>
              <a:latin typeface="Arial"/>
            </a:endParaRPr>
          </a:p>
        </p:txBody>
      </p:sp>
      <p:graphicFrame>
        <p:nvGraphicFramePr>
          <p:cNvPr id="396" name="Table 0"/>
          <p:cNvGraphicFramePr/>
          <p:nvPr/>
        </p:nvGraphicFramePr>
        <p:xfrm>
          <a:off x="548640" y="1645920"/>
          <a:ext cx="11091240" cy="3181680"/>
        </p:xfrm>
        <a:graphic>
          <a:graphicData uri="http://schemas.openxmlformats.org/drawingml/2006/table">
            <a:tbl>
              <a:tblPr/>
              <a:tblGrid>
                <a:gridCol w="2377440"/>
                <a:gridCol w="8714160"/>
              </a:tblGrid>
              <a:tr h="53028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Concern</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The reality</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53028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Cost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one question ≈ 1 embedding call + 1–3 chat calls; rewriting and reranking each add one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3028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Latency</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rewriting +100–300 ms, reranking +100–500 ms — budget them, don't add both by reflex</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3028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Freshness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the policy changed → re-index. Indexing is offline, so it's a job, not a request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30280">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Access control</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filter by metadata BEFORE searching, so nobody retrieves a document they can't read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30280">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alibri"/>
                          <a:ea typeface="Calibri"/>
                        </a:rPr>
                        <a:t>Observability</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log the query, the rewritten query, the chunk ids and the answer — or you cannot debug a complaint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397" name="Shape 1"/>
          <p:cNvSpPr/>
          <p:nvPr/>
        </p:nvSpPr>
        <p:spPr>
          <a:xfrm>
            <a:off x="548640" y="5166360"/>
            <a:ext cx="11091240" cy="959760"/>
          </a:xfrm>
          <a:prstGeom prst="roundRect">
            <a:avLst>
              <a:gd name="adj" fmla="val 9524"/>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8" name="Text 2"/>
          <p:cNvSpPr/>
          <p:nvPr/>
        </p:nvSpPr>
        <p:spPr>
          <a:xfrm>
            <a:off x="868680" y="5166360"/>
            <a:ext cx="10423800" cy="95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You built the pipeline today.  </a:t>
            </a:r>
            <a:r>
              <a:rPr lang="en-US" sz="1500" b="0" u="none" strike="noStrike">
                <a:solidFill>
                  <a:srgbClr val="1E293B"/>
                </a:solidFill>
                <a:effectLst/>
                <a:uFillTx/>
                <a:latin typeface="Calibri"/>
                <a:ea typeface="Calibri"/>
              </a:rPr>
              <a:t>These five are what separates it from something a university would actually run — and every one of them is ordinary engineering, not AI.</a:t>
            </a:r>
            <a:endParaRPr lang="en-IN" sz="1500" b="0" u="none" strike="noStrike">
              <a:solidFill>
                <a:srgbClr val="000000"/>
              </a:solidFill>
              <a:effectLst/>
              <a:uFillTx/>
              <a:latin typeface="Arial"/>
            </a:endParaRPr>
          </a:p>
        </p:txBody>
      </p:sp>
      <p:sp>
        <p:nvSpPr>
          <p:cNvPr id="399" name="Text 3"/>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400" name="Text 4"/>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34</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402" name="Text 1"/>
          <p:cNvSpPr/>
          <p:nvPr/>
        </p:nvSpPr>
        <p:spPr>
          <a:xfrm>
            <a:off x="548640" y="1051560"/>
            <a:ext cx="11091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You add query rewriting AND reranking to every request. What did you just spend?</a:t>
            </a:r>
            <a:endParaRPr lang="en-IN" sz="2500" b="0" u="none" strike="noStrike">
              <a:solidFill>
                <a:srgbClr val="000000"/>
              </a:solidFill>
              <a:effectLst/>
              <a:uFillTx/>
              <a:latin typeface="Arial"/>
            </a:endParaRPr>
          </a:p>
        </p:txBody>
      </p:sp>
      <p:sp>
        <p:nvSpPr>
          <p:cNvPr id="403" name="Shape 2"/>
          <p:cNvSpPr/>
          <p:nvPr/>
        </p:nvSpPr>
        <p:spPr>
          <a:xfrm>
            <a:off x="548640" y="24688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04" name="Text 3"/>
          <p:cNvSpPr/>
          <p:nvPr/>
        </p:nvSpPr>
        <p:spPr>
          <a:xfrm>
            <a:off x="548640" y="24688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405" name="Text 4"/>
          <p:cNvSpPr/>
          <p:nvPr/>
        </p:nvSpPr>
        <p:spPr>
          <a:xfrm>
            <a:off x="1325880" y="24688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Two extra LLM calls and up to ~800 ms on every question</a:t>
            </a:r>
            <a:endParaRPr lang="en-IN" sz="1700" b="0" u="none" strike="noStrike">
              <a:solidFill>
                <a:srgbClr val="000000"/>
              </a:solidFill>
              <a:effectLst/>
              <a:uFillTx/>
              <a:latin typeface="Arial"/>
            </a:endParaRPr>
          </a:p>
        </p:txBody>
      </p:sp>
      <p:sp>
        <p:nvSpPr>
          <p:cNvPr id="406" name="Shape 5"/>
          <p:cNvSpPr/>
          <p:nvPr/>
        </p:nvSpPr>
        <p:spPr>
          <a:xfrm>
            <a:off x="548640" y="333756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07" name="Text 6"/>
          <p:cNvSpPr/>
          <p:nvPr/>
        </p:nvSpPr>
        <p:spPr>
          <a:xfrm>
            <a:off x="548640" y="333756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408" name="Text 7"/>
          <p:cNvSpPr/>
          <p:nvPr/>
        </p:nvSpPr>
        <p:spPr>
          <a:xfrm>
            <a:off x="1325880" y="333756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Nothing — they run locally</a:t>
            </a:r>
            <a:endParaRPr lang="en-IN" sz="1700" b="0" u="none" strike="noStrike">
              <a:solidFill>
                <a:srgbClr val="000000"/>
              </a:solidFill>
              <a:effectLst/>
              <a:uFillTx/>
              <a:latin typeface="Arial"/>
            </a:endParaRPr>
          </a:p>
        </p:txBody>
      </p:sp>
      <p:sp>
        <p:nvSpPr>
          <p:cNvPr id="409" name="Shape 8"/>
          <p:cNvSpPr/>
          <p:nvPr/>
        </p:nvSpPr>
        <p:spPr>
          <a:xfrm>
            <a:off x="548640" y="42062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10" name="Text 9"/>
          <p:cNvSpPr/>
          <p:nvPr/>
        </p:nvSpPr>
        <p:spPr>
          <a:xfrm>
            <a:off x="548640" y="42062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411" name="Text 10"/>
          <p:cNvSpPr/>
          <p:nvPr/>
        </p:nvSpPr>
        <p:spPr>
          <a:xfrm>
            <a:off x="1325880" y="42062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One extra embedding call</a:t>
            </a:r>
            <a:endParaRPr lang="en-IN" sz="1700" b="0" u="none" strike="noStrike">
              <a:solidFill>
                <a:srgbClr val="000000"/>
              </a:solidFill>
              <a:effectLst/>
              <a:uFillTx/>
              <a:latin typeface="Arial"/>
            </a:endParaRPr>
          </a:p>
        </p:txBody>
      </p:sp>
      <p:sp>
        <p:nvSpPr>
          <p:cNvPr id="412" name="Shape 11"/>
          <p:cNvSpPr/>
          <p:nvPr/>
        </p:nvSpPr>
        <p:spPr>
          <a:xfrm>
            <a:off x="548640" y="50749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13" name="Text 12"/>
          <p:cNvSpPr/>
          <p:nvPr/>
        </p:nvSpPr>
        <p:spPr>
          <a:xfrm>
            <a:off x="548640" y="50749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414" name="Text 13"/>
          <p:cNvSpPr/>
          <p:nvPr/>
        </p:nvSpPr>
        <p:spPr>
          <a:xfrm>
            <a:off x="1325880" y="50749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Only storage, at index time</a:t>
            </a:r>
            <a:endParaRPr lang="en-IN" sz="1700" b="0" u="none" strike="noStrike">
              <a:solidFill>
                <a:srgbClr val="000000"/>
              </a:solidFill>
              <a:effectLst/>
              <a:uFillTx/>
              <a:latin typeface="Arial"/>
            </a:endParaRPr>
          </a:p>
        </p:txBody>
      </p:sp>
      <p:sp>
        <p:nvSpPr>
          <p:cNvPr id="415"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416"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Recap</a:t>
            </a:r>
            <a:endParaRPr lang="en-IN" sz="3000" b="0" u="none" strike="noStrike">
              <a:solidFill>
                <a:srgbClr val="000000"/>
              </a:solidFill>
              <a:effectLst/>
              <a:uFillTx/>
              <a:latin typeface="Arial"/>
            </a:endParaRPr>
          </a:p>
        </p:txBody>
      </p:sp>
      <p:sp>
        <p:nvSpPr>
          <p:cNvPr id="418" name="Shape 1"/>
          <p:cNvSpPr/>
          <p:nvPr/>
        </p:nvSpPr>
        <p:spPr>
          <a:xfrm>
            <a:off x="548640" y="160020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19" name="Text 2"/>
          <p:cNvSpPr/>
          <p:nvPr/>
        </p:nvSpPr>
        <p:spPr>
          <a:xfrm>
            <a:off x="548640" y="160020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1</a:t>
            </a:r>
            <a:endParaRPr lang="en-IN" sz="1500" b="0" u="none" strike="noStrike">
              <a:solidFill>
                <a:srgbClr val="000000"/>
              </a:solidFill>
              <a:effectLst/>
              <a:uFillTx/>
              <a:latin typeface="Arial"/>
            </a:endParaRPr>
          </a:p>
        </p:txBody>
      </p:sp>
      <p:sp>
        <p:nvSpPr>
          <p:cNvPr id="420" name="Text 3"/>
          <p:cNvSpPr/>
          <p:nvPr/>
        </p:nvSpPr>
        <p:spPr>
          <a:xfrm>
            <a:off x="1417320" y="1600200"/>
            <a:ext cx="104238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1E293B"/>
                </a:solidFill>
                <a:effectLst/>
                <a:uFillTx/>
                <a:latin typeface="Calibri"/>
                <a:ea typeface="Calibri"/>
              </a:rPr>
              <a:t>LangChain is standard names for yesterday's pieces — and LCEL pipes them because they share one interface.</a:t>
            </a:r>
            <a:endParaRPr lang="en-IN" sz="1600" b="0" u="none" strike="noStrike">
              <a:solidFill>
                <a:srgbClr val="000000"/>
              </a:solidFill>
              <a:effectLst/>
              <a:uFillTx/>
              <a:latin typeface="Arial"/>
            </a:endParaRPr>
          </a:p>
        </p:txBody>
      </p:sp>
      <p:sp>
        <p:nvSpPr>
          <p:cNvPr id="421" name="Shape 4"/>
          <p:cNvSpPr/>
          <p:nvPr/>
        </p:nvSpPr>
        <p:spPr>
          <a:xfrm>
            <a:off x="548640" y="24415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22" name="Text 5"/>
          <p:cNvSpPr/>
          <p:nvPr/>
        </p:nvSpPr>
        <p:spPr>
          <a:xfrm>
            <a:off x="548640" y="24415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2</a:t>
            </a:r>
            <a:endParaRPr lang="en-IN" sz="1500" b="0" u="none" strike="noStrike">
              <a:solidFill>
                <a:srgbClr val="000000"/>
              </a:solidFill>
              <a:effectLst/>
              <a:uFillTx/>
              <a:latin typeface="Arial"/>
            </a:endParaRPr>
          </a:p>
        </p:txBody>
      </p:sp>
      <p:sp>
        <p:nvSpPr>
          <p:cNvPr id="423" name="Text 6"/>
          <p:cNvSpPr/>
          <p:nvPr/>
        </p:nvSpPr>
        <p:spPr>
          <a:xfrm>
            <a:off x="1417320" y="2441520"/>
            <a:ext cx="104238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1E293B"/>
                </a:solidFill>
                <a:effectLst/>
                <a:uFillTx/>
                <a:latin typeface="Calibri"/>
                <a:ea typeface="Calibri"/>
              </a:rPr>
              <a:t>Grounding is two rules: use only the context, and refuse in exact words when it isn't there.</a:t>
            </a:r>
            <a:endParaRPr lang="en-IN" sz="1600" b="0" u="none" strike="noStrike">
              <a:solidFill>
                <a:srgbClr val="000000"/>
              </a:solidFill>
              <a:effectLst/>
              <a:uFillTx/>
              <a:latin typeface="Arial"/>
            </a:endParaRPr>
          </a:p>
        </p:txBody>
      </p:sp>
      <p:sp>
        <p:nvSpPr>
          <p:cNvPr id="424" name="Shape 7"/>
          <p:cNvSpPr/>
          <p:nvPr/>
        </p:nvSpPr>
        <p:spPr>
          <a:xfrm>
            <a:off x="548640" y="32828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25" name="Text 8"/>
          <p:cNvSpPr/>
          <p:nvPr/>
        </p:nvSpPr>
        <p:spPr>
          <a:xfrm>
            <a:off x="548640" y="32828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3</a:t>
            </a:r>
            <a:endParaRPr lang="en-IN" sz="1500" b="0" u="none" strike="noStrike">
              <a:solidFill>
                <a:srgbClr val="000000"/>
              </a:solidFill>
              <a:effectLst/>
              <a:uFillTx/>
              <a:latin typeface="Arial"/>
            </a:endParaRPr>
          </a:p>
        </p:txBody>
      </p:sp>
      <p:sp>
        <p:nvSpPr>
          <p:cNvPr id="426" name="Text 9"/>
          <p:cNvSpPr/>
          <p:nvPr/>
        </p:nvSpPr>
        <p:spPr>
          <a:xfrm>
            <a:off x="1417320" y="3282840"/>
            <a:ext cx="104238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1E293B"/>
                </a:solidFill>
                <a:effectLst/>
                <a:uFillTx/>
                <a:latin typeface="Calibri"/>
                <a:ea typeface="Calibri"/>
              </a:rPr>
              <a:t>Citations come from metadata you attached at split time — never from the model.</a:t>
            </a:r>
            <a:endParaRPr lang="en-IN" sz="1600" b="0" u="none" strike="noStrike">
              <a:solidFill>
                <a:srgbClr val="000000"/>
              </a:solidFill>
              <a:effectLst/>
              <a:uFillTx/>
              <a:latin typeface="Arial"/>
            </a:endParaRPr>
          </a:p>
        </p:txBody>
      </p:sp>
      <p:sp>
        <p:nvSpPr>
          <p:cNvPr id="427" name="Shape 10"/>
          <p:cNvSpPr/>
          <p:nvPr/>
        </p:nvSpPr>
        <p:spPr>
          <a:xfrm>
            <a:off x="548640" y="412380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28" name="Text 11"/>
          <p:cNvSpPr/>
          <p:nvPr/>
        </p:nvSpPr>
        <p:spPr>
          <a:xfrm>
            <a:off x="548640" y="412380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4</a:t>
            </a:r>
            <a:endParaRPr lang="en-IN" sz="1500" b="0" u="none" strike="noStrike">
              <a:solidFill>
                <a:srgbClr val="000000"/>
              </a:solidFill>
              <a:effectLst/>
              <a:uFillTx/>
              <a:latin typeface="Arial"/>
            </a:endParaRPr>
          </a:p>
        </p:txBody>
      </p:sp>
      <p:sp>
        <p:nvSpPr>
          <p:cNvPr id="429" name="Text 12"/>
          <p:cNvSpPr/>
          <p:nvPr/>
        </p:nvSpPr>
        <p:spPr>
          <a:xfrm>
            <a:off x="1417320" y="4123800"/>
            <a:ext cx="104238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1E293B"/>
                </a:solidFill>
                <a:effectLst/>
                <a:uFillTx/>
                <a:latin typeface="Calibri"/>
                <a:ea typeface="Calibri"/>
              </a:rPr>
              <a:t>Print the retrieved chunks first: retrieval failure and generation failure need opposite fixes.</a:t>
            </a:r>
            <a:endParaRPr lang="en-IN" sz="1600" b="0" u="none" strike="noStrike">
              <a:solidFill>
                <a:srgbClr val="000000"/>
              </a:solidFill>
              <a:effectLst/>
              <a:uFillTx/>
              <a:latin typeface="Arial"/>
            </a:endParaRPr>
          </a:p>
        </p:txBody>
      </p:sp>
      <p:sp>
        <p:nvSpPr>
          <p:cNvPr id="430" name="Shape 13"/>
          <p:cNvSpPr/>
          <p:nvPr/>
        </p:nvSpPr>
        <p:spPr>
          <a:xfrm>
            <a:off x="548640" y="49651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31" name="Text 14"/>
          <p:cNvSpPr/>
          <p:nvPr/>
        </p:nvSpPr>
        <p:spPr>
          <a:xfrm>
            <a:off x="548640" y="49651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5</a:t>
            </a:r>
            <a:endParaRPr lang="en-IN" sz="1500" b="0" u="none" strike="noStrike">
              <a:solidFill>
                <a:srgbClr val="000000"/>
              </a:solidFill>
              <a:effectLst/>
              <a:uFillTx/>
              <a:latin typeface="Arial"/>
            </a:endParaRPr>
          </a:p>
        </p:txBody>
      </p:sp>
      <p:sp>
        <p:nvSpPr>
          <p:cNvPr id="432" name="Text 15"/>
          <p:cNvSpPr/>
          <p:nvPr/>
        </p:nvSpPr>
        <p:spPr>
          <a:xfrm>
            <a:off x="1417320" y="4965120"/>
            <a:ext cx="104238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1E293B"/>
                </a:solidFill>
                <a:effectLst/>
                <a:uFillTx/>
                <a:latin typeface="Calibri"/>
                <a:ea typeface="Calibri"/>
              </a:rPr>
              <a:t>Every retrieval knob is a guess until a golden set turns it into a number.</a:t>
            </a:r>
            <a:endParaRPr lang="en-IN" sz="1600" b="0" u="none" strike="noStrike">
              <a:solidFill>
                <a:srgbClr val="000000"/>
              </a:solidFill>
              <a:effectLst/>
              <a:uFillTx/>
              <a:latin typeface="Arial"/>
            </a:endParaRPr>
          </a:p>
        </p:txBody>
      </p:sp>
      <p:sp>
        <p:nvSpPr>
          <p:cNvPr id="433" name="Shape 16"/>
          <p:cNvSpPr/>
          <p:nvPr/>
        </p:nvSpPr>
        <p:spPr>
          <a:xfrm>
            <a:off x="548640" y="5715000"/>
            <a:ext cx="11091240" cy="658080"/>
          </a:xfrm>
          <a:prstGeom prst="roundRect">
            <a:avLst>
              <a:gd name="adj" fmla="val 13889"/>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34" name="Text 17"/>
          <p:cNvSpPr/>
          <p:nvPr/>
        </p:nvSpPr>
        <p:spPr>
          <a:xfrm>
            <a:off x="868680" y="5715000"/>
            <a:ext cx="1042380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One line above all:  </a:t>
            </a:r>
            <a:r>
              <a:rPr lang="en-US" sz="1500" b="0" u="none" strike="noStrike">
                <a:solidFill>
                  <a:srgbClr val="1E293B"/>
                </a:solidFill>
                <a:effectLst/>
                <a:uFillTx/>
                <a:latin typeface="Calibri"/>
                <a:ea typeface="Calibri"/>
              </a:rPr>
              <a:t>“I don't know” is a feature. Confidently wrong is the only unacceptable answer.</a:t>
            </a:r>
            <a:endParaRPr lang="en-IN" sz="1500" b="0" u="none" strike="noStrike">
              <a:solidFill>
                <a:srgbClr val="000000"/>
              </a:solidFill>
              <a:effectLst/>
              <a:uFillTx/>
              <a:latin typeface="Arial"/>
            </a:endParaRPr>
          </a:p>
        </p:txBody>
      </p:sp>
      <p:sp>
        <p:nvSpPr>
          <p:cNvPr id="435" name="Text 18"/>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4</a:t>
            </a:r>
            <a:endParaRPr lang="en-IN" sz="900" b="0" u="none" strike="noStrike">
              <a:solidFill>
                <a:srgbClr val="000000"/>
              </a:solidFill>
              <a:effectLst/>
              <a:uFillTx/>
              <a:latin typeface="Arial"/>
            </a:endParaRPr>
          </a:p>
        </p:txBody>
      </p:sp>
      <p:sp>
        <p:nvSpPr>
          <p:cNvPr id="436" name="Text 19"/>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36</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LibreOffice/26.2.5.2$MacOSX_X86_64 LibreOffice_project/cd7284b4cbbfeb507e630c1aac019f4157393acb</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2026-07-29T12:27:54Z</dcterms:created>
  <dc:creator>Bhupendra Dahal</dc:creator>
  <dc:description/>
  <dc:language>en-IN</dc:language>
  <cp:lastModifiedBy>Bhupendra Dahal</cp:lastModifiedBy>
  <dcterms:modified xsi:type="dcterms:W3CDTF">2026-07-29T12:27:54Z</dcterms:modified>
  <cp:revision>1</cp:revision>
  <dc:subject>PptxGenJS Presentation</dc:subject>
  <dc:title>Generative AI — Day 4</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36</vt:r8>
  </property>
  <property fmtid="{D5CDD505-2E9C-101B-9397-08002B2CF9AE}" pid="3" name="PresentationFormat">
    <vt:lpwstr>On-screen Show (16:9)</vt:lpwstr>
  </property>
  <property fmtid="{D5CDD505-2E9C-101B-9397-08002B2CF9AE}" pid="4" name="Slides">
    <vt:r8>36</vt:r8>
  </property>
</Properties>
</file>