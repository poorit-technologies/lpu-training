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5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12.xml" ContentType="application/vnd.openxmlformats-officedocument.presentationml.slide+xml"/>
  <Override PartName="/ppt/slides/slide15.xml" ContentType="application/vnd.openxmlformats-officedocument.presentationml.slide+xml"/>
  <Override PartName="/ppt/slides/slide13.xml" ContentType="application/vnd.openxmlformats-officedocument.presentationml.slide+xml"/>
  <Override PartName="/ppt/slides/slide21.xml" ContentType="application/vnd.openxmlformats-officedocument.presentationml.slide+xml"/>
  <Override PartName="/ppt/slides/slide14.xml" ContentType="application/vnd.openxmlformats-officedocument.presentationml.slide+xml"/>
  <Override PartName="/ppt/slides/slide4.xml" ContentType="application/vnd.openxmlformats-officedocument.presentationml.slide+xml"/>
  <Override PartName="/ppt/slides/slide27.xml" ContentType="application/vnd.openxmlformats-officedocument.presentationml.slide+xml"/>
  <Override PartName="/ppt/slides/slide22.xml" ContentType="application/vnd.openxmlformats-officedocument.presentationml.slide+xml"/>
  <Override PartName="/ppt/slides/slide33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7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3.xml" ContentType="application/vnd.openxmlformats-officedocument.presentationml.slide+xml"/>
  <Override PartName="/ppt/slides/slide29.xml" ContentType="application/vnd.openxmlformats-officedocument.presentationml.slide+xml"/>
  <Override PartName="/ppt/slides/slide32.xml" ContentType="application/vnd.openxmlformats-officedocument.presentationml.slide+xml"/>
  <Override PartName="/ppt/slides/slide24.xml" ContentType="application/vnd.openxmlformats-officedocument.presentationml.slide+xml"/>
  <Override PartName="/ppt/slides/slide28.xml" ContentType="application/vnd.openxmlformats-officedocument.presentationml.slide+xml"/>
  <Override PartName="/ppt/slides/slide30.xml" ContentType="application/vnd.openxmlformats-officedocument.presentationml.slide+xml"/>
  <Override PartName="/ppt/slides/slide8.xml" ContentType="application/vnd.openxmlformats-officedocument.presentationml.slide+xml"/>
  <Override PartName="/ppt/slides/slide31.xml" ContentType="application/vnd.openxmlformats-officedocument.presentationml.slide+xml"/>
  <Override PartName="/ppt/slides/slide6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IN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IN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I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81B91472-D6C7-46AB-A157-51387D6AB821}" type="slidenum"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Set the arc in one line: Day 1 the model answered, Day 2 it acted — but every answer came from what it memorised in training. Today we solve the last gap: getting YOUR documents in front of a model that has never seen them. By the end of today they will have a working semantic search engine, and RAG will be five more lines.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94B9848-5BED-45CC-AF28-7C3D4DA6244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Think-pair-share, 1 minute. You will get, in this order: (1) 'Ctrl+F / keyword search' — good, and it is exactly what fails; hold it for section 1. (2) 'Fine-tune the model on it' — expensive, slow, and it still won't quote the document; name it and park it. (3) 'Summarise it' — you lose the detail the question was about. (4) 'Search it, then give the model just that bit' — that IS today. Punch line: 'yesterday the model acted on data you handed it; today it finds the data itself.'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9A2D4DD-F31E-4231-B336-7FCD63D01F3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Rule out the two obvious answers before offering the real one. Pasting everything: context windows are finite and you pay per token on EVERY request. Fine-tuning: teaches style and format well, but it is a poor way to teach facts, it's slow and costly, and the model still can't cite the source or be updated when the policy changes. Retrieval wins on all three: cheap, instant to update (re-index), and citable.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AC8F6FD-6549-4443-8807-D8A4C397B4F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Draw this on the board and leave it up all day — point back at it after every section. The split students always miss: indexing happens ONCE, offline, whenever documents change; querying happens on EVERY user request and is just one embedding call plus a search — tens of milliseconds. That is why RAG is fast enough to ship. The red line is the rule they'll break: the same embedding model must produce both rows, or the coordinate systems don't match.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62FE847-A376-4134-9BB4-541410987E2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Every search they have written matches letters, not meaning. Show the failure with a concrete pair before offering the fix.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D32F240-6E3F-4CF2-AAEE-AED0F6E055E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Make them feel it before you fix it. Ask the room for two more ways to phrase 'when do results come out?' with no shared words — 'result date', 'when will marks be published', 'how long till grades'. Their own sentences prove the problem. Do NOT dismiss keyword search: it is still better for exact tokens — order IDs, error codes, SKUs, names. Production usually runs hybrid; we come back to that in section 5.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37066BA-80B7-445F-AA61-D94E2996502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the conceptual pivot of the whole day — slow down here. The move is: stop comparing language, start comparing positions. Once text is a point in space, 'find the most relevant document' becomes 'find the nearest point', which is arithmetic a computer is extremely good at. Everything after this slide is just details: how you make the numbers (section 2), how you measure close (3), what you cut up (4), where you keep them (5).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2322E44-B6E6-4116-861F-E794D077770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Answer: B — zero shared words, identical intent. Keyword search compares characters; it has no notion of meaning. Why not the others: length (A), punctuation (C) and index freshness (D) are all irrelevant — even a perfect, fresh index of that document would still miss this query. Discussion: 'name a query in your own project where the user's words won't match your documents' words.'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993D1FD-5D21-44C9-8A56-AD30F0F0814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core concept of the day. An embedding turns any text into a fixed-length list of numbers where nearby = similar in meaning.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AF4EC4B-C5FE-4317-ACEF-F028B2318B8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 this live in notebook §3 and print the length. Then the important beat: embed something completely different and longer — 'Pizza was invented in Naples…' — and get 1536 again. Students expect longer text to give more numbers; it doesn't. Land the point: from here on, nothing compares text to text. You are comparing 1536 numbers to 1536 numbers. The words are gone.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AF615A0-2255-4372-BA38-52BB9A5A0DE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map analogy does the heavy lifting — use it and then stop apologising for the fact that nobody can picture 1536 dimensions. Nobody can, and it doesn't matter: the maths of 'which point is nearest' is identical whether there are 2 axes or 1536. If a student asks what the individual numbers mean — nothing nameable. They are learned features, not 'axis 7 = politeness'. The only thing that carries meaning is the position relative to other texts.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10D6F2C-E877-41CC-8939-C609F9714C9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Latest 2026 pricing — re-check on the day, it moves. Two things to demo: (1) the dimensions knob — pass dimensions=256 and get a shorter vector that still works; smaller index, faster search, small accuracy cost. (2) The free local model: uncommenting five lines in the notebook redefines embed() and the whole notebook runs with no API key at all. That is itself the lesson — swap the embedding model, keep the pipeline. Mention the MTEB leaderboard for 'which is best right now'.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92657B1-E8DB-4FC1-8D6C-B0783F66AC9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Rule 1 is the one that bites teams in production. Two embedding models are two different coordinate systems — asking 'which of these Model-A points is nearest this Model-B point' is like comparing a latitude to a temperature. The search still returns its top-k, cheerfully, with no exception raised. That silence is why it survives code review and dies in production. Rule 2 is the operational consequence: switching models means a full re-index, so choose deliberately.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06A0AE0-36EE-4FED-BACC-1B8153426AA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Answer: C — different models produce different coordinate spaces, so the nearest neighbours are meaningless. Crucially it does NOT raise an error (A) — if the dimensions happen to match, everything looks fine. It's not a small degradation (B), it's garbage; and nothing converts between spaces (D). Discussion: 'how would you even notice this bug in production?' — you need retrieval evaluation, which is Day 5.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D650BDD-AC2C-459D-A828-34AE98B18CC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 number for how similar two texts are: cosine similarity — the angle between two vectors.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BD0846B-717B-41BE-9837-618B7545B08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Keep the maths light — dot product and norm are all they need. Worth saying out loud: OpenAI embeddings come back normalised to length 1, so for them cosine similarity and the plain dot product are the SAME number. That's why library code often just does a dot product and students wonder where the division went. The notebook's similarities() helper normalises explicitly so it also works with the free local model.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E3790A8-E8B1-460A-9035-97A5A0C1506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 this live in notebook §4 — one variable, changed and re-run, so the numbers appear one at a time. This is the moment the concept lands for most of the room: the top hit shares NO words with the query and still wins by more than 10×. The trap on the right is the one they'll hit in their own projects: absolute similarity values differ per model and per domain, so thresholds don't transfer. Ranking is what's reliable — which is exactly why every retrieval API is 'give me the top k', not 'give me everything above 0.8'.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7105889-3888-4E24-B6E2-AB82B6A989F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Answer: B — direction encodes meaning; magnitude largely reflects how long or emphatic the text is, which you usually want to ignore. Why not the others: they cost about the same (A); Euclidean is perfectly well-defined in 1536 dimensions (C); and cosine needs vectors like everything else (D). Discussion: 'when WOULD you want length to matter?' — that's part of why re-ranking and hybrid search exist.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2F495AC-400B-4B9D-9B67-D0FB801435D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Chunking is the part everyone gets wrong — and the part that decides whether retrieval works at all.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2632E76-C4AD-45B2-8247-B96BDABA49B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Reason 1 is the one to dwell on: an embedding is a single point, so a 50-page handbook becomes a blurry average of everything and a good match for nothing. Ask about section 12 and the vector shrugs. The other three are practical constraints. Together they force the same conclusion — chunk it.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9D80B1E-1220-465A-B5DF-0C17697B24D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 this live in notebook §6 — the dataframe makes the cut obvious. This is the most memorable slide of the day, so let it breathe. The fact isn't merely hard to find, it is GONE: no model can reconstruct '30' from a chunk ending in '3' and another starting with '0'. Then change one number (overlap=40), re-run, and the fact is whole. Overlap costs you a little duplicated storage and buys you insurance against every boundary you didn't anticipate.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AB6F493-D24F-4E54-9B6A-DD6DEAB096A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honest engineering answer to 'what chunk size?' is: you measure it. Take 20 real questions, try two settings, count how often the right chunk lands in the top 3. Chunking is tuned by evaluation, not by feel — Day 5 covers evaluation properly. On metadata, the line worth repeating: citations come from your metadata, NEVER from the model's memory. If a chunk doesn't know which file and page it came from, your bot cannot honestly cite anything.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2EFF913-64B9-477D-8694-E3AA787EC3D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Answer: B — overlap repeats the tail of the previous chunk so a sentence cut at a boundary appears intact in its neighbour. Why not the others: it isn't a backup (A); it means MORE text embedded, so slightly more cost (C); and it doesn't affect search speed (D) — if anything you have a few more vectors. Discussion: 'what would 90% overlap cost you, and what would it buy?'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9EAE693-9C03-42FA-8EEE-D46BCA08E40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numpy array already is vector search. Here is exactly what breaks as you grow — and what a vector database does about it.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A6739C5-84B5-4860-8FE1-2E92962FCF4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Start by validating what they already built — the numpy version IS vector search, and for a class project it is often the right answer. Then the honest list of what breaks. ANN = Approximate Nearest Neighbour (HNSW is the common algorithm). Students find 'approximate' alarming; reframe it: you might occasionally miss the true #7 result and you get the answer 100× faster. Every production system takes that trade.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56FE458-A4F8-4961-BFFF-3282A268A77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Walk it in three beats: create a collection, add (ids + documents + embeddings + metadatas), query. Note we pass embeddings EXPLICITLY — Chroma can embed for you if you pass documents alone, but we keep the pipeline visible today. Mention the shortcut, teach the long way. PersistentClient(path=…) is the one-word change that makes it survive a restart. The two red gotchas will be their first two bugs, so say them before they hit them.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D137373-5074-4C51-A86A-223A73C5F88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Don't let them think a separate vector service is the default — for most teams pgvector is the right answer, and it's the bridge into next week's backend work. On hybrid search: keyword and vector fail in OPPOSITE ways. Vector search is great at meaning and bad at exact strings — ask it for order A123 and it may cheerfully hand you A124. Serious systems run both and merge the rankings. Name it; don't build it today.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93FC91F-4D1A-48A0-8F66-DA41E49E4A4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Answer: B — 5,000 cosine comparisons is milliseconds of numpy. Reach for a DB when you need persistence across restarts, metadata filtering, updates, or real scale — not because it sounds professional. Why not the others: the maths works fine without a DB (A, C), and the choice is unrelated to which embedding provider you use (D). Discussion: 'what's the first thing that would push YOUR project over the line into needing one?'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738CA35-05AA-4262-88C2-2DC1C57C329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Assemble the pipeline over real notes, watch it fail on purpose, then snap an LLM on the end — that's RAG.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0531AF8-05F0-4F9C-8A36-287C6BB16DC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 it live from notebook §8 over the Day 1–2 course notes — searching their own course lands well. Then the deliberate failure, which is the most important thing on this slide: top-k always returns k results, ranked, with no concept of 'nothing here is relevant'. Students assume an empty result means no match; there is no empty result. That single fact is why Day 4 spends real time on grounding, thresholds and making the model say 'I don't know'.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16D5BDC-AAD6-4D0B-B25D-0ACFFC9831D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payoff. Point out how little is new: retrieval was today, the join is trivial, and the chat call is unchanged from Day 1. Retrieval was the hard 90%. The hallucination line is worth saying slowly — it stops being a memory and becomes a reader. Then set expectations honestly: five lines gets a demo working, not a product (next slide).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C67FB86-CA85-4E3E-85EA-EC41B281CC4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Sell tomorrow without teaching it. Each of these four is a real Day-4 section, and each one is a thing their five-line demo does badly right now — which is exactly the motivation you want them leaving with. Close the day on the last line: the retrieval machinery they built today is the hard part; Day 4 is making it trustworthy.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67DC36C-929A-4191-8FBB-59FAC543149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Ask the room to give you each line back before you reveal it. Then send them to notebook §10 (fill-in-the-blank) and the homework in the run book — especially 'index something you own' and 'find one question where retrieval returns confident nonsense', because that example is their ticket into Day 4. One-line close: 'you can now find the right paragraph in a document the model has never seen — tomorrow we make it answer from that, honestly.'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87C9CBC-89E2-44B3-A206-59D26109559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IN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IN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IN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IN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IN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IN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IN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IN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IN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IN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548640" y="2377440"/>
            <a:ext cx="100580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Generative AI</a:t>
            </a:r>
            <a:endParaRPr lang="en-IN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548640" y="3566160"/>
            <a:ext cx="10972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Day 3 · Embeddings, vector search &amp; chunking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548640" y="585216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Lovely Professional University</a:t>
            </a:r>
            <a:r>
              <a:rPr lang="en-US" sz="13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    ·    Backend &amp; Generative AI    ·    Poorit Technologies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0"/>
          <p:cNvSpPr/>
          <p:nvPr/>
        </p:nvSpPr>
        <p:spPr>
          <a:xfrm>
            <a:off x="914400" y="1691640"/>
            <a:ext cx="10359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Your college hands you a 200-page examination policy.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1"/>
          <p:cNvSpPr/>
          <p:nvPr/>
        </p:nvSpPr>
        <p:spPr>
          <a:xfrm>
            <a:off x="914400" y="2331720"/>
            <a:ext cx="1035972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“Build a bot that</a:t>
            </a:r>
            <a:endParaRPr lang="en-IN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2"/>
          <p:cNvSpPr/>
          <p:nvPr/>
        </p:nvSpPr>
        <p:spPr>
          <a:xfrm>
            <a:off x="914400" y="3246120"/>
            <a:ext cx="1035972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answers questions about it.”</a:t>
            </a:r>
            <a:endParaRPr lang="en-IN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3"/>
          <p:cNvSpPr/>
          <p:nvPr/>
        </p:nvSpPr>
        <p:spPr>
          <a:xfrm>
            <a:off x="914400" y="4526280"/>
            <a:ext cx="10359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You can't paste 200 pages into every prompt. How do you find the three right paragraphs?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0"/>
          <p:cNvSpPr/>
          <p:nvPr/>
        </p:nvSpPr>
        <p:spPr>
          <a:xfrm>
            <a:off x="548640" y="4572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The last gap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1"/>
          <p:cNvSpPr/>
          <p:nvPr/>
        </p:nvSpPr>
        <p:spPr>
          <a:xfrm>
            <a:off x="548640" y="1325880"/>
            <a:ext cx="10972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Day 1: </a:t>
            </a:r>
            <a:r>
              <a:rPr lang="en-US" sz="17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it answered.    </a:t>
            </a:r>
            <a:r>
              <a:rPr lang="en-US" sz="17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Day 2: </a:t>
            </a:r>
            <a:r>
              <a:rPr lang="en-US" sz="17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it acted.    </a:t>
            </a:r>
            <a:r>
              <a:rPr lang="en-US" sz="17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Day 3: </a:t>
            </a: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it finds — in documents nobody trained it on.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2"/>
          <p:cNvSpPr/>
          <p:nvPr/>
        </p:nvSpPr>
        <p:spPr>
          <a:xfrm>
            <a:off x="548640" y="2011680"/>
            <a:ext cx="3520080" cy="3108600"/>
          </a:xfrm>
          <a:prstGeom prst="roundRect">
            <a:avLst>
              <a:gd name="adj" fmla="val 2941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3"/>
          <p:cNvSpPr/>
          <p:nvPr/>
        </p:nvSpPr>
        <p:spPr>
          <a:xfrm>
            <a:off x="822960" y="2240280"/>
            <a:ext cx="3017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B91C1C"/>
                </a:solidFill>
                <a:effectLst/>
                <a:uFillTx/>
                <a:latin typeface="Calibri"/>
                <a:ea typeface="Calibri"/>
              </a:rPr>
              <a:t>Doesn't work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4"/>
          <p:cNvSpPr/>
          <p:nvPr/>
        </p:nvSpPr>
        <p:spPr>
          <a:xfrm>
            <a:off x="822960" y="2606040"/>
            <a:ext cx="3017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Paste it all in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5"/>
          <p:cNvSpPr/>
          <p:nvPr/>
        </p:nvSpPr>
        <p:spPr>
          <a:xfrm>
            <a:off x="822960" y="3246120"/>
            <a:ext cx="30171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200 pages every request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6"/>
          <p:cNvSpPr/>
          <p:nvPr/>
        </p:nvSpPr>
        <p:spPr>
          <a:xfrm>
            <a:off x="822960" y="4023360"/>
            <a:ext cx="456840" cy="365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91C1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7"/>
          <p:cNvSpPr/>
          <p:nvPr/>
        </p:nvSpPr>
        <p:spPr>
          <a:xfrm>
            <a:off x="1371600" y="3977640"/>
            <a:ext cx="24685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B91C1C"/>
                </a:solidFill>
                <a:effectLst/>
                <a:uFillTx/>
                <a:latin typeface="Calibri"/>
                <a:ea typeface="Calibri"/>
              </a:rPr>
              <a:t>context window + cost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8"/>
          <p:cNvSpPr/>
          <p:nvPr/>
        </p:nvSpPr>
        <p:spPr>
          <a:xfrm>
            <a:off x="4343400" y="2011680"/>
            <a:ext cx="3520080" cy="3108600"/>
          </a:xfrm>
          <a:prstGeom prst="roundRect">
            <a:avLst>
              <a:gd name="adj" fmla="val 2941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9"/>
          <p:cNvSpPr/>
          <p:nvPr/>
        </p:nvSpPr>
        <p:spPr>
          <a:xfrm>
            <a:off x="4617720" y="2240280"/>
            <a:ext cx="3017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B91C1C"/>
                </a:solidFill>
                <a:effectLst/>
                <a:uFillTx/>
                <a:latin typeface="Calibri"/>
                <a:ea typeface="Calibri"/>
              </a:rPr>
              <a:t>Doesn't work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0"/>
          <p:cNvSpPr/>
          <p:nvPr/>
        </p:nvSpPr>
        <p:spPr>
          <a:xfrm>
            <a:off x="4617720" y="2606040"/>
            <a:ext cx="3017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Fine-tune on it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1"/>
          <p:cNvSpPr/>
          <p:nvPr/>
        </p:nvSpPr>
        <p:spPr>
          <a:xfrm>
            <a:off x="4617720" y="3246120"/>
            <a:ext cx="30171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hours, money, a new model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2"/>
          <p:cNvSpPr/>
          <p:nvPr/>
        </p:nvSpPr>
        <p:spPr>
          <a:xfrm>
            <a:off x="4617720" y="4023360"/>
            <a:ext cx="456840" cy="365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91C1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3"/>
          <p:cNvSpPr/>
          <p:nvPr/>
        </p:nvSpPr>
        <p:spPr>
          <a:xfrm>
            <a:off x="5166360" y="3977640"/>
            <a:ext cx="24685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B91C1C"/>
                </a:solidFill>
                <a:effectLst/>
                <a:uFillTx/>
                <a:latin typeface="Calibri"/>
                <a:ea typeface="Calibri"/>
              </a:rPr>
              <a:t>and it still can't quote it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14"/>
          <p:cNvSpPr/>
          <p:nvPr/>
        </p:nvSpPr>
        <p:spPr>
          <a:xfrm>
            <a:off x="8138160" y="2011680"/>
            <a:ext cx="3520080" cy="3108600"/>
          </a:xfrm>
          <a:prstGeom prst="roundRect">
            <a:avLst>
              <a:gd name="adj" fmla="val 2941"/>
            </a:avLst>
          </a:prstGeom>
          <a:solidFill>
            <a:srgbClr val="F0FDF4"/>
          </a:solidFill>
          <a:ln w="12700">
            <a:solidFill>
              <a:srgbClr val="BBF7D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5"/>
          <p:cNvSpPr/>
          <p:nvPr/>
        </p:nvSpPr>
        <p:spPr>
          <a:xfrm>
            <a:off x="8412480" y="2240280"/>
            <a:ext cx="3017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5803D"/>
                </a:solidFill>
                <a:effectLst/>
                <a:uFillTx/>
                <a:latin typeface="Calibri"/>
                <a:ea typeface="Calibri"/>
              </a:rPr>
              <a:t>Today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6"/>
          <p:cNvSpPr/>
          <p:nvPr/>
        </p:nvSpPr>
        <p:spPr>
          <a:xfrm>
            <a:off x="8412480" y="2606040"/>
            <a:ext cx="3017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Retrieve, then answer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7"/>
          <p:cNvSpPr/>
          <p:nvPr/>
        </p:nvSpPr>
        <p:spPr>
          <a:xfrm>
            <a:off x="8412480" y="3246120"/>
            <a:ext cx="30171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find 3 paragraphs, pass those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8"/>
          <p:cNvSpPr/>
          <p:nvPr/>
        </p:nvSpPr>
        <p:spPr>
          <a:xfrm>
            <a:off x="8412480" y="4023360"/>
            <a:ext cx="456840" cy="365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580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9"/>
          <p:cNvSpPr/>
          <p:nvPr/>
        </p:nvSpPr>
        <p:spPr>
          <a:xfrm>
            <a:off x="8961120" y="3977640"/>
            <a:ext cx="24685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5803D"/>
                </a:solidFill>
                <a:effectLst/>
                <a:uFillTx/>
                <a:latin typeface="Calibri"/>
                <a:ea typeface="Calibri"/>
              </a:rPr>
              <a:t>cheap · instant · citable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20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21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 0"/>
          <p:cNvSpPr/>
          <p:nvPr/>
        </p:nvSpPr>
        <p:spPr>
          <a:xfrm>
            <a:off x="548640" y="4572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The whole day on one slide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1"/>
          <p:cNvSpPr/>
          <p:nvPr/>
        </p:nvSpPr>
        <p:spPr>
          <a:xfrm>
            <a:off x="548640" y="120708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Two phases — and they are not the same thing.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2"/>
          <p:cNvSpPr/>
          <p:nvPr/>
        </p:nvSpPr>
        <p:spPr>
          <a:xfrm>
            <a:off x="548640" y="1737360"/>
            <a:ext cx="11091240" cy="1737000"/>
          </a:xfrm>
          <a:prstGeom prst="roundRect">
            <a:avLst>
              <a:gd name="adj" fmla="val 5263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3"/>
          <p:cNvSpPr/>
          <p:nvPr/>
        </p:nvSpPr>
        <p:spPr>
          <a:xfrm>
            <a:off x="868680" y="1874520"/>
            <a:ext cx="2194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INDEXING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4"/>
          <p:cNvSpPr/>
          <p:nvPr/>
        </p:nvSpPr>
        <p:spPr>
          <a:xfrm>
            <a:off x="868680" y="2240280"/>
            <a:ext cx="2194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offline · once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5"/>
          <p:cNvSpPr/>
          <p:nvPr/>
        </p:nvSpPr>
        <p:spPr>
          <a:xfrm>
            <a:off x="3017520" y="2057400"/>
            <a:ext cx="1828440" cy="77688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6"/>
          <p:cNvSpPr/>
          <p:nvPr/>
        </p:nvSpPr>
        <p:spPr>
          <a:xfrm>
            <a:off x="3017520" y="2057400"/>
            <a:ext cx="1828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documents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7"/>
          <p:cNvSpPr/>
          <p:nvPr/>
        </p:nvSpPr>
        <p:spPr>
          <a:xfrm>
            <a:off x="4883040" y="2331720"/>
            <a:ext cx="273960" cy="255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474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8"/>
          <p:cNvSpPr/>
          <p:nvPr/>
        </p:nvSpPr>
        <p:spPr>
          <a:xfrm>
            <a:off x="5212080" y="2057400"/>
            <a:ext cx="1828440" cy="776880"/>
          </a:xfrm>
          <a:prstGeom prst="roundRect">
            <a:avLst>
              <a:gd name="adj" fmla="val 11765"/>
            </a:avLst>
          </a:prstGeom>
          <a:solidFill>
            <a:srgbClr val="EEF0FF"/>
          </a:solidFill>
          <a:ln w="12700">
            <a:solidFill>
              <a:srgbClr val="6366F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9"/>
          <p:cNvSpPr/>
          <p:nvPr/>
        </p:nvSpPr>
        <p:spPr>
          <a:xfrm>
            <a:off x="5212080" y="2057400"/>
            <a:ext cx="1828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chunk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10"/>
          <p:cNvSpPr/>
          <p:nvPr/>
        </p:nvSpPr>
        <p:spPr>
          <a:xfrm>
            <a:off x="7077600" y="2331720"/>
            <a:ext cx="273960" cy="255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474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1"/>
          <p:cNvSpPr/>
          <p:nvPr/>
        </p:nvSpPr>
        <p:spPr>
          <a:xfrm>
            <a:off x="7406640" y="2057400"/>
            <a:ext cx="1828440" cy="776880"/>
          </a:xfrm>
          <a:prstGeom prst="roundRect">
            <a:avLst>
              <a:gd name="adj" fmla="val 11765"/>
            </a:avLst>
          </a:prstGeom>
          <a:solidFill>
            <a:srgbClr val="EEF0FF"/>
          </a:solidFill>
          <a:ln w="12700">
            <a:solidFill>
              <a:srgbClr val="6366F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2"/>
          <p:cNvSpPr/>
          <p:nvPr/>
        </p:nvSpPr>
        <p:spPr>
          <a:xfrm>
            <a:off x="7406640" y="2057400"/>
            <a:ext cx="1828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embed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13"/>
          <p:cNvSpPr/>
          <p:nvPr/>
        </p:nvSpPr>
        <p:spPr>
          <a:xfrm>
            <a:off x="9272160" y="2331720"/>
            <a:ext cx="273960" cy="255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474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14"/>
          <p:cNvSpPr/>
          <p:nvPr/>
        </p:nvSpPr>
        <p:spPr>
          <a:xfrm>
            <a:off x="9601200" y="2057400"/>
            <a:ext cx="1828440" cy="776880"/>
          </a:xfrm>
          <a:prstGeom prst="roundRect">
            <a:avLst>
              <a:gd name="adj" fmla="val 11765"/>
            </a:avLst>
          </a:prstGeom>
          <a:solidFill>
            <a:srgbClr val="EEF0FF"/>
          </a:solidFill>
          <a:ln w="12700">
            <a:solidFill>
              <a:srgbClr val="6366F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5"/>
          <p:cNvSpPr/>
          <p:nvPr/>
        </p:nvSpPr>
        <p:spPr>
          <a:xfrm>
            <a:off x="9601200" y="2057400"/>
            <a:ext cx="1828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store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16"/>
          <p:cNvSpPr/>
          <p:nvPr/>
        </p:nvSpPr>
        <p:spPr>
          <a:xfrm>
            <a:off x="548640" y="3657600"/>
            <a:ext cx="11091240" cy="1737000"/>
          </a:xfrm>
          <a:prstGeom prst="roundRect">
            <a:avLst>
              <a:gd name="adj" fmla="val 5263"/>
            </a:avLst>
          </a:prstGeom>
          <a:solidFill>
            <a:srgbClr val="EEF0FF"/>
          </a:solidFill>
          <a:ln w="12700">
            <a:solidFill>
              <a:srgbClr val="6366F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17"/>
          <p:cNvSpPr/>
          <p:nvPr/>
        </p:nvSpPr>
        <p:spPr>
          <a:xfrm>
            <a:off x="868680" y="3794760"/>
            <a:ext cx="2194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QUERYING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18"/>
          <p:cNvSpPr/>
          <p:nvPr/>
        </p:nvSpPr>
        <p:spPr>
          <a:xfrm>
            <a:off x="868680" y="4160520"/>
            <a:ext cx="2194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live · every request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19"/>
          <p:cNvSpPr/>
          <p:nvPr/>
        </p:nvSpPr>
        <p:spPr>
          <a:xfrm>
            <a:off x="3017520" y="3977640"/>
            <a:ext cx="1828440" cy="77688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20"/>
          <p:cNvSpPr/>
          <p:nvPr/>
        </p:nvSpPr>
        <p:spPr>
          <a:xfrm>
            <a:off x="3017520" y="3977640"/>
            <a:ext cx="1828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question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21"/>
          <p:cNvSpPr/>
          <p:nvPr/>
        </p:nvSpPr>
        <p:spPr>
          <a:xfrm>
            <a:off x="4883040" y="4251960"/>
            <a:ext cx="273960" cy="255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474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22"/>
          <p:cNvSpPr/>
          <p:nvPr/>
        </p:nvSpPr>
        <p:spPr>
          <a:xfrm>
            <a:off x="5212080" y="3977640"/>
            <a:ext cx="1828440" cy="77688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6366F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23"/>
          <p:cNvSpPr/>
          <p:nvPr/>
        </p:nvSpPr>
        <p:spPr>
          <a:xfrm>
            <a:off x="5212080" y="3977640"/>
            <a:ext cx="1828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embed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4"/>
          <p:cNvSpPr/>
          <p:nvPr/>
        </p:nvSpPr>
        <p:spPr>
          <a:xfrm>
            <a:off x="7077600" y="4251960"/>
            <a:ext cx="273960" cy="255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474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25"/>
          <p:cNvSpPr/>
          <p:nvPr/>
        </p:nvSpPr>
        <p:spPr>
          <a:xfrm>
            <a:off x="7406640" y="3977640"/>
            <a:ext cx="1828440" cy="77688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6366F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26"/>
          <p:cNvSpPr/>
          <p:nvPr/>
        </p:nvSpPr>
        <p:spPr>
          <a:xfrm>
            <a:off x="7406640" y="3977640"/>
            <a:ext cx="1828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search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27"/>
          <p:cNvSpPr/>
          <p:nvPr/>
        </p:nvSpPr>
        <p:spPr>
          <a:xfrm>
            <a:off x="9272160" y="4251960"/>
            <a:ext cx="273960" cy="255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474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Shape 28"/>
          <p:cNvSpPr/>
          <p:nvPr/>
        </p:nvSpPr>
        <p:spPr>
          <a:xfrm>
            <a:off x="9601200" y="3977640"/>
            <a:ext cx="1828440" cy="77688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0891B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29"/>
          <p:cNvSpPr/>
          <p:nvPr/>
        </p:nvSpPr>
        <p:spPr>
          <a:xfrm>
            <a:off x="9601200" y="3977640"/>
            <a:ext cx="1828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891B2"/>
                </a:solidFill>
                <a:effectLst/>
                <a:uFillTx/>
                <a:latin typeface="Calibri"/>
                <a:ea typeface="Calibri"/>
              </a:rPr>
              <a:t>top-k chunks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30"/>
          <p:cNvSpPr/>
          <p:nvPr/>
        </p:nvSpPr>
        <p:spPr>
          <a:xfrm>
            <a:off x="548640" y="562356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Every section today fills in one arrow.  </a:t>
            </a:r>
            <a:r>
              <a:rPr lang="en-US" sz="1500" b="1" u="none" strike="noStrike">
                <a:solidFill>
                  <a:srgbClr val="B91C1C"/>
                </a:solidFill>
                <a:effectLst/>
                <a:uFillTx/>
                <a:latin typeface="Calibri"/>
                <a:ea typeface="Calibri"/>
              </a:rPr>
              <a:t>The same embedding model must be used on both rows.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31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32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EF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 0"/>
          <p:cNvSpPr/>
          <p:nvPr/>
        </p:nvSpPr>
        <p:spPr>
          <a:xfrm>
            <a:off x="548640" y="1828800"/>
            <a:ext cx="36572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6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01</a:t>
            </a:r>
            <a:endParaRPr lang="en-IN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1"/>
          <p:cNvSpPr/>
          <p:nvPr/>
        </p:nvSpPr>
        <p:spPr>
          <a:xfrm>
            <a:off x="603360" y="3657600"/>
            <a:ext cx="10606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Why search is hard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 0"/>
          <p:cNvSpPr/>
          <p:nvPr/>
        </p:nvSpPr>
        <p:spPr>
          <a:xfrm>
            <a:off x="548640" y="4572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Keyword search matches letters, not meaning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1"/>
          <p:cNvSpPr/>
          <p:nvPr/>
        </p:nvSpPr>
        <p:spPr>
          <a:xfrm>
            <a:off x="548640" y="1600200"/>
            <a:ext cx="11091240" cy="1691280"/>
          </a:xfrm>
          <a:prstGeom prst="roundRect">
            <a:avLst>
              <a:gd name="adj" fmla="val 5405"/>
            </a:avLst>
          </a:prstGeom>
          <a:solidFill>
            <a:srgbClr val="FEF2F2"/>
          </a:solidFill>
          <a:ln w="12700">
            <a:solidFill>
              <a:srgbClr val="FECA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2"/>
          <p:cNvSpPr/>
          <p:nvPr/>
        </p:nvSpPr>
        <p:spPr>
          <a:xfrm>
            <a:off x="914400" y="1783080"/>
            <a:ext cx="47545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B91C1C"/>
                </a:solidFill>
                <a:effectLst/>
                <a:uFillTx/>
                <a:latin typeface="Calibri"/>
                <a:ea typeface="Calibri"/>
              </a:rPr>
              <a:t>The student asks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3"/>
          <p:cNvSpPr/>
          <p:nvPr/>
        </p:nvSpPr>
        <p:spPr>
          <a:xfrm>
            <a:off x="914400" y="2148840"/>
            <a:ext cx="49374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“How do I cancel my order?”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4"/>
          <p:cNvSpPr/>
          <p:nvPr/>
        </p:nvSpPr>
        <p:spPr>
          <a:xfrm>
            <a:off x="6583680" y="1783080"/>
            <a:ext cx="47545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B91C1C"/>
                </a:solidFill>
                <a:effectLst/>
                <a:uFillTx/>
                <a:latin typeface="Calibri"/>
                <a:ea typeface="Calibri"/>
              </a:rPr>
              <a:t>The document says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5"/>
          <p:cNvSpPr/>
          <p:nvPr/>
        </p:nvSpPr>
        <p:spPr>
          <a:xfrm>
            <a:off x="6583680" y="2148840"/>
            <a:ext cx="49374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“Returns and refunds policy”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6"/>
          <p:cNvSpPr/>
          <p:nvPr/>
        </p:nvSpPr>
        <p:spPr>
          <a:xfrm>
            <a:off x="548640" y="3474720"/>
            <a:ext cx="10972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B91C1C"/>
                </a:solidFill>
                <a:effectLst/>
                <a:uFillTx/>
                <a:latin typeface="Calibri"/>
                <a:ea typeface="Calibri"/>
              </a:rPr>
              <a:t>Words in common:  0        →  a perfect miss on the single most relevant page</a:t>
            </a:r>
            <a:endParaRPr lang="en-IN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7"/>
          <p:cNvSpPr/>
          <p:nvPr/>
        </p:nvSpPr>
        <p:spPr>
          <a:xfrm>
            <a:off x="548640" y="4206240"/>
            <a:ext cx="566640" cy="566640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8"/>
          <p:cNvSpPr/>
          <p:nvPr/>
        </p:nvSpPr>
        <p:spPr>
          <a:xfrm>
            <a:off x="548640" y="4206240"/>
            <a:ext cx="566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9"/>
          <p:cNvSpPr/>
          <p:nvPr/>
        </p:nvSpPr>
        <p:spPr>
          <a:xfrm>
            <a:off x="1417320" y="4206240"/>
            <a:ext cx="104238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B91C1C"/>
                </a:solidFill>
                <a:effectLst/>
                <a:uFillTx/>
                <a:latin typeface="Calibri"/>
                <a:ea typeface="Calibri"/>
              </a:rPr>
              <a:t>Misses  —  </a:t>
            </a:r>
            <a:r>
              <a:rPr lang="en-US" sz="15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cancel · return · refund · send back  —  one idea to a human, four strings to LIKE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10"/>
          <p:cNvSpPr/>
          <p:nvPr/>
        </p:nvSpPr>
        <p:spPr>
          <a:xfrm>
            <a:off x="548640" y="4983480"/>
            <a:ext cx="566640" cy="566640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1"/>
          <p:cNvSpPr/>
          <p:nvPr/>
        </p:nvSpPr>
        <p:spPr>
          <a:xfrm>
            <a:off x="548640" y="4983480"/>
            <a:ext cx="566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12"/>
          <p:cNvSpPr/>
          <p:nvPr/>
        </p:nvSpPr>
        <p:spPr>
          <a:xfrm>
            <a:off x="1417320" y="4983480"/>
            <a:ext cx="104238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B91C1C"/>
                </a:solidFill>
                <a:effectLst/>
                <a:uFillTx/>
                <a:latin typeface="Calibri"/>
                <a:ea typeface="Calibri"/>
              </a:rPr>
              <a:t>False hits  —  </a:t>
            </a:r>
            <a:r>
              <a:rPr lang="en-US" sz="15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search “apple” → the fruit, the company, and someone's surname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3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4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ext 0"/>
          <p:cNvSpPr/>
          <p:nvPr/>
        </p:nvSpPr>
        <p:spPr>
          <a:xfrm>
            <a:off x="548640" y="4572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The idea that fixes it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1"/>
          <p:cNvSpPr/>
          <p:nvPr/>
        </p:nvSpPr>
        <p:spPr>
          <a:xfrm>
            <a:off x="548640" y="1737360"/>
            <a:ext cx="11091240" cy="1371240"/>
          </a:xfrm>
          <a:prstGeom prst="roundRect">
            <a:avLst>
              <a:gd name="adj" fmla="val 6667"/>
            </a:avLst>
          </a:prstGeom>
          <a:solidFill>
            <a:srgbClr val="EEF0FF"/>
          </a:solidFill>
          <a:ln w="12700">
            <a:solidFill>
              <a:srgbClr val="6366F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2"/>
          <p:cNvSpPr/>
          <p:nvPr/>
        </p:nvSpPr>
        <p:spPr>
          <a:xfrm>
            <a:off x="914400" y="1737360"/>
            <a:ext cx="1033236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Turn text into numbers, so that texts with similar meaning land on nearby numbers.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3"/>
          <p:cNvSpPr/>
          <p:nvPr/>
        </p:nvSpPr>
        <p:spPr>
          <a:xfrm>
            <a:off x="548640" y="333756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Then “search by meaning” stops being a language problem and becomes plain geometry: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4"/>
          <p:cNvSpPr/>
          <p:nvPr/>
        </p:nvSpPr>
        <p:spPr>
          <a:xfrm>
            <a:off x="548640" y="3886200"/>
            <a:ext cx="3520080" cy="146268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5"/>
          <p:cNvSpPr/>
          <p:nvPr/>
        </p:nvSpPr>
        <p:spPr>
          <a:xfrm>
            <a:off x="822960" y="4069080"/>
            <a:ext cx="3017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Text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6"/>
          <p:cNvSpPr/>
          <p:nvPr/>
        </p:nvSpPr>
        <p:spPr>
          <a:xfrm>
            <a:off x="822960" y="4480560"/>
            <a:ext cx="3017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“How do I cancel my order?”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7"/>
          <p:cNvSpPr/>
          <p:nvPr/>
        </p:nvSpPr>
        <p:spPr>
          <a:xfrm>
            <a:off x="4096440" y="4480560"/>
            <a:ext cx="219240" cy="2739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474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8"/>
          <p:cNvSpPr/>
          <p:nvPr/>
        </p:nvSpPr>
        <p:spPr>
          <a:xfrm>
            <a:off x="4343400" y="3886200"/>
            <a:ext cx="3520080" cy="1462680"/>
          </a:xfrm>
          <a:prstGeom prst="roundRect">
            <a:avLst>
              <a:gd name="adj" fmla="val 6250"/>
            </a:avLst>
          </a:prstGeom>
          <a:solidFill>
            <a:srgbClr val="EEF0FF"/>
          </a:solidFill>
          <a:ln w="12700">
            <a:solidFill>
              <a:srgbClr val="6366F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9"/>
          <p:cNvSpPr/>
          <p:nvPr/>
        </p:nvSpPr>
        <p:spPr>
          <a:xfrm>
            <a:off x="4617720" y="4069080"/>
            <a:ext cx="3017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Numbers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0"/>
          <p:cNvSpPr/>
          <p:nvPr/>
        </p:nvSpPr>
        <p:spPr>
          <a:xfrm>
            <a:off x="4617720" y="4480560"/>
            <a:ext cx="3017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[-0.014, 0.031, -0.006, …]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11"/>
          <p:cNvSpPr/>
          <p:nvPr/>
        </p:nvSpPr>
        <p:spPr>
          <a:xfrm>
            <a:off x="7891200" y="4480560"/>
            <a:ext cx="219240" cy="2739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474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12"/>
          <p:cNvSpPr/>
          <p:nvPr/>
        </p:nvSpPr>
        <p:spPr>
          <a:xfrm>
            <a:off x="8138160" y="3886200"/>
            <a:ext cx="3520080" cy="1462680"/>
          </a:xfrm>
          <a:prstGeom prst="roundRect">
            <a:avLst>
              <a:gd name="adj" fmla="val 6250"/>
            </a:avLst>
          </a:prstGeom>
          <a:solidFill>
            <a:srgbClr val="EEF0FF"/>
          </a:solidFill>
          <a:ln w="12700">
            <a:solidFill>
              <a:srgbClr val="0891B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3"/>
          <p:cNvSpPr/>
          <p:nvPr/>
        </p:nvSpPr>
        <p:spPr>
          <a:xfrm>
            <a:off x="8412480" y="4069080"/>
            <a:ext cx="3017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891B2"/>
                </a:solidFill>
                <a:effectLst/>
                <a:uFillTx/>
                <a:latin typeface="Calibri"/>
                <a:ea typeface="Calibri"/>
              </a:rPr>
              <a:t>Search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4"/>
          <p:cNvSpPr/>
          <p:nvPr/>
        </p:nvSpPr>
        <p:spPr>
          <a:xfrm>
            <a:off x="8412480" y="4480560"/>
            <a:ext cx="3017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which points are closest?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5"/>
          <p:cNvSpPr/>
          <p:nvPr/>
        </p:nvSpPr>
        <p:spPr>
          <a:xfrm>
            <a:off x="548640" y="562356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That is an embedding. Everything else today is mechanics.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6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17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ext 0"/>
          <p:cNvSpPr/>
          <p:nvPr/>
        </p:nvSpPr>
        <p:spPr>
          <a:xfrm>
            <a:off x="548640" y="457200"/>
            <a:ext cx="5486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Quick check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1"/>
          <p:cNvSpPr/>
          <p:nvPr/>
        </p:nvSpPr>
        <p:spPr>
          <a:xfrm>
            <a:off x="548640" y="1051560"/>
            <a:ext cx="1109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Keyword search misses “Returns and refunds policy” for “How do I cancel my order?” Why?</a:t>
            </a:r>
            <a:endParaRPr lang="en-IN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2"/>
          <p:cNvSpPr/>
          <p:nvPr/>
        </p:nvSpPr>
        <p:spPr>
          <a:xfrm>
            <a:off x="548640" y="2468880"/>
            <a:ext cx="548280" cy="5482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3"/>
          <p:cNvSpPr/>
          <p:nvPr/>
        </p:nvSpPr>
        <p:spPr>
          <a:xfrm>
            <a:off x="548640" y="24688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4"/>
          <p:cNvSpPr/>
          <p:nvPr/>
        </p:nvSpPr>
        <p:spPr>
          <a:xfrm>
            <a:off x="1325880" y="246888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The document is too short to match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5"/>
          <p:cNvSpPr/>
          <p:nvPr/>
        </p:nvSpPr>
        <p:spPr>
          <a:xfrm>
            <a:off x="548640" y="3337560"/>
            <a:ext cx="548280" cy="5482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6"/>
          <p:cNvSpPr/>
          <p:nvPr/>
        </p:nvSpPr>
        <p:spPr>
          <a:xfrm>
            <a:off x="548640" y="333756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7"/>
          <p:cNvSpPr/>
          <p:nvPr/>
        </p:nvSpPr>
        <p:spPr>
          <a:xfrm>
            <a:off x="1325880" y="333756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They share no words, even though they share the meaning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8"/>
          <p:cNvSpPr/>
          <p:nvPr/>
        </p:nvSpPr>
        <p:spPr>
          <a:xfrm>
            <a:off x="548640" y="4206240"/>
            <a:ext cx="548280" cy="5482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9"/>
          <p:cNvSpPr/>
          <p:nvPr/>
        </p:nvSpPr>
        <p:spPr>
          <a:xfrm>
            <a:off x="548640" y="420624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0"/>
          <p:cNvSpPr/>
          <p:nvPr/>
        </p:nvSpPr>
        <p:spPr>
          <a:xfrm>
            <a:off x="1325880" y="420624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The query ends in a question mark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11"/>
          <p:cNvSpPr/>
          <p:nvPr/>
        </p:nvSpPr>
        <p:spPr>
          <a:xfrm>
            <a:off x="548640" y="5074920"/>
            <a:ext cx="548280" cy="5482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12"/>
          <p:cNvSpPr/>
          <p:nvPr/>
        </p:nvSpPr>
        <p:spPr>
          <a:xfrm>
            <a:off x="548640" y="507492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13"/>
          <p:cNvSpPr/>
          <p:nvPr/>
        </p:nvSpPr>
        <p:spPr>
          <a:xfrm>
            <a:off x="1325880" y="507492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The search index is out of date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4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15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EF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 0"/>
          <p:cNvSpPr/>
          <p:nvPr/>
        </p:nvSpPr>
        <p:spPr>
          <a:xfrm>
            <a:off x="548640" y="1828800"/>
            <a:ext cx="36572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6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02</a:t>
            </a:r>
            <a:endParaRPr lang="en-IN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1"/>
          <p:cNvSpPr/>
          <p:nvPr/>
        </p:nvSpPr>
        <p:spPr>
          <a:xfrm>
            <a:off x="603360" y="3657600"/>
            <a:ext cx="10606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Text as coordinates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Text 0"/>
          <p:cNvSpPr/>
          <p:nvPr/>
        </p:nvSpPr>
        <p:spPr>
          <a:xfrm>
            <a:off x="548640" y="4572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An embedding is a list of numbers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1"/>
          <p:cNvSpPr/>
          <p:nvPr/>
        </p:nvSpPr>
        <p:spPr>
          <a:xfrm>
            <a:off x="548640" y="1508760"/>
            <a:ext cx="6857640" cy="3200040"/>
          </a:xfrm>
          <a:prstGeom prst="roundRect">
            <a:avLst>
              <a:gd name="adj" fmla="val 1714"/>
            </a:avLst>
          </a:prstGeom>
          <a:solidFill>
            <a:srgbClr val="F3F4F6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2"/>
          <p:cNvSpPr/>
          <p:nvPr/>
        </p:nvSpPr>
        <p:spPr>
          <a:xfrm>
            <a:off x="804600" y="1691640"/>
            <a:ext cx="6345720" cy="28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r = client.embeddings.create(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    model="text-embedding-3-small",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    input="How do I cancel my order?",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vector = r.data[0].embedding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len(vector)   # 1536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vector[:5]    # [-0.014, 0.031, -0.006, 0.018, -0.022]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3"/>
          <p:cNvSpPr/>
          <p:nvPr/>
        </p:nvSpPr>
        <p:spPr>
          <a:xfrm>
            <a:off x="7772400" y="1508760"/>
            <a:ext cx="3840120" cy="3200040"/>
          </a:xfrm>
          <a:prstGeom prst="roundRect">
            <a:avLst>
              <a:gd name="adj" fmla="val 2857"/>
            </a:avLst>
          </a:prstGeom>
          <a:solidFill>
            <a:srgbClr val="EEF0FF"/>
          </a:solidFill>
          <a:ln w="12700">
            <a:solidFill>
              <a:srgbClr val="6366F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4"/>
          <p:cNvSpPr/>
          <p:nvPr/>
        </p:nvSpPr>
        <p:spPr>
          <a:xfrm>
            <a:off x="8046720" y="1737360"/>
            <a:ext cx="33829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A different kind of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model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5"/>
          <p:cNvSpPr/>
          <p:nvPr/>
        </p:nvSpPr>
        <p:spPr>
          <a:xfrm>
            <a:off x="8046720" y="2651760"/>
            <a:ext cx="3382920" cy="19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1E293B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no answer — just numbers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1E293B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no temperature, no system prompt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1E293B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its own endpoint: .embeddings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1E293B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text in, meaning out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6"/>
          <p:cNvSpPr/>
          <p:nvPr/>
        </p:nvSpPr>
        <p:spPr>
          <a:xfrm>
            <a:off x="548640" y="4892040"/>
            <a:ext cx="11091240" cy="959760"/>
          </a:xfrm>
          <a:prstGeom prst="roundRect">
            <a:avLst>
              <a:gd name="adj" fmla="val 9524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7"/>
          <p:cNvSpPr/>
          <p:nvPr/>
        </p:nvSpPr>
        <p:spPr>
          <a:xfrm>
            <a:off x="868680" y="4892040"/>
            <a:ext cx="1042380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Three words or three paragraphs — always 1536 numbers. </a:t>
            </a:r>
            <a:r>
              <a:rPr lang="en-US" sz="16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That fixed size is what makes comparison possible at all.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8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9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 0"/>
          <p:cNvSpPr/>
          <p:nvPr/>
        </p:nvSpPr>
        <p:spPr>
          <a:xfrm>
            <a:off x="548640" y="4572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Why numbers can carry meaning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1"/>
          <p:cNvSpPr/>
          <p:nvPr/>
        </p:nvSpPr>
        <p:spPr>
          <a:xfrm>
            <a:off x="548640" y="123444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Think of a world map: two numbers place any city — and cities near in the numbers are near in reality.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2"/>
          <p:cNvSpPr/>
          <p:nvPr/>
        </p:nvSpPr>
        <p:spPr>
          <a:xfrm>
            <a:off x="548640" y="1783080"/>
            <a:ext cx="5394600" cy="3565800"/>
          </a:xfrm>
          <a:prstGeom prst="roundRect">
            <a:avLst>
              <a:gd name="adj" fmla="val 2564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3"/>
          <p:cNvSpPr/>
          <p:nvPr/>
        </p:nvSpPr>
        <p:spPr>
          <a:xfrm>
            <a:off x="868680" y="2011680"/>
            <a:ext cx="4754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A map · 2 numbers</a:t>
            </a:r>
            <a:endParaRPr lang="en-IN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4"/>
          <p:cNvSpPr/>
          <p:nvPr/>
        </p:nvSpPr>
        <p:spPr>
          <a:xfrm>
            <a:off x="868680" y="2606040"/>
            <a:ext cx="475452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Delhi      (28.6, 77.2)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Gurugram   (28.4, 77.0)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Paris      (48.9,  2.4)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5"/>
          <p:cNvSpPr/>
          <p:nvPr/>
        </p:nvSpPr>
        <p:spPr>
          <a:xfrm>
            <a:off x="868680" y="4023360"/>
            <a:ext cx="47545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Delhi and Gurugram are close in the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numbers because they are close in reality.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6"/>
          <p:cNvSpPr/>
          <p:nvPr/>
        </p:nvSpPr>
        <p:spPr>
          <a:xfrm>
            <a:off x="6263640" y="1783080"/>
            <a:ext cx="5394600" cy="3565800"/>
          </a:xfrm>
          <a:prstGeom prst="roundRect">
            <a:avLst>
              <a:gd name="adj" fmla="val 2564"/>
            </a:avLst>
          </a:prstGeom>
          <a:solidFill>
            <a:srgbClr val="EEF0FF"/>
          </a:solidFill>
          <a:ln w="12700">
            <a:solidFill>
              <a:srgbClr val="6366F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7"/>
          <p:cNvSpPr/>
          <p:nvPr/>
        </p:nvSpPr>
        <p:spPr>
          <a:xfrm>
            <a:off x="6583680" y="2011680"/>
            <a:ext cx="4845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An embedding · 1536 numbers</a:t>
            </a:r>
            <a:endParaRPr lang="en-IN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8"/>
          <p:cNvSpPr/>
          <p:nvPr/>
        </p:nvSpPr>
        <p:spPr>
          <a:xfrm>
            <a:off x="6583680" y="2606040"/>
            <a:ext cx="484596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“cancel my order”   →  ·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“return this item”  →  ·   ← close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“Eiffel Tower”      →        ·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9"/>
          <p:cNvSpPr/>
          <p:nvPr/>
        </p:nvSpPr>
        <p:spPr>
          <a:xfrm>
            <a:off x="6583680" y="4023360"/>
            <a:ext cx="47545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Same rule, 1536 axes instead of 2 —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too many to draw, identical logic.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0"/>
          <p:cNvSpPr/>
          <p:nvPr/>
        </p:nvSpPr>
        <p:spPr>
          <a:xfrm>
            <a:off x="548640" y="557784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Close vectors  =  close meaning. That is the entire contract.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1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12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Text 0"/>
          <p:cNvSpPr/>
          <p:nvPr/>
        </p:nvSpPr>
        <p:spPr>
          <a:xfrm>
            <a:off x="548640" y="4572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Which embedding model?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9" name="Table 0"/>
          <p:cNvGraphicFramePr/>
          <p:nvPr/>
        </p:nvGraphicFramePr>
        <p:xfrm>
          <a:off x="548640" y="1691640"/>
          <a:ext cx="11091240" cy="3108600"/>
        </p:xfrm>
        <a:graphic>
          <a:graphicData uri="http://schemas.openxmlformats.org/drawingml/2006/table">
            <a:tbl>
              <a:tblPr/>
              <a:tblGrid>
                <a:gridCol w="3566160"/>
                <a:gridCol w="2743200"/>
                <a:gridCol w="2286000"/>
                <a:gridCol w="2496240"/>
              </a:tblGrid>
              <a:tr h="62172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Model</a:t>
                      </a:r>
                      <a:endParaRPr lang="en-IN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Dimensions</a:t>
                      </a:r>
                      <a:endParaRPr lang="en-IN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Price / 1M tokens</a:t>
                      </a:r>
                      <a:endParaRPr lang="en-IN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When</a:t>
                      </a:r>
                      <a:endParaRPr lang="en-IN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2172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6366F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text-embedding-3-small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1536  (down to 256)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$0.02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the default — today ✓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172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6366F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text-embedding-3-large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3072  (shrinkable)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$0.13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better quality, bigger index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172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64748B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text-embedding-ada-002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1536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$0.10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64748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the old one — no reason now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172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0891B2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all-MiniLM-L6-v2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384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5803D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free · local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no API key, runs on CPU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0" name="Shape 1"/>
          <p:cNvSpPr/>
          <p:nvPr/>
        </p:nvSpPr>
        <p:spPr>
          <a:xfrm>
            <a:off x="548640" y="4709160"/>
            <a:ext cx="11091240" cy="1051200"/>
          </a:xfrm>
          <a:prstGeom prst="roundRect">
            <a:avLst>
              <a:gd name="adj" fmla="val 8696"/>
            </a:avLst>
          </a:prstGeom>
          <a:solidFill>
            <a:srgbClr val="F0FDF4"/>
          </a:solidFill>
          <a:ln w="12700">
            <a:solidFill>
              <a:srgbClr val="BBF7D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2"/>
          <p:cNvSpPr/>
          <p:nvPr/>
        </p:nvSpPr>
        <p:spPr>
          <a:xfrm>
            <a:off x="868680" y="4709160"/>
            <a:ext cx="104238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5803D"/>
                </a:solidFill>
                <a:effectLst/>
                <a:uFillTx/>
                <a:latin typeface="Calibri"/>
                <a:ea typeface="Calibri"/>
              </a:rPr>
              <a:t>It's basically free:  </a:t>
            </a:r>
            <a:r>
              <a:rPr lang="en-US" sz="15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at $0.02 per million tokens, embedding an entire novel costs under one rupee. </a:t>
            </a:r>
            <a:r>
              <a:rPr lang="en-US" sz="15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Cost is never the reason not to index something.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3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4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12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Text 0"/>
          <p:cNvSpPr/>
          <p:nvPr/>
        </p:nvSpPr>
        <p:spPr>
          <a:xfrm>
            <a:off x="548640" y="4572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Four rules you cannot break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1"/>
          <p:cNvSpPr/>
          <p:nvPr/>
        </p:nvSpPr>
        <p:spPr>
          <a:xfrm>
            <a:off x="548640" y="1691640"/>
            <a:ext cx="658080" cy="658080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"/>
          <p:cNvSpPr/>
          <p:nvPr/>
        </p:nvSpPr>
        <p:spPr>
          <a:xfrm>
            <a:off x="548640" y="169164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3"/>
          <p:cNvSpPr/>
          <p:nvPr/>
        </p:nvSpPr>
        <p:spPr>
          <a:xfrm>
            <a:off x="1463040" y="1645920"/>
            <a:ext cx="45716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B91C1C"/>
                </a:solidFill>
                <a:effectLst/>
                <a:uFillTx/>
                <a:latin typeface="Calibri"/>
                <a:ea typeface="Calibri"/>
              </a:rPr>
              <a:t>Same model on both sides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4"/>
          <p:cNvSpPr/>
          <p:nvPr/>
        </p:nvSpPr>
        <p:spPr>
          <a:xfrm>
            <a:off x="6126480" y="1645920"/>
            <a:ext cx="585180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documents and queries must share one coordinate space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5"/>
          <p:cNvSpPr/>
          <p:nvPr/>
        </p:nvSpPr>
        <p:spPr>
          <a:xfrm>
            <a:off x="548640" y="2743200"/>
            <a:ext cx="658080" cy="6580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6"/>
          <p:cNvSpPr/>
          <p:nvPr/>
        </p:nvSpPr>
        <p:spPr>
          <a:xfrm>
            <a:off x="548640" y="274320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7"/>
          <p:cNvSpPr/>
          <p:nvPr/>
        </p:nvSpPr>
        <p:spPr>
          <a:xfrm>
            <a:off x="1463040" y="2697480"/>
            <a:ext cx="45716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Change the model → re-embed everything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8"/>
          <p:cNvSpPr/>
          <p:nvPr/>
        </p:nvSpPr>
        <p:spPr>
          <a:xfrm>
            <a:off x="6126480" y="2697480"/>
            <a:ext cx="585180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old vectors are only meaningful in the space that made them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9"/>
          <p:cNvSpPr/>
          <p:nvPr/>
        </p:nvSpPr>
        <p:spPr>
          <a:xfrm>
            <a:off x="548640" y="3794760"/>
            <a:ext cx="658080" cy="65808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0"/>
          <p:cNvSpPr/>
          <p:nvPr/>
        </p:nvSpPr>
        <p:spPr>
          <a:xfrm>
            <a:off x="548640" y="379476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1"/>
          <p:cNvSpPr/>
          <p:nvPr/>
        </p:nvSpPr>
        <p:spPr>
          <a:xfrm>
            <a:off x="1463040" y="3749040"/>
            <a:ext cx="45716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0891B2"/>
                </a:solidFill>
                <a:effectLst/>
                <a:uFillTx/>
                <a:latin typeface="Calibri"/>
                <a:ea typeface="Calibri"/>
              </a:rPr>
              <a:t>Embedding models don't chat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2"/>
          <p:cNvSpPr/>
          <p:nvPr/>
        </p:nvSpPr>
        <p:spPr>
          <a:xfrm>
            <a:off x="6126480" y="3749040"/>
            <a:ext cx="585180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no temperature, no answer — a different endpoint entirely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13"/>
          <p:cNvSpPr/>
          <p:nvPr/>
        </p:nvSpPr>
        <p:spPr>
          <a:xfrm>
            <a:off x="548640" y="4846320"/>
            <a:ext cx="658080" cy="65808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14"/>
          <p:cNvSpPr/>
          <p:nvPr/>
        </p:nvSpPr>
        <p:spPr>
          <a:xfrm>
            <a:off x="548640" y="484632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15"/>
          <p:cNvSpPr/>
          <p:nvPr/>
        </p:nvSpPr>
        <p:spPr>
          <a:xfrm>
            <a:off x="1463040" y="4800600"/>
            <a:ext cx="45716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Respect the input limit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16"/>
          <p:cNvSpPr/>
          <p:nvPr/>
        </p:nvSpPr>
        <p:spPr>
          <a:xfrm>
            <a:off x="6126480" y="4800600"/>
            <a:ext cx="585180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~8,191 tokens per call → longer text must be chunked (§4)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17"/>
          <p:cNvSpPr/>
          <p:nvPr/>
        </p:nvSpPr>
        <p:spPr>
          <a:xfrm>
            <a:off x="548640" y="580644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B91C1C"/>
                </a:solidFill>
                <a:effectLst/>
                <a:uFillTx/>
                <a:latin typeface="Calibri"/>
                <a:ea typeface="Calibri"/>
              </a:rPr>
              <a:t>Rule 1 is the #1 real-world bug in this space — and it fails silently. No error, just nonsense.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8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9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13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Text 0"/>
          <p:cNvSpPr/>
          <p:nvPr/>
        </p:nvSpPr>
        <p:spPr>
          <a:xfrm>
            <a:off x="548640" y="457200"/>
            <a:ext cx="5486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Quick check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1"/>
          <p:cNvSpPr/>
          <p:nvPr/>
        </p:nvSpPr>
        <p:spPr>
          <a:xfrm>
            <a:off x="548640" y="1051560"/>
            <a:ext cx="1109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You embed 10,000 documents with one model, then embed queries with a different one. What happens?</a:t>
            </a:r>
            <a:endParaRPr lang="en-IN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2"/>
          <p:cNvSpPr/>
          <p:nvPr/>
        </p:nvSpPr>
        <p:spPr>
          <a:xfrm>
            <a:off x="548640" y="2468880"/>
            <a:ext cx="548280" cy="5482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3"/>
          <p:cNvSpPr/>
          <p:nvPr/>
        </p:nvSpPr>
        <p:spPr>
          <a:xfrm>
            <a:off x="548640" y="24688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4"/>
          <p:cNvSpPr/>
          <p:nvPr/>
        </p:nvSpPr>
        <p:spPr>
          <a:xfrm>
            <a:off x="1325880" y="246888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A dimension-mismatch error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5"/>
          <p:cNvSpPr/>
          <p:nvPr/>
        </p:nvSpPr>
        <p:spPr>
          <a:xfrm>
            <a:off x="548640" y="3337560"/>
            <a:ext cx="548280" cy="5482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6"/>
          <p:cNvSpPr/>
          <p:nvPr/>
        </p:nvSpPr>
        <p:spPr>
          <a:xfrm>
            <a:off x="548640" y="333756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7"/>
          <p:cNvSpPr/>
          <p:nvPr/>
        </p:nvSpPr>
        <p:spPr>
          <a:xfrm>
            <a:off x="1325880" y="333756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Slightly worse results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8"/>
          <p:cNvSpPr/>
          <p:nvPr/>
        </p:nvSpPr>
        <p:spPr>
          <a:xfrm>
            <a:off x="548640" y="4206240"/>
            <a:ext cx="548280" cy="5482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9"/>
          <p:cNvSpPr/>
          <p:nvPr/>
        </p:nvSpPr>
        <p:spPr>
          <a:xfrm>
            <a:off x="548640" y="420624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0"/>
          <p:cNvSpPr/>
          <p:nvPr/>
        </p:nvSpPr>
        <p:spPr>
          <a:xfrm>
            <a:off x="1325880" y="420624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Nonsense results — and no error at all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11"/>
          <p:cNvSpPr/>
          <p:nvPr/>
        </p:nvSpPr>
        <p:spPr>
          <a:xfrm>
            <a:off x="548640" y="5074920"/>
            <a:ext cx="548280" cy="5482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12"/>
          <p:cNvSpPr/>
          <p:nvPr/>
        </p:nvSpPr>
        <p:spPr>
          <a:xfrm>
            <a:off x="548640" y="507492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13"/>
          <p:cNvSpPr/>
          <p:nvPr/>
        </p:nvSpPr>
        <p:spPr>
          <a:xfrm>
            <a:off x="1325880" y="507492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The library converts between them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14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15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14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EF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Text 0"/>
          <p:cNvSpPr/>
          <p:nvPr/>
        </p:nvSpPr>
        <p:spPr>
          <a:xfrm>
            <a:off x="548640" y="1828800"/>
            <a:ext cx="36572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6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03</a:t>
            </a:r>
            <a:endParaRPr lang="en-IN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1"/>
          <p:cNvSpPr/>
          <p:nvPr/>
        </p:nvSpPr>
        <p:spPr>
          <a:xfrm>
            <a:off x="603360" y="3657600"/>
            <a:ext cx="10606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Measuring “close”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Text 0"/>
          <p:cNvSpPr/>
          <p:nvPr/>
        </p:nvSpPr>
        <p:spPr>
          <a:xfrm>
            <a:off x="548640" y="4572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Cosine similarity — the angle, not the distance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1"/>
          <p:cNvSpPr/>
          <p:nvPr/>
        </p:nvSpPr>
        <p:spPr>
          <a:xfrm>
            <a:off x="548640" y="1463040"/>
            <a:ext cx="6583320" cy="2148480"/>
          </a:xfrm>
          <a:prstGeom prst="roundRect">
            <a:avLst>
              <a:gd name="adj" fmla="val 2553"/>
            </a:avLst>
          </a:prstGeom>
          <a:solidFill>
            <a:srgbClr val="F3F4F6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2"/>
          <p:cNvSpPr/>
          <p:nvPr/>
        </p:nvSpPr>
        <p:spPr>
          <a:xfrm>
            <a:off x="804600" y="1645920"/>
            <a:ext cx="6071400" cy="178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def cosine(a, b):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    return np.dot(a, b) / (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        np.linalg.norm(a) * np.linalg.norm(b))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#  1.0 = same direction    0 = unrelated    −1 = opposite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3"/>
          <p:cNvSpPr/>
          <p:nvPr/>
        </p:nvSpPr>
        <p:spPr>
          <a:xfrm>
            <a:off x="8321040" y="1463040"/>
            <a:ext cx="3291480" cy="2148480"/>
          </a:xfrm>
          <a:prstGeom prst="roundRect">
            <a:avLst>
              <a:gd name="adj" fmla="val 4255"/>
            </a:avLst>
          </a:prstGeom>
          <a:solidFill>
            <a:srgbClr val="EEF0FF"/>
          </a:solidFill>
          <a:ln w="12700">
            <a:solidFill>
              <a:srgbClr val="6366F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4"/>
          <p:cNvSpPr/>
          <p:nvPr/>
        </p:nvSpPr>
        <p:spPr>
          <a:xfrm>
            <a:off x="8549640" y="1645920"/>
            <a:ext cx="2834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dot product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5"/>
          <p:cNvSpPr/>
          <p:nvPr/>
        </p:nvSpPr>
        <p:spPr>
          <a:xfrm>
            <a:off x="8549640" y="1965960"/>
            <a:ext cx="2834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multiply pairwise, add it up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6"/>
          <p:cNvSpPr/>
          <p:nvPr/>
        </p:nvSpPr>
        <p:spPr>
          <a:xfrm>
            <a:off x="8549640" y="2560320"/>
            <a:ext cx="2834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norm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7"/>
          <p:cNvSpPr/>
          <p:nvPr/>
        </p:nvSpPr>
        <p:spPr>
          <a:xfrm>
            <a:off x="8549640" y="2880360"/>
            <a:ext cx="2834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the length of the vector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8"/>
          <p:cNvSpPr/>
          <p:nvPr/>
        </p:nvSpPr>
        <p:spPr>
          <a:xfrm>
            <a:off x="548640" y="3840480"/>
            <a:ext cx="11091240" cy="182844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9"/>
          <p:cNvSpPr/>
          <p:nvPr/>
        </p:nvSpPr>
        <p:spPr>
          <a:xfrm>
            <a:off x="868680" y="4023360"/>
            <a:ext cx="10423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Why the angle and not the distance?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10"/>
          <p:cNvSpPr/>
          <p:nvPr/>
        </p:nvSpPr>
        <p:spPr>
          <a:xfrm>
            <a:off x="868680" y="4480560"/>
            <a:ext cx="104238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Length tracks how long or emphatic the text is.  </a:t>
            </a:r>
            <a:r>
              <a:rPr lang="en-US" sz="15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Direction carries the meaning.</a:t>
            </a:r>
            <a:r>
              <a:rPr lang="en-US" sz="15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  “Great product” and a five-paragraph rave point the same way — cosine calls them near; distance would call them far apart.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1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12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16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Text 0"/>
          <p:cNvSpPr/>
          <p:nvPr/>
        </p:nvSpPr>
        <p:spPr>
          <a:xfrm>
            <a:off x="548640" y="4572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Reading the numbers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"/>
          <p:cNvSpPr/>
          <p:nvPr/>
        </p:nvSpPr>
        <p:spPr>
          <a:xfrm>
            <a:off x="548640" y="123444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Query:  “How do I cancel my order?”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7" name="Table 0"/>
          <p:cNvGraphicFramePr/>
          <p:nvPr/>
        </p:nvGraphicFramePr>
        <p:xfrm>
          <a:off x="548640" y="1737360"/>
          <a:ext cx="11091240" cy="2834280"/>
        </p:xfrm>
        <a:graphic>
          <a:graphicData uri="http://schemas.openxmlformats.org/drawingml/2006/table">
            <a:tbl>
              <a:tblPr/>
              <a:tblGrid>
                <a:gridCol w="6035040"/>
                <a:gridCol w="2560320"/>
                <a:gridCol w="2496240"/>
              </a:tblGrid>
              <a:tr h="56664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Compared against</a:t>
                      </a:r>
                      <a:endParaRPr lang="en-IN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Cosine</a:t>
                      </a:r>
                      <a:endParaRPr lang="en-IN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Shared words</a:t>
                      </a:r>
                      <a:endParaRPr lang="en-IN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6664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“What is your return policy?”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5803D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0.62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B91C1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none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64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“I want to send this item back”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5803D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0.58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B91C1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none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64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“Our office is open 9am to 6pm”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64748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0.11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none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64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“The Eiffel Tower is in Paris.”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64748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0.04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none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8" name="Shape 2"/>
          <p:cNvSpPr/>
          <p:nvPr/>
        </p:nvSpPr>
        <p:spPr>
          <a:xfrm>
            <a:off x="548640" y="4709160"/>
            <a:ext cx="5394600" cy="1371240"/>
          </a:xfrm>
          <a:prstGeom prst="roundRect">
            <a:avLst>
              <a:gd name="adj" fmla="val 6667"/>
            </a:avLst>
          </a:prstGeom>
          <a:solidFill>
            <a:srgbClr val="F0FDF4"/>
          </a:solidFill>
          <a:ln w="12700">
            <a:solidFill>
              <a:srgbClr val="BBF7D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3"/>
          <p:cNvSpPr/>
          <p:nvPr/>
        </p:nvSpPr>
        <p:spPr>
          <a:xfrm>
            <a:off x="822960" y="4846320"/>
            <a:ext cx="48459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5803D"/>
                </a:solidFill>
                <a:effectLst/>
                <a:uFillTx/>
                <a:latin typeface="Calibri"/>
                <a:ea typeface="Calibri"/>
              </a:rPr>
              <a:t>The win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4"/>
          <p:cNvSpPr/>
          <p:nvPr/>
        </p:nvSpPr>
        <p:spPr>
          <a:xfrm>
            <a:off x="822960" y="5212080"/>
            <a:ext cx="48459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Zero shared words with the top hit —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and it still beats the unrelated one by 15×.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5"/>
          <p:cNvSpPr/>
          <p:nvPr/>
        </p:nvSpPr>
        <p:spPr>
          <a:xfrm>
            <a:off x="6263640" y="4709160"/>
            <a:ext cx="5394600" cy="1371240"/>
          </a:xfrm>
          <a:prstGeom prst="roundRect">
            <a:avLst>
              <a:gd name="adj" fmla="val 6667"/>
            </a:avLst>
          </a:prstGeom>
          <a:solidFill>
            <a:srgbClr val="FEF2F2"/>
          </a:solidFill>
          <a:ln w="12700">
            <a:solidFill>
              <a:srgbClr val="FECA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6"/>
          <p:cNvSpPr/>
          <p:nvPr/>
        </p:nvSpPr>
        <p:spPr>
          <a:xfrm>
            <a:off x="6537960" y="4846320"/>
            <a:ext cx="48459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B91C1C"/>
                </a:solidFill>
                <a:effectLst/>
                <a:uFillTx/>
                <a:latin typeface="Calibri"/>
                <a:ea typeface="Calibri"/>
              </a:rPr>
              <a:t>The trap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7"/>
          <p:cNvSpPr/>
          <p:nvPr/>
        </p:nvSpPr>
        <p:spPr>
          <a:xfrm>
            <a:off x="6537960" y="5212080"/>
            <a:ext cx="48459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These bands are model-specific. Never hard-code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“&gt; 0.8 means relevant.” Trust the ranking — take top-k.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8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9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17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Text 0"/>
          <p:cNvSpPr/>
          <p:nvPr/>
        </p:nvSpPr>
        <p:spPr>
          <a:xfrm>
            <a:off x="548640" y="457200"/>
            <a:ext cx="5486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Quick check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1"/>
          <p:cNvSpPr/>
          <p:nvPr/>
        </p:nvSpPr>
        <p:spPr>
          <a:xfrm>
            <a:off x="548640" y="1051560"/>
            <a:ext cx="1109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Why cosine similarity rather than plain Euclidean distance?</a:t>
            </a:r>
            <a:endParaRPr lang="en-IN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2"/>
          <p:cNvSpPr/>
          <p:nvPr/>
        </p:nvSpPr>
        <p:spPr>
          <a:xfrm>
            <a:off x="548640" y="2468880"/>
            <a:ext cx="548280" cy="5482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3"/>
          <p:cNvSpPr/>
          <p:nvPr/>
        </p:nvSpPr>
        <p:spPr>
          <a:xfrm>
            <a:off x="548640" y="24688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4"/>
          <p:cNvSpPr/>
          <p:nvPr/>
        </p:nvSpPr>
        <p:spPr>
          <a:xfrm>
            <a:off x="1325880" y="246888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Cosine is much faster to compute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5"/>
          <p:cNvSpPr/>
          <p:nvPr/>
        </p:nvSpPr>
        <p:spPr>
          <a:xfrm>
            <a:off x="548640" y="3337560"/>
            <a:ext cx="548280" cy="5482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6"/>
          <p:cNvSpPr/>
          <p:nvPr/>
        </p:nvSpPr>
        <p:spPr>
          <a:xfrm>
            <a:off x="548640" y="333756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7"/>
          <p:cNvSpPr/>
          <p:nvPr/>
        </p:nvSpPr>
        <p:spPr>
          <a:xfrm>
            <a:off x="1325880" y="333756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Meaning is carried by direction; length mostly tracks text length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8"/>
          <p:cNvSpPr/>
          <p:nvPr/>
        </p:nvSpPr>
        <p:spPr>
          <a:xfrm>
            <a:off x="548640" y="4206240"/>
            <a:ext cx="548280" cy="5482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9"/>
          <p:cNvSpPr/>
          <p:nvPr/>
        </p:nvSpPr>
        <p:spPr>
          <a:xfrm>
            <a:off x="548640" y="420624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10"/>
          <p:cNvSpPr/>
          <p:nvPr/>
        </p:nvSpPr>
        <p:spPr>
          <a:xfrm>
            <a:off x="1325880" y="420624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Euclidean distance doesn't work above 3 dimensions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11"/>
          <p:cNvSpPr/>
          <p:nvPr/>
        </p:nvSpPr>
        <p:spPr>
          <a:xfrm>
            <a:off x="548640" y="5074920"/>
            <a:ext cx="548280" cy="5482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12"/>
          <p:cNvSpPr/>
          <p:nvPr/>
        </p:nvSpPr>
        <p:spPr>
          <a:xfrm>
            <a:off x="548640" y="507492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13"/>
          <p:cNvSpPr/>
          <p:nvPr/>
        </p:nvSpPr>
        <p:spPr>
          <a:xfrm>
            <a:off x="1325880" y="507492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Cosine works without embeddings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14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15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EF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Text 0"/>
          <p:cNvSpPr/>
          <p:nvPr/>
        </p:nvSpPr>
        <p:spPr>
          <a:xfrm>
            <a:off x="548640" y="1828800"/>
            <a:ext cx="36572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6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04</a:t>
            </a:r>
            <a:endParaRPr lang="en-IN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1"/>
          <p:cNvSpPr/>
          <p:nvPr/>
        </p:nvSpPr>
        <p:spPr>
          <a:xfrm>
            <a:off x="603360" y="3657600"/>
            <a:ext cx="10606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Cutting documents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Text 0"/>
          <p:cNvSpPr/>
          <p:nvPr/>
        </p:nvSpPr>
        <p:spPr>
          <a:xfrm>
            <a:off x="548640" y="4572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Why you never embed a whole document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Shape 1"/>
          <p:cNvSpPr/>
          <p:nvPr/>
        </p:nvSpPr>
        <p:spPr>
          <a:xfrm>
            <a:off x="548640" y="1645920"/>
            <a:ext cx="658080" cy="6580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2"/>
          <p:cNvSpPr/>
          <p:nvPr/>
        </p:nvSpPr>
        <p:spPr>
          <a:xfrm>
            <a:off x="548640" y="164592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3"/>
          <p:cNvSpPr/>
          <p:nvPr/>
        </p:nvSpPr>
        <p:spPr>
          <a:xfrm>
            <a:off x="1463040" y="1600200"/>
            <a:ext cx="402300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One vector is one point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4"/>
          <p:cNvSpPr/>
          <p:nvPr/>
        </p:nvSpPr>
        <p:spPr>
          <a:xfrm>
            <a:off x="5577840" y="1600200"/>
            <a:ext cx="64004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it cannot represent a book that talks about forty things — the meaning averages into mush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Shape 5"/>
          <p:cNvSpPr/>
          <p:nvPr/>
        </p:nvSpPr>
        <p:spPr>
          <a:xfrm>
            <a:off x="548640" y="2697480"/>
            <a:ext cx="658080" cy="6580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6"/>
          <p:cNvSpPr/>
          <p:nvPr/>
        </p:nvSpPr>
        <p:spPr>
          <a:xfrm>
            <a:off x="548640" y="269748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7"/>
          <p:cNvSpPr/>
          <p:nvPr/>
        </p:nvSpPr>
        <p:spPr>
          <a:xfrm>
            <a:off x="1463040" y="2651760"/>
            <a:ext cx="402300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You want the paragraph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8"/>
          <p:cNvSpPr/>
          <p:nvPr/>
        </p:nvSpPr>
        <p:spPr>
          <a:xfrm>
            <a:off x="5577840" y="2651760"/>
            <a:ext cx="64004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not the whole file — precision is the entire point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9"/>
          <p:cNvSpPr/>
          <p:nvPr/>
        </p:nvSpPr>
        <p:spPr>
          <a:xfrm>
            <a:off x="548640" y="3749040"/>
            <a:ext cx="658080" cy="65808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10"/>
          <p:cNvSpPr/>
          <p:nvPr/>
        </p:nvSpPr>
        <p:spPr>
          <a:xfrm>
            <a:off x="548640" y="374904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11"/>
          <p:cNvSpPr/>
          <p:nvPr/>
        </p:nvSpPr>
        <p:spPr>
          <a:xfrm>
            <a:off x="1463040" y="3703320"/>
            <a:ext cx="402300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0891B2"/>
                </a:solidFill>
                <a:effectLst/>
                <a:uFillTx/>
                <a:latin typeface="Calibri"/>
                <a:ea typeface="Calibri"/>
              </a:rPr>
              <a:t>Cost + context window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12"/>
          <p:cNvSpPr/>
          <p:nvPr/>
        </p:nvSpPr>
        <p:spPr>
          <a:xfrm>
            <a:off x="5577840" y="3703320"/>
            <a:ext cx="64004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whatever you retrieve goes into a prompt later; retrieving 50 pages defeats the exercise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Shape 13"/>
          <p:cNvSpPr/>
          <p:nvPr/>
        </p:nvSpPr>
        <p:spPr>
          <a:xfrm>
            <a:off x="548640" y="4800600"/>
            <a:ext cx="658080" cy="65808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14"/>
          <p:cNvSpPr/>
          <p:nvPr/>
        </p:nvSpPr>
        <p:spPr>
          <a:xfrm>
            <a:off x="548640" y="480060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15"/>
          <p:cNvSpPr/>
          <p:nvPr/>
        </p:nvSpPr>
        <p:spPr>
          <a:xfrm>
            <a:off x="1463040" y="4754880"/>
            <a:ext cx="402300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A hard input limit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16"/>
          <p:cNvSpPr/>
          <p:nvPr/>
        </p:nvSpPr>
        <p:spPr>
          <a:xfrm>
            <a:off x="5577840" y="4754880"/>
            <a:ext cx="64004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~8,191 tokens per embedding call — longer text simply won't go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17"/>
          <p:cNvSpPr/>
          <p:nvPr/>
        </p:nvSpPr>
        <p:spPr>
          <a:xfrm>
            <a:off x="548640" y="5577840"/>
            <a:ext cx="11091240" cy="658080"/>
          </a:xfrm>
          <a:prstGeom prst="roundRect">
            <a:avLst>
              <a:gd name="adj" fmla="val 13889"/>
            </a:avLst>
          </a:prstGeom>
          <a:solidFill>
            <a:srgbClr val="EEF0FF"/>
          </a:solidFill>
          <a:ln w="12700">
            <a:solidFill>
              <a:srgbClr val="6366F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18"/>
          <p:cNvSpPr/>
          <p:nvPr/>
        </p:nvSpPr>
        <p:spPr>
          <a:xfrm>
            <a:off x="868680" y="5577840"/>
            <a:ext cx="10423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So: cut the document into chunks, and give every idea its own point in space.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19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20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20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Text 0"/>
          <p:cNvSpPr/>
          <p:nvPr/>
        </p:nvSpPr>
        <p:spPr>
          <a:xfrm>
            <a:off x="548640" y="4572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Bad chunking, live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1"/>
          <p:cNvSpPr/>
          <p:nvPr/>
        </p:nvSpPr>
        <p:spPr>
          <a:xfrm>
            <a:off x="548640" y="120708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Cut every 140 characters, no overlap: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Shape 2"/>
          <p:cNvSpPr/>
          <p:nvPr/>
        </p:nvSpPr>
        <p:spPr>
          <a:xfrm>
            <a:off x="548640" y="1691640"/>
            <a:ext cx="11091240" cy="1691280"/>
          </a:xfrm>
          <a:prstGeom prst="roundRect">
            <a:avLst>
              <a:gd name="adj" fmla="val 5405"/>
            </a:avLst>
          </a:prstGeom>
          <a:solidFill>
            <a:srgbClr val="FEF2F2"/>
          </a:solidFill>
          <a:ln w="12700">
            <a:solidFill>
              <a:srgbClr val="FECA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3"/>
          <p:cNvSpPr/>
          <p:nvPr/>
        </p:nvSpPr>
        <p:spPr>
          <a:xfrm>
            <a:off x="868680" y="1828800"/>
            <a:ext cx="1096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B91C1C"/>
                </a:solidFill>
                <a:effectLst/>
                <a:uFillTx/>
                <a:latin typeface="Calibri"/>
                <a:ea typeface="Calibri"/>
              </a:rPr>
              <a:t>chunk 0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4"/>
          <p:cNvSpPr/>
          <p:nvPr/>
        </p:nvSpPr>
        <p:spPr>
          <a:xfrm>
            <a:off x="2011680" y="1810440"/>
            <a:ext cx="9326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“… You can track your shipment using the link sent to your email. The refund window is 3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5"/>
          <p:cNvSpPr/>
          <p:nvPr/>
        </p:nvSpPr>
        <p:spPr>
          <a:xfrm>
            <a:off x="868680" y="2514600"/>
            <a:ext cx="1096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B91C1C"/>
                </a:solidFill>
                <a:effectLst/>
                <a:uFillTx/>
                <a:latin typeface="Calibri"/>
                <a:ea typeface="Calibri"/>
              </a:rPr>
              <a:t>chunk 1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6"/>
          <p:cNvSpPr/>
          <p:nvPr/>
        </p:nvSpPr>
        <p:spPr>
          <a:xfrm>
            <a:off x="2011680" y="2496240"/>
            <a:ext cx="9326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“0 days from the date of delivery. Refunds are credited to the original payment method …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7"/>
          <p:cNvSpPr/>
          <p:nvPr/>
        </p:nvSpPr>
        <p:spPr>
          <a:xfrm>
            <a:off x="2011680" y="2971800"/>
            <a:ext cx="9326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i="1" u="none" strike="noStrike">
                <a:solidFill>
                  <a:srgbClr val="B91C1C"/>
                </a:solidFill>
                <a:effectLst/>
                <a:uFillTx/>
                <a:latin typeface="Calibri"/>
                <a:ea typeface="Calibri"/>
              </a:rPr>
              <a:t>The chunker sliced the number 30 straight down the middle.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8"/>
          <p:cNvSpPr/>
          <p:nvPr/>
        </p:nvSpPr>
        <p:spPr>
          <a:xfrm>
            <a:off x="548640" y="361188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Ask “how many days do I have to return an item?” — one chunk says the window is “3”, the other opens with a stray “0”.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9"/>
          <p:cNvSpPr/>
          <p:nvPr/>
        </p:nvSpPr>
        <p:spPr>
          <a:xfrm>
            <a:off x="548640" y="4114800"/>
            <a:ext cx="11091240" cy="1371240"/>
          </a:xfrm>
          <a:prstGeom prst="roundRect">
            <a:avLst>
              <a:gd name="adj" fmla="val 6667"/>
            </a:avLst>
          </a:prstGeom>
          <a:solidFill>
            <a:srgbClr val="F0FDF4"/>
          </a:solidFill>
          <a:ln w="12700">
            <a:solidFill>
              <a:srgbClr val="BBF7D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10"/>
          <p:cNvSpPr/>
          <p:nvPr/>
        </p:nvSpPr>
        <p:spPr>
          <a:xfrm>
            <a:off x="868680" y="4251960"/>
            <a:ext cx="2377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5803D"/>
                </a:solidFill>
                <a:effectLst/>
                <a:uFillTx/>
                <a:latin typeface="Calibri"/>
                <a:ea typeface="Calibri"/>
              </a:rPr>
              <a:t>With overlap=40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11"/>
          <p:cNvSpPr/>
          <p:nvPr/>
        </p:nvSpPr>
        <p:spPr>
          <a:xfrm>
            <a:off x="868680" y="4617720"/>
            <a:ext cx="10423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“… sent to your email. The refund window is 30 days from the date of delivery. Refunds are …”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12"/>
          <p:cNvSpPr/>
          <p:nvPr/>
        </p:nvSpPr>
        <p:spPr>
          <a:xfrm>
            <a:off x="868680" y="5029200"/>
            <a:ext cx="10423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5803D"/>
                </a:solidFill>
                <a:effectLst/>
                <a:uFillTx/>
                <a:latin typeface="Calibri"/>
                <a:ea typeface="Calibri"/>
              </a:rPr>
              <a:t>The whole fact survives in one chunk. Nothing changed but the boundaries.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13"/>
          <p:cNvSpPr/>
          <p:nvPr/>
        </p:nvSpPr>
        <p:spPr>
          <a:xfrm>
            <a:off x="548640" y="566928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Bad chunking beats a good model. Pay for the best model on earth and still lose to sensible boundaries.</a:t>
            </a:r>
            <a:endParaRPr lang="en-IN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14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15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21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Text 0"/>
          <p:cNvSpPr/>
          <p:nvPr/>
        </p:nvSpPr>
        <p:spPr>
          <a:xfrm>
            <a:off x="548640" y="4572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Strategies, sizes, and metadata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2" name="Table 0"/>
          <p:cNvGraphicFramePr/>
          <p:nvPr/>
        </p:nvGraphicFramePr>
        <p:xfrm>
          <a:off x="548640" y="1600200"/>
          <a:ext cx="11091240" cy="3071880"/>
        </p:xfrm>
        <a:graphic>
          <a:graphicData uri="http://schemas.openxmlformats.org/drawingml/2006/table">
            <a:tbl>
              <a:tblPr/>
              <a:tblGrid>
                <a:gridCol w="2926080"/>
                <a:gridCol w="4754880"/>
                <a:gridCol w="3410640"/>
              </a:tblGrid>
              <a:tr h="51192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Strategy</a:t>
                      </a:r>
                      <a:endParaRPr lang="en-IN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How</a:t>
                      </a:r>
                      <a:endParaRPr lang="en-IN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Good for</a:t>
                      </a:r>
                      <a:endParaRPr lang="en-IN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1192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Fixed-size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every N characters or tokens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B91C1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prototypes — cuts sentences ✗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192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Sentence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split on sentence boundaries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short FAQ answers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192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Paragraph / heading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split on blank lines or headings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5803D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structured docs ✓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192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Recursive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paragraph → sentence → word until it fits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5803D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the sensible default ✓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192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Semantic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cut where the meaning shifts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high-value corpora, slower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3" name="Shape 1"/>
          <p:cNvSpPr/>
          <p:nvPr/>
        </p:nvSpPr>
        <p:spPr>
          <a:xfrm>
            <a:off x="548640" y="4709160"/>
            <a:ext cx="5394600" cy="1599840"/>
          </a:xfrm>
          <a:prstGeom prst="roundRect">
            <a:avLst>
              <a:gd name="adj" fmla="val 5714"/>
            </a:avLst>
          </a:prstGeom>
          <a:solidFill>
            <a:srgbClr val="EEF0FF"/>
          </a:solidFill>
          <a:ln w="12700">
            <a:solidFill>
              <a:srgbClr val="6366F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2"/>
          <p:cNvSpPr/>
          <p:nvPr/>
        </p:nvSpPr>
        <p:spPr>
          <a:xfrm>
            <a:off x="822960" y="4846320"/>
            <a:ext cx="4845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Size &amp; overlap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3"/>
          <p:cNvSpPr/>
          <p:nvPr/>
        </p:nvSpPr>
        <p:spPr>
          <a:xfrm>
            <a:off x="822960" y="5230440"/>
            <a:ext cx="48459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200–500 tokens (≈ 800–2,000 chars), 10–20% overlap.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Dense FAQ → smaller. Flowing prose → bigger.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Shape 4"/>
          <p:cNvSpPr/>
          <p:nvPr/>
        </p:nvSpPr>
        <p:spPr>
          <a:xfrm>
            <a:off x="6263640" y="4709160"/>
            <a:ext cx="5394600" cy="159984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5"/>
          <p:cNvSpPr/>
          <p:nvPr/>
        </p:nvSpPr>
        <p:spPr>
          <a:xfrm>
            <a:off x="6537960" y="4846320"/>
            <a:ext cx="4845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Store metadata from day one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6"/>
          <p:cNvSpPr/>
          <p:nvPr/>
        </p:nvSpPr>
        <p:spPr>
          <a:xfrm>
            <a:off x="6537960" y="5230440"/>
            <a:ext cx="49374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source · page · section · date → filter before searching,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and cite afterwards. Citations come from metadata, not memory.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7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8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22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Text 0"/>
          <p:cNvSpPr/>
          <p:nvPr/>
        </p:nvSpPr>
        <p:spPr>
          <a:xfrm>
            <a:off x="548640" y="457200"/>
            <a:ext cx="5486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Quick check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1"/>
          <p:cNvSpPr/>
          <p:nvPr/>
        </p:nvSpPr>
        <p:spPr>
          <a:xfrm>
            <a:off x="548640" y="1051560"/>
            <a:ext cx="1109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What is chunk overlap actually for?</a:t>
            </a:r>
            <a:endParaRPr lang="en-IN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Shape 2"/>
          <p:cNvSpPr/>
          <p:nvPr/>
        </p:nvSpPr>
        <p:spPr>
          <a:xfrm>
            <a:off x="548640" y="2468880"/>
            <a:ext cx="548280" cy="5482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3"/>
          <p:cNvSpPr/>
          <p:nvPr/>
        </p:nvSpPr>
        <p:spPr>
          <a:xfrm>
            <a:off x="548640" y="24688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4"/>
          <p:cNvSpPr/>
          <p:nvPr/>
        </p:nvSpPr>
        <p:spPr>
          <a:xfrm>
            <a:off x="1325880" y="246888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To store each document twice as a backup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Shape 5"/>
          <p:cNvSpPr/>
          <p:nvPr/>
        </p:nvSpPr>
        <p:spPr>
          <a:xfrm>
            <a:off x="548640" y="3337560"/>
            <a:ext cx="548280" cy="5482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6"/>
          <p:cNvSpPr/>
          <p:nvPr/>
        </p:nvSpPr>
        <p:spPr>
          <a:xfrm>
            <a:off x="548640" y="333756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7"/>
          <p:cNvSpPr/>
          <p:nvPr/>
        </p:nvSpPr>
        <p:spPr>
          <a:xfrm>
            <a:off x="1325880" y="333756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So a fact split at a boundary still survives whole inside one chunk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Shape 8"/>
          <p:cNvSpPr/>
          <p:nvPr/>
        </p:nvSpPr>
        <p:spPr>
          <a:xfrm>
            <a:off x="548640" y="4206240"/>
            <a:ext cx="548280" cy="5482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9"/>
          <p:cNvSpPr/>
          <p:nvPr/>
        </p:nvSpPr>
        <p:spPr>
          <a:xfrm>
            <a:off x="548640" y="420624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10"/>
          <p:cNvSpPr/>
          <p:nvPr/>
        </p:nvSpPr>
        <p:spPr>
          <a:xfrm>
            <a:off x="1325880" y="420624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To make embedding calls cheaper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11"/>
          <p:cNvSpPr/>
          <p:nvPr/>
        </p:nvSpPr>
        <p:spPr>
          <a:xfrm>
            <a:off x="548640" y="5074920"/>
            <a:ext cx="548280" cy="5482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12"/>
          <p:cNvSpPr/>
          <p:nvPr/>
        </p:nvSpPr>
        <p:spPr>
          <a:xfrm>
            <a:off x="548640" y="507492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13"/>
          <p:cNvSpPr/>
          <p:nvPr/>
        </p:nvSpPr>
        <p:spPr>
          <a:xfrm>
            <a:off x="1325880" y="507492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To speed up the search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14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15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23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EF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Text 0"/>
          <p:cNvSpPr/>
          <p:nvPr/>
        </p:nvSpPr>
        <p:spPr>
          <a:xfrm>
            <a:off x="548640" y="1828800"/>
            <a:ext cx="36572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6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05</a:t>
            </a:r>
            <a:endParaRPr lang="en-IN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1"/>
          <p:cNvSpPr/>
          <p:nvPr/>
        </p:nvSpPr>
        <p:spPr>
          <a:xfrm>
            <a:off x="603360" y="3657600"/>
            <a:ext cx="10606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Where vectors live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Text 0"/>
          <p:cNvSpPr/>
          <p:nvPr/>
        </p:nvSpPr>
        <p:spPr>
          <a:xfrm>
            <a:off x="548640" y="4572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You already have vector search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1"/>
          <p:cNvSpPr/>
          <p:nvPr/>
        </p:nvSpPr>
        <p:spPr>
          <a:xfrm>
            <a:off x="548640" y="120708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A list of vectors plus a cosine loop is genuinely fine for a few thousand chunks. Here's what breaks: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1" name="Table 0"/>
          <p:cNvGraphicFramePr/>
          <p:nvPr/>
        </p:nvGraphicFramePr>
        <p:xfrm>
          <a:off x="548640" y="1691640"/>
          <a:ext cx="11091240" cy="3291840"/>
        </p:xfrm>
        <a:graphic>
          <a:graphicData uri="http://schemas.openxmlformats.org/drawingml/2006/table">
            <a:tbl>
              <a:tblPr/>
              <a:tblGrid>
                <a:gridCol w="2377440"/>
                <a:gridCol w="4389120"/>
                <a:gridCol w="4325040"/>
              </a:tblGrid>
              <a:tr h="54864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Problem</a:t>
                      </a:r>
                      <a:endParaRPr lang="en-IN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With a numpy array</a:t>
                      </a:r>
                      <a:endParaRPr lang="en-IN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What a vector DB gives you</a:t>
                      </a:r>
                      <a:endParaRPr lang="en-IN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4864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Speed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B91C1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compare against every vector — O(n)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5803D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an ANN index — ~100× faster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Persistence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B91C1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restart = re-embed = re-pay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5803D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stored on disk, loads instantly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Filtering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B91C1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write your own loop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5803D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where={"year": 2026} before searching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Updates / deletes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B91C1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rebuild the whole array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5803D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add / update / delete by id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Concurrency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B91C1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none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5803D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 real server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2" name="Shape 2"/>
          <p:cNvSpPr/>
          <p:nvPr/>
        </p:nvSpPr>
        <p:spPr>
          <a:xfrm>
            <a:off x="548640" y="4937760"/>
            <a:ext cx="11091240" cy="959760"/>
          </a:xfrm>
          <a:prstGeom prst="roundRect">
            <a:avLst>
              <a:gd name="adj" fmla="val 9524"/>
            </a:avLst>
          </a:prstGeom>
          <a:solidFill>
            <a:srgbClr val="EEF0FF"/>
          </a:solidFill>
          <a:ln w="12700">
            <a:solidFill>
              <a:srgbClr val="6366F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3"/>
          <p:cNvSpPr/>
          <p:nvPr/>
        </p:nvSpPr>
        <p:spPr>
          <a:xfrm>
            <a:off x="868680" y="4937760"/>
            <a:ext cx="1042380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Approximate is a feature:  </a:t>
            </a:r>
            <a:r>
              <a:rPr lang="en-US" sz="15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exact search checks all 10 million vectors. ANN organises them so you check a few thousand — ~99% of the right answers in 1% of the time.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4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5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25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Text 0"/>
          <p:cNvSpPr/>
          <p:nvPr/>
        </p:nvSpPr>
        <p:spPr>
          <a:xfrm>
            <a:off x="548640" y="4572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Chroma — in code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Shape 1"/>
          <p:cNvSpPr/>
          <p:nvPr/>
        </p:nvSpPr>
        <p:spPr>
          <a:xfrm>
            <a:off x="548640" y="1463040"/>
            <a:ext cx="7131960" cy="4205880"/>
          </a:xfrm>
          <a:prstGeom prst="roundRect">
            <a:avLst>
              <a:gd name="adj" fmla="val 1304"/>
            </a:avLst>
          </a:prstGeom>
          <a:solidFill>
            <a:srgbClr val="F3F4F6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2"/>
          <p:cNvSpPr/>
          <p:nvPr/>
        </p:nvSpPr>
        <p:spPr>
          <a:xfrm>
            <a:off x="804600" y="1645920"/>
            <a:ext cx="6620040" cy="38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import chromadb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db  = chromadb.Client()          # in-memory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col = db.get_or_create_collection("notes")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col.add(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    ids=["c1", "c2"],            # to update / delete later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    documents=[text1, text2],    # the text, kept alongside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    embeddings=[vec1, vec2],     # the vectors from §2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    metadatas=[{"day": 1}, {"day": 2}],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res = col.query(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    query_embeddings=[embed("what is a token?")],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    n_results=3,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    where={"day": 1},            # filter first — optional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res["documents"][0]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3"/>
          <p:cNvSpPr/>
          <p:nvPr/>
        </p:nvSpPr>
        <p:spPr>
          <a:xfrm>
            <a:off x="7955280" y="1463040"/>
            <a:ext cx="3657240" cy="4205880"/>
          </a:xfrm>
          <a:prstGeom prst="roundRect">
            <a:avLst>
              <a:gd name="adj" fmla="val 2500"/>
            </a:avLst>
          </a:prstGeom>
          <a:solidFill>
            <a:srgbClr val="FEF2F2"/>
          </a:solidFill>
          <a:ln w="12700">
            <a:solidFill>
              <a:srgbClr val="FECA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4"/>
          <p:cNvSpPr/>
          <p:nvPr/>
        </p:nvSpPr>
        <p:spPr>
          <a:xfrm>
            <a:off x="8183880" y="1691640"/>
            <a:ext cx="32000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B91C1C"/>
                </a:solidFill>
                <a:effectLst/>
                <a:uFillTx/>
                <a:latin typeface="Calibri"/>
                <a:ea typeface="Calibri"/>
              </a:rPr>
              <a:t>Two things that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B91C1C"/>
                </a:solidFill>
                <a:effectLst/>
                <a:uFillTx/>
                <a:latin typeface="Calibri"/>
                <a:ea typeface="Calibri"/>
              </a:rPr>
              <a:t>trip everyone up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5"/>
          <p:cNvSpPr/>
          <p:nvPr/>
        </p:nvSpPr>
        <p:spPr>
          <a:xfrm>
            <a:off x="8183880" y="2606040"/>
            <a:ext cx="32000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1.  Chroma returns </a:t>
            </a:r>
            <a:r>
              <a:rPr lang="en-US" sz="1350" b="1" u="none" strike="noStrike">
                <a:solidFill>
                  <a:srgbClr val="B91C1C"/>
                </a:solidFill>
                <a:effectLst/>
                <a:uFillTx/>
                <a:latin typeface="Courier New"/>
                <a:ea typeface="Courier New"/>
              </a:rPr>
              <a:t>distances</a:t>
            </a:r>
            <a:r>
              <a:rPr lang="en-US" sz="13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, not similarities — </a:t>
            </a:r>
            <a:r>
              <a:rPr lang="en-US" sz="135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lower is better.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6"/>
          <p:cNvSpPr/>
          <p:nvPr/>
        </p:nvSpPr>
        <p:spPr>
          <a:xfrm>
            <a:off x="8183880" y="3840480"/>
            <a:ext cx="320004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2.  Results are </a:t>
            </a:r>
            <a:r>
              <a:rPr lang="en-US" sz="1350" b="1" u="none" strike="noStrike">
                <a:solidFill>
                  <a:srgbClr val="B91C1C"/>
                </a:solidFill>
                <a:effectLst/>
                <a:uFillTx/>
                <a:latin typeface="Calibri"/>
                <a:ea typeface="Calibri"/>
              </a:rPr>
              <a:t>lists of lists</a:t>
            </a:r>
            <a:r>
              <a:rPr lang="en-US" sz="13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 — query takes a batch. Index </a:t>
            </a:r>
            <a:r>
              <a:rPr lang="en-US" sz="1350" b="1" u="none" strike="noStrike">
                <a:solidFill>
                  <a:srgbClr val="B91C1C"/>
                </a:solidFill>
                <a:effectLst/>
                <a:uFillTx/>
                <a:latin typeface="Courier New"/>
                <a:ea typeface="Courier New"/>
              </a:rPr>
              <a:t>[0]</a:t>
            </a:r>
            <a:r>
              <a:rPr lang="en-US" sz="13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 for your one query.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7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8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26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Text 0"/>
          <p:cNvSpPr/>
          <p:nvPr/>
        </p:nvSpPr>
        <p:spPr>
          <a:xfrm>
            <a:off x="548640" y="4572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Which one in the real world?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6" name="Table 0"/>
          <p:cNvGraphicFramePr/>
          <p:nvPr/>
        </p:nvGraphicFramePr>
        <p:xfrm>
          <a:off x="548640" y="1600200"/>
          <a:ext cx="11091240" cy="34560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776400"/>
              </a:tblGrid>
              <a:tr h="49356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Tool</a:t>
                      </a:r>
                      <a:endParaRPr lang="en-IN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It is…</a:t>
                      </a:r>
                      <a:endParaRPr lang="en-IN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Reach for it when</a:t>
                      </a:r>
                      <a:endParaRPr lang="en-IN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9356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6366F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Chroma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 simple local vector DB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5803D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prototypes, demos, small apps ✓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356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6366F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FAISS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 fast similarity library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raw speed; you handle storage yourself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356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0891B2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pgvector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 Postgres extension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0891B2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you already run Postgres ★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356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6366F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Pinecone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managed and hosted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production without an ops team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356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6366F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Qdrant · Weaviate · Milvus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production vector DBs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scale and control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356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6366F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Elasticsearch / OpenSearch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search engines with vectors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you need hybrid keyword + vector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7" name="Shape 1"/>
          <p:cNvSpPr/>
          <p:nvPr/>
        </p:nvSpPr>
        <p:spPr>
          <a:xfrm>
            <a:off x="548640" y="5166360"/>
            <a:ext cx="11091240" cy="1005480"/>
          </a:xfrm>
          <a:prstGeom prst="roundRect">
            <a:avLst>
              <a:gd name="adj" fmla="val 9091"/>
            </a:avLst>
          </a:prstGeom>
          <a:solidFill>
            <a:srgbClr val="EEF0FF"/>
          </a:solidFill>
          <a:ln w="12700">
            <a:solidFill>
              <a:srgbClr val="0891B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2"/>
          <p:cNvSpPr/>
          <p:nvPr/>
        </p:nvSpPr>
        <p:spPr>
          <a:xfrm>
            <a:off x="868680" y="5166360"/>
            <a:ext cx="104238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0891B2"/>
                </a:solidFill>
                <a:effectLst/>
                <a:uFillTx/>
                <a:latin typeface="Calibri"/>
                <a:ea typeface="Calibri"/>
              </a:rPr>
              <a:t>★ Next week you build a Postgres backend.  </a:t>
            </a:r>
            <a:r>
              <a:rPr lang="en-US" sz="14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pgvector means your embeddings can be a column in the same database as your users and orders — one DB, one backup, one connection, joins across both.</a:t>
            </a:r>
            <a:endParaRPr lang="en-IN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3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4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27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Text 0"/>
          <p:cNvSpPr/>
          <p:nvPr/>
        </p:nvSpPr>
        <p:spPr>
          <a:xfrm>
            <a:off x="548640" y="457200"/>
            <a:ext cx="5486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Quick check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"/>
          <p:cNvSpPr/>
          <p:nvPr/>
        </p:nvSpPr>
        <p:spPr>
          <a:xfrm>
            <a:off x="548640" y="1051560"/>
            <a:ext cx="1109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5,000 chunks, one user, a notebook. Do you need a vector database?</a:t>
            </a:r>
            <a:endParaRPr lang="en-IN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2"/>
          <p:cNvSpPr/>
          <p:nvPr/>
        </p:nvSpPr>
        <p:spPr>
          <a:xfrm>
            <a:off x="548640" y="2468880"/>
            <a:ext cx="548280" cy="5482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3"/>
          <p:cNvSpPr/>
          <p:nvPr/>
        </p:nvSpPr>
        <p:spPr>
          <a:xfrm>
            <a:off x="548640" y="24688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4"/>
          <p:cNvSpPr/>
          <p:nvPr/>
        </p:nvSpPr>
        <p:spPr>
          <a:xfrm>
            <a:off x="1325880" y="246888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Yes — vector search doesn't work without one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Shape 5"/>
          <p:cNvSpPr/>
          <p:nvPr/>
        </p:nvSpPr>
        <p:spPr>
          <a:xfrm>
            <a:off x="548640" y="3337560"/>
            <a:ext cx="548280" cy="5482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6"/>
          <p:cNvSpPr/>
          <p:nvPr/>
        </p:nvSpPr>
        <p:spPr>
          <a:xfrm>
            <a:off x="548640" y="333756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7"/>
          <p:cNvSpPr/>
          <p:nvPr/>
        </p:nvSpPr>
        <p:spPr>
          <a:xfrm>
            <a:off x="1325880" y="333756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No — a numpy array is fine until you need persistence, filtering or scale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Shape 8"/>
          <p:cNvSpPr/>
          <p:nvPr/>
        </p:nvSpPr>
        <p:spPr>
          <a:xfrm>
            <a:off x="548640" y="4206240"/>
            <a:ext cx="548280" cy="5482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9"/>
          <p:cNvSpPr/>
          <p:nvPr/>
        </p:nvSpPr>
        <p:spPr>
          <a:xfrm>
            <a:off x="548640" y="420624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10"/>
          <p:cNvSpPr/>
          <p:nvPr/>
        </p:nvSpPr>
        <p:spPr>
          <a:xfrm>
            <a:off x="1325880" y="420624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Yes, always, for anything using embeddings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Shape 11"/>
          <p:cNvSpPr/>
          <p:nvPr/>
        </p:nvSpPr>
        <p:spPr>
          <a:xfrm>
            <a:off x="548640" y="5074920"/>
            <a:ext cx="548280" cy="5482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12"/>
          <p:cNvSpPr/>
          <p:nvPr/>
        </p:nvSpPr>
        <p:spPr>
          <a:xfrm>
            <a:off x="548640" y="507492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13"/>
          <p:cNvSpPr/>
          <p:nvPr/>
        </p:nvSpPr>
        <p:spPr>
          <a:xfrm>
            <a:off x="1325880" y="507492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Only if you use OpenAI embeddings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14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15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28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EF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Text 0"/>
          <p:cNvSpPr/>
          <p:nvPr/>
        </p:nvSpPr>
        <p:spPr>
          <a:xfrm>
            <a:off x="548640" y="1828800"/>
            <a:ext cx="36572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6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06</a:t>
            </a:r>
            <a:endParaRPr lang="en-IN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1"/>
          <p:cNvSpPr/>
          <p:nvPr/>
        </p:nvSpPr>
        <p:spPr>
          <a:xfrm>
            <a:off x="603360" y="3657600"/>
            <a:ext cx="10606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Put it together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Text 0"/>
          <p:cNvSpPr/>
          <p:nvPr/>
        </p:nvSpPr>
        <p:spPr>
          <a:xfrm>
            <a:off x="548640" y="4572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A search engine over your own notes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Shape 1"/>
          <p:cNvSpPr/>
          <p:nvPr/>
        </p:nvSpPr>
        <p:spPr>
          <a:xfrm>
            <a:off x="548640" y="1463040"/>
            <a:ext cx="6949080" cy="2285640"/>
          </a:xfrm>
          <a:prstGeom prst="roundRect">
            <a:avLst>
              <a:gd name="adj" fmla="val 2400"/>
            </a:avLst>
          </a:prstGeom>
          <a:solidFill>
            <a:srgbClr val="F3F4F6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2"/>
          <p:cNvSpPr/>
          <p:nvPr/>
        </p:nvSpPr>
        <p:spPr>
          <a:xfrm>
            <a:off x="804600" y="1645920"/>
            <a:ext cx="6437160" cy="19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# INDEX  (once, offline)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chunks = chunk_text(NOTES, size=400, overlap=80)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col.add(ids=…, documents=chunks, embeddings=embed(chunks))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# SEARCH (every request)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res = col.query(query_embeddings=[embed(question)], n_results=3)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Shape 3"/>
          <p:cNvSpPr/>
          <p:nvPr/>
        </p:nvSpPr>
        <p:spPr>
          <a:xfrm>
            <a:off x="7772400" y="1463040"/>
            <a:ext cx="3840120" cy="2285640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2700">
            <a:solidFill>
              <a:srgbClr val="6366F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4"/>
          <p:cNvSpPr/>
          <p:nvPr/>
        </p:nvSpPr>
        <p:spPr>
          <a:xfrm>
            <a:off x="8046720" y="1645920"/>
            <a:ext cx="3382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Ask it anything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5"/>
          <p:cNvSpPr/>
          <p:nvPr/>
        </p:nvSpPr>
        <p:spPr>
          <a:xfrm>
            <a:off x="8046720" y="2057400"/>
            <a:ext cx="338292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“what is a token?”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“why does it make things up?”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“who runs the function?”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6"/>
          <p:cNvSpPr/>
          <p:nvPr/>
        </p:nvSpPr>
        <p:spPr>
          <a:xfrm>
            <a:off x="548640" y="393192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None of those use the words in the notes — the right paragraph comes back anyway.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Shape 7"/>
          <p:cNvSpPr/>
          <p:nvPr/>
        </p:nvSpPr>
        <p:spPr>
          <a:xfrm>
            <a:off x="548640" y="4434840"/>
            <a:ext cx="11091240" cy="1371240"/>
          </a:xfrm>
          <a:prstGeom prst="roundRect">
            <a:avLst>
              <a:gd name="adj" fmla="val 6667"/>
            </a:avLst>
          </a:prstGeom>
          <a:solidFill>
            <a:srgbClr val="FEF2F2"/>
          </a:solidFill>
          <a:ln w="12700">
            <a:solidFill>
              <a:srgbClr val="FECA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8"/>
          <p:cNvSpPr/>
          <p:nvPr/>
        </p:nvSpPr>
        <p:spPr>
          <a:xfrm>
            <a:off x="868680" y="4434840"/>
            <a:ext cx="104238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B91C1C"/>
                </a:solidFill>
                <a:effectLst/>
                <a:uFillTx/>
                <a:latin typeface="Calibri"/>
                <a:ea typeface="Calibri"/>
              </a:rPr>
              <a:t>Now break it on purpose:  </a:t>
            </a:r>
            <a:r>
              <a:rPr lang="en-US" sz="15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ask something the notes never mention — “what is the hostel fee?” — and it </a:t>
            </a:r>
            <a:r>
              <a:rPr lang="en-US" sz="15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still confidently returns three chunks.</a:t>
            </a:r>
            <a:r>
              <a:rPr lang="en-US" sz="15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  Similarity search always returns its top-k. It has no idea when nothing is relevant.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9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10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30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Text 0"/>
          <p:cNvSpPr/>
          <p:nvPr/>
        </p:nvSpPr>
        <p:spPr>
          <a:xfrm>
            <a:off x="548640" y="4572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RAG in five lines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Shape 1"/>
          <p:cNvSpPr/>
          <p:nvPr/>
        </p:nvSpPr>
        <p:spPr>
          <a:xfrm>
            <a:off x="548640" y="1417320"/>
            <a:ext cx="7223400" cy="3565800"/>
          </a:xfrm>
          <a:prstGeom prst="roundRect">
            <a:avLst>
              <a:gd name="adj" fmla="val 1538"/>
            </a:avLst>
          </a:prstGeom>
          <a:solidFill>
            <a:srgbClr val="F3F4F6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 2"/>
          <p:cNvSpPr/>
          <p:nvPr/>
        </p:nvSpPr>
        <p:spPr>
          <a:xfrm>
            <a:off x="804600" y="1600200"/>
            <a:ext cx="6711480" cy="32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context = "\n\n".join(search(question, k=3))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answer = client.chat.completions.create(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    model="gpt-4o-mini",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    messages=[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      {"role": "system", "content":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         "Answer using ONLY the context below. "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         "If it isn't there, say you don't know.\n\n" + context},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      {"role": "user", "content": question},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    ],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Shape 3"/>
          <p:cNvSpPr/>
          <p:nvPr/>
        </p:nvSpPr>
        <p:spPr>
          <a:xfrm>
            <a:off x="8046720" y="1554480"/>
            <a:ext cx="566640" cy="56664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4"/>
          <p:cNvSpPr/>
          <p:nvPr/>
        </p:nvSpPr>
        <p:spPr>
          <a:xfrm>
            <a:off x="8046720" y="1554480"/>
            <a:ext cx="566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5"/>
          <p:cNvSpPr/>
          <p:nvPr/>
        </p:nvSpPr>
        <p:spPr>
          <a:xfrm>
            <a:off x="8732520" y="1508760"/>
            <a:ext cx="2925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Retrieval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6"/>
          <p:cNvSpPr/>
          <p:nvPr/>
        </p:nvSpPr>
        <p:spPr>
          <a:xfrm>
            <a:off x="8732520" y="1856160"/>
            <a:ext cx="29257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find the right chunks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everything you built today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Shape 7"/>
          <p:cNvSpPr/>
          <p:nvPr/>
        </p:nvSpPr>
        <p:spPr>
          <a:xfrm>
            <a:off x="8046720" y="2743200"/>
            <a:ext cx="566640" cy="56664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8"/>
          <p:cNvSpPr/>
          <p:nvPr/>
        </p:nvSpPr>
        <p:spPr>
          <a:xfrm>
            <a:off x="8046720" y="2743200"/>
            <a:ext cx="566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9"/>
          <p:cNvSpPr/>
          <p:nvPr/>
        </p:nvSpPr>
        <p:spPr>
          <a:xfrm>
            <a:off x="8732520" y="2697480"/>
            <a:ext cx="2925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891B2"/>
                </a:solidFill>
                <a:effectLst/>
                <a:uFillTx/>
                <a:latin typeface="Calibri"/>
                <a:ea typeface="Calibri"/>
              </a:rPr>
              <a:t>Augmented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0"/>
          <p:cNvSpPr/>
          <p:nvPr/>
        </p:nvSpPr>
        <p:spPr>
          <a:xfrm>
            <a:off x="8732520" y="3044880"/>
            <a:ext cx="29257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put them in the prompt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one join()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11"/>
          <p:cNvSpPr/>
          <p:nvPr/>
        </p:nvSpPr>
        <p:spPr>
          <a:xfrm>
            <a:off x="8046720" y="3931920"/>
            <a:ext cx="566640" cy="56664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12"/>
          <p:cNvSpPr/>
          <p:nvPr/>
        </p:nvSpPr>
        <p:spPr>
          <a:xfrm>
            <a:off x="8046720" y="3931920"/>
            <a:ext cx="566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3"/>
          <p:cNvSpPr/>
          <p:nvPr/>
        </p:nvSpPr>
        <p:spPr>
          <a:xfrm>
            <a:off x="8732520" y="3886200"/>
            <a:ext cx="2925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Generation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14"/>
          <p:cNvSpPr/>
          <p:nvPr/>
        </p:nvSpPr>
        <p:spPr>
          <a:xfrm>
            <a:off x="8732520" y="4233600"/>
            <a:ext cx="29257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the model answers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an ordinary chat call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Shape 15"/>
          <p:cNvSpPr/>
          <p:nvPr/>
        </p:nvSpPr>
        <p:spPr>
          <a:xfrm>
            <a:off x="548640" y="5212080"/>
            <a:ext cx="11091240" cy="868320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BBF7D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16"/>
          <p:cNvSpPr/>
          <p:nvPr/>
        </p:nvSpPr>
        <p:spPr>
          <a:xfrm>
            <a:off x="868680" y="5212080"/>
            <a:ext cx="1042380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5803D"/>
                </a:solidFill>
                <a:effectLst/>
                <a:uFillTx/>
                <a:latin typeface="Calibri"/>
                <a:ea typeface="Calibri"/>
              </a:rPr>
              <a:t>Why this kills hallucination:  </a:t>
            </a:r>
            <a:r>
              <a:rPr lang="en-US" sz="15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before, the model </a:t>
            </a:r>
            <a:r>
              <a:rPr lang="en-US" sz="15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recalled</a:t>
            </a:r>
            <a:r>
              <a:rPr lang="en-US" sz="15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 from training and invented details. Here it </a:t>
            </a:r>
            <a:r>
              <a:rPr lang="en-US" sz="15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reads</a:t>
            </a:r>
            <a:r>
              <a:rPr lang="en-US" sz="15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 text you handed it a millisecond ago.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17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18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31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Text 0"/>
          <p:cNvSpPr/>
          <p:nvPr/>
        </p:nvSpPr>
        <p:spPr>
          <a:xfrm>
            <a:off x="548640" y="4572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Five lines is a demo. Tomorrow is the product.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Shape 1"/>
          <p:cNvSpPr/>
          <p:nvPr/>
        </p:nvSpPr>
        <p:spPr>
          <a:xfrm>
            <a:off x="548640" y="1691640"/>
            <a:ext cx="658080" cy="658080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2"/>
          <p:cNvSpPr/>
          <p:nvPr/>
        </p:nvSpPr>
        <p:spPr>
          <a:xfrm>
            <a:off x="548640" y="169164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3"/>
          <p:cNvSpPr/>
          <p:nvPr/>
        </p:nvSpPr>
        <p:spPr>
          <a:xfrm>
            <a:off x="1463040" y="1645920"/>
            <a:ext cx="329148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B91C1C"/>
                </a:solidFill>
                <a:effectLst/>
                <a:uFillTx/>
                <a:latin typeface="Calibri"/>
                <a:ea typeface="Calibri"/>
              </a:rPr>
              <a:t>“I don't know”</a:t>
            </a:r>
            <a:endParaRPr lang="en-IN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4"/>
          <p:cNvSpPr/>
          <p:nvPr/>
        </p:nvSpPr>
        <p:spPr>
          <a:xfrm>
            <a:off x="4892040" y="1645920"/>
            <a:ext cx="704052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make it refuse when retrieval came back with nothing relevant — today it will happily answer anyway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Shape 5"/>
          <p:cNvSpPr/>
          <p:nvPr/>
        </p:nvSpPr>
        <p:spPr>
          <a:xfrm>
            <a:off x="548640" y="2743200"/>
            <a:ext cx="658080" cy="65808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6"/>
          <p:cNvSpPr/>
          <p:nvPr/>
        </p:nvSpPr>
        <p:spPr>
          <a:xfrm>
            <a:off x="548640" y="274320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7"/>
          <p:cNvSpPr/>
          <p:nvPr/>
        </p:nvSpPr>
        <p:spPr>
          <a:xfrm>
            <a:off x="1463040" y="2697480"/>
            <a:ext cx="329148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0891B2"/>
                </a:solidFill>
                <a:effectLst/>
                <a:uFillTx/>
                <a:latin typeface="Calibri"/>
                <a:ea typeface="Calibri"/>
              </a:rPr>
              <a:t>Citations</a:t>
            </a:r>
            <a:endParaRPr lang="en-IN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8"/>
          <p:cNvSpPr/>
          <p:nvPr/>
        </p:nvSpPr>
        <p:spPr>
          <a:xfrm>
            <a:off x="4892040" y="2697480"/>
            <a:ext cx="704052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“Policy v3, page 12” — straight from the metadata you stored with each chunk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Shape 9"/>
          <p:cNvSpPr/>
          <p:nvPr/>
        </p:nvSpPr>
        <p:spPr>
          <a:xfrm>
            <a:off x="548640" y="3794760"/>
            <a:ext cx="658080" cy="6580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10"/>
          <p:cNvSpPr/>
          <p:nvPr/>
        </p:nvSpPr>
        <p:spPr>
          <a:xfrm>
            <a:off x="548640" y="379476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11"/>
          <p:cNvSpPr/>
          <p:nvPr/>
        </p:nvSpPr>
        <p:spPr>
          <a:xfrm>
            <a:off x="1463040" y="3749040"/>
            <a:ext cx="329148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When retrieval fails</a:t>
            </a:r>
            <a:endParaRPr lang="en-IN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 12"/>
          <p:cNvSpPr/>
          <p:nvPr/>
        </p:nvSpPr>
        <p:spPr>
          <a:xfrm>
            <a:off x="4892040" y="3749040"/>
            <a:ext cx="704052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the top-3 are junk. Rewrite the query, re-rank, widen k, or fall back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Shape 13"/>
          <p:cNvSpPr/>
          <p:nvPr/>
        </p:nvSpPr>
        <p:spPr>
          <a:xfrm>
            <a:off x="548640" y="4846320"/>
            <a:ext cx="658080" cy="6580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14"/>
          <p:cNvSpPr/>
          <p:nvPr/>
        </p:nvSpPr>
        <p:spPr>
          <a:xfrm>
            <a:off x="548640" y="484632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5"/>
          <p:cNvSpPr/>
          <p:nvPr/>
        </p:nvSpPr>
        <p:spPr>
          <a:xfrm>
            <a:off x="1463040" y="4800600"/>
            <a:ext cx="329148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Does it actually work?</a:t>
            </a:r>
            <a:endParaRPr lang="en-IN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6"/>
          <p:cNvSpPr/>
          <p:nvPr/>
        </p:nvSpPr>
        <p:spPr>
          <a:xfrm>
            <a:off x="4892040" y="4800600"/>
            <a:ext cx="704052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measure it: 20 real questions, count how often the right chunk lands in the top 3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17"/>
          <p:cNvSpPr/>
          <p:nvPr/>
        </p:nvSpPr>
        <p:spPr>
          <a:xfrm>
            <a:off x="548640" y="5623560"/>
            <a:ext cx="11091240" cy="685440"/>
          </a:xfrm>
          <a:prstGeom prst="roundRect">
            <a:avLst>
              <a:gd name="adj" fmla="val 13333"/>
            </a:avLst>
          </a:prstGeom>
          <a:solidFill>
            <a:srgbClr val="EEF0FF"/>
          </a:solidFill>
          <a:ln w="12700">
            <a:solidFill>
              <a:srgbClr val="6366F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18"/>
          <p:cNvSpPr/>
          <p:nvPr/>
        </p:nvSpPr>
        <p:spPr>
          <a:xfrm>
            <a:off x="868680" y="5623560"/>
            <a:ext cx="104238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Retrieval was the hard 90%. You built it today.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 19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20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32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Text 0"/>
          <p:cNvSpPr/>
          <p:nvPr/>
        </p:nvSpPr>
        <p:spPr>
          <a:xfrm>
            <a:off x="548640" y="4572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Recap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Shape 1"/>
          <p:cNvSpPr/>
          <p:nvPr/>
        </p:nvSpPr>
        <p:spPr>
          <a:xfrm>
            <a:off x="548640" y="1645920"/>
            <a:ext cx="566640" cy="56664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2"/>
          <p:cNvSpPr/>
          <p:nvPr/>
        </p:nvSpPr>
        <p:spPr>
          <a:xfrm>
            <a:off x="548640" y="1645920"/>
            <a:ext cx="566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3"/>
          <p:cNvSpPr/>
          <p:nvPr/>
        </p:nvSpPr>
        <p:spPr>
          <a:xfrm>
            <a:off x="1417320" y="1645920"/>
            <a:ext cx="104238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An embedding turns text into a fixed-length list of numbers — close vectors mean close meaning.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Shape 4"/>
          <p:cNvSpPr/>
          <p:nvPr/>
        </p:nvSpPr>
        <p:spPr>
          <a:xfrm>
            <a:off x="548640" y="2606040"/>
            <a:ext cx="566640" cy="56664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5"/>
          <p:cNvSpPr/>
          <p:nvPr/>
        </p:nvSpPr>
        <p:spPr>
          <a:xfrm>
            <a:off x="548640" y="2606040"/>
            <a:ext cx="566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 6"/>
          <p:cNvSpPr/>
          <p:nvPr/>
        </p:nvSpPr>
        <p:spPr>
          <a:xfrm>
            <a:off x="1417320" y="2606040"/>
            <a:ext cx="104238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Cosine similarity scores the angle; trust the ranking and take top-k, never a hard threshold.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Shape 7"/>
          <p:cNvSpPr/>
          <p:nvPr/>
        </p:nvSpPr>
        <p:spPr>
          <a:xfrm>
            <a:off x="548640" y="3566160"/>
            <a:ext cx="566640" cy="56664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8"/>
          <p:cNvSpPr/>
          <p:nvPr/>
        </p:nvSpPr>
        <p:spPr>
          <a:xfrm>
            <a:off x="548640" y="3566160"/>
            <a:ext cx="566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9"/>
          <p:cNvSpPr/>
          <p:nvPr/>
        </p:nvSpPr>
        <p:spPr>
          <a:xfrm>
            <a:off x="1417320" y="3566160"/>
            <a:ext cx="104238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Chunk with overlap, store metadata — bad boundaries destroy facts no model can recover.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Shape 10"/>
          <p:cNvSpPr/>
          <p:nvPr/>
        </p:nvSpPr>
        <p:spPr>
          <a:xfrm>
            <a:off x="548640" y="4526280"/>
            <a:ext cx="566640" cy="56664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11"/>
          <p:cNvSpPr/>
          <p:nvPr/>
        </p:nvSpPr>
        <p:spPr>
          <a:xfrm>
            <a:off x="548640" y="4526280"/>
            <a:ext cx="566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12"/>
          <p:cNvSpPr/>
          <p:nvPr/>
        </p:nvSpPr>
        <p:spPr>
          <a:xfrm>
            <a:off x="1417320" y="4526280"/>
            <a:ext cx="104238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A vector DB buys speed, persistence and filtering; search always returns k results, even when nothing fits.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Shape 13"/>
          <p:cNvSpPr/>
          <p:nvPr/>
        </p:nvSpPr>
        <p:spPr>
          <a:xfrm>
            <a:off x="548640" y="5349240"/>
            <a:ext cx="11091240" cy="712800"/>
          </a:xfrm>
          <a:prstGeom prst="roundRect">
            <a:avLst>
              <a:gd name="adj" fmla="val 12821"/>
            </a:avLst>
          </a:prstGeom>
          <a:solidFill>
            <a:srgbClr val="EEF0FF"/>
          </a:solidFill>
          <a:ln w="12700">
            <a:solidFill>
              <a:srgbClr val="6366F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14"/>
          <p:cNvSpPr/>
          <p:nvPr/>
        </p:nvSpPr>
        <p:spPr>
          <a:xfrm>
            <a:off x="868680" y="5349240"/>
            <a:ext cx="104238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One rule above all:  </a:t>
            </a:r>
            <a:r>
              <a:rPr lang="en-US" sz="15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the same embedding model on both sides — documents and queries. It fails silently otherwise.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15"/>
          <p:cNvSpPr/>
          <p:nvPr/>
        </p:nvSpPr>
        <p:spPr>
          <a:xfrm>
            <a:off x="548640" y="614484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Notebook §10 exercises + homework are in the run book. Next: Day 4 — RAG end-to-end.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16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17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33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LibreOffice/26.2.5.2$MacOSX_X86_64 LibreOffice_project/cd7284b4cbbfeb507e630c1aac019f4157393acb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2026-07-28T13:43:33Z</dcterms:created>
  <dc:creator>Bhupendra Dahal</dc:creator>
  <dc:description/>
  <dc:language>en-IN</dc:language>
  <cp:lastModifiedBy>Bhupendra Dahal</cp:lastModifiedBy>
  <dcterms:modified xsi:type="dcterms:W3CDTF">2026-07-28T13:43:33Z</dcterms:modified>
  <cp:revision>1</cp:revision>
  <dc:subject>PptxGenJS Presentation</dc:subject>
  <dc:title>Generative AI — Day 3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33</vt:r8>
  </property>
  <property fmtid="{D5CDD505-2E9C-101B-9397-08002B2CF9AE}" pid="3" name="PresentationFormat">
    <vt:lpwstr>On-screen Show (16:9)</vt:lpwstr>
  </property>
  <property fmtid="{D5CDD505-2E9C-101B-9397-08002B2CF9AE}" pid="4" name="Slides">
    <vt:r8>33</vt:r8>
  </property>
</Properties>
</file>