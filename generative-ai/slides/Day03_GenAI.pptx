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AAB694-8CBF-45B0-97EB-4C3E7139974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the arc in one line: Day 1 the model answered, Day 2 it acted — but every answer came from what it memorised in training. Today we solve the last gap: getting YOUR documents in front of a model that has never seen them. By the end of today they will have a working semantic search engine, and RAG will be five more lines.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11ED87-3260-471F-B173-B923952E6E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Think-pair-share, 1 minute. You will get, in this order: (1) 'Ctrl+F / keyword search' — good, and it is exactly what fails; hold it for section 1. (2) 'Fine-tune the model on it' — expensive, slow, and it still won't quote the document; name it and park it. (3) 'Summarise it' — you lose the detail the question was about. (4) 'Search it, then give the model just that bit' — that IS today. Punch line: 'yesterday the model acted on data you handed it; today it finds the data itself.'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D47FEF-0CF4-4E37-80F7-ADC6B1D923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Rule out the two obvious answers before offering the real one. Pasting everything: context windows are finite and you pay per token on EVERY request. Fine-tuning: teaches style and format well, but it is a poor way to teach facts, it's slow and costly, and the model still can't cite the source or be updated when the policy changes. Retrieval wins on all three: cheap, instant to update (re-index), and citable.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9A6035-5F41-4004-9145-388FD8A817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Draw this on the board and leave it up all day — point back at it after every section. The split students always miss: indexing happens ONCE, offline, whenever documents change; querying happens on EVERY user request and is just one embedding call plus a search — tens of milliseconds. That is why RAG is fast enough to ship. The red line is the rule they'll break: the same embedding model must produce both rows, or the coordinate systems don't match.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143EB-EDFC-47B3-B70E-47E41CF715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search they have written matches letters, not meaning. Show the failure with a concrete pair before offering the fix.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F84301-D5AC-453F-991D-67260B194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them feel it before you fix it. Ask the room for two more ways to phrase 'when do results come out?' with no shared words — 'result date', 'when will marks be published', 'how long till grades'. Their own sentences prove the problem. Do NOT dismiss keyword search: it is still better for exact tokens — order IDs, error codes, SKUs, names. Production usually runs hybrid; we come back to that in section 5.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80734-2155-4777-BAC6-A096B0B4B5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conceptual pivot of the whole day — slow down here. The move is: stop comparing language, start comparing positions. Once text is a point in space, 'find the most relevant document' becomes 'find the nearest point', which is arithmetic a computer is extremely good at. Everything after this slide is just details: how you make the numbers (section 2), how you measure close (3), what you cut up (4), where you keep them (5).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BA3306-9C51-4B57-B37D-1762B3F190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zero shared words, identical intent. Keyword search compares characters; it has no notion of meaning. Why not the others: length (A), punctuation (C) and index freshness (D) are all irrelevant — even a perfect, fresh index of that document would still miss this query. Discussion: 'name a query in your own project where the user's words won't match your documents' words.'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CE938B-F8CC-4258-84BC-6360EB44A2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core concept of the day. An embedding turns any text into a fixed-length list of numbers where nearby = similar in meaning.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EC815F-EBE4-4EF8-BFFA-591A585A44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live in notebook §3 and print the length. Then the important beat: embed something completely different and longer — 'Pizza was invented in Naples…' — and get 1536 again. Students expect longer text to give more numbers; it doesn't. Land the point: from here on, nothing compares text to text. You are comparing 1536 numbers to 1536 numbers. The words are gone.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BF266-609A-4039-8561-2B36EACBA3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map analogy does the heavy lifting — use it and then stop apologising for the fact that nobody can picture 1536 dimensions. Nobody can, and it doesn't matter: the maths of 'which point is nearest' is identical whether there are 2 axes or 1536. If a student asks what the individual numbers mean — nothing nameable. They are learned features, not 'axis 7 = politeness'. The only thing that carries meaning is the position relative to other texts.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8C3B7-84D3-4B9D-A1A1-F6A8763B5A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Latest 2026 pricing — re-check on the day, it moves. Two things to demo: (1) the dimensions knob — pass dimensions=256 and get a shorter vector that still works; smaller index, faster search, small accuracy cost. (2) The free local model: uncommenting five lines in the notebook redefines embed() and the whole notebook runs with no API key at all. That is itself the lesson — swap the embedding model, keep the pipeline. Mention the MTEB leaderboard for 'which is best right now'.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28B867-5CE7-4707-BDF2-B5A2722F0E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Rule 1 is the one that bites teams in production. Two embedding models are two different coordinate systems — asking 'which of these Model-A points is nearest this Model-B point' is like comparing a latitude to a temperature. The search still returns its top-k, cheerfully, with no exception raised. That silence is why it survives code review and dies in production. Rule 2 is the operational consequence: switching models means a full re-index, so choose deliberately.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8CD204-A57C-4338-BCBF-6C50EB91A8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C — different models produce different coordinate spaces, so the nearest neighbours are meaningless. Crucially it does NOT raise an error (A) — if the dimensions happen to match, everything looks fine. It's not a small degradation (B), it's garbage; and nothing converts between spaces (D). Discussion: 'how would you even notice this bug in production?' — you need retrieval evaluation, which is Day 5.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BBB220-919D-40B5-A2C6-37BA3FE988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number for how similar two texts are: cosine similarity — the angle between two vectors.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1A650-628E-404B-83C6-8E8FB73741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the maths light — dot product and norm are all they need. Worth saying out loud: OpenAI embeddings come back normalised to length 1, so for them cosine similarity and the plain dot product are the SAME number. That's why library code often just does a dot product and students wonder where the division went. The notebook's similarities() helper normalises explicitly so it also works with the free local model.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3E2BC7-166A-4C88-A809-B8C7BDD9A4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live in notebook §4 — one variable, changed and re-run, so the numbers appear one at a time. This is the moment the concept lands for most of the room: the top hit shares NO words with the query and still wins by more than 10×. The trap on the right is the one they'll hit in their own projects: absolute similarity values differ per model and per domain, so thresholds don't transfer. Ranking is what's reliable — which is exactly why every retrieval API is 'give me the top k', not 'give me everything above 0.8'.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E43B75-51F5-4598-B4DC-B859D125A7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direction encodes meaning; magnitude largely reflects how long or emphatic the text is, which you usually want to ignore. Why not the others: they cost about the same (A); Euclidean is perfectly well-defined in 1536 dimensions (C); and cosine needs vectors like everything else (D). Discussion: 'when WOULD you want length to matter?' — that's part of why re-ranking and hybrid search exist.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EF8B1B-53D1-4841-86AD-2E22701103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Chunking is the part everyone gets wrong — and the part that decides whether retrieval works at all.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CCD8F-41E8-409B-9E18-C93BCDDB76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Reason 1 is the one to dwell on: an embedding is a single point, so a 50-page handbook becomes a blurry average of everything and a good match for nothing. Ask about section 12 and the vector shrugs. The other three are practical constraints. Together they force the same conclusion — chunk it.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906FC7-0A6A-41F5-99B6-883F0D05CD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live in notebook §6 — the dataframe makes the cut obvious. This is the most memorable slide of the day, so let it breathe. The fact isn't merely hard to find, it is GONE: no model can reconstruct '30' from a chunk ending in '3' and another starting with '0'. Then change one number (overlap=40), re-run, and the fact is whole. Overlap costs you a little duplicated storage and buys you insurance against every boundary you didn't anticipate.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A50B5-3EE4-4731-A3EC-CB4F58C97F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honest engineering answer to 'what chunk size?' is: you measure it. Take 20 real questions, try two settings, count how often the right chunk lands in the top 3. Chunking is tuned by evaluation, not by feel — Day 5 covers evaluation properly. On metadata, the line worth repeating: citations come from your metadata, NEVER from the model's memory. If a chunk doesn't know which file and page it came from, your bot cannot honestly cite anything.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1E4D85-AEA6-44D1-9A0F-383399272B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overlap repeats the tail of the previous chunk so a sentence cut at a boundary appears intact in its neighbour. Why not the others: it isn't a backup (A); it means MORE text embedded, so slightly more cost (C); and it doesn't affect search speed (D) — if anything you have a few more vectors. Discussion: 'what would 90% overlap cost you, and what would it buy?'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A3BFB3-61C3-4594-92C5-BDE4DE5EE2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numpy array already is vector search. Here is exactly what breaks as you grow — and what a vector database does about it.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846183-557A-4274-81D7-C47FEA2427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by validating what they already built — the numpy version IS vector search, and for a class project it is often the right answer. Then the honest list of what breaks. ANN = Approximate Nearest Neighbour (HNSW is the common algorithm). Students find 'approximate' alarming; reframe it: you might occasionally miss the true #7 result and you get the answer 100× faster. Every production system takes that trade.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C4B3E-6B7F-4A04-B711-510C285296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it in three beats: create a collection, add (ids + documents + embeddings + metadatas), query. Note we pass embeddings EXPLICITLY — Chroma can embed for you if you pass documents alone, but we keep the pipeline visible today. Mention the shortcut, teach the long way. PersistentClient(path=…) is the one-word change that makes it survive a restart. The two red gotchas will be their first two bugs, so say them before they hit them.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A7474D-5ADA-471C-B7AD-E0117434FA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Don't let them think a separate vector service is the default — for most teams pgvector is the right answer, and it's the bridge into next week's backend work. On hybrid search: keyword and vector fail in OPPOSITE ways. Vector search is great at meaning and bad at exact strings — ask it for order A123 and it may cheerfully hand you A124. Serious systems run both and merge the rankings. Name it; don't build it today.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240696-36D4-4D90-AE5D-1E31C485D2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5,000 cosine comparisons is milliseconds of numpy. Reach for a DB when you need persistence across restarts, metadata filtering, updates, or real scale — not because it sounds professional. Why not the others: the maths works fine without a DB (A, C), and the choice is unrelated to which embedding provider you use (D). Discussion: 'what's the first thing that would push YOUR project over the line into needing one?'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60255B-1B73-4834-9FB3-0EFCFBF687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Assemble the pipeline over real notes, watch it fail on purpose, then snap an LLM on the end — that's RAG.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2E8221-F7EB-4484-9FA3-31841AB93F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it live from notebook §8 over the Day 1–2 course notes — searching their own course lands well. Then the deliberate failure, which is the most important thing on this slide: top-k always returns k results, ranked, with no concept of 'nothing here is relevant'. Students assume an empty result means no match; there is no empty result. That single fact is why Day 4 spends real time on grounding, thresholds and making the model say 'I don't know'.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ACB043-EBB9-4804-929A-9DC00C2BD6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payoff. Point out how little is new: retrieval was today, the join is trivial, and the chat call is unchanged from Day 1. Retrieval was the hard 90%. The hallucination line is worth saying slowly — it stops being a memory and becomes a reader. Then set expectations honestly: five lines gets a demo working, not a product (next slide).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568C3C-A7FB-44DF-BED2-7FB06A0F0D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Sell tomorrow without teaching it. Each of these four is a real Day-4 section, and each one is a thing their five-line demo does badly right now — which is exactly the motivation you want them leaving with. Close the day on the last line: the retrieval machinery they built today is the hard part; Day 4 is making it trustworthy.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ACD7E-580B-41C2-8212-C70C0AE4C8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the room to give you each line back before you reveal it. Then send them to notebook §10 (fill-in-the-blank) and the homework in the run book — especially 'index something you own' and 'find one question where retrieval returns confident nonsense', because that example is their ticket into Day 4. One-line close: 'you can now find the right paragraph in a document the model has never seen — tomorrow we make it answer from that, honestly.'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642D3-FAF7-462D-AF03-24175CE1FB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237744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Generative AI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3566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Day 3 · Embeddings, vector search &amp; chunking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58521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Lovely Professional University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 ·    Backend &amp; Generative AI    ·    Poorit Technologies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914400" y="169164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Your college hands you a 200-page examination policy.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914400" y="233172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“Build a bot that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324612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answers questions about it.”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914400" y="452628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You can't paste 200 pages into every prompt. How do you find the three right paragraphs?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last gap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3258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Day 1: </a:t>
            </a:r>
            <a:r>
              <a:rPr lang="en-US" sz="17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it answered.    </a:t>
            </a: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Day 2: </a:t>
            </a:r>
            <a:r>
              <a:rPr lang="en-US" sz="17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it acted.    </a:t>
            </a: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Day 3: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it finds — in documents nobody trained it on.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2011680"/>
            <a:ext cx="3520080" cy="31086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822960" y="22402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Doesn't work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822960" y="260604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Paste it all in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822960" y="32461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200 pages every request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822960" y="4023360"/>
            <a:ext cx="4568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371600" y="397764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context window + cost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343400" y="2011680"/>
            <a:ext cx="3520080" cy="31086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617720" y="22402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Doesn't work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617720" y="260604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Fine-tune on it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617720" y="32461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hours, money, a new model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4617720" y="4023360"/>
            <a:ext cx="4568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166360" y="397764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and it still can't quote it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8138160" y="2011680"/>
            <a:ext cx="3520080" cy="3108600"/>
          </a:xfrm>
          <a:prstGeom prst="roundRect">
            <a:avLst>
              <a:gd name="adj" fmla="val 2941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412480" y="22402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412480" y="260604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Retrieve, then answer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8412480" y="32461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find 3 paragraphs, pass those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8412480" y="4023360"/>
            <a:ext cx="4568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80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8961120" y="397764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cheap · instant · citable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whole day on one slide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1207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Two phases — and they are not the same thing.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48640" y="1737360"/>
            <a:ext cx="11091240" cy="17370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868680" y="18745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INDEXING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868680" y="22402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offline · once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3017520" y="205740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3017520" y="205740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documents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883040" y="233172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5212080" y="205740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5212080" y="205740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chunk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7077600" y="233172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7406640" y="205740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7406640" y="205740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embed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9272160" y="233172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9601200" y="205740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9601200" y="205740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548640" y="3657600"/>
            <a:ext cx="11091240" cy="1737000"/>
          </a:xfrm>
          <a:prstGeom prst="roundRect">
            <a:avLst>
              <a:gd name="adj" fmla="val 5263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68680" y="37947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QUERYING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68680" y="41605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live · every request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3017520" y="397764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3017520" y="397764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question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4883040" y="4251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5212080" y="397764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5212080" y="397764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embed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4"/>
          <p:cNvSpPr/>
          <p:nvPr/>
        </p:nvSpPr>
        <p:spPr>
          <a:xfrm>
            <a:off x="7077600" y="4251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5"/>
          <p:cNvSpPr/>
          <p:nvPr/>
        </p:nvSpPr>
        <p:spPr>
          <a:xfrm>
            <a:off x="7406640" y="397764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7406640" y="397764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9272160" y="4251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9601200" y="3977640"/>
            <a:ext cx="1828440" cy="7768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9601200" y="397764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top-k chunks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548640" y="5623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Every section today fills in one arrow.  </a:t>
            </a: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The same embedding model must be used on both rows.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Why search is hard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Keyword search matches letters, not meaning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548640" y="1600200"/>
            <a:ext cx="11091240" cy="169128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914400" y="17830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The student asks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914400" y="214884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“How do I cancel my order?”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6583680" y="17830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The document says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6583680" y="214884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“Returns and refunds policy”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548640" y="34747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Words in common:  0        →  a perfect miss on the single most relevant page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548640" y="420624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548640" y="4206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1417320" y="42062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Misses  —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cancel · return · refund · send back  —  one idea to a human, four strings to LIKE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548640" y="498348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548640" y="49834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1417320" y="49834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False hits  —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search “apple” → the fruit, the company, and someone's surname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idea that fixes it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548640" y="1737360"/>
            <a:ext cx="11091240" cy="137124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914400" y="173736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Turn text into numbers, so that texts with similar meaning land on nearby numbers.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548640" y="3337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Then “search by meaning” stops being a language problem and becomes plain geometry: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548640" y="38862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822960" y="40690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822960" y="448056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“How do I cancel my order?”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4096440" y="4480560"/>
            <a:ext cx="219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4343400" y="38862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4617720" y="40690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Numbers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4617720" y="448056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[-0.014, 0.031, -0.006, …]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7891200" y="4480560"/>
            <a:ext cx="2192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8138160" y="38862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EEF0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8412480" y="40690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8412480" y="448056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which points are closest?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548640" y="5623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That is an embedding. Everything else today is mechanics.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Keyword search misses “Returns and refunds policy” for “How do I cancel my order?” Why?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document is too short to match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They share no words, even though they share the meaning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query ends in a question mark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search index is out of date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 as coordinates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 embedding is a list of numbers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548640" y="1508760"/>
            <a:ext cx="6857640" cy="3200040"/>
          </a:xfrm>
          <a:prstGeom prst="roundRect">
            <a:avLst>
              <a:gd name="adj" fmla="val 1714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804600" y="1691640"/>
            <a:ext cx="63457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sentence_transformers import SentenceTransformer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model = SentenceTransformer('all-MiniLM-L6-v2')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texts = ["Machine learning is a branch of AI",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"Deep learning uses neural networks",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"I love cooking Indian food",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"Cricket is popular in India"]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embeddings = model.encode(texts)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embeddings.shape        # (4, 384)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7772400" y="1508760"/>
            <a:ext cx="3840120" cy="3200040"/>
          </a:xfrm>
          <a:prstGeom prst="roundRect">
            <a:avLst>
              <a:gd name="adj" fmla="val 2857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8046720" y="173736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 different kind of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model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8046720" y="2651760"/>
            <a:ext cx="3382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answer — just numbers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temperature, no system prompt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free · local · no API key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 in, meaning out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548640" y="4892040"/>
            <a:ext cx="11091240" cy="95976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868680" y="4892040"/>
            <a:ext cx="10423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Three words or three paragraphs — always 384 numbers. </a:t>
            </a: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That fixed size is what makes comparison possible at all.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Why numbers can carry meaning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1234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Think of a world map: two numbers place any city — and cities near in the numbers are near in reality.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48640" y="1783080"/>
            <a:ext cx="5394600" cy="356580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868680" y="201168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map · 2 numbers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868680" y="2606040"/>
            <a:ext cx="4754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Delhi      (28.6, 77.2)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Gurugram   (28.4, 77.0)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Paris      (48.9,  2.4)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868680" y="402336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Delhi and Gurugram are close in the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numbers because they are close in reality.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6263640" y="1783080"/>
            <a:ext cx="5394600" cy="3565800"/>
          </a:xfrm>
          <a:prstGeom prst="roundRect">
            <a:avLst>
              <a:gd name="adj" fmla="val 2564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6583680" y="20116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An embedding · 384 numbers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6583680" y="2606040"/>
            <a:ext cx="48459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“machine learning”  →  ·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“deep learning”     →  ·   ← close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“cooking”           →        ·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6583680" y="402336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Same rule, 384 axes instead of 2 —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too many to draw, identical logic.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548640" y="55778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Close vectors  =  close meaning. That is the entire contract.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Which embedding model?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0"/>
          <p:cNvGraphicFramePr/>
          <p:nvPr/>
        </p:nvGraphicFramePr>
        <p:xfrm>
          <a:off x="548640" y="1691640"/>
          <a:ext cx="11091240" cy="3108600"/>
        </p:xfrm>
        <a:graphic>
          <a:graphicData uri="http://schemas.openxmlformats.org/drawingml/2006/table">
            <a:tbl>
              <a:tblPr/>
              <a:tblGrid>
                <a:gridCol w="3566160"/>
                <a:gridCol w="2743200"/>
                <a:gridCol w="2286000"/>
                <a:gridCol w="2496240"/>
              </a:tblGrid>
              <a:tr h="6217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Dimensions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Price / 1M tokens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When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217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891B2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all-MiniLM-L6-v2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384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free · local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 build with this today ✓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text-embedding-3-small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1536  (down to 256)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$0.02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hosted default — §5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text-embedding-3-large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3072  (shrinkable)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$0.13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better quality, bigger index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text-embedding-ada-002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1536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$0.10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old one — no reason now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Shape 1"/>
          <p:cNvSpPr/>
          <p:nvPr/>
        </p:nvSpPr>
        <p:spPr>
          <a:xfrm>
            <a:off x="548640" y="4709160"/>
            <a:ext cx="11091240" cy="105120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868680" y="4709160"/>
            <a:ext cx="1042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Local is free, hosted is nearly free: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MiniLM costs nothing and runs on the Colab CPU; at $0.02 per million tokens, the hosted model embeds a whole novel for under a rupee.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Cost is never the reason not to index.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Four rules you cannot break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548640" y="169164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548640" y="16916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1463040" y="1645920"/>
            <a:ext cx="4571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Same model on both sides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6126480" y="1645920"/>
            <a:ext cx="5851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documents and queries must share one coordinate space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548640" y="274320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548640" y="274320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1463040" y="2697480"/>
            <a:ext cx="4571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Change the model → re-embed everything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6126480" y="2697480"/>
            <a:ext cx="5851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old vectors are only meaningful in the space that made them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548640" y="379476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548640" y="37947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1463040" y="3749040"/>
            <a:ext cx="4571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Embedding models don't chat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6126480" y="3749040"/>
            <a:ext cx="5851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temperature, no answer — model.encode() returns numbers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548640" y="484632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548640" y="484632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463040" y="4800600"/>
            <a:ext cx="4571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Respect the input limit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6126480" y="4800600"/>
            <a:ext cx="5851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~8,191 tokens per call → longer text must be chunked (§4)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548640" y="5806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Rule 1 is the #1 real-world bug in this space — and it fails silently. No error, just nonsense.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embed 10,000 documents with one model, then embed queries with a different one. What happens?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dimension-mismatch error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Slightly worse results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Nonsense results — and no error at all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library converts between them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Measuring “close”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Cosine similarity — the angle, not the distance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548640" y="1463040"/>
            <a:ext cx="6583320" cy="2148480"/>
          </a:xfrm>
          <a:prstGeom prst="roundRect">
            <a:avLst>
              <a:gd name="adj" fmla="val 2553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804600" y="1645920"/>
            <a:ext cx="60714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sklearn.metrics.pairwise import cosine_similarity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similarity_matrix = cosine_similarity(embeddings)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 1.0 = same direction    0 = unrelated    −1 = opposite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8321040" y="1463040"/>
            <a:ext cx="3291480" cy="2148480"/>
          </a:xfrm>
          <a:prstGeom prst="roundRect">
            <a:avLst>
              <a:gd name="adj" fmla="val 4255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8549640" y="164592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one call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8549640" y="196596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whole matrix — every text vs every text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8549640" y="265176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the diagonal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8549640" y="29718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always 1.000 — each text vs itself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548640" y="3840480"/>
            <a:ext cx="11091240" cy="1828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868680" y="402336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Why the angle and not the distance?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868680" y="4480560"/>
            <a:ext cx="10423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Length tracks how long or emphatic the text is.  </a:t>
            </a: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Direction carries the meaning.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 “Great product” and a five-paragraph rave point the same way — cosine calls them near; distance would call them far apart.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Reading the numbers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48640" y="1234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Four sentences in, one similarity matrix out: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7" name="Table 0"/>
          <p:cNvGraphicFramePr/>
          <p:nvPr/>
        </p:nvGraphicFramePr>
        <p:xfrm>
          <a:off x="548640" y="1737360"/>
          <a:ext cx="11091240" cy="3108960"/>
        </p:xfrm>
        <a:graphic>
          <a:graphicData uri="http://schemas.openxmlformats.org/drawingml/2006/table">
            <a:tbl>
              <a:tblPr/>
              <a:tblGrid>
                <a:gridCol w="6035040"/>
                <a:gridCol w="2560320"/>
                <a:gridCol w="2496240"/>
              </a:tblGrid>
              <a:tr h="7772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Compared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Shared words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Cosine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“Machine learning is a branch of AI”  vs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“Deep learning uses neural networks”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almost none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 — same topic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“Machine learning…”  vs  “I love cooking Indian food”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near zero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“Machine learning…”  vs  “Cricket is popular in India”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near zero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Shape 2"/>
          <p:cNvSpPr/>
          <p:nvPr/>
        </p:nvSpPr>
        <p:spPr>
          <a:xfrm>
            <a:off x="548640" y="4709160"/>
            <a:ext cx="5394600" cy="137124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822960" y="48463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The win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822960" y="521208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ML/DL pair shares almost no words —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and still scores far above cooking and cricket.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6263640" y="4709160"/>
            <a:ext cx="5394600" cy="137124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6537960" y="48463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The trap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6537960" y="521208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These bands are model-specific. Never hard-code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“&gt; 0.8 means relevant.” Trust the ranking — take top-k.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Why cosine similarity rather than plain Euclidean distance?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Cosine is much faster to compute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Meaning is carried by direction; length mostly tracks text length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Euclidean distance doesn't work above 3 dimensions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Cosine works without embeddings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Cutting documents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Why you never embed a whole document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548640" y="164592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548640" y="164592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1463040" y="1600200"/>
            <a:ext cx="4023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One vector is one point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5577840" y="1600200"/>
            <a:ext cx="6400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it cannot represent a book that talks about forty things — the meaning averages into mush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548640" y="269748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"/>
          <p:cNvSpPr/>
          <p:nvPr/>
        </p:nvSpPr>
        <p:spPr>
          <a:xfrm>
            <a:off x="548640" y="26974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1463040" y="2651760"/>
            <a:ext cx="4023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You want the paragraph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5577840" y="2651760"/>
            <a:ext cx="6400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not the whole file — precision is the entire point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9"/>
          <p:cNvSpPr/>
          <p:nvPr/>
        </p:nvSpPr>
        <p:spPr>
          <a:xfrm>
            <a:off x="548640" y="374904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548640" y="374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1463040" y="3703320"/>
            <a:ext cx="4023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Cost + context window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5577840" y="3703320"/>
            <a:ext cx="6400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whatever you retrieve goes into a prompt later; retrieving 50 pages defeats the exercise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3"/>
          <p:cNvSpPr/>
          <p:nvPr/>
        </p:nvSpPr>
        <p:spPr>
          <a:xfrm>
            <a:off x="548640" y="480060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548640" y="480060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1463040" y="4754880"/>
            <a:ext cx="4023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hard input limit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5577840" y="4754880"/>
            <a:ext cx="6400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~8,191 tokens per embedding call — longer text simply won't go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7"/>
          <p:cNvSpPr/>
          <p:nvPr/>
        </p:nvSpPr>
        <p:spPr>
          <a:xfrm>
            <a:off x="548640" y="5577840"/>
            <a:ext cx="11091240" cy="658080"/>
          </a:xfrm>
          <a:prstGeom prst="roundRect">
            <a:avLst>
              <a:gd name="adj" fmla="val 13889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868680" y="557784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So: cut the document into chunks, and give every idea its own point in space.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Bad chunking, live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548640" y="1207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Hand-rolled chunker — slice every 200 characters: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548640" y="1691640"/>
            <a:ext cx="11091240" cy="169128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868680" y="18288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chunk 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2011680" y="1810440"/>
            <a:ext cx="9326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“… won the Women in Tech Leader award in 2022. Rahul Verma is the CT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868680" y="25146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chunk 3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2011680" y="2496240"/>
            <a:ext cx="9326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“O and co-founder. He graduated from BITS Pilani and previously worked …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2011680" y="2971800"/>
            <a:ext cx="932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It sliced CTO straight down the middle.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548640" y="3611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Ask “who is the CTO?” — the word CTO now exists in no chunk at all. One ends in “CT”, the next opens with a stray “O”.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>
            <a:off x="548640" y="4114800"/>
            <a:ext cx="11091240" cy="137124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868680" y="422460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Courier New"/>
                <a:ea typeface="Courier New"/>
              </a:rPr>
              <a:t>RecursiveCharacterTextSplitter(chunk_size=200, chunk_overlap=50)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868680" y="461772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“… award in 2022. Rahul Verma is the CTO and co-founder. He graduated from BITS Pilani …”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868680" y="502920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Breaks on paragraph → sentence → word. The fact survives whole. Nothing changed but the boundaries.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548640" y="5669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Bad chunking beats a good model. Pay for the best model on earth and still lose to sensible boundaries.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Strategies, sizes, and metadata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2" name="Table 0"/>
          <p:cNvGraphicFramePr/>
          <p:nvPr/>
        </p:nvGraphicFramePr>
        <p:xfrm>
          <a:off x="548640" y="1600200"/>
          <a:ext cx="11091240" cy="307188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  <a:gridCol w="3410640"/>
              </a:tblGrid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Strategy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How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Good for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Fixed-size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every N characters or tokens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prototypes — cuts sentences ✗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Sentence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split on sentence boundaries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short FAQ answers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Paragraph / heading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split on blank lines or headings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structured docs ✓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Recursive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paragraph → sentence → word until it fits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sensible default ✓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Semantic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cut where the meaning shifts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high-value corpora, slower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Shape 1"/>
          <p:cNvSpPr/>
          <p:nvPr/>
        </p:nvSpPr>
        <p:spPr>
          <a:xfrm>
            <a:off x="548640" y="470916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822960" y="4846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Size &amp; overlap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822960" y="52304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200–500 tokens (≈ 800–2,000 chars), 10–20% overlap.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Dense FAQ → smaller. Flowing prose → bigger.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6263640" y="4709160"/>
            <a:ext cx="5394600" cy="15998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6537960" y="4846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Store metadata from day one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6537960" y="523044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source · page · section · date → filter before searching,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and cite afterwards. Citations come from metadata, not memory.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is chunk overlap actually for?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 store each document twice as a backup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 a fact split at a boundary still survives whole inside one chunk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 make embedding calls cheaper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 speed up the search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Where vectors live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already have vector search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1207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 list of vectors plus a cosine loop is genuinely fine for a few thousand chunks. Here's what breaks: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1" name="Table 0"/>
          <p:cNvGraphicFramePr/>
          <p:nvPr/>
        </p:nvGraphicFramePr>
        <p:xfrm>
          <a:off x="548640" y="1691640"/>
          <a:ext cx="110912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25040"/>
              </a:tblGrid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Problem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With a numpy array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a vector DB gives you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Speed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compare against every vector — O(n)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 ANN index — ~100× faster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Persistence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restart = re-embed = re-pay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stored on disk, loads instantly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Filtering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your own loop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where={"year": 2026} before searching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Updates / deletes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rebuild the whole array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 / update / delete by id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Concurrency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real server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Shape 2"/>
          <p:cNvSpPr/>
          <p:nvPr/>
        </p:nvSpPr>
        <p:spPr>
          <a:xfrm>
            <a:off x="548640" y="4937760"/>
            <a:ext cx="11091240" cy="959760"/>
          </a:xfrm>
          <a:prstGeom prst="roundRect">
            <a:avLst>
              <a:gd name="adj" fmla="val 9524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868680" y="4937760"/>
            <a:ext cx="10423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Approximate is a feature: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exact search checks all 10 million vectors. ANN organises them so you check a few thousand — ~99% of the right answers in 1% of the time.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Chroma — in code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548640" y="1463040"/>
            <a:ext cx="7131960" cy="4205880"/>
          </a:xfrm>
          <a:prstGeom prst="roundRect">
            <a:avLst>
              <a:gd name="adj" fmla="val 1304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804600" y="1645920"/>
            <a:ext cx="66200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import chromadb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chroma_client = chromadb.Client()      # in-memory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collection = chroma_client.get_or_create_collection(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name="techsolutions")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collection.add(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ids=[f"chunk_{i}" for i in range(len(chunks))],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embeddings=model.encode(chunks).tolist(),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documents=chunks,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results = collection.query(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query_embeddings=model.encode(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["Who founded the company?"]).tolist(),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n_results=3,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results["documents"][0]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3"/>
          <p:cNvSpPr/>
          <p:nvPr/>
        </p:nvSpPr>
        <p:spPr>
          <a:xfrm>
            <a:off x="7955280" y="1463040"/>
            <a:ext cx="3657240" cy="42058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8183880" y="169164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Two things that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trip everyone up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8183880" y="260604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1.  Chroma returns </a:t>
            </a: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ourier New"/>
                <a:ea typeface="Courier New"/>
              </a:rPr>
              <a:t>distances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not similarities — </a:t>
            </a: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lower is better.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8183880" y="370332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2.  Results are </a:t>
            </a: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lists of lists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— query takes a batch. Index </a:t>
            </a: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ourier New"/>
                <a:ea typeface="Courier New"/>
              </a:rPr>
              <a:t>[0]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for your one query.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8183880" y="480060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3.  </a:t>
            </a:r>
            <a:r>
              <a:rPr lang="en-US" sz="1350" b="1" u="none" strike="noStrike">
                <a:solidFill>
                  <a:srgbClr val="B91C1C"/>
                </a:solidFill>
                <a:effectLst/>
                <a:uFillTx/>
                <a:latin typeface="Courier New"/>
                <a:ea typeface="Courier New"/>
              </a:rPr>
              <a:t>.tolist()</a:t>
            </a: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— encode() returns numpy; Chroma wants plain lists.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Which one in the real world?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7" name="Table 0"/>
          <p:cNvGraphicFramePr/>
          <p:nvPr/>
        </p:nvGraphicFramePr>
        <p:xfrm>
          <a:off x="548640" y="1600200"/>
          <a:ext cx="11091240" cy="34560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76400"/>
              </a:tblGrid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Tool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It is…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Reach for it when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Chroma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simple local vector DB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prototypes, demos, small apps ✓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FAISS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fast similarity library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 speed; you handle storage yourself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891B2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pgvector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Postgres extension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0891B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you already run Postgres ★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Pinecone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managed and hosted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production without an ops team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Qdrant · Weaviate · Milvus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production vector DBs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scale and control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6366F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Elasticsearch / OpenSearch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search engines with vectors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you need hybrid keyword + vector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Shape 1"/>
          <p:cNvSpPr/>
          <p:nvPr/>
        </p:nvSpPr>
        <p:spPr>
          <a:xfrm>
            <a:off x="548640" y="5166360"/>
            <a:ext cx="11091240" cy="1005480"/>
          </a:xfrm>
          <a:prstGeom prst="roundRect">
            <a:avLst>
              <a:gd name="adj" fmla="val 9091"/>
            </a:avLst>
          </a:prstGeom>
          <a:solidFill>
            <a:srgbClr val="EEF0FF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868680" y="5166360"/>
            <a:ext cx="10423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★ Next week you build a Postgres backend.  </a:t>
            </a:r>
            <a:r>
              <a:rPr lang="en-US" sz="14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pgvector means your embeddings can be a column in the same database as your users and orders — one DB, one backup, one connection, joins across both.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5,000 chunks, one user, a notebook. Do you need a vector database?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Yes — vector search doesn't work without one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— a numpy array is fine until you need persistence, filtering or scale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Yes, always, for anything using embeddings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Only if you use OpenAI embeddings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Put it together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search engine over a real document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"/>
          <p:cNvSpPr/>
          <p:nvPr/>
        </p:nvSpPr>
        <p:spPr>
          <a:xfrm>
            <a:off x="548640" y="1463040"/>
            <a:ext cx="6949080" cy="2285640"/>
          </a:xfrm>
          <a:prstGeom prst="roundRect">
            <a:avLst>
              <a:gd name="adj" fmla="val 2400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804600" y="1645920"/>
            <a:ext cx="64371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INDEX  (once, offline)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chunks = splitter.split_text(company_info)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collection.add(ids=…, documents=chunks,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      embeddings=model.encode(chunks).tolist())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SEARCH (every request)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results = collection.query(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query_embeddings=model.encode([question]).tolist(), n_results=3)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7772400" y="1463040"/>
            <a:ext cx="3840120" cy="22856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8046720" y="164592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Ask it anything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8046720" y="2057400"/>
            <a:ext cx="33829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“Who are the big customers?”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  → the doc says “clients”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“work from home policy”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  → the doc says “remote”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548640" y="39319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None of those queries use the document's words — the right chunk comes back anyway.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548640" y="4434840"/>
            <a:ext cx="11091240" cy="137124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868680" y="4434840"/>
            <a:ext cx="10423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Now break it on purpose: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ask something the document never mentions — “what is the hostel fee?” — and it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still confidently returns three chunks.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 Similarity search always returns its top-k. It has no idea when nothing is relevant.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RAG in five lines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"/>
          <p:cNvSpPr/>
          <p:nvPr/>
        </p:nvSpPr>
        <p:spPr>
          <a:xfrm>
            <a:off x="548640" y="1417320"/>
            <a:ext cx="7223400" cy="3565800"/>
          </a:xfrm>
          <a:prstGeom prst="roundRect">
            <a:avLst>
              <a:gd name="adj" fmla="val 1538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"/>
          <p:cNvSpPr/>
          <p:nvPr/>
        </p:nvSpPr>
        <p:spPr>
          <a:xfrm>
            <a:off x="804600" y="1600200"/>
            <a:ext cx="6711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litellm import completion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context = "\n\n".join(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search(question, n_results=3)["documents"][0])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answer = completion(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model="gpt-4o-mini",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messages=[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{"role": "system", "content":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"Answer using ONLY the context below. "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"If it isn't there, say you don't know.\n\n" + context},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{"role": "user", "content": question},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],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temperature=0,      # reading, not inventing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"/>
          <p:cNvSpPr/>
          <p:nvPr/>
        </p:nvSpPr>
        <p:spPr>
          <a:xfrm>
            <a:off x="8046720" y="155448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8046720" y="15544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8732520" y="1508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Retrieval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8732520" y="18561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find the right chunks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everything you built today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7"/>
          <p:cNvSpPr/>
          <p:nvPr/>
        </p:nvSpPr>
        <p:spPr>
          <a:xfrm>
            <a:off x="8046720" y="274320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8"/>
          <p:cNvSpPr/>
          <p:nvPr/>
        </p:nvSpPr>
        <p:spPr>
          <a:xfrm>
            <a:off x="8046720" y="27432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9"/>
          <p:cNvSpPr/>
          <p:nvPr/>
        </p:nvSpPr>
        <p:spPr>
          <a:xfrm>
            <a:off x="8732520" y="2697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Augmented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8732520" y="304488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put them in the prompt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one join()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1"/>
          <p:cNvSpPr/>
          <p:nvPr/>
        </p:nvSpPr>
        <p:spPr>
          <a:xfrm>
            <a:off x="8046720" y="3931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2"/>
          <p:cNvSpPr/>
          <p:nvPr/>
        </p:nvSpPr>
        <p:spPr>
          <a:xfrm>
            <a:off x="8046720" y="3931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3"/>
          <p:cNvSpPr/>
          <p:nvPr/>
        </p:nvSpPr>
        <p:spPr>
          <a:xfrm>
            <a:off x="8732520" y="3886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Generation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4"/>
          <p:cNvSpPr/>
          <p:nvPr/>
        </p:nvSpPr>
        <p:spPr>
          <a:xfrm>
            <a:off x="8732520" y="423360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 model answers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an ordinary chat call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5"/>
          <p:cNvSpPr/>
          <p:nvPr/>
        </p:nvSpPr>
        <p:spPr>
          <a:xfrm>
            <a:off x="548640" y="521208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6"/>
          <p:cNvSpPr/>
          <p:nvPr/>
        </p:nvSpPr>
        <p:spPr>
          <a:xfrm>
            <a:off x="868680" y="521208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Why this kills hallucination: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before, the model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recalled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from training and invented details. Here it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reads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text you handed it a millisecond ago.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Five lines is a demo. Tomorrow is the product.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"/>
          <p:cNvSpPr/>
          <p:nvPr/>
        </p:nvSpPr>
        <p:spPr>
          <a:xfrm>
            <a:off x="548640" y="169164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"/>
          <p:cNvSpPr/>
          <p:nvPr/>
        </p:nvSpPr>
        <p:spPr>
          <a:xfrm>
            <a:off x="548640" y="16916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1463040" y="1645920"/>
            <a:ext cx="3291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“I don't know”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"/>
          <p:cNvSpPr/>
          <p:nvPr/>
        </p:nvSpPr>
        <p:spPr>
          <a:xfrm>
            <a:off x="4892040" y="1645920"/>
            <a:ext cx="7040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make it refuse when retrieval came back with nothing relevant — today it will happily answer anyway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548640" y="274320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548640" y="274320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1463040" y="2697480"/>
            <a:ext cx="3291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Citations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8"/>
          <p:cNvSpPr/>
          <p:nvPr/>
        </p:nvSpPr>
        <p:spPr>
          <a:xfrm>
            <a:off x="4892040" y="2697480"/>
            <a:ext cx="7040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“Policy v3, page 12” — straight from the metadata you stored with each chunk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9"/>
          <p:cNvSpPr/>
          <p:nvPr/>
        </p:nvSpPr>
        <p:spPr>
          <a:xfrm>
            <a:off x="548640" y="379476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0"/>
          <p:cNvSpPr/>
          <p:nvPr/>
        </p:nvSpPr>
        <p:spPr>
          <a:xfrm>
            <a:off x="548640" y="37947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1"/>
          <p:cNvSpPr/>
          <p:nvPr/>
        </p:nvSpPr>
        <p:spPr>
          <a:xfrm>
            <a:off x="1463040" y="3749040"/>
            <a:ext cx="3291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When retrieval fails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2"/>
          <p:cNvSpPr/>
          <p:nvPr/>
        </p:nvSpPr>
        <p:spPr>
          <a:xfrm>
            <a:off x="4892040" y="3749040"/>
            <a:ext cx="7040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top-3 are junk. Rewrite the query, re-rank, widen k, or fall back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3"/>
          <p:cNvSpPr/>
          <p:nvPr/>
        </p:nvSpPr>
        <p:spPr>
          <a:xfrm>
            <a:off x="548640" y="4846320"/>
            <a:ext cx="658080" cy="6580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4"/>
          <p:cNvSpPr/>
          <p:nvPr/>
        </p:nvSpPr>
        <p:spPr>
          <a:xfrm>
            <a:off x="548640" y="484632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5"/>
          <p:cNvSpPr/>
          <p:nvPr/>
        </p:nvSpPr>
        <p:spPr>
          <a:xfrm>
            <a:off x="1463040" y="4800600"/>
            <a:ext cx="3291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Does it actually work?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6"/>
          <p:cNvSpPr/>
          <p:nvPr/>
        </p:nvSpPr>
        <p:spPr>
          <a:xfrm>
            <a:off x="4892040" y="4800600"/>
            <a:ext cx="7040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measure it: 20 real questions, count how often the right chunk lands in the top 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7"/>
          <p:cNvSpPr/>
          <p:nvPr/>
        </p:nvSpPr>
        <p:spPr>
          <a:xfrm>
            <a:off x="548640" y="5623560"/>
            <a:ext cx="11091240" cy="68544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8"/>
          <p:cNvSpPr/>
          <p:nvPr/>
        </p:nvSpPr>
        <p:spPr>
          <a:xfrm>
            <a:off x="868680" y="5623560"/>
            <a:ext cx="10423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Retrieval was the hard 90%. You built it today.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"/>
          <p:cNvSpPr/>
          <p:nvPr/>
        </p:nvSpPr>
        <p:spPr>
          <a:xfrm>
            <a:off x="548640" y="1645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"/>
          <p:cNvSpPr/>
          <p:nvPr/>
        </p:nvSpPr>
        <p:spPr>
          <a:xfrm>
            <a:off x="548640" y="1645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"/>
          <p:cNvSpPr/>
          <p:nvPr/>
        </p:nvSpPr>
        <p:spPr>
          <a:xfrm>
            <a:off x="1417320" y="164592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 embedding turns text into a fixed-length list of numbers — close vectors mean close meaning.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548640" y="260604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5"/>
          <p:cNvSpPr/>
          <p:nvPr/>
        </p:nvSpPr>
        <p:spPr>
          <a:xfrm>
            <a:off x="548640" y="26060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1417320" y="26060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Cosine similarity scores the angle; trust the ranking and take top-k, never a hard threshold.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"/>
          <p:cNvSpPr/>
          <p:nvPr/>
        </p:nvSpPr>
        <p:spPr>
          <a:xfrm>
            <a:off x="548640" y="356616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548640" y="356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1417320" y="356616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Chunk with overlap, store metadata — bad boundaries destroy facts no model can recover.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0"/>
          <p:cNvSpPr/>
          <p:nvPr/>
        </p:nvSpPr>
        <p:spPr>
          <a:xfrm>
            <a:off x="548640" y="452628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1"/>
          <p:cNvSpPr/>
          <p:nvPr/>
        </p:nvSpPr>
        <p:spPr>
          <a:xfrm>
            <a:off x="548640" y="4526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1417320" y="45262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vector DB buys speed, persistence and filtering; search always returns k results, even when nothing fits.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3"/>
          <p:cNvSpPr/>
          <p:nvPr/>
        </p:nvSpPr>
        <p:spPr>
          <a:xfrm>
            <a:off x="548640" y="5349240"/>
            <a:ext cx="11091240" cy="712800"/>
          </a:xfrm>
          <a:prstGeom prst="roundRect">
            <a:avLst>
              <a:gd name="adj" fmla="val 12821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4"/>
          <p:cNvSpPr/>
          <p:nvPr/>
        </p:nvSpPr>
        <p:spPr>
          <a:xfrm>
            <a:off x="868680" y="5349240"/>
            <a:ext cx="10423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One rule above all:  </a:t>
            </a: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same embedding model on both sides — documents and queries. It fails silently otherwise.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5"/>
          <p:cNvSpPr/>
          <p:nvPr/>
        </p:nvSpPr>
        <p:spPr>
          <a:xfrm>
            <a:off x="548640" y="61448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Notebook §10 exercises + homework are in the run book. Next: Day 4 — RAG end-to-end.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6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7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2026-07-29T01:10:33Z</dcterms:created>
  <dc:creator>Bhupendra Dahal</dc:creator>
  <dc:description/>
  <dc:language>en-IN</dc:language>
  <cp:lastModifiedBy>Bhupendra Dahal</cp:lastModifiedBy>
  <dcterms:modified xsi:type="dcterms:W3CDTF">2026-07-29T01:10:33Z</dcterms:modified>
  <cp:revision>1</cp:revision>
  <dc:subject>PptxGenJS Presentation</dc:subject>
  <dc:title>Generative AI — Day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33</vt:r8>
  </property>
  <property fmtid="{D5CDD505-2E9C-101B-9397-08002B2CF9AE}" pid="3" name="PresentationFormat">
    <vt:lpwstr>On-screen Show (16:9)</vt:lpwstr>
  </property>
  <property fmtid="{D5CDD505-2E9C-101B-9397-08002B2CF9AE}" pid="4" name="Slides">
    <vt:r8>33</vt:r8>
  </property>
</Properties>
</file>