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6.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s/slide22.xml" ContentType="application/vnd.openxmlformats-officedocument.presentationml.slide+xml"/>
  <Override PartName="/ppt/slides/slide3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7.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9.xml" ContentType="application/vnd.openxmlformats-officedocument.presentationml.slide+xml"/>
  <Override PartName="/ppt/slides/slide32.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8.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24.xml" ContentType="application/vnd.openxmlformats-officedocument.presentationml.notesSlide+xml"/>
  <Override PartName="/ppt/notesSlides/notesSlide30.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32.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25.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3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IN" sz="1800" b="0" u="none" strike="noStrike">
                <a:solidFill>
                  <a:schemeClr val="dk1"/>
                </a:solidFill>
                <a:effectLst/>
                <a:uFillTx/>
                <a:latin typeface="Calibri"/>
              </a:rPr>
              <a:t>Click to move the slide</a:t>
            </a:r>
            <a:endParaRPr lang="en-IN"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CA3E01A0-5B7E-40EB-A20E-9B0DADFE942F}"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6040" cy="3085920"/>
          </a:xfrm>
          <a:prstGeom prst="rect">
            <a:avLst/>
          </a:prstGeom>
          <a:ln w="0">
            <a:noFill/>
          </a:ln>
        </p:spPr>
      </p:sp>
      <p:sp>
        <p:nvSpPr>
          <p:cNvPr id="3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Welcome back. One line to set the arc: yesterday we got a model to ANSWER; today we make it answer reliably (advanced prompting), in a shape our code can trust (structured outputs), and let it DO things (tools). Everything today feeds Day 4 (RAG) and Day 5 (agents).</a:t>
            </a:r>
            <a:endParaRPr lang="en-IN" sz="2000" b="0" u="none" strike="noStrike">
              <a:solidFill>
                <a:srgbClr val="000000"/>
              </a:solidFill>
              <a:effectLst/>
              <a:uFillTx/>
              <a:latin typeface="Arial"/>
            </a:endParaRPr>
          </a:p>
        </p:txBody>
      </p:sp>
      <p:sp>
        <p:nvSpPr>
          <p:cNvPr id="359"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B9110A-C11F-4937-BF7C-E43F9C263B9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6040" cy="3085920"/>
          </a:xfrm>
          <a:prstGeom prst="rect">
            <a:avLst/>
          </a:prstGeom>
          <a:ln w="0">
            <a:noFill/>
          </a:ln>
        </p:spPr>
      </p:sp>
      <p:sp>
        <p:nvSpPr>
          <p:cNvPr id="3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Think-pair-share (1 min). Let answers surface, then name the three gaps — they ARE today's three sections: (1) no LIVE DATA — it can't see order A123 -&gt; tools/function calling; (2) your code needs a GUARANTEED SHAPE to act on -&gt; structured outputs; (3) it must REASON reliably ('is 3 days late enough?') -&gt; advanced prompting. Punch line: 'yesterday it talked; today it acts.'</a:t>
            </a:r>
            <a:endParaRPr lang="en-IN" sz="2000" b="0" u="none" strike="noStrike">
              <a:solidFill>
                <a:srgbClr val="000000"/>
              </a:solidFill>
              <a:effectLst/>
              <a:uFillTx/>
              <a:latin typeface="Arial"/>
            </a:endParaRPr>
          </a:p>
        </p:txBody>
      </p:sp>
      <p:sp>
        <p:nvSpPr>
          <p:cNvPr id="362"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2364F82-48EA-42E8-AC8A-C722D396251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6040" cy="3085920"/>
          </a:xfrm>
          <a:prstGeom prst="rect">
            <a:avLst/>
          </a:prstGeom>
          <a:ln w="0">
            <a:noFill/>
          </a:ln>
        </p:spPr>
      </p:sp>
      <p:sp>
        <p:nvSpPr>
          <p:cNvPr id="3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map of the whole day. Each gap in the Day-1 bot becomes one of today's sections. Keep pointing back here as you finish each section so they see the bot getting more capable. By the end, the bot in the hook can actually be built.</a:t>
            </a:r>
            <a:endParaRPr lang="en-IN" sz="2000" b="0" u="none" strike="noStrike">
              <a:solidFill>
                <a:srgbClr val="000000"/>
              </a:solidFill>
              <a:effectLst/>
              <a:uFillTx/>
              <a:latin typeface="Arial"/>
            </a:endParaRPr>
          </a:p>
        </p:txBody>
      </p:sp>
      <p:sp>
        <p:nvSpPr>
          <p:cNvPr id="365"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1739A5-7CA1-4D63-AD37-8C293B99BA5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knobs on every call. temperature and top_p both control randomness — tune ONE, not both. max_tokens caps output length (finish_reason='length' when it hits); newer/reasoning models rename it max_completion_tokens. Penalties (−2..2) cut repetition / push new topics. top_k is real but OpenAI doesn't expose it — Gemini and Claude do. Teach this live from notebook §2: change a value, re-run. Mention stop and seed exist too.</a:t>
            </a:r>
            <a:endParaRPr lang="en-IN" sz="2000" b="0" u="none" strike="noStrike">
              <a:solidFill>
                <a:srgbClr val="000000"/>
              </a:solidFill>
              <a:effectLst/>
              <a:uFillTx/>
              <a:latin typeface="Arial"/>
            </a:endParaRPr>
          </a:p>
        </p:txBody>
      </p:sp>
      <p:sp>
        <p:nvSpPr>
          <p:cNvPr id="368"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7F4CDC1-3741-4B75-9CA2-70E62274848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Streaming = set stream=True and iterate the chunks; each chunk carries a 'delta' (the next bit of text). Accumulate into result and yield it — the UI shows it growing. Why it matters: same total time, but the user starts reading immediately, so it FEELS fast. The yield generator is exactly what Gradio's ChatInterface consumes (companion notebook). Teach this from notebook §2b (the ⚡ Streaming section).</a:t>
            </a:r>
            <a:endParaRPr lang="en-IN" sz="2000" b="0" u="none" strike="noStrike">
              <a:solidFill>
                <a:srgbClr val="000000"/>
              </a:solidFill>
              <a:effectLst/>
              <a:uFillTx/>
              <a:latin typeface="Arial"/>
            </a:endParaRPr>
          </a:p>
        </p:txBody>
      </p:sp>
      <p:sp>
        <p:nvSpPr>
          <p:cNvPr id="371"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B6EF0B5-297F-4D1F-A8E1-A59C4D485FB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Few-shot prompting: the cheapest way to teach a model a new task — show it, don't just tell it. This is in-context learning.</a:t>
            </a:r>
            <a:endParaRPr lang="en-IN" sz="2000" b="0" u="none" strike="noStrike">
              <a:solidFill>
                <a:srgbClr val="000000"/>
              </a:solidFill>
              <a:effectLst/>
              <a:uFillTx/>
              <a:latin typeface="Arial"/>
            </a:endParaRPr>
          </a:p>
        </p:txBody>
      </p:sp>
      <p:sp>
        <p:nvSpPr>
          <p:cNvPr id="374"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81D43D-3A3D-4A1E-8EF7-FF3C1E360FB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Define both plainly: zero-shot = tell, few-shot = show. The term to give them: 'in-context learning' — the model learns the task from the examples in the prompt itself. No fine-tuning, no training run. Next slide makes the difference visible.</a:t>
            </a:r>
            <a:endParaRPr lang="en-IN" sz="2000" b="0" u="none" strike="noStrike">
              <a:solidFill>
                <a:srgbClr val="000000"/>
              </a:solidFill>
              <a:effectLst/>
              <a:uFillTx/>
              <a:latin typeface="Arial"/>
            </a:endParaRPr>
          </a:p>
        </p:txBody>
      </p:sp>
      <p:sp>
        <p:nvSpPr>
          <p:cNvPr id="377"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A44BD3-417E-4D49-99AE-F060FAE5BC29}"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6040" cy="308592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'aha': with zero-shot the model invents its own labels or writes a sentence — useless to your code. Add three examples and it returns EXACTLY one of your labels. Run this live in the notebook if time. Tie forward: 'we'll then GUARANTEE that label with an enum in section 3.'</a:t>
            </a:r>
            <a:endParaRPr lang="en-IN" sz="2000" b="0" u="none" strike="noStrike">
              <a:solidFill>
                <a:srgbClr val="000000"/>
              </a:solidFill>
              <a:effectLst/>
              <a:uFillTx/>
              <a:latin typeface="Arial"/>
            </a:endParaRPr>
          </a:p>
        </p:txBody>
      </p:sp>
      <p:sp>
        <p:nvSpPr>
          <p:cNvPr id="380"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4BA1464-736C-468F-933D-D60CE69E921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6040" cy="308592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Few-shot is the cheapest 'fine-tuning' — reach for it before real training. But the traps are real: if all 3 examples are 'spam', it over-predicts spam. Keep labels balanced, keep the format identical to what you want back, and remember each example rides along on every call (cost).</a:t>
            </a:r>
            <a:endParaRPr lang="en-IN" sz="2000" b="0" u="none" strike="noStrike">
              <a:solidFill>
                <a:srgbClr val="000000"/>
              </a:solidFill>
              <a:effectLst/>
              <a:uFillTx/>
              <a:latin typeface="Arial"/>
            </a:endParaRPr>
          </a:p>
        </p:txBody>
      </p:sp>
      <p:sp>
        <p:nvSpPr>
          <p:cNvPr id="383"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FFF19D-2A5A-4FC6-BBC4-75E996575C6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6040" cy="308592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few-shot shines for custom labels/format/tone and 'show-don't-tell' tasks. Why not the others: it makes prompts LONGER not shorter (A) and costs MORE tokens (D); live data needs tools, not examples (C). Discussion: 'what's a task in your capstone you'd teach with 3 examples?'</a:t>
            </a:r>
            <a:endParaRPr lang="en-IN" sz="2000" b="0" u="none" strike="noStrike">
              <a:solidFill>
                <a:srgbClr val="000000"/>
              </a:solidFill>
              <a:effectLst/>
              <a:uFillTx/>
              <a:latin typeface="Arial"/>
            </a:endParaRPr>
          </a:p>
        </p:txBody>
      </p:sp>
      <p:sp>
        <p:nvSpPr>
          <p:cNvPr id="386"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DC77B79-6729-4F8F-BC15-105946954B6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685800" y="1143000"/>
            <a:ext cx="5486040" cy="3085920"/>
          </a:xfrm>
          <a:prstGeom prst="rect">
            <a:avLst/>
          </a:prstGeom>
          <a:ln w="0">
            <a:noFill/>
          </a:ln>
        </p:spPr>
      </p:sp>
      <p:sp>
        <p:nvSpPr>
          <p:cNvPr id="3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Chain-of-thought: give the model room to work through steps and accuracy jumps. Plus reasoning models — thinking built in.</a:t>
            </a:r>
            <a:endParaRPr lang="en-IN" sz="2000" b="0" u="none" strike="noStrike">
              <a:solidFill>
                <a:srgbClr val="000000"/>
              </a:solidFill>
              <a:effectLst/>
              <a:uFillTx/>
              <a:latin typeface="Arial"/>
            </a:endParaRPr>
          </a:p>
        </p:txBody>
      </p:sp>
      <p:sp>
        <p:nvSpPr>
          <p:cNvPr id="389"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DAD9915-751C-4A04-BF7A-F1260FD8C14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685800" y="1143000"/>
            <a:ext cx="5486040" cy="3085920"/>
          </a:xfrm>
          <a:prstGeom prst="rect">
            <a:avLst/>
          </a:prstGeom>
          <a:ln w="0">
            <a:noFill/>
          </a:ln>
        </p:spPr>
      </p:sp>
      <p:sp>
        <p:nvSpPr>
          <p:cNvPr id="3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Run it live — the answer-only version often trips on the 'sold half'. Adding 'let's think step by step' (zero-shot CoT) fixes it. The mechanism to convey: writing the steps gives the model space to compute rather than pattern-match a final number. Mention few-shot CoT: examples that show the reasoning, not just the answer.</a:t>
            </a:r>
            <a:endParaRPr lang="en-IN" sz="2000" b="0" u="none" strike="noStrike">
              <a:solidFill>
                <a:srgbClr val="000000"/>
              </a:solidFill>
              <a:effectLst/>
              <a:uFillTx/>
              <a:latin typeface="Arial"/>
            </a:endParaRPr>
          </a:p>
        </p:txBody>
      </p:sp>
      <p:sp>
        <p:nvSpPr>
          <p:cNvPr id="392"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4FB1A9-4F9D-41B0-9197-889F3B72A00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685800" y="1143000"/>
            <a:ext cx="5486040" cy="3085920"/>
          </a:xfrm>
          <a:prstGeom prst="rect">
            <a:avLst/>
          </a:prstGeom>
          <a:ln w="0">
            <a:noFill/>
          </a:ln>
        </p:spPr>
      </p:sp>
      <p:sp>
        <p:nvSpPr>
          <p:cNvPr id="3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 reasoning model = chain-of-thought built into the model and often hidden. You don't prompt the steps; you turn a knob (effort/budget) for harder problems. Key caution: reasoning ≠ knowledge — a long think on 'what happened yesterday' just produces a more elaborate wrong answer. That gap is the motivation for RAG on Day 4. ⚠️ Verify exact model IDs on the day.</a:t>
            </a:r>
            <a:endParaRPr lang="en-IN" sz="2000" b="0" u="none" strike="noStrike">
              <a:solidFill>
                <a:srgbClr val="000000"/>
              </a:solidFill>
              <a:effectLst/>
              <a:uFillTx/>
              <a:latin typeface="Arial"/>
            </a:endParaRPr>
          </a:p>
        </p:txBody>
      </p:sp>
      <p:sp>
        <p:nvSpPr>
          <p:cNvPr id="395"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BCC4A3A-00C3-481A-86B1-1692FBEAA1C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685800" y="1143000"/>
            <a:ext cx="5486040" cy="3085920"/>
          </a:xfrm>
          <a:prstGeom prst="rect">
            <a:avLst/>
          </a:prstGeom>
          <a:ln w="0">
            <a:noFill/>
          </a:ln>
        </p:spPr>
      </p:sp>
      <p:sp>
        <p:nvSpPr>
          <p:cNvPr id="3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reasoning models already think internally; pasting 'think step by step' is redundant and can even hurt. You steer them with a reasoning-effort knob instead. Discussion: 'name a task worth the extra reasoning cost — and one that isn't.'</a:t>
            </a:r>
            <a:endParaRPr lang="en-IN" sz="2000" b="0" u="none" strike="noStrike">
              <a:solidFill>
                <a:srgbClr val="000000"/>
              </a:solidFill>
              <a:effectLst/>
              <a:uFillTx/>
              <a:latin typeface="Arial"/>
            </a:endParaRPr>
          </a:p>
        </p:txBody>
      </p:sp>
      <p:sp>
        <p:nvSpPr>
          <p:cNvPr id="398"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57F48D7-1EF4-4DD5-81EF-3D34BB29EB1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685800" y="1143000"/>
            <a:ext cx="5486040" cy="3085920"/>
          </a:xfrm>
          <a:prstGeom prst="rect">
            <a:avLst/>
          </a:prstGeom>
          <a:ln w="0">
            <a:noFill/>
          </a:ln>
        </p:spPr>
      </p:sp>
      <p:sp>
        <p:nvSpPr>
          <p:cNvPr id="4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From 'please return JSON' (hope) to Structured Outputs (guarantee): a typed object your code can act on, every time.</a:t>
            </a:r>
            <a:endParaRPr lang="en-IN" sz="2000" b="0" u="none" strike="noStrike">
              <a:solidFill>
                <a:srgbClr val="000000"/>
              </a:solidFill>
              <a:effectLst/>
              <a:uFillTx/>
              <a:latin typeface="Arial"/>
            </a:endParaRPr>
          </a:p>
        </p:txBody>
      </p:sp>
      <p:sp>
        <p:nvSpPr>
          <p:cNvPr id="401"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8D425D2-D079-44D3-829D-B1FC7ECB0A82}"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6040" cy="3085920"/>
          </a:xfrm>
          <a:prstGeom prst="rect">
            <a:avLst/>
          </a:prstGeom>
          <a:ln w="0">
            <a:noFill/>
          </a:ln>
        </p:spPr>
      </p:sp>
      <p:sp>
        <p:nvSpPr>
          <p:cNvPr id="4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Day 1 asked for JSON and validated — good, but 'looks like JSON' still fails sometimes (missing field, wrong type) and you retry. Structured Outputs constrains the generation itself to your schema, so the shape is guaranteed. Fewer retries, no defensive parsing. Code next.</a:t>
            </a:r>
            <a:endParaRPr lang="en-IN" sz="2000" b="0" u="none" strike="noStrike">
              <a:solidFill>
                <a:srgbClr val="000000"/>
              </a:solidFill>
              <a:effectLst/>
              <a:uFillTx/>
              <a:latin typeface="Arial"/>
            </a:endParaRPr>
          </a:p>
        </p:txBody>
      </p:sp>
      <p:sp>
        <p:nvSpPr>
          <p:cNvPr id="404"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1B8D471-D839-42E4-BB90-5DCE3611B4F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685800" y="1143000"/>
            <a:ext cx="5486040" cy="3085920"/>
          </a:xfrm>
          <a:prstGeom prst="rect">
            <a:avLst/>
          </a:prstGeom>
          <a:ln w="0">
            <a:noFill/>
          </a:ln>
        </p:spPr>
      </p:sp>
      <p:sp>
        <p:nvSpPr>
          <p:cNvPr id="4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Two changes from Day 1: call .parse() and pass the Pydantic CLASS as response_format. You read .parsed and get a real Recipe object — no model_validate_json, no try/except. Emphasize: this is the contract between the messy LLM and a reliable backend/database.</a:t>
            </a:r>
            <a:endParaRPr lang="en-IN" sz="2000" b="0" u="none" strike="noStrike">
              <a:solidFill>
                <a:srgbClr val="000000"/>
              </a:solidFill>
              <a:effectLst/>
              <a:uFillTx/>
              <a:latin typeface="Arial"/>
            </a:endParaRPr>
          </a:p>
        </p:txBody>
      </p:sp>
      <p:sp>
        <p:nvSpPr>
          <p:cNvPr id="407"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E0BC8AD-685D-455F-803B-F1D69173715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6040" cy="3085920"/>
          </a:xfrm>
          <a:prstGeom prst="rect">
            <a:avLst/>
          </a:prstGeom>
          <a:ln w="0">
            <a:noFill/>
          </a:ln>
        </p:spPr>
      </p:sp>
      <p:sp>
        <p:nvSpPr>
          <p:cNvPr id="4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Callback to section 1: few-shot taught the label set; an Enum ENFORCES it. The type system makes an invalid label impossible — not 'unlikely', impossible. This is why structured output + enums is how GenAI plugs into real systems (statuses, priorities, categories go straight into columns).</a:t>
            </a:r>
            <a:endParaRPr lang="en-IN" sz="2000" b="0" u="none" strike="noStrike">
              <a:solidFill>
                <a:srgbClr val="000000"/>
              </a:solidFill>
              <a:effectLst/>
              <a:uFillTx/>
              <a:latin typeface="Arial"/>
            </a:endParaRPr>
          </a:p>
        </p:txBody>
      </p:sp>
      <p:sp>
        <p:nvSpPr>
          <p:cNvPr id="410"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4AF0D7E-ECBA-4D46-A1A6-E8BBAE3A92B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6040" cy="3085920"/>
          </a:xfrm>
          <a:prstGeom prst="rect">
            <a:avLst/>
          </a:prstGeom>
          <a:ln w="0">
            <a:noFill/>
          </a:ln>
        </p:spPr>
      </p:sp>
      <p:sp>
        <p:nvSpPr>
          <p:cNvPr id="4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Structured Outputs constrains generation to your exact schema (fields + types guaranteed); 'ask for JSON' only makes it look right and can still fail. It's about reliability, not speed (A). Discussion: 'what should your code do today when a field is missing — and how does this remove that?'</a:t>
            </a:r>
            <a:endParaRPr lang="en-IN" sz="2000" b="0" u="none" strike="noStrike">
              <a:solidFill>
                <a:srgbClr val="000000"/>
              </a:solidFill>
              <a:effectLst/>
              <a:uFillTx/>
              <a:latin typeface="Arial"/>
            </a:endParaRPr>
          </a:p>
        </p:txBody>
      </p:sp>
      <p:sp>
        <p:nvSpPr>
          <p:cNvPr id="413"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6CB77FC-E721-490E-A24F-46B2D7A1B726}"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6040" cy="3085920"/>
          </a:xfrm>
          <a:prstGeom prst="rect">
            <a:avLst/>
          </a:prstGeom>
          <a:ln w="0">
            <a:noFill/>
          </a:ln>
        </p:spPr>
      </p:sp>
      <p:sp>
        <p:nvSpPr>
          <p:cNvPr id="4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Function calling — the model's hands. It can't do math or see your data, so you give it tools it can request. This is the day's centerpiece.</a:t>
            </a:r>
            <a:endParaRPr lang="en-IN" sz="2000" b="0" u="none" strike="noStrike">
              <a:solidFill>
                <a:srgbClr val="000000"/>
              </a:solidFill>
              <a:effectLst/>
              <a:uFillTx/>
              <a:latin typeface="Arial"/>
            </a:endParaRPr>
          </a:p>
        </p:txBody>
      </p:sp>
      <p:sp>
        <p:nvSpPr>
          <p:cNvPr id="416"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4B82A0E-617C-48B9-B111-D7BA48D736B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6040" cy="3085920"/>
          </a:xfrm>
          <a:prstGeom prst="rect">
            <a:avLst/>
          </a:prstGeom>
          <a:ln w="0">
            <a:noFill/>
          </a:ln>
        </p:spPr>
      </p:sp>
      <p:sp>
        <p:nvSpPr>
          <p:cNvPr id="4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Anchor on Day 1: instead of admitting it can't, the model hallucinates. Tools fix that. The single most important idea on this slide: the model NEVER runs your code — it just asks 'please call calculator(a=47853, b=1942, op=mul)'. You decide whether and how to run it. That boundary is what makes tools safe to use.</a:t>
            </a:r>
            <a:endParaRPr lang="en-IN" sz="2000" b="0" u="none" strike="noStrike">
              <a:solidFill>
                <a:srgbClr val="000000"/>
              </a:solidFill>
              <a:effectLst/>
              <a:uFillTx/>
              <a:latin typeface="Arial"/>
            </a:endParaRPr>
          </a:p>
        </p:txBody>
      </p:sp>
      <p:sp>
        <p:nvSpPr>
          <p:cNvPr id="419"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CF597D-50BF-4C37-94DB-53686AB40673}"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6040" cy="3085920"/>
          </a:xfrm>
          <a:prstGeom prst="rect">
            <a:avLst/>
          </a:prstGeom>
          <a:ln w="0">
            <a:noFill/>
          </a:ln>
        </p:spPr>
      </p:sp>
      <p:sp>
        <p:nvSpPr>
          <p:cNvPr id="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Draw this loop on the board and keep it up for the code slides. The mental model: the model pauses, asks for a tool, you fill in the real-world answer, it resumes. Steps 2–4 can loop several times (multi-step). This exact loop, generalized, is an agent (section 6).</a:t>
            </a:r>
            <a:endParaRPr lang="en-IN" sz="2000" b="0" u="none" strike="noStrike">
              <a:solidFill>
                <a:srgbClr val="000000"/>
              </a:solidFill>
              <a:effectLst/>
              <a:uFillTx/>
              <a:latin typeface="Arial"/>
            </a:endParaRPr>
          </a:p>
        </p:txBody>
      </p:sp>
      <p:sp>
        <p:nvSpPr>
          <p:cNvPr id="422"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25BAB1-BDE7-44E9-81C9-1C23C2916FA7}"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6040" cy="3085920"/>
          </a:xfrm>
          <a:prstGeom prst="rect">
            <a:avLst/>
          </a:prstGeom>
          <a:ln w="0">
            <a:noFill/>
          </a:ln>
        </p:spPr>
      </p:sp>
      <p:sp>
        <p:nvSpPr>
          <p:cNvPr id="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tool is two things: a SCHEMA (what the model sees) and a FUNCTION (what you run). Stress that the 'description' fields are prompt engineering — the model picks tools from those words. Vague description → wrong or missed tool. Good tool docs = good tool use.</a:t>
            </a:r>
            <a:endParaRPr lang="en-IN" sz="2000" b="0" u="none" strike="noStrike">
              <a:solidFill>
                <a:srgbClr val="000000"/>
              </a:solidFill>
              <a:effectLst/>
              <a:uFillTx/>
              <a:latin typeface="Arial"/>
            </a:endParaRPr>
          </a:p>
        </p:txBody>
      </p:sp>
      <p:sp>
        <p:nvSpPr>
          <p:cNvPr id="425"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877033B-4D61-4162-BD01-E09A5DA82DE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6040" cy="3085920"/>
          </a:xfrm>
          <a:prstGeom prst="rect">
            <a:avLst/>
          </a:prstGeom>
          <a:ln w="0">
            <a:noFill/>
          </a:ln>
        </p:spPr>
      </p:sp>
      <p:sp>
        <p:nvSpPr>
          <p:cNvPr id="4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Walk it in two beats: (1) offer tools, model returns tool_calls[0] instead of an answer; (2) json.loads the args, run YOUR function, append the model's request AND your result (role:'tool', matching tool_call_id), call again for the natural answer. Note we read tool_calls[0] directly — one call — no loop needed for the demo.</a:t>
            </a:r>
            <a:endParaRPr lang="en-IN" sz="2000" b="0" u="none" strike="noStrike">
              <a:solidFill>
                <a:srgbClr val="000000"/>
              </a:solidFill>
              <a:effectLst/>
              <a:uFillTx/>
              <a:latin typeface="Arial"/>
            </a:endParaRPr>
          </a:p>
        </p:txBody>
      </p:sp>
      <p:sp>
        <p:nvSpPr>
          <p:cNvPr id="428"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52E1E62-2E6F-4C1D-8BAB-AD8D9408B70D}"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685800" y="1143000"/>
            <a:ext cx="5486040" cy="3085920"/>
          </a:xfrm>
          <a:prstGeom prst="rect">
            <a:avLst/>
          </a:prstGeom>
          <a:ln w="0">
            <a:noFill/>
          </a:ln>
        </p:spPr>
      </p:sp>
      <p:sp>
        <p:nvSpPr>
          <p:cNvPr id="4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C — your code runs it. The model only REQUESTS the call (name + args); you execute and hand back the result. That request/execute split is the safety boundary. Discussion: 'why is it safer that the model can't run the function itself?'</a:t>
            </a:r>
            <a:endParaRPr lang="en-IN" sz="2000" b="0" u="none" strike="noStrike">
              <a:solidFill>
                <a:srgbClr val="000000"/>
              </a:solidFill>
              <a:effectLst/>
              <a:uFillTx/>
              <a:latin typeface="Arial"/>
            </a:endParaRPr>
          </a:p>
        </p:txBody>
      </p:sp>
      <p:sp>
        <p:nvSpPr>
          <p:cNvPr id="431"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6DDDE6-06EF-4533-AFD2-D2C6C06C7C3F}"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685800" y="1143000"/>
            <a:ext cx="5486040" cy="3085920"/>
          </a:xfrm>
          <a:prstGeom prst="rect">
            <a:avLst/>
          </a:prstGeom>
          <a:ln w="0">
            <a:noFill/>
          </a:ln>
        </p:spPr>
      </p:sp>
      <p:sp>
        <p:nvSpPr>
          <p:cNvPr id="4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Give the model several tools and it routes to the right one. Then the non-negotiable: validate what its 'hands' try to grab.</a:t>
            </a:r>
            <a:endParaRPr lang="en-IN" sz="2000" b="0" u="none" strike="noStrike">
              <a:solidFill>
                <a:srgbClr val="000000"/>
              </a:solidFill>
              <a:effectLst/>
              <a:uFillTx/>
              <a:latin typeface="Arial"/>
            </a:endParaRPr>
          </a:p>
        </p:txBody>
      </p:sp>
      <p:sp>
        <p:nvSpPr>
          <p:cNvPr id="434"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4E0F3B9-9DAA-4EA0-9C06-065EB9BF8E98}"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685800" y="1143000"/>
            <a:ext cx="5486040" cy="3085920"/>
          </a:xfrm>
          <a:prstGeom prst="rect">
            <a:avLst/>
          </a:prstGeom>
          <a:ln w="0">
            <a:noFill/>
          </a:ln>
        </p:spPr>
      </p:sp>
      <p:sp>
        <p:nvSpPr>
          <p:cNvPr id="4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With several tools, the model reads the question and routes — a dispatcher for free. It decides purely from the tool DESCRIPTIONS, so write them well (callback to slide 23). Mention parallel tool calls: one turn can return several tool_calls — run them all and append one 'tool' message per call, each matching its tool_call_id.</a:t>
            </a:r>
            <a:endParaRPr lang="en-IN" sz="2000" b="0" u="none" strike="noStrike">
              <a:solidFill>
                <a:srgbClr val="000000"/>
              </a:solidFill>
              <a:effectLst/>
              <a:uFillTx/>
              <a:latin typeface="Arial"/>
            </a:endParaRPr>
          </a:p>
        </p:txBody>
      </p:sp>
      <p:sp>
        <p:nvSpPr>
          <p:cNvPr id="437"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B8950D2-3860-418F-BF77-1C17436D971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685800" y="1143000"/>
            <a:ext cx="5486040" cy="3085920"/>
          </a:xfrm>
          <a:prstGeom prst="rect">
            <a:avLst/>
          </a:prstGeom>
          <a:ln w="0">
            <a:noFill/>
          </a:ln>
        </p:spPr>
      </p:sp>
      <p:sp>
        <p:nvSpPr>
          <p:cNvPr id="4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where Day 1's prompt-injection warning becomes concrete. A user can steer the model, and the model fills tool arguments — so validate them like any untrusted input. The rule: never let a tool do something costly or irreversible without a cap and a human check. Ask the Q5 question next.</a:t>
            </a:r>
            <a:endParaRPr lang="en-IN" sz="2000" b="0" u="none" strike="noStrike">
              <a:solidFill>
                <a:srgbClr val="000000"/>
              </a:solidFill>
              <a:effectLst/>
              <a:uFillTx/>
              <a:latin typeface="Arial"/>
            </a:endParaRPr>
          </a:p>
        </p:txBody>
      </p:sp>
      <p:sp>
        <p:nvSpPr>
          <p:cNvPr id="440"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DC3BE30-D8F2-4CFC-BFAB-3FFCD7F926C5}"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685800" y="1143000"/>
            <a:ext cx="5486040" cy="3085920"/>
          </a:xfrm>
          <a:prstGeom prst="rect">
            <a:avLst/>
          </a:prstGeom>
          <a:ln w="0">
            <a:noFill/>
          </a:ln>
        </p:spPr>
      </p:sp>
      <p:sp>
        <p:nvSpPr>
          <p:cNvPr id="4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Answer: B — validate and cap the amount, and put a human in the loop for money. Tool args are untrusted (a user can steer the model). A bigger model or temperature change does nothing for safety (C, D). Discussion: 'which of your capstone's actions must never run without approval?'</a:t>
            </a:r>
            <a:endParaRPr lang="en-IN" sz="2000" b="0" u="none" strike="noStrike">
              <a:solidFill>
                <a:srgbClr val="000000"/>
              </a:solidFill>
              <a:effectLst/>
              <a:uFillTx/>
              <a:latin typeface="Arial"/>
            </a:endParaRPr>
          </a:p>
        </p:txBody>
      </p:sp>
      <p:sp>
        <p:nvSpPr>
          <p:cNvPr id="443"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ACD19A1-7FBA-4EA9-B283-232E0764A6B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685800" y="1143000"/>
            <a:ext cx="5486040" cy="3085920"/>
          </a:xfrm>
          <a:prstGeom prst="rect">
            <a:avLst/>
          </a:prstGeom>
          <a:ln w="0">
            <a:noFill/>
          </a:ln>
        </p:spPr>
      </p:sp>
      <p:sp>
        <p:nvSpPr>
          <p:cNvPr id="4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Snap the three pillars into one loop — and see why that loop is exactly what an agent is (Day 5) and how RAG uses it (Day 4).</a:t>
            </a:r>
            <a:endParaRPr lang="en-IN" sz="2000" b="0" u="none" strike="noStrike">
              <a:solidFill>
                <a:srgbClr val="000000"/>
              </a:solidFill>
              <a:effectLst/>
              <a:uFillTx/>
              <a:latin typeface="Arial"/>
            </a:endParaRPr>
          </a:p>
        </p:txBody>
      </p:sp>
      <p:sp>
        <p:nvSpPr>
          <p:cNvPr id="446"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F6431F5-949F-4C20-9E53-7F07BCEC84D0}"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685800" y="1143000"/>
            <a:ext cx="5486040" cy="3085920"/>
          </a:xfrm>
          <a:prstGeom prst="rect">
            <a:avLst/>
          </a:prstGeom>
          <a:ln w="0">
            <a:noFill/>
          </a:ln>
        </p:spPr>
      </p:sp>
      <p:sp>
        <p:nvSpPr>
          <p:cNvPr id="4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This is the payoff slide — the hook bot, now buildable. A good prompt frames it, a tool fetches the real order, structured output hands your code a typed result. Point at each box and name the section it came from. Then the reveal on the next slide: this loop has a name.</a:t>
            </a:r>
            <a:endParaRPr lang="en-IN" sz="2000" b="0" u="none" strike="noStrike">
              <a:solidFill>
                <a:srgbClr val="000000"/>
              </a:solidFill>
              <a:effectLst/>
              <a:uFillTx/>
              <a:latin typeface="Arial"/>
            </a:endParaRPr>
          </a:p>
        </p:txBody>
      </p:sp>
      <p:sp>
        <p:nvSpPr>
          <p:cNvPr id="449"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9D1436-1EA8-48B0-89ED-A2032BC0C5B1}"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685800" y="1143000"/>
            <a:ext cx="5486040" cy="3085920"/>
          </a:xfrm>
          <a:prstGeom prst="rect">
            <a:avLst/>
          </a:prstGeom>
          <a:ln w="0">
            <a:noFill/>
          </a:ln>
        </p:spPr>
      </p:sp>
      <p:sp>
        <p:nvSpPr>
          <p:cNvPr id="4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The big reveal: they just built the skeleton of an agent. Day 4 (RAG) is this loop where the tool is a document search — the fix for the hallucination problem from Day 1. Day 5 adds memory and planning to run many steps autonomously. Leave them feeling the through-line of the whole week.</a:t>
            </a:r>
            <a:endParaRPr lang="en-IN" sz="2000" b="0" u="none" strike="noStrike">
              <a:solidFill>
                <a:srgbClr val="000000"/>
              </a:solidFill>
              <a:effectLst/>
              <a:uFillTx/>
              <a:latin typeface="Arial"/>
            </a:endParaRPr>
          </a:p>
        </p:txBody>
      </p:sp>
      <p:sp>
        <p:nvSpPr>
          <p:cNvPr id="452"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9A2D942-6960-4D36-BF8B-B82D4D8FE1DA}"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685800" y="1143000"/>
            <a:ext cx="5486040" cy="3085920"/>
          </a:xfrm>
          <a:prstGeom prst="rect">
            <a:avLst/>
          </a:prstGeom>
          <a:ln w="0">
            <a:noFill/>
          </a:ln>
        </p:spPr>
      </p:sp>
      <p:sp>
        <p:nvSpPr>
          <p:cNvPr id="4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Ask the room to give you each takeaway back before you reveal it. Then send them to the notebook §8 (fill-in-the-blank) and the homework in the run book. One-line close: 'you can now make a model reason, return a shape you trust, and act on real data — that's the whole toolkit for RAG and agents next.'</a:t>
            </a:r>
            <a:endParaRPr lang="en-IN" sz="2000" b="0" u="none" strike="noStrike">
              <a:solidFill>
                <a:srgbClr val="000000"/>
              </a:solidFill>
              <a:effectLst/>
              <a:uFillTx/>
              <a:latin typeface="Arial"/>
            </a:endParaRPr>
          </a:p>
        </p:txBody>
      </p:sp>
      <p:sp>
        <p:nvSpPr>
          <p:cNvPr id="455"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1CC0D5D-8C9A-48FC-BACA-519E431CC75E}" type="slidenum">
              <a:rPr lang="en-US" sz="1200" b="0" u="none" strike="noStrike">
                <a:solidFill>
                  <a:schemeClr val="dk1"/>
                </a:solidFill>
                <a:effectLst/>
                <a:uFillTx/>
                <a:latin typeface="+mn-lt"/>
                <a:ea typeface="+mn-ea"/>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IN" sz="1800" b="0" u="none" strike="noStrike">
                <a:solidFill>
                  <a:schemeClr val="dk1"/>
                </a:solidFill>
                <a:effectLst/>
                <a:uFillTx/>
                <a:latin typeface="Calibri"/>
              </a:defRPr>
            </a:lvl1pPr>
          </a:lstStyle>
          <a:p>
            <a:pPr indent="0" algn="l">
              <a:buNone/>
            </a:pPr>
            <a:r>
              <a:rPr lang="en-IN" sz="1800" b="0" u="none" strike="noStrike">
                <a:solidFill>
                  <a:schemeClr val="dk1"/>
                </a:solidFill>
                <a:effectLst/>
                <a:uFillTx/>
                <a:latin typeface="Calibri"/>
              </a:rPr>
              <a:t>Click to edit the title text format</a:t>
            </a:r>
            <a:endParaRPr lang="en-IN"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IN"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IN"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IN"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IN"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IN"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IN" sz="3200" b="0" u="none" strike="noStrike">
                <a:solidFill>
                  <a:schemeClr val="dk1"/>
                </a:solidFill>
                <a:effectLst/>
                <a:uFillTx/>
                <a:latin typeface="Calibri"/>
              </a:rPr>
              <a:t>Click to edit the outline text format</a:t>
            </a:r>
            <a:endParaRPr lang="en-IN"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IN" sz="2400" b="0" u="none" strike="noStrike">
                <a:solidFill>
                  <a:schemeClr val="dk1"/>
                </a:solidFill>
                <a:effectLst/>
                <a:uFillTx/>
                <a:latin typeface="Calibri"/>
              </a:rPr>
              <a:t>Second Outline Level</a:t>
            </a:r>
            <a:endParaRPr lang="en-IN"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IN" sz="2000" b="0" u="none" strike="noStrike">
                <a:solidFill>
                  <a:schemeClr val="dk1"/>
                </a:solidFill>
                <a:effectLst/>
                <a:uFillTx/>
                <a:latin typeface="Calibri"/>
              </a:rPr>
              <a:t>Third Outline Level</a:t>
            </a:r>
            <a:endParaRPr lang="en-IN"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IN" sz="2000" b="0" u="none" strike="noStrike">
                <a:solidFill>
                  <a:schemeClr val="dk1"/>
                </a:solidFill>
                <a:effectLst/>
                <a:uFillTx/>
                <a:latin typeface="Calibri"/>
              </a:rPr>
              <a:t>Fourth Outline Level</a:t>
            </a:r>
            <a:endParaRPr lang="en-IN"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Fifth Outline Level</a:t>
            </a:r>
            <a:endParaRPr lang="en-IN"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Sixth Outline Level</a:t>
            </a:r>
            <a:endParaRPr lang="en-IN"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IN" sz="2000" b="0" u="none" strike="noStrike">
                <a:solidFill>
                  <a:schemeClr val="dk1"/>
                </a:solidFill>
                <a:effectLst/>
                <a:uFillTx/>
                <a:latin typeface="Calibri"/>
              </a:rPr>
              <a:t>Seventh Outline Level</a:t>
            </a:r>
            <a:endParaRPr lang="en-IN"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 name="Text 0"/>
          <p:cNvSpPr/>
          <p:nvPr/>
        </p:nvSpPr>
        <p:spPr>
          <a:xfrm>
            <a:off x="548640" y="2377440"/>
            <a:ext cx="1005804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000" b="1" u="none" strike="noStrike">
                <a:solidFill>
                  <a:srgbClr val="1E293B"/>
                </a:solidFill>
                <a:effectLst/>
                <a:uFillTx/>
                <a:latin typeface="Calibri"/>
                <a:ea typeface="Calibri"/>
              </a:rPr>
              <a:t>Generative AI</a:t>
            </a:r>
            <a:endParaRPr lang="en-IN" sz="6000" b="0" u="none" strike="noStrike">
              <a:solidFill>
                <a:srgbClr val="000000"/>
              </a:solidFill>
              <a:effectLst/>
              <a:uFillTx/>
              <a:latin typeface="Arial"/>
            </a:endParaRPr>
          </a:p>
        </p:txBody>
      </p:sp>
      <p:sp>
        <p:nvSpPr>
          <p:cNvPr id="11" name="Text 1"/>
          <p:cNvSpPr/>
          <p:nvPr/>
        </p:nvSpPr>
        <p:spPr>
          <a:xfrm>
            <a:off x="548640" y="3566160"/>
            <a:ext cx="109724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0" u="none" strike="noStrike">
                <a:solidFill>
                  <a:srgbClr val="6366F1"/>
                </a:solidFill>
                <a:effectLst/>
                <a:uFillTx/>
                <a:latin typeface="Calibri"/>
                <a:ea typeface="Calibri"/>
              </a:rPr>
              <a:t>Day 2 · Advanced prompting, structured outputs &amp; tools</a:t>
            </a:r>
            <a:endParaRPr lang="en-IN" sz="2000" b="0" u="none" strike="noStrike">
              <a:solidFill>
                <a:srgbClr val="000000"/>
              </a:solidFill>
              <a:effectLst/>
              <a:uFillTx/>
              <a:latin typeface="Arial"/>
            </a:endParaRPr>
          </a:p>
        </p:txBody>
      </p:sp>
      <p:sp>
        <p:nvSpPr>
          <p:cNvPr id="12" name="Text 2"/>
          <p:cNvSpPr/>
          <p:nvPr/>
        </p:nvSpPr>
        <p:spPr>
          <a:xfrm>
            <a:off x="548640" y="58521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1E293B"/>
                </a:solidFill>
                <a:effectLst/>
                <a:uFillTx/>
                <a:latin typeface="Calibri"/>
                <a:ea typeface="Calibri"/>
              </a:rPr>
              <a:t>Lovely Professional University</a:t>
            </a:r>
            <a:r>
              <a:rPr lang="en-US" sz="1300" b="0" u="none" strike="noStrike">
                <a:solidFill>
                  <a:srgbClr val="64748B"/>
                </a:solidFill>
                <a:effectLst/>
                <a:uFillTx/>
                <a:latin typeface="Calibri"/>
                <a:ea typeface="Calibri"/>
              </a:rPr>
              <a:t>    ·    Backend &amp; Generative AI    ·    Poorit Technologies</a:t>
            </a:r>
            <a:endParaRPr lang="en-IN"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Text 0"/>
          <p:cNvSpPr/>
          <p:nvPr/>
        </p:nvSpPr>
        <p:spPr>
          <a:xfrm>
            <a:off x="914400" y="1737360"/>
            <a:ext cx="1035972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0" i="1" u="none" strike="noStrike">
                <a:solidFill>
                  <a:srgbClr val="64748B"/>
                </a:solidFill>
                <a:effectLst/>
                <a:uFillTx/>
                <a:latin typeface="Calibri"/>
                <a:ea typeface="Calibri"/>
              </a:rPr>
              <a:t>Your support bot is asked:</a:t>
            </a:r>
            <a:endParaRPr lang="en-IN" sz="2000" b="0" u="none" strike="noStrike">
              <a:solidFill>
                <a:srgbClr val="000000"/>
              </a:solidFill>
              <a:effectLst/>
              <a:uFillTx/>
              <a:latin typeface="Arial"/>
            </a:endParaRPr>
          </a:p>
        </p:txBody>
      </p:sp>
      <p:sp>
        <p:nvSpPr>
          <p:cNvPr id="14" name="Text 1"/>
          <p:cNvSpPr/>
          <p:nvPr/>
        </p:nvSpPr>
        <p:spPr>
          <a:xfrm>
            <a:off x="914400" y="2377440"/>
            <a:ext cx="10359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200" b="1" u="none" strike="noStrike">
                <a:solidFill>
                  <a:srgbClr val="1E293B"/>
                </a:solidFill>
                <a:effectLst/>
                <a:uFillTx/>
                <a:latin typeface="Calibri"/>
                <a:ea typeface="Calibri"/>
              </a:rPr>
              <a:t>“Where's order A123 —</a:t>
            </a:r>
            <a:endParaRPr lang="en-IN" sz="4200" b="0" u="none" strike="noStrike">
              <a:solidFill>
                <a:srgbClr val="000000"/>
              </a:solidFill>
              <a:effectLst/>
              <a:uFillTx/>
              <a:latin typeface="Arial"/>
            </a:endParaRPr>
          </a:p>
        </p:txBody>
      </p:sp>
      <p:sp>
        <p:nvSpPr>
          <p:cNvPr id="15" name="Text 2"/>
          <p:cNvSpPr/>
          <p:nvPr/>
        </p:nvSpPr>
        <p:spPr>
          <a:xfrm>
            <a:off x="914400" y="3291840"/>
            <a:ext cx="10359720" cy="9140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4200" b="1" u="none" strike="noStrike">
                <a:solidFill>
                  <a:srgbClr val="6366F1"/>
                </a:solidFill>
                <a:effectLst/>
                <a:uFillTx/>
                <a:latin typeface="Calibri"/>
                <a:ea typeface="Calibri"/>
              </a:rPr>
              <a:t>and refund me if it's late.”</a:t>
            </a:r>
            <a:endParaRPr lang="en-IN" sz="4200" b="0" u="none" strike="noStrike">
              <a:solidFill>
                <a:srgbClr val="000000"/>
              </a:solidFill>
              <a:effectLst/>
              <a:uFillTx/>
              <a:latin typeface="Arial"/>
            </a:endParaRPr>
          </a:p>
        </p:txBody>
      </p:sp>
      <p:sp>
        <p:nvSpPr>
          <p:cNvPr id="16" name="Text 3"/>
          <p:cNvSpPr/>
          <p:nvPr/>
        </p:nvSpPr>
        <p:spPr>
          <a:xfrm>
            <a:off x="914400" y="4572000"/>
            <a:ext cx="1035972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0" i="1" u="none" strike="noStrike">
                <a:solidFill>
                  <a:srgbClr val="64748B"/>
                </a:solidFill>
                <a:effectLst/>
                <a:uFillTx/>
                <a:latin typeface="Calibri"/>
                <a:ea typeface="Calibri"/>
              </a:rPr>
              <a:t>What does your LLM need that it simply does not have?</a:t>
            </a: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From answering to acting</a:t>
            </a:r>
            <a:endParaRPr lang="en-IN" sz="3000" b="0" u="none" strike="noStrike">
              <a:solidFill>
                <a:srgbClr val="000000"/>
              </a:solidFill>
              <a:effectLst/>
              <a:uFillTx/>
              <a:latin typeface="Arial"/>
            </a:endParaRPr>
          </a:p>
        </p:txBody>
      </p:sp>
      <p:sp>
        <p:nvSpPr>
          <p:cNvPr id="18" name="Text 1"/>
          <p:cNvSpPr/>
          <p:nvPr/>
        </p:nvSpPr>
        <p:spPr>
          <a:xfrm>
            <a:off x="548640" y="132588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Day 1: </a:t>
            </a:r>
            <a:r>
              <a:rPr lang="en-US" sz="1700" b="0" u="none" strike="noStrike">
                <a:solidFill>
                  <a:srgbClr val="64748B"/>
                </a:solidFill>
                <a:effectLst/>
                <a:uFillTx/>
                <a:latin typeface="Calibri"/>
                <a:ea typeface="Calibri"/>
              </a:rPr>
              <a:t>the model could talk.   </a:t>
            </a:r>
            <a:r>
              <a:rPr lang="en-US" sz="1700" b="1" u="none" strike="noStrike">
                <a:solidFill>
                  <a:srgbClr val="6366F1"/>
                </a:solidFill>
                <a:effectLst/>
                <a:uFillTx/>
                <a:latin typeface="Calibri"/>
                <a:ea typeface="Calibri"/>
              </a:rPr>
              <a:t>Day 2: </a:t>
            </a:r>
            <a:r>
              <a:rPr lang="en-US" sz="1700" b="0" u="none" strike="noStrike">
                <a:solidFill>
                  <a:srgbClr val="1E293B"/>
                </a:solidFill>
                <a:effectLst/>
                <a:uFillTx/>
                <a:latin typeface="Calibri"/>
                <a:ea typeface="Calibri"/>
              </a:rPr>
              <a:t>it acts — on real data, in a shape you can trust.</a:t>
            </a:r>
            <a:endParaRPr lang="en-IN" sz="1700" b="0" u="none" strike="noStrike">
              <a:solidFill>
                <a:srgbClr val="000000"/>
              </a:solidFill>
              <a:effectLst/>
              <a:uFillTx/>
              <a:latin typeface="Arial"/>
            </a:endParaRPr>
          </a:p>
        </p:txBody>
      </p:sp>
      <p:sp>
        <p:nvSpPr>
          <p:cNvPr id="19" name="Shape 2"/>
          <p:cNvSpPr/>
          <p:nvPr/>
        </p:nvSpPr>
        <p:spPr>
          <a:xfrm>
            <a:off x="548640" y="2011680"/>
            <a:ext cx="3520080" cy="3108600"/>
          </a:xfrm>
          <a:prstGeom prst="roundRect">
            <a:avLst>
              <a:gd name="adj" fmla="val 29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 name="Text 3"/>
          <p:cNvSpPr/>
          <p:nvPr/>
        </p:nvSpPr>
        <p:spPr>
          <a:xfrm>
            <a:off x="822960" y="2240280"/>
            <a:ext cx="30171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91C1C"/>
                </a:solidFill>
                <a:effectLst/>
                <a:uFillTx/>
                <a:latin typeface="Calibri"/>
                <a:ea typeface="Calibri"/>
              </a:rPr>
              <a:t>The gap</a:t>
            </a:r>
            <a:endParaRPr lang="en-IN" sz="1200" b="0" u="none" strike="noStrike">
              <a:solidFill>
                <a:srgbClr val="000000"/>
              </a:solidFill>
              <a:effectLst/>
              <a:uFillTx/>
              <a:latin typeface="Arial"/>
            </a:endParaRPr>
          </a:p>
        </p:txBody>
      </p:sp>
      <p:sp>
        <p:nvSpPr>
          <p:cNvPr id="21" name="Text 4"/>
          <p:cNvSpPr/>
          <p:nvPr/>
        </p:nvSpPr>
        <p:spPr>
          <a:xfrm>
            <a:off x="822960" y="260604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93B"/>
                </a:solidFill>
                <a:effectLst/>
                <a:uFillTx/>
                <a:latin typeface="Calibri"/>
                <a:ea typeface="Calibri"/>
              </a:rPr>
              <a:t>No live data</a:t>
            </a:r>
            <a:endParaRPr lang="en-IN" sz="1900" b="0" u="none" strike="noStrike">
              <a:solidFill>
                <a:srgbClr val="000000"/>
              </a:solidFill>
              <a:effectLst/>
              <a:uFillTx/>
              <a:latin typeface="Arial"/>
            </a:endParaRPr>
          </a:p>
        </p:txBody>
      </p:sp>
      <p:sp>
        <p:nvSpPr>
          <p:cNvPr id="22" name="Text 5"/>
          <p:cNvSpPr/>
          <p:nvPr/>
        </p:nvSpPr>
        <p:spPr>
          <a:xfrm>
            <a:off x="822960" y="3200400"/>
            <a:ext cx="30171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it can't see order A123</a:t>
            </a:r>
            <a:endParaRPr lang="en-IN" sz="1400" b="0" u="none" strike="noStrike">
              <a:solidFill>
                <a:srgbClr val="000000"/>
              </a:solidFill>
              <a:effectLst/>
              <a:uFillTx/>
              <a:latin typeface="Arial"/>
            </a:endParaRPr>
          </a:p>
        </p:txBody>
      </p:sp>
      <p:sp>
        <p:nvSpPr>
          <p:cNvPr id="23" name="Shape 6"/>
          <p:cNvSpPr/>
          <p:nvPr/>
        </p:nvSpPr>
        <p:spPr>
          <a:xfrm>
            <a:off x="822960" y="3977640"/>
            <a:ext cx="456840" cy="365400"/>
          </a:xfrm>
          <a:prstGeom prst="rightArrow">
            <a:avLst>
              <a:gd name="adj1" fmla="val 50000"/>
              <a:gd name="adj2"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4" name="Text 7"/>
          <p:cNvSpPr/>
          <p:nvPr/>
        </p:nvSpPr>
        <p:spPr>
          <a:xfrm>
            <a:off x="1371600" y="3931920"/>
            <a:ext cx="24685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alibri"/>
                <a:ea typeface="Calibri"/>
              </a:rPr>
              <a:t>Tools  ·  §4–5</a:t>
            </a:r>
            <a:endParaRPr lang="en-IN" sz="1400" b="0" u="none" strike="noStrike">
              <a:solidFill>
                <a:srgbClr val="000000"/>
              </a:solidFill>
              <a:effectLst/>
              <a:uFillTx/>
              <a:latin typeface="Arial"/>
            </a:endParaRPr>
          </a:p>
        </p:txBody>
      </p:sp>
      <p:sp>
        <p:nvSpPr>
          <p:cNvPr id="25" name="Shape 8"/>
          <p:cNvSpPr/>
          <p:nvPr/>
        </p:nvSpPr>
        <p:spPr>
          <a:xfrm>
            <a:off x="4343400" y="2011680"/>
            <a:ext cx="3520080" cy="3108600"/>
          </a:xfrm>
          <a:prstGeom prst="roundRect">
            <a:avLst>
              <a:gd name="adj" fmla="val 29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 name="Text 9"/>
          <p:cNvSpPr/>
          <p:nvPr/>
        </p:nvSpPr>
        <p:spPr>
          <a:xfrm>
            <a:off x="4617720" y="2240280"/>
            <a:ext cx="30171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91C1C"/>
                </a:solidFill>
                <a:effectLst/>
                <a:uFillTx/>
                <a:latin typeface="Calibri"/>
                <a:ea typeface="Calibri"/>
              </a:rPr>
              <a:t>The gap</a:t>
            </a:r>
            <a:endParaRPr lang="en-IN" sz="1200" b="0" u="none" strike="noStrike">
              <a:solidFill>
                <a:srgbClr val="000000"/>
              </a:solidFill>
              <a:effectLst/>
              <a:uFillTx/>
              <a:latin typeface="Arial"/>
            </a:endParaRPr>
          </a:p>
        </p:txBody>
      </p:sp>
      <p:sp>
        <p:nvSpPr>
          <p:cNvPr id="27" name="Text 10"/>
          <p:cNvSpPr/>
          <p:nvPr/>
        </p:nvSpPr>
        <p:spPr>
          <a:xfrm>
            <a:off x="4617720" y="260604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93B"/>
                </a:solidFill>
                <a:effectLst/>
                <a:uFillTx/>
                <a:latin typeface="Calibri"/>
                <a:ea typeface="Calibri"/>
              </a:rPr>
              <a:t>No guaranteed shape</a:t>
            </a:r>
            <a:endParaRPr lang="en-IN" sz="1900" b="0" u="none" strike="noStrike">
              <a:solidFill>
                <a:srgbClr val="000000"/>
              </a:solidFill>
              <a:effectLst/>
              <a:uFillTx/>
              <a:latin typeface="Arial"/>
            </a:endParaRPr>
          </a:p>
        </p:txBody>
      </p:sp>
      <p:sp>
        <p:nvSpPr>
          <p:cNvPr id="28" name="Text 11"/>
          <p:cNvSpPr/>
          <p:nvPr/>
        </p:nvSpPr>
        <p:spPr>
          <a:xfrm>
            <a:off x="4617720" y="3200400"/>
            <a:ext cx="30171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your code needs exact fields</a:t>
            </a:r>
            <a:endParaRPr lang="en-IN" sz="1400" b="0" u="none" strike="noStrike">
              <a:solidFill>
                <a:srgbClr val="000000"/>
              </a:solidFill>
              <a:effectLst/>
              <a:uFillTx/>
              <a:latin typeface="Arial"/>
            </a:endParaRPr>
          </a:p>
        </p:txBody>
      </p:sp>
      <p:sp>
        <p:nvSpPr>
          <p:cNvPr id="29" name="Shape 12"/>
          <p:cNvSpPr/>
          <p:nvPr/>
        </p:nvSpPr>
        <p:spPr>
          <a:xfrm>
            <a:off x="4617720" y="3977640"/>
            <a:ext cx="456840" cy="365400"/>
          </a:xfrm>
          <a:prstGeom prst="rightArrow">
            <a:avLst>
              <a:gd name="adj1" fmla="val 50000"/>
              <a:gd name="adj2" fmla="val 50000"/>
            </a:avLst>
          </a:prstGeom>
          <a:solidFill>
            <a:srgbClr val="0891B2"/>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0" name="Text 13"/>
          <p:cNvSpPr/>
          <p:nvPr/>
        </p:nvSpPr>
        <p:spPr>
          <a:xfrm>
            <a:off x="5166360" y="3931920"/>
            <a:ext cx="24685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0891B2"/>
                </a:solidFill>
                <a:effectLst/>
                <a:uFillTx/>
                <a:latin typeface="Calibri"/>
                <a:ea typeface="Calibri"/>
              </a:rPr>
              <a:t>Structured outputs  ·  §3</a:t>
            </a:r>
            <a:endParaRPr lang="en-IN" sz="1400" b="0" u="none" strike="noStrike">
              <a:solidFill>
                <a:srgbClr val="000000"/>
              </a:solidFill>
              <a:effectLst/>
              <a:uFillTx/>
              <a:latin typeface="Arial"/>
            </a:endParaRPr>
          </a:p>
        </p:txBody>
      </p:sp>
      <p:sp>
        <p:nvSpPr>
          <p:cNvPr id="31" name="Shape 14"/>
          <p:cNvSpPr/>
          <p:nvPr/>
        </p:nvSpPr>
        <p:spPr>
          <a:xfrm>
            <a:off x="8138160" y="2011680"/>
            <a:ext cx="3520080" cy="3108600"/>
          </a:xfrm>
          <a:prstGeom prst="roundRect">
            <a:avLst>
              <a:gd name="adj" fmla="val 2941"/>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 name="Text 15"/>
          <p:cNvSpPr/>
          <p:nvPr/>
        </p:nvSpPr>
        <p:spPr>
          <a:xfrm>
            <a:off x="8412480" y="2240280"/>
            <a:ext cx="30171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B91C1C"/>
                </a:solidFill>
                <a:effectLst/>
                <a:uFillTx/>
                <a:latin typeface="Calibri"/>
                <a:ea typeface="Calibri"/>
              </a:rPr>
              <a:t>The gap</a:t>
            </a:r>
            <a:endParaRPr lang="en-IN" sz="1200" b="0" u="none" strike="noStrike">
              <a:solidFill>
                <a:srgbClr val="000000"/>
              </a:solidFill>
              <a:effectLst/>
              <a:uFillTx/>
              <a:latin typeface="Arial"/>
            </a:endParaRPr>
          </a:p>
        </p:txBody>
      </p:sp>
      <p:sp>
        <p:nvSpPr>
          <p:cNvPr id="33" name="Text 16"/>
          <p:cNvSpPr/>
          <p:nvPr/>
        </p:nvSpPr>
        <p:spPr>
          <a:xfrm>
            <a:off x="8412480" y="2606040"/>
            <a:ext cx="30171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E293B"/>
                </a:solidFill>
                <a:effectLst/>
                <a:uFillTx/>
                <a:latin typeface="Calibri"/>
                <a:ea typeface="Calibri"/>
              </a:rPr>
              <a:t>Shaky reasoning</a:t>
            </a:r>
            <a:endParaRPr lang="en-IN" sz="1900" b="0" u="none" strike="noStrike">
              <a:solidFill>
                <a:srgbClr val="000000"/>
              </a:solidFill>
              <a:effectLst/>
              <a:uFillTx/>
              <a:latin typeface="Arial"/>
            </a:endParaRPr>
          </a:p>
        </p:txBody>
      </p:sp>
      <p:sp>
        <p:nvSpPr>
          <p:cNvPr id="34" name="Text 17"/>
          <p:cNvSpPr/>
          <p:nvPr/>
        </p:nvSpPr>
        <p:spPr>
          <a:xfrm>
            <a:off x="8412480" y="3200400"/>
            <a:ext cx="30171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“is 3 days late enough?”</a:t>
            </a:r>
            <a:endParaRPr lang="en-IN" sz="1400" b="0" u="none" strike="noStrike">
              <a:solidFill>
                <a:srgbClr val="000000"/>
              </a:solidFill>
              <a:effectLst/>
              <a:uFillTx/>
              <a:latin typeface="Arial"/>
            </a:endParaRPr>
          </a:p>
        </p:txBody>
      </p:sp>
      <p:sp>
        <p:nvSpPr>
          <p:cNvPr id="35" name="Shape 18"/>
          <p:cNvSpPr/>
          <p:nvPr/>
        </p:nvSpPr>
        <p:spPr>
          <a:xfrm>
            <a:off x="8412480" y="3977640"/>
            <a:ext cx="456840" cy="365400"/>
          </a:xfrm>
          <a:prstGeom prst="rightArrow">
            <a:avLst>
              <a:gd name="adj1" fmla="val 50000"/>
              <a:gd name="adj2"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6" name="Text 19"/>
          <p:cNvSpPr/>
          <p:nvPr/>
        </p:nvSpPr>
        <p:spPr>
          <a:xfrm>
            <a:off x="8961120" y="3931920"/>
            <a:ext cx="24685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6366F1"/>
                </a:solidFill>
                <a:effectLst/>
                <a:uFillTx/>
                <a:latin typeface="Calibri"/>
                <a:ea typeface="Calibri"/>
              </a:rPr>
              <a:t>Advanced prompting  ·  §1–2</a:t>
            </a:r>
            <a:endParaRPr lang="en-IN" sz="1400" b="0" u="none" strike="noStrike">
              <a:solidFill>
                <a:srgbClr val="000000"/>
              </a:solidFill>
              <a:effectLst/>
              <a:uFillTx/>
              <a:latin typeface="Arial"/>
            </a:endParaRPr>
          </a:p>
        </p:txBody>
      </p:sp>
      <p:sp>
        <p:nvSpPr>
          <p:cNvPr id="37" name="Text 20"/>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38" name="Text 2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LLM call parameters — the knobs</a:t>
            </a:r>
            <a:endParaRPr lang="en-IN" sz="3000" b="0" u="none" strike="noStrike">
              <a:solidFill>
                <a:srgbClr val="000000"/>
              </a:solidFill>
              <a:effectLst/>
              <a:uFillTx/>
              <a:latin typeface="Arial"/>
            </a:endParaRPr>
          </a:p>
        </p:txBody>
      </p:sp>
      <p:sp>
        <p:nvSpPr>
          <p:cNvPr id="40" name="Text 1"/>
          <p:cNvSpPr/>
          <p:nvPr/>
        </p:nvSpPr>
        <p:spPr>
          <a:xfrm>
            <a:off x="548640" y="120708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Optional settings on every create(...) call — you met temperature on Day 1.</a:t>
            </a:r>
            <a:endParaRPr lang="en-IN" sz="1500" b="0" u="none" strike="noStrike">
              <a:solidFill>
                <a:srgbClr val="000000"/>
              </a:solidFill>
              <a:effectLst/>
              <a:uFillTx/>
              <a:latin typeface="Arial"/>
            </a:endParaRPr>
          </a:p>
        </p:txBody>
      </p:sp>
      <p:graphicFrame>
        <p:nvGraphicFramePr>
          <p:cNvPr id="41" name="Table 0"/>
          <p:cNvGraphicFramePr/>
          <p:nvPr/>
        </p:nvGraphicFramePr>
        <p:xfrm>
          <a:off x="548640" y="1737360"/>
          <a:ext cx="11063880" cy="3840480"/>
        </p:xfrm>
        <a:graphic>
          <a:graphicData uri="http://schemas.openxmlformats.org/drawingml/2006/table">
            <a:tbl>
              <a:tblPr/>
              <a:tblGrid>
                <a:gridCol w="2651760"/>
                <a:gridCol w="4846320"/>
                <a:gridCol w="3566160"/>
              </a:tblGrid>
              <a:tr h="548640">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Parameter</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What it does</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c>
                  <a:txBody>
                    <a:bodyPr lIns="101520" tIns="37800" rIns="101520" bIns="37800" anchor="ctr">
                      <a:noAutofit/>
                    </a:bodyPr>
                    <a:p>
                      <a:pPr defTabSz="914400">
                        <a:lnSpc>
                          <a:spcPct val="100000"/>
                        </a:lnSpc>
                        <a:tabLst>
                          <a:tab pos="0" algn="l"/>
                        </a:tabLst>
                      </a:pPr>
                      <a:r>
                        <a:rPr lang="en-US" sz="1300" b="1" u="none" strike="noStrike">
                          <a:solidFill>
                            <a:srgbClr val="FFFFFF"/>
                          </a:solidFill>
                          <a:effectLst/>
                          <a:uFillTx/>
                          <a:latin typeface="Calibri"/>
                          <a:ea typeface="Calibri"/>
                        </a:rPr>
                        <a:t>Use / note</a:t>
                      </a:r>
                      <a:endParaRPr lang="en-IN" sz="1300" b="0" u="none" strike="noStrike">
                        <a:solidFill>
                          <a:srgbClr val="FFFFFF"/>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1E293B"/>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temperature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randomness — 0 = focused, high = creative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0 to extract, 0.7+ to ideate</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top_p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nucleus sampling — another randomness dial</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tune temperature OR top_p</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max_tokens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caps the reply length</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new name: max_completion_tokens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frequency_penalty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less repetition of the same words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range −2 to 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6366F1"/>
                          </a:solidFill>
                          <a:effectLst/>
                          <a:uFillTx/>
                          <a:latin typeface="Courier New"/>
                          <a:ea typeface="Courier New"/>
                        </a:rPr>
                        <a:t>presence_penalty</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pushes toward new topics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range −2 to 2</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r h="548640">
                <a:tc>
                  <a:txBody>
                    <a:bodyPr lIns="101520" tIns="37800" rIns="101520" bIns="37800" anchor="ctr">
                      <a:noAutofit/>
                    </a:bodyPr>
                    <a:p>
                      <a:pPr defTabSz="914400">
                        <a:lnSpc>
                          <a:spcPct val="100000"/>
                        </a:lnSpc>
                        <a:tabLst>
                          <a:tab pos="0" algn="l"/>
                        </a:tabLst>
                      </a:pPr>
                      <a:r>
                        <a:rPr lang="en-US" sz="1250" b="0" u="none" strike="noStrike">
                          <a:solidFill>
                            <a:srgbClr val="0891B2"/>
                          </a:solidFill>
                          <a:effectLst/>
                          <a:uFillTx/>
                          <a:latin typeface="Courier New"/>
                          <a:ea typeface="Courier New"/>
                        </a:rPr>
                        <a:t>top_k</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1E293B"/>
                          </a:solidFill>
                          <a:effectLst/>
                          <a:uFillTx/>
                          <a:latin typeface="Calibri"/>
                          <a:ea typeface="Calibri"/>
                        </a:rPr>
                        <a:t>keep only the top-k tokens</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c>
                  <a:txBody>
                    <a:bodyPr lIns="101520" tIns="37800" rIns="101520" bIns="37800" anchor="ctr">
                      <a:noAutofit/>
                    </a:bodyPr>
                    <a:p>
                      <a:pPr defTabSz="914400">
                        <a:lnSpc>
                          <a:spcPct val="100000"/>
                        </a:lnSpc>
                        <a:tabLst>
                          <a:tab pos="0" algn="l"/>
                        </a:tabLst>
                      </a:pPr>
                      <a:r>
                        <a:rPr lang="en-US" sz="1250" b="0" u="none" strike="noStrike">
                          <a:solidFill>
                            <a:srgbClr val="B91C1C"/>
                          </a:solidFill>
                          <a:effectLst/>
                          <a:uFillTx/>
                          <a:latin typeface="Calibri"/>
                          <a:ea typeface="Calibri"/>
                        </a:rPr>
                        <a:t>not on OpenAI — Gemini (LiteLLM)</a:t>
                      </a:r>
                      <a:endParaRPr lang="en-IN" sz="1250" b="0" u="none" strike="noStrike">
                        <a:solidFill>
                          <a:srgbClr val="000000"/>
                        </a:solidFill>
                        <a:effectLst/>
                        <a:uFillTx/>
                        <a:latin typeface="Arial"/>
                      </a:endParaRPr>
                    </a:p>
                  </a:txBody>
                  <a:tcPr anchor="ctr" marL="101520" marR="101520" marT="37800" marB="37800">
                    <a:lnL w="12240">
                      <a:solidFill>
                        <a:srgbClr val="E2E8F0"/>
                      </a:solidFill>
                      <a:prstDash val="solid"/>
                    </a:lnL>
                    <a:lnR w="12240">
                      <a:solidFill>
                        <a:srgbClr val="E2E8F0"/>
                      </a:solidFill>
                      <a:prstDash val="solid"/>
                    </a:lnR>
                    <a:lnT w="12240">
                      <a:solidFill>
                        <a:srgbClr val="E2E8F0"/>
                      </a:solidFill>
                      <a:prstDash val="solid"/>
                    </a:lnT>
                    <a:lnB w="12240">
                      <a:solidFill>
                        <a:srgbClr val="E2E8F0"/>
                      </a:solidFill>
                      <a:prstDash val="solid"/>
                    </a:lnB>
                    <a:solidFill>
                      <a:srgbClr val="FFFFFF"/>
                    </a:solidFill>
                  </a:tcPr>
                </a:tc>
              </a:tr>
            </a:tbl>
          </a:graphicData>
        </a:graphic>
      </p:graphicFrame>
      <p:sp>
        <p:nvSpPr>
          <p:cNvPr id="42" name="Text 2"/>
          <p:cNvSpPr/>
          <p:nvPr/>
        </p:nvSpPr>
        <p:spPr>
          <a:xfrm>
            <a:off x="548640" y="594360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i="1" u="none" strike="noStrike">
                <a:solidFill>
                  <a:srgbClr val="6366F1"/>
                </a:solidFill>
                <a:effectLst/>
                <a:uFillTx/>
                <a:latin typeface="Calibri"/>
                <a:ea typeface="Calibri"/>
              </a:rPr>
              <a:t>Live:  </a:t>
            </a:r>
            <a:r>
              <a:rPr lang="en-US" sz="1300" b="0" i="1" u="none" strike="noStrike">
                <a:solidFill>
                  <a:srgbClr val="1E293B"/>
                </a:solidFill>
                <a:effectLst/>
                <a:uFillTx/>
                <a:latin typeface="Calibri"/>
                <a:ea typeface="Calibri"/>
              </a:rPr>
              <a:t>set max_tokens=20 → the reply is cut off and finish_reason == "length". The cap is on length, not quality.</a:t>
            </a:r>
            <a:endParaRPr lang="en-IN" sz="1300" b="0" u="none" strike="noStrike">
              <a:solidFill>
                <a:srgbClr val="000000"/>
              </a:solidFill>
              <a:effectLst/>
              <a:uFillTx/>
              <a:latin typeface="Arial"/>
            </a:endParaRPr>
          </a:p>
        </p:txBody>
      </p:sp>
      <p:sp>
        <p:nvSpPr>
          <p:cNvPr id="43" name="Text 3"/>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44" name="Text 4"/>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Streaming — see the answer as it's written</a:t>
            </a:r>
            <a:endParaRPr lang="en-IN" sz="3000" b="0" u="none" strike="noStrike">
              <a:solidFill>
                <a:srgbClr val="000000"/>
              </a:solidFill>
              <a:effectLst/>
              <a:uFillTx/>
              <a:latin typeface="Arial"/>
            </a:endParaRPr>
          </a:p>
        </p:txBody>
      </p:sp>
      <p:sp>
        <p:nvSpPr>
          <p:cNvPr id="46" name="Text 1"/>
          <p:cNvSpPr/>
          <p:nvPr/>
        </p:nvSpPr>
        <p:spPr>
          <a:xfrm>
            <a:off x="548640" y="12344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Default: wait for the whole reply. Streaming: tokens arrive as they're generated — it types out live.</a:t>
            </a:r>
            <a:endParaRPr lang="en-IN" sz="1500" b="0" u="none" strike="noStrike">
              <a:solidFill>
                <a:srgbClr val="000000"/>
              </a:solidFill>
              <a:effectLst/>
              <a:uFillTx/>
              <a:latin typeface="Arial"/>
            </a:endParaRPr>
          </a:p>
        </p:txBody>
      </p:sp>
      <p:sp>
        <p:nvSpPr>
          <p:cNvPr id="47" name="Shape 2"/>
          <p:cNvSpPr/>
          <p:nvPr/>
        </p:nvSpPr>
        <p:spPr>
          <a:xfrm>
            <a:off x="548640" y="1783080"/>
            <a:ext cx="6674760" cy="3977280"/>
          </a:xfrm>
          <a:prstGeom prst="roundRect">
            <a:avLst>
              <a:gd name="adj" fmla="val 1379"/>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48" name="Text 3"/>
          <p:cNvSpPr/>
          <p:nvPr/>
        </p:nvSpPr>
        <p:spPr>
          <a:xfrm>
            <a:off x="804600" y="1965960"/>
            <a:ext cx="6162840" cy="36115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from litellm import completion</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stream = completion(</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model="openai/gpt-4o-mini",</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messages=[...],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stream=True,          # the switch</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result = ""</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for chunk in stream:</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result += chunk.choices[0].delta.content or ""</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yield result          # the text so far</a:t>
            </a:r>
            <a:endParaRPr lang="en-IN" sz="1300" b="0" u="none" strike="noStrike">
              <a:solidFill>
                <a:srgbClr val="000000"/>
              </a:solidFill>
              <a:effectLst/>
              <a:uFillTx/>
              <a:latin typeface="Arial"/>
            </a:endParaRPr>
          </a:p>
        </p:txBody>
      </p:sp>
      <p:sp>
        <p:nvSpPr>
          <p:cNvPr id="49" name="Shape 4"/>
          <p:cNvSpPr/>
          <p:nvPr/>
        </p:nvSpPr>
        <p:spPr>
          <a:xfrm>
            <a:off x="7223760" y="1783080"/>
            <a:ext cx="4388760" cy="3977280"/>
          </a:xfrm>
          <a:prstGeom prst="roundRect">
            <a:avLst>
              <a:gd name="adj" fmla="val 2299"/>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0" name="Text 5"/>
          <p:cNvSpPr/>
          <p:nvPr/>
        </p:nvSpPr>
        <p:spPr>
          <a:xfrm>
            <a:off x="7498080" y="2011680"/>
            <a:ext cx="38401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6366F1"/>
                </a:solidFill>
                <a:effectLst/>
                <a:uFillTx/>
                <a:latin typeface="Calibri"/>
                <a:ea typeface="Calibri"/>
              </a:rPr>
              <a:t>Why stream?</a:t>
            </a:r>
            <a:endParaRPr lang="en-IN" sz="1800" b="0" u="none" strike="noStrike">
              <a:solidFill>
                <a:srgbClr val="000000"/>
              </a:solidFill>
              <a:effectLst/>
              <a:uFillTx/>
              <a:latin typeface="Arial"/>
            </a:endParaRPr>
          </a:p>
        </p:txBody>
      </p:sp>
      <p:sp>
        <p:nvSpPr>
          <p:cNvPr id="51" name="Text 6"/>
          <p:cNvSpPr/>
          <p:nvPr/>
        </p:nvSpPr>
        <p:spPr>
          <a:xfrm>
            <a:off x="7498080" y="2606040"/>
            <a:ext cx="3840120" cy="27428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feels instant — you read as it types</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essential for chat UIs (ChatGPT-style)</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the yield generator plugs straight into Gradio's ChatInterface</a:t>
            </a:r>
            <a:endParaRPr lang="en-IN" sz="1500" b="0" u="none" strike="noStrike">
              <a:solidFill>
                <a:srgbClr val="000000"/>
              </a:solidFill>
              <a:effectLst/>
              <a:uFillTx/>
              <a:latin typeface="Arial"/>
            </a:endParaRPr>
          </a:p>
        </p:txBody>
      </p:sp>
      <p:sp>
        <p:nvSpPr>
          <p:cNvPr id="52" name="Text 7"/>
          <p:cNvSpPr/>
          <p:nvPr/>
        </p:nvSpPr>
        <p:spPr>
          <a:xfrm>
            <a:off x="548640" y="59893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u="none" strike="noStrike">
                <a:solidFill>
                  <a:srgbClr val="1E293B"/>
                </a:solidFill>
                <a:effectLst/>
                <a:uFillTx/>
                <a:latin typeface="Calibri"/>
                <a:ea typeface="Calibri"/>
              </a:rPr>
              <a:t>Same call  +  </a:t>
            </a:r>
            <a:r>
              <a:rPr lang="en-US" sz="1500" b="1" u="none" strike="noStrike">
                <a:solidFill>
                  <a:srgbClr val="6366F1"/>
                </a:solidFill>
                <a:effectLst/>
                <a:uFillTx/>
                <a:latin typeface="Courier New"/>
                <a:ea typeface="Courier New"/>
              </a:rPr>
              <a:t>stream=True</a:t>
            </a:r>
            <a:r>
              <a:rPr lang="en-US" sz="1500" b="0" u="none" strike="noStrike">
                <a:solidFill>
                  <a:srgbClr val="1E293B"/>
                </a:solidFill>
                <a:effectLst/>
                <a:uFillTx/>
                <a:latin typeface="Calibri"/>
                <a:ea typeface="Calibri"/>
              </a:rPr>
              <a:t>  +  loop the chunks.</a:t>
            </a:r>
            <a:endParaRPr lang="en-IN" sz="1500" b="0" u="none" strike="noStrike">
              <a:solidFill>
                <a:srgbClr val="000000"/>
              </a:solidFill>
              <a:effectLst/>
              <a:uFillTx/>
              <a:latin typeface="Arial"/>
            </a:endParaRPr>
          </a:p>
        </p:txBody>
      </p:sp>
      <p:sp>
        <p:nvSpPr>
          <p:cNvPr id="53" name="Text 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54"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5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01</a:t>
            </a:r>
            <a:endParaRPr lang="en-IN" sz="9600" b="0" u="none" strike="noStrike">
              <a:solidFill>
                <a:srgbClr val="000000"/>
              </a:solidFill>
              <a:effectLst/>
              <a:uFillTx/>
              <a:latin typeface="Arial"/>
            </a:endParaRPr>
          </a:p>
        </p:txBody>
      </p:sp>
      <p:sp>
        <p:nvSpPr>
          <p:cNvPr id="5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Teaching by example</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Zero-shot vs few-shot</a:t>
            </a:r>
            <a:endParaRPr lang="en-IN" sz="3000" b="0" u="none" strike="noStrike">
              <a:solidFill>
                <a:srgbClr val="000000"/>
              </a:solidFill>
              <a:effectLst/>
              <a:uFillTx/>
              <a:latin typeface="Arial"/>
            </a:endParaRPr>
          </a:p>
        </p:txBody>
      </p:sp>
      <p:sp>
        <p:nvSpPr>
          <p:cNvPr id="58" name="Shape 1"/>
          <p:cNvSpPr/>
          <p:nvPr/>
        </p:nvSpPr>
        <p:spPr>
          <a:xfrm>
            <a:off x="548640" y="1737360"/>
            <a:ext cx="5394600" cy="3200040"/>
          </a:xfrm>
          <a:prstGeom prst="roundRect">
            <a:avLst>
              <a:gd name="adj" fmla="val 2857"/>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59" name="Text 2"/>
          <p:cNvSpPr/>
          <p:nvPr/>
        </p:nvSpPr>
        <p:spPr>
          <a:xfrm>
            <a:off x="86868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E293B"/>
                </a:solidFill>
                <a:effectLst/>
                <a:uFillTx/>
                <a:latin typeface="Calibri"/>
                <a:ea typeface="Calibri"/>
              </a:rPr>
              <a:t>Zero-shot</a:t>
            </a:r>
            <a:endParaRPr lang="en-IN" sz="2200" b="0" u="none" strike="noStrike">
              <a:solidFill>
                <a:srgbClr val="000000"/>
              </a:solidFill>
              <a:effectLst/>
              <a:uFillTx/>
              <a:latin typeface="Arial"/>
            </a:endParaRPr>
          </a:p>
        </p:txBody>
      </p:sp>
      <p:sp>
        <p:nvSpPr>
          <p:cNvPr id="60" name="Text 3"/>
          <p:cNvSpPr/>
          <p:nvPr/>
        </p:nvSpPr>
        <p:spPr>
          <a:xfrm>
            <a:off x="868680" y="246888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instructions only — no examples</a:t>
            </a:r>
            <a:endParaRPr lang="en-IN" sz="1500" b="0" u="none" strike="noStrike">
              <a:solidFill>
                <a:srgbClr val="000000"/>
              </a:solidFill>
              <a:effectLst/>
              <a:uFillTx/>
              <a:latin typeface="Arial"/>
            </a:endParaRPr>
          </a:p>
        </p:txBody>
      </p:sp>
      <p:sp>
        <p:nvSpPr>
          <p:cNvPr id="61" name="Text 4"/>
          <p:cNvSpPr/>
          <p:nvPr/>
        </p:nvSpPr>
        <p:spPr>
          <a:xfrm>
            <a:off x="868680" y="3063240"/>
            <a:ext cx="4754520" cy="17370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“Classify this ticket…”</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every prompt from Day 1</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the model guesses your intent</a:t>
            </a:r>
            <a:endParaRPr lang="en-IN" sz="1500" b="0" u="none" strike="noStrike">
              <a:solidFill>
                <a:srgbClr val="000000"/>
              </a:solidFill>
              <a:effectLst/>
              <a:uFillTx/>
              <a:latin typeface="Arial"/>
            </a:endParaRPr>
          </a:p>
        </p:txBody>
      </p:sp>
      <p:sp>
        <p:nvSpPr>
          <p:cNvPr id="62" name="Shape 5"/>
          <p:cNvSpPr/>
          <p:nvPr/>
        </p:nvSpPr>
        <p:spPr>
          <a:xfrm>
            <a:off x="6172200" y="1737360"/>
            <a:ext cx="5394600" cy="3200040"/>
          </a:xfrm>
          <a:prstGeom prst="roundRect">
            <a:avLst>
              <a:gd name="adj" fmla="val 285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63" name="Text 6"/>
          <p:cNvSpPr/>
          <p:nvPr/>
        </p:nvSpPr>
        <p:spPr>
          <a:xfrm>
            <a:off x="649224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6366F1"/>
                </a:solidFill>
                <a:effectLst/>
                <a:uFillTx/>
                <a:latin typeface="Calibri"/>
                <a:ea typeface="Calibri"/>
              </a:rPr>
              <a:t>Few-shot</a:t>
            </a:r>
            <a:endParaRPr lang="en-IN" sz="2200" b="0" u="none" strike="noStrike">
              <a:solidFill>
                <a:srgbClr val="000000"/>
              </a:solidFill>
              <a:effectLst/>
              <a:uFillTx/>
              <a:latin typeface="Arial"/>
            </a:endParaRPr>
          </a:p>
        </p:txBody>
      </p:sp>
      <p:sp>
        <p:nvSpPr>
          <p:cNvPr id="64" name="Text 7"/>
          <p:cNvSpPr/>
          <p:nvPr/>
        </p:nvSpPr>
        <p:spPr>
          <a:xfrm>
            <a:off x="6492240" y="246888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show a few input → output examples</a:t>
            </a:r>
            <a:endParaRPr lang="en-IN" sz="1500" b="0" u="none" strike="noStrike">
              <a:solidFill>
                <a:srgbClr val="000000"/>
              </a:solidFill>
              <a:effectLst/>
              <a:uFillTx/>
              <a:latin typeface="Arial"/>
            </a:endParaRPr>
          </a:p>
        </p:txBody>
      </p:sp>
      <p:sp>
        <p:nvSpPr>
          <p:cNvPr id="65" name="Text 8"/>
          <p:cNvSpPr/>
          <p:nvPr/>
        </p:nvSpPr>
        <p:spPr>
          <a:xfrm>
            <a:off x="6492240" y="3063240"/>
            <a:ext cx="4754520" cy="17370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“crashes on open → urgent”</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“change photo? → normal”</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the model copies the pattern</a:t>
            </a:r>
            <a:endParaRPr lang="en-IN" sz="1500" b="0" u="none" strike="noStrike">
              <a:solidFill>
                <a:srgbClr val="000000"/>
              </a:solidFill>
              <a:effectLst/>
              <a:uFillTx/>
              <a:latin typeface="Arial"/>
            </a:endParaRPr>
          </a:p>
        </p:txBody>
      </p:sp>
      <p:sp>
        <p:nvSpPr>
          <p:cNvPr id="66" name="Text 9"/>
          <p:cNvSpPr/>
          <p:nvPr/>
        </p:nvSpPr>
        <p:spPr>
          <a:xfrm>
            <a:off x="548640" y="521208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In-context learning:  </a:t>
            </a:r>
            <a:r>
              <a:rPr lang="en-US" sz="1600" b="0" u="none" strike="noStrike">
                <a:solidFill>
                  <a:srgbClr val="1E293B"/>
                </a:solidFill>
                <a:effectLst/>
                <a:uFillTx/>
                <a:latin typeface="Calibri"/>
                <a:ea typeface="Calibri"/>
              </a:rPr>
              <a:t>you teach a brand-new task inside the prompt, at runtime — no retraining, no code.</a:t>
            </a:r>
            <a:endParaRPr lang="en-IN" sz="1600" b="0" u="none" strike="noStrike">
              <a:solidFill>
                <a:srgbClr val="000000"/>
              </a:solidFill>
              <a:effectLst/>
              <a:uFillTx/>
              <a:latin typeface="Arial"/>
            </a:endParaRPr>
          </a:p>
        </p:txBody>
      </p:sp>
      <p:sp>
        <p:nvSpPr>
          <p:cNvPr id="67" name="Text 10"/>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68"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Few-shot in action — a custom classifier</a:t>
            </a:r>
            <a:endParaRPr lang="en-IN" sz="3000" b="0" u="none" strike="noStrike">
              <a:solidFill>
                <a:srgbClr val="000000"/>
              </a:solidFill>
              <a:effectLst/>
              <a:uFillTx/>
              <a:latin typeface="Arial"/>
            </a:endParaRPr>
          </a:p>
        </p:txBody>
      </p:sp>
      <p:sp>
        <p:nvSpPr>
          <p:cNvPr id="70" name="Shape 1"/>
          <p:cNvSpPr/>
          <p:nvPr/>
        </p:nvSpPr>
        <p:spPr>
          <a:xfrm>
            <a:off x="548640" y="1691640"/>
            <a:ext cx="5394600" cy="3200040"/>
          </a:xfrm>
          <a:prstGeom prst="roundRect">
            <a:avLst>
              <a:gd name="adj" fmla="val 285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1" name="Text 2"/>
          <p:cNvSpPr/>
          <p:nvPr/>
        </p:nvSpPr>
        <p:spPr>
          <a:xfrm>
            <a:off x="868680" y="1874520"/>
            <a:ext cx="4571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ZERO-SHOT</a:t>
            </a:r>
            <a:endParaRPr lang="en-IN" sz="1400" b="0" u="none" strike="noStrike">
              <a:solidFill>
                <a:srgbClr val="000000"/>
              </a:solidFill>
              <a:effectLst/>
              <a:uFillTx/>
              <a:latin typeface="Arial"/>
            </a:endParaRPr>
          </a:p>
        </p:txBody>
      </p:sp>
      <p:sp>
        <p:nvSpPr>
          <p:cNvPr id="72" name="Text 3"/>
          <p:cNvSpPr/>
          <p:nvPr/>
        </p:nvSpPr>
        <p:spPr>
          <a:xfrm>
            <a:off x="868680" y="2286000"/>
            <a:ext cx="47545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“Classify this support ticket:</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 the app crashes every time I open it”</a:t>
            </a:r>
            <a:endParaRPr lang="en-IN" sz="1250" b="0" u="none" strike="noStrike">
              <a:solidFill>
                <a:srgbClr val="000000"/>
              </a:solidFill>
              <a:effectLst/>
              <a:uFillTx/>
              <a:latin typeface="Arial"/>
            </a:endParaRPr>
          </a:p>
        </p:txBody>
      </p:sp>
      <p:sp>
        <p:nvSpPr>
          <p:cNvPr id="73" name="Text 4"/>
          <p:cNvSpPr/>
          <p:nvPr/>
        </p:nvSpPr>
        <p:spPr>
          <a:xfrm>
            <a:off x="868680" y="3657600"/>
            <a:ext cx="4754520" cy="1005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4748B"/>
                </a:solidFill>
                <a:effectLst/>
                <a:uFillTx/>
                <a:latin typeface="Calibri"/>
                <a:ea typeface="Calibri"/>
              </a:rPr>
              <a:t>→ “This looks like a technical issue.”</a:t>
            </a:r>
            <a:endParaRPr lang="en-IN" sz="1300" b="0" u="none" strike="noStrike">
              <a:solidFill>
                <a:srgbClr val="000000"/>
              </a:solidFill>
              <a:effectLst/>
              <a:uFillTx/>
              <a:latin typeface="Arial"/>
            </a:endParaRPr>
          </a:p>
          <a:p>
            <a:pPr defTabSz="914400">
              <a:lnSpc>
                <a:spcPct val="100000"/>
              </a:lnSpc>
              <a:tabLst>
                <a:tab pos="0" algn="l"/>
              </a:tabLst>
            </a:pPr>
            <a:r>
              <a:rPr lang="en-US" sz="1300" b="0" i="1" u="none" strike="noStrike">
                <a:solidFill>
                  <a:srgbClr val="64748B"/>
                </a:solidFill>
                <a:effectLst/>
                <a:uFillTx/>
                <a:latin typeface="Calibri"/>
                <a:ea typeface="Calibri"/>
              </a:rPr>
              <a:t>   (its own words — not your labels)</a:t>
            </a:r>
            <a:endParaRPr lang="en-IN" sz="1300" b="0" u="none" strike="noStrike">
              <a:solidFill>
                <a:srgbClr val="000000"/>
              </a:solidFill>
              <a:effectLst/>
              <a:uFillTx/>
              <a:latin typeface="Arial"/>
            </a:endParaRPr>
          </a:p>
        </p:txBody>
      </p:sp>
      <p:sp>
        <p:nvSpPr>
          <p:cNvPr id="74" name="Shape 5"/>
          <p:cNvSpPr/>
          <p:nvPr/>
        </p:nvSpPr>
        <p:spPr>
          <a:xfrm>
            <a:off x="6263640" y="1691640"/>
            <a:ext cx="5394600" cy="3200040"/>
          </a:xfrm>
          <a:prstGeom prst="roundRect">
            <a:avLst>
              <a:gd name="adj" fmla="val 2857"/>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75" name="Text 6"/>
          <p:cNvSpPr/>
          <p:nvPr/>
        </p:nvSpPr>
        <p:spPr>
          <a:xfrm>
            <a:off x="6583680" y="1874520"/>
            <a:ext cx="4571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5803D"/>
                </a:solidFill>
                <a:effectLst/>
                <a:uFillTx/>
                <a:latin typeface="Calibri"/>
                <a:ea typeface="Calibri"/>
              </a:rPr>
              <a:t>FEW-SHOT</a:t>
            </a:r>
            <a:endParaRPr lang="en-IN" sz="1400" b="0" u="none" strike="noStrike">
              <a:solidFill>
                <a:srgbClr val="000000"/>
              </a:solidFill>
              <a:effectLst/>
              <a:uFillTx/>
              <a:latin typeface="Arial"/>
            </a:endParaRPr>
          </a:p>
        </p:txBody>
      </p:sp>
      <p:sp>
        <p:nvSpPr>
          <p:cNvPr id="76" name="Text 7"/>
          <p:cNvSpPr/>
          <p:nvPr/>
        </p:nvSpPr>
        <p:spPr>
          <a:xfrm>
            <a:off x="6583680" y="2286000"/>
            <a:ext cx="4845960" cy="1554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crashes on open        → urgent</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change profile photo?  → normal</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you WON a free iPhone  → spam</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the app crashes …      →</a:t>
            </a:r>
            <a:endParaRPr lang="en-IN" sz="1250" b="0" u="none" strike="noStrike">
              <a:solidFill>
                <a:srgbClr val="000000"/>
              </a:solidFill>
              <a:effectLst/>
              <a:uFillTx/>
              <a:latin typeface="Arial"/>
            </a:endParaRPr>
          </a:p>
        </p:txBody>
      </p:sp>
      <p:sp>
        <p:nvSpPr>
          <p:cNvPr id="77" name="Text 8"/>
          <p:cNvSpPr/>
          <p:nvPr/>
        </p:nvSpPr>
        <p:spPr>
          <a:xfrm>
            <a:off x="6583680" y="416052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15803D"/>
                </a:solidFill>
                <a:effectLst/>
                <a:uFillTx/>
                <a:latin typeface="Calibri"/>
                <a:ea typeface="Calibri"/>
              </a:rPr>
              <a:t>→ urgent   (exactly your label)</a:t>
            </a:r>
            <a:endParaRPr lang="en-IN" sz="1300" b="0" u="none" strike="noStrike">
              <a:solidFill>
                <a:srgbClr val="000000"/>
              </a:solidFill>
              <a:effectLst/>
              <a:uFillTx/>
              <a:latin typeface="Arial"/>
            </a:endParaRPr>
          </a:p>
        </p:txBody>
      </p:sp>
      <p:sp>
        <p:nvSpPr>
          <p:cNvPr id="78" name="Text 9"/>
          <p:cNvSpPr/>
          <p:nvPr/>
        </p:nvSpPr>
        <p:spPr>
          <a:xfrm>
            <a:off x="548640" y="516636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Same model.  </a:t>
            </a:r>
            <a:r>
              <a:rPr lang="en-US" sz="1700" b="0" u="none" strike="noStrike">
                <a:solidFill>
                  <a:srgbClr val="1E293B"/>
                </a:solidFill>
                <a:effectLst/>
                <a:uFillTx/>
                <a:latin typeface="Calibri"/>
                <a:ea typeface="Calibri"/>
              </a:rPr>
              <a:t>The three examples did the teaching.</a:t>
            </a:r>
            <a:endParaRPr lang="en-IN" sz="1700" b="0" u="none" strike="noStrike">
              <a:solidFill>
                <a:srgbClr val="000000"/>
              </a:solidFill>
              <a:effectLst/>
              <a:uFillTx/>
              <a:latin typeface="Arial"/>
            </a:endParaRPr>
          </a:p>
        </p:txBody>
      </p:sp>
      <p:sp>
        <p:nvSpPr>
          <p:cNvPr id="79" name="Text 10"/>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80"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When to reach for few-shot — and the traps</a:t>
            </a:r>
            <a:endParaRPr lang="en-IN" sz="3000" b="0" u="none" strike="noStrike">
              <a:solidFill>
                <a:srgbClr val="000000"/>
              </a:solidFill>
              <a:effectLst/>
              <a:uFillTx/>
              <a:latin typeface="Arial"/>
            </a:endParaRPr>
          </a:p>
        </p:txBody>
      </p:sp>
      <p:sp>
        <p:nvSpPr>
          <p:cNvPr id="82" name="Shape 1"/>
          <p:cNvSpPr/>
          <p:nvPr/>
        </p:nvSpPr>
        <p:spPr>
          <a:xfrm>
            <a:off x="548640" y="1737360"/>
            <a:ext cx="5394600" cy="3565800"/>
          </a:xfrm>
          <a:prstGeom prst="roundRect">
            <a:avLst>
              <a:gd name="adj" fmla="val 2564"/>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3" name="Text 2"/>
          <p:cNvSpPr/>
          <p:nvPr/>
        </p:nvSpPr>
        <p:spPr>
          <a:xfrm>
            <a:off x="86868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366F1"/>
                </a:solidFill>
                <a:effectLst/>
                <a:uFillTx/>
                <a:latin typeface="Calibri"/>
                <a:ea typeface="Calibri"/>
              </a:rPr>
              <a:t>Reach for it when…</a:t>
            </a:r>
            <a:endParaRPr lang="en-IN" sz="1900" b="0" u="none" strike="noStrike">
              <a:solidFill>
                <a:srgbClr val="000000"/>
              </a:solidFill>
              <a:effectLst/>
              <a:uFillTx/>
              <a:latin typeface="Arial"/>
            </a:endParaRPr>
          </a:p>
        </p:txBody>
      </p:sp>
      <p:sp>
        <p:nvSpPr>
          <p:cNvPr id="84" name="Text 3"/>
          <p:cNvSpPr/>
          <p:nvPr/>
        </p:nvSpPr>
        <p:spPr>
          <a:xfrm>
            <a:off x="868680" y="2606040"/>
            <a:ext cx="4754520" cy="25599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a custom label set or category</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a specific format or house style</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a tone/voice to match</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easier to show than to describe</a:t>
            </a:r>
            <a:endParaRPr lang="en-IN" sz="1550" b="0" u="none" strike="noStrike">
              <a:solidFill>
                <a:srgbClr val="000000"/>
              </a:solidFill>
              <a:effectLst/>
              <a:uFillTx/>
              <a:latin typeface="Arial"/>
            </a:endParaRPr>
          </a:p>
        </p:txBody>
      </p:sp>
      <p:sp>
        <p:nvSpPr>
          <p:cNvPr id="85" name="Shape 4"/>
          <p:cNvSpPr/>
          <p:nvPr/>
        </p:nvSpPr>
        <p:spPr>
          <a:xfrm>
            <a:off x="6172200" y="1737360"/>
            <a:ext cx="5394600" cy="3565800"/>
          </a:xfrm>
          <a:prstGeom prst="roundRect">
            <a:avLst>
              <a:gd name="adj" fmla="val 2564"/>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86" name="Text 5"/>
          <p:cNvSpPr/>
          <p:nvPr/>
        </p:nvSpPr>
        <p:spPr>
          <a:xfrm>
            <a:off x="649224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B91C1C"/>
                </a:solidFill>
                <a:effectLst/>
                <a:uFillTx/>
                <a:latin typeface="Calibri"/>
                <a:ea typeface="Calibri"/>
              </a:rPr>
              <a:t>Watch out for…</a:t>
            </a:r>
            <a:endParaRPr lang="en-IN" sz="1900" b="0" u="none" strike="noStrike">
              <a:solidFill>
                <a:srgbClr val="000000"/>
              </a:solidFill>
              <a:effectLst/>
              <a:uFillTx/>
              <a:latin typeface="Arial"/>
            </a:endParaRPr>
          </a:p>
        </p:txBody>
      </p:sp>
      <p:sp>
        <p:nvSpPr>
          <p:cNvPr id="87" name="Text 6"/>
          <p:cNvSpPr/>
          <p:nvPr/>
        </p:nvSpPr>
        <p:spPr>
          <a:xfrm>
            <a:off x="6492240" y="2606040"/>
            <a:ext cx="4754520" cy="255996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imbalanced examples bias the answer</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order can sway the model</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example format IS the spec</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every example costs tokens each call</a:t>
            </a:r>
            <a:endParaRPr lang="en-IN" sz="1550" b="0" u="none" strike="noStrike">
              <a:solidFill>
                <a:srgbClr val="000000"/>
              </a:solidFill>
              <a:effectLst/>
              <a:uFillTx/>
              <a:latin typeface="Arial"/>
            </a:endParaRPr>
          </a:p>
        </p:txBody>
      </p:sp>
      <p:sp>
        <p:nvSpPr>
          <p:cNvPr id="88" name="Text 7"/>
          <p:cNvSpPr/>
          <p:nvPr/>
        </p:nvSpPr>
        <p:spPr>
          <a:xfrm>
            <a:off x="548640" y="55321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64748B"/>
                </a:solidFill>
                <a:effectLst/>
                <a:uFillTx/>
                <a:latin typeface="Calibri"/>
                <a:ea typeface="Calibri"/>
              </a:rPr>
              <a:t>Rule of thumb: 2–5 balanced examples. Start at 3.</a:t>
            </a:r>
            <a:endParaRPr lang="en-IN" sz="1500" b="0" u="none" strike="noStrike">
              <a:solidFill>
                <a:srgbClr val="000000"/>
              </a:solidFill>
              <a:effectLst/>
              <a:uFillTx/>
              <a:latin typeface="Arial"/>
            </a:endParaRPr>
          </a:p>
        </p:txBody>
      </p:sp>
      <p:sp>
        <p:nvSpPr>
          <p:cNvPr id="89" name="Text 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90"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92"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E293B"/>
                </a:solidFill>
                <a:effectLst/>
                <a:uFillTx/>
                <a:latin typeface="Calibri"/>
                <a:ea typeface="Calibri"/>
              </a:rPr>
              <a:t>When is few-shot prompting most useful?</a:t>
            </a:r>
            <a:endParaRPr lang="en-IN" sz="2600" b="0" u="none" strike="noStrike">
              <a:solidFill>
                <a:srgbClr val="000000"/>
              </a:solidFill>
              <a:effectLst/>
              <a:uFillTx/>
              <a:latin typeface="Arial"/>
            </a:endParaRPr>
          </a:p>
        </p:txBody>
      </p:sp>
      <p:sp>
        <p:nvSpPr>
          <p:cNvPr id="93"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4"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95"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When you want the shortest possible prompt</a:t>
            </a:r>
            <a:endParaRPr lang="en-IN" sz="1800" b="0" u="none" strike="noStrike">
              <a:solidFill>
                <a:srgbClr val="000000"/>
              </a:solidFill>
              <a:effectLst/>
              <a:uFillTx/>
              <a:latin typeface="Arial"/>
            </a:endParaRPr>
          </a:p>
        </p:txBody>
      </p:sp>
      <p:sp>
        <p:nvSpPr>
          <p:cNvPr id="96"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97"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98"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When you need a custom label set, format, or tone</a:t>
            </a:r>
            <a:endParaRPr lang="en-IN" sz="1800" b="0" u="none" strike="noStrike">
              <a:solidFill>
                <a:srgbClr val="000000"/>
              </a:solidFill>
              <a:effectLst/>
              <a:uFillTx/>
              <a:latin typeface="Arial"/>
            </a:endParaRPr>
          </a:p>
        </p:txBody>
      </p:sp>
      <p:sp>
        <p:nvSpPr>
          <p:cNvPr id="99"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0"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01"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When the model must fetch live data</a:t>
            </a:r>
            <a:endParaRPr lang="en-IN" sz="1800" b="0" u="none" strike="noStrike">
              <a:solidFill>
                <a:srgbClr val="000000"/>
              </a:solidFill>
              <a:effectLst/>
              <a:uFillTx/>
              <a:latin typeface="Arial"/>
            </a:endParaRPr>
          </a:p>
        </p:txBody>
      </p:sp>
      <p:sp>
        <p:nvSpPr>
          <p:cNvPr id="102"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03"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04"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When you want to lower token cost</a:t>
            </a:r>
            <a:endParaRPr lang="en-IN" sz="1800" b="0" u="none" strike="noStrike">
              <a:solidFill>
                <a:srgbClr val="000000"/>
              </a:solidFill>
              <a:effectLst/>
              <a:uFillTx/>
              <a:latin typeface="Arial"/>
            </a:endParaRPr>
          </a:p>
        </p:txBody>
      </p:sp>
      <p:sp>
        <p:nvSpPr>
          <p:cNvPr id="105"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0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10</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07"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02</a:t>
            </a:r>
            <a:endParaRPr lang="en-IN" sz="9600" b="0" u="none" strike="noStrike">
              <a:solidFill>
                <a:srgbClr val="000000"/>
              </a:solidFill>
              <a:effectLst/>
              <a:uFillTx/>
              <a:latin typeface="Arial"/>
            </a:endParaRPr>
          </a:p>
        </p:txBody>
      </p:sp>
      <p:sp>
        <p:nvSpPr>
          <p:cNvPr id="108"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Reasoning on demand</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Chain-of-thought — room to think</a:t>
            </a:r>
            <a:endParaRPr lang="en-IN" sz="3000" b="0" u="none" strike="noStrike">
              <a:solidFill>
                <a:srgbClr val="000000"/>
              </a:solidFill>
              <a:effectLst/>
              <a:uFillTx/>
              <a:latin typeface="Arial"/>
            </a:endParaRPr>
          </a:p>
        </p:txBody>
      </p:sp>
      <p:sp>
        <p:nvSpPr>
          <p:cNvPr id="110" name="Text 1"/>
          <p:cNvSpPr/>
          <p:nvPr/>
        </p:nvSpPr>
        <p:spPr>
          <a:xfrm>
            <a:off x="548640" y="128016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1E293B"/>
                </a:solidFill>
                <a:effectLst/>
                <a:uFillTx/>
                <a:latin typeface="Courier New"/>
                <a:ea typeface="Courier New"/>
              </a:rPr>
              <a:t>“A shop had 23 apples, sold 17, got 40 more, then sold half. How many now?”</a:t>
            </a:r>
            <a:endParaRPr lang="en-IN" sz="1350" b="0" u="none" strike="noStrike">
              <a:solidFill>
                <a:srgbClr val="000000"/>
              </a:solidFill>
              <a:effectLst/>
              <a:uFillTx/>
              <a:latin typeface="Arial"/>
            </a:endParaRPr>
          </a:p>
        </p:txBody>
      </p:sp>
      <p:sp>
        <p:nvSpPr>
          <p:cNvPr id="111" name="Shape 2"/>
          <p:cNvSpPr/>
          <p:nvPr/>
        </p:nvSpPr>
        <p:spPr>
          <a:xfrm>
            <a:off x="548640" y="1920240"/>
            <a:ext cx="5394600" cy="2742840"/>
          </a:xfrm>
          <a:prstGeom prst="roundRect">
            <a:avLst>
              <a:gd name="adj" fmla="val 3333"/>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2" name="Text 3"/>
          <p:cNvSpPr/>
          <p:nvPr/>
        </p:nvSpPr>
        <p:spPr>
          <a:xfrm>
            <a:off x="868680" y="2103120"/>
            <a:ext cx="4571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B91C1C"/>
                </a:solidFill>
                <a:effectLst/>
                <a:uFillTx/>
                <a:latin typeface="Calibri"/>
                <a:ea typeface="Calibri"/>
              </a:rPr>
              <a:t>ANSWER NOW</a:t>
            </a:r>
            <a:endParaRPr lang="en-IN" sz="1400" b="0" u="none" strike="noStrike">
              <a:solidFill>
                <a:srgbClr val="000000"/>
              </a:solidFill>
              <a:effectLst/>
              <a:uFillTx/>
              <a:latin typeface="Arial"/>
            </a:endParaRPr>
          </a:p>
        </p:txBody>
      </p:sp>
      <p:sp>
        <p:nvSpPr>
          <p:cNvPr id="113" name="Text 4"/>
          <p:cNvSpPr/>
          <p:nvPr/>
        </p:nvSpPr>
        <p:spPr>
          <a:xfrm>
            <a:off x="868680" y="256032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“Reply with only the number.”</a:t>
            </a:r>
            <a:endParaRPr lang="en-IN" sz="1250" b="0" u="none" strike="noStrike">
              <a:solidFill>
                <a:srgbClr val="000000"/>
              </a:solidFill>
              <a:effectLst/>
              <a:uFillTx/>
              <a:latin typeface="Arial"/>
            </a:endParaRPr>
          </a:p>
        </p:txBody>
      </p:sp>
      <p:sp>
        <p:nvSpPr>
          <p:cNvPr id="114" name="Text 5"/>
          <p:cNvSpPr/>
          <p:nvPr/>
        </p:nvSpPr>
        <p:spPr>
          <a:xfrm>
            <a:off x="868680" y="3383280"/>
            <a:ext cx="4754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 30   ✗  (a confident guess)</a:t>
            </a:r>
            <a:endParaRPr lang="en-IN" sz="1500" b="0" u="none" strike="noStrike">
              <a:solidFill>
                <a:srgbClr val="000000"/>
              </a:solidFill>
              <a:effectLst/>
              <a:uFillTx/>
              <a:latin typeface="Arial"/>
            </a:endParaRPr>
          </a:p>
        </p:txBody>
      </p:sp>
      <p:sp>
        <p:nvSpPr>
          <p:cNvPr id="115" name="Shape 6"/>
          <p:cNvSpPr/>
          <p:nvPr/>
        </p:nvSpPr>
        <p:spPr>
          <a:xfrm>
            <a:off x="6263640" y="1920240"/>
            <a:ext cx="5394600" cy="2742840"/>
          </a:xfrm>
          <a:prstGeom prst="roundRect">
            <a:avLst>
              <a:gd name="adj" fmla="val 3333"/>
            </a:avLst>
          </a:prstGeom>
          <a:solidFill>
            <a:srgbClr val="F0FDF4"/>
          </a:solidFill>
          <a:ln w="12700">
            <a:solidFill>
              <a:srgbClr val="BBF7D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16" name="Text 7"/>
          <p:cNvSpPr/>
          <p:nvPr/>
        </p:nvSpPr>
        <p:spPr>
          <a:xfrm>
            <a:off x="6583680" y="2103120"/>
            <a:ext cx="45716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trike="noStrike">
                <a:solidFill>
                  <a:srgbClr val="15803D"/>
                </a:solidFill>
                <a:effectLst/>
                <a:uFillTx/>
                <a:latin typeface="Calibri"/>
                <a:ea typeface="Calibri"/>
              </a:rPr>
              <a:t>THINK STEP BY STEP</a:t>
            </a:r>
            <a:endParaRPr lang="en-IN" sz="1400" b="0" u="none" strike="noStrike">
              <a:solidFill>
                <a:srgbClr val="000000"/>
              </a:solidFill>
              <a:effectLst/>
              <a:uFillTx/>
              <a:latin typeface="Arial"/>
            </a:endParaRPr>
          </a:p>
        </p:txBody>
      </p:sp>
      <p:sp>
        <p:nvSpPr>
          <p:cNvPr id="117" name="Text 8"/>
          <p:cNvSpPr/>
          <p:nvPr/>
        </p:nvSpPr>
        <p:spPr>
          <a:xfrm>
            <a:off x="6583680" y="2560320"/>
            <a:ext cx="4754520" cy="1096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0" u="none" strike="noStrike">
                <a:solidFill>
                  <a:srgbClr val="1E293B"/>
                </a:solidFill>
                <a:effectLst/>
                <a:uFillTx/>
                <a:latin typeface="Courier New"/>
                <a:ea typeface="Courier New"/>
              </a:rPr>
              <a:t>23 − 17 = 6</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6 + 40 = 46</a:t>
            </a:r>
            <a:endParaRPr lang="en-IN" sz="1250" b="0" u="none" strike="noStrike">
              <a:solidFill>
                <a:srgbClr val="000000"/>
              </a:solidFill>
              <a:effectLst/>
              <a:uFillTx/>
              <a:latin typeface="Arial"/>
            </a:endParaRPr>
          </a:p>
          <a:p>
            <a:pPr defTabSz="914400">
              <a:lnSpc>
                <a:spcPct val="100000"/>
              </a:lnSpc>
              <a:tabLst>
                <a:tab pos="0" algn="l"/>
              </a:tabLst>
            </a:pPr>
            <a:r>
              <a:rPr lang="en-US" sz="1250" b="0" u="none" strike="noStrike">
                <a:solidFill>
                  <a:srgbClr val="1E293B"/>
                </a:solidFill>
                <a:effectLst/>
                <a:uFillTx/>
                <a:latin typeface="Courier New"/>
                <a:ea typeface="Courier New"/>
              </a:rPr>
              <a:t>46 ÷ 2 = 23</a:t>
            </a:r>
            <a:endParaRPr lang="en-IN" sz="1250" b="0" u="none" strike="noStrike">
              <a:solidFill>
                <a:srgbClr val="000000"/>
              </a:solidFill>
              <a:effectLst/>
              <a:uFillTx/>
              <a:latin typeface="Arial"/>
            </a:endParaRPr>
          </a:p>
        </p:txBody>
      </p:sp>
      <p:sp>
        <p:nvSpPr>
          <p:cNvPr id="118" name="Text 9"/>
          <p:cNvSpPr/>
          <p:nvPr/>
        </p:nvSpPr>
        <p:spPr>
          <a:xfrm>
            <a:off x="6583680" y="397764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5803D"/>
                </a:solidFill>
                <a:effectLst/>
                <a:uFillTx/>
                <a:latin typeface="Calibri"/>
                <a:ea typeface="Calibri"/>
              </a:rPr>
              <a:t>→ 23   ✓</a:t>
            </a:r>
            <a:endParaRPr lang="en-IN" sz="1500" b="0" u="none" strike="noStrike">
              <a:solidFill>
                <a:srgbClr val="000000"/>
              </a:solidFill>
              <a:effectLst/>
              <a:uFillTx/>
              <a:latin typeface="Arial"/>
            </a:endParaRPr>
          </a:p>
        </p:txBody>
      </p:sp>
      <p:sp>
        <p:nvSpPr>
          <p:cNvPr id="119" name="Text 10"/>
          <p:cNvSpPr/>
          <p:nvPr/>
        </p:nvSpPr>
        <p:spPr>
          <a:xfrm>
            <a:off x="548640" y="502920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64748B"/>
                </a:solidFill>
                <a:effectLst/>
                <a:uFillTx/>
                <a:latin typeface="Calibri"/>
                <a:ea typeface="Calibri"/>
              </a:rPr>
              <a:t>The reasoning tokens are the model working on paper instead of guessing the last line.</a:t>
            </a:r>
            <a:endParaRPr lang="en-IN" sz="1600" b="0" u="none" strike="noStrike">
              <a:solidFill>
                <a:srgbClr val="000000"/>
              </a:solidFill>
              <a:effectLst/>
              <a:uFillTx/>
              <a:latin typeface="Arial"/>
            </a:endParaRPr>
          </a:p>
        </p:txBody>
      </p:sp>
      <p:sp>
        <p:nvSpPr>
          <p:cNvPr id="120" name="Text 1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21"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Reasoning models — thinking built in</a:t>
            </a:r>
            <a:endParaRPr lang="en-IN" sz="3000" b="0" u="none" strike="noStrike">
              <a:solidFill>
                <a:srgbClr val="000000"/>
              </a:solidFill>
              <a:effectLst/>
              <a:uFillTx/>
              <a:latin typeface="Arial"/>
            </a:endParaRPr>
          </a:p>
        </p:txBody>
      </p:sp>
      <p:sp>
        <p:nvSpPr>
          <p:cNvPr id="123" name="Text 1"/>
          <p:cNvSpPr/>
          <p:nvPr/>
        </p:nvSpPr>
        <p:spPr>
          <a:xfrm>
            <a:off x="548640" y="12344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64748B"/>
                </a:solidFill>
                <a:effectLst/>
                <a:uFillTx/>
                <a:latin typeface="Calibri"/>
                <a:ea typeface="Calibri"/>
              </a:rPr>
              <a:t>Newer models reason internally before answering — CoT is baked in.</a:t>
            </a:r>
            <a:endParaRPr lang="en-IN" sz="1600" b="0" u="none" strike="noStrike">
              <a:solidFill>
                <a:srgbClr val="000000"/>
              </a:solidFill>
              <a:effectLst/>
              <a:uFillTx/>
              <a:latin typeface="Arial"/>
            </a:endParaRPr>
          </a:p>
        </p:txBody>
      </p:sp>
      <p:sp>
        <p:nvSpPr>
          <p:cNvPr id="124" name="Shape 2"/>
          <p:cNvSpPr/>
          <p:nvPr/>
        </p:nvSpPr>
        <p:spPr>
          <a:xfrm>
            <a:off x="548640" y="1828800"/>
            <a:ext cx="3474360" cy="1142640"/>
          </a:xfrm>
          <a:prstGeom prst="roundRect">
            <a:avLst>
              <a:gd name="adj" fmla="val 8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5" name="Text 3"/>
          <p:cNvSpPr/>
          <p:nvPr/>
        </p:nvSpPr>
        <p:spPr>
          <a:xfrm>
            <a:off x="548640" y="1828800"/>
            <a:ext cx="3474360" cy="1142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E293B"/>
                </a:solidFill>
                <a:effectLst/>
                <a:uFillTx/>
                <a:latin typeface="Calibri"/>
                <a:ea typeface="Calibri"/>
              </a:rPr>
              <a:t>GPT-5 “thinking”</a:t>
            </a:r>
            <a:endParaRPr lang="en-IN" sz="1500" b="0" u="none" strike="noStrike">
              <a:solidFill>
                <a:srgbClr val="000000"/>
              </a:solidFill>
              <a:effectLst/>
              <a:uFillTx/>
              <a:latin typeface="Arial"/>
            </a:endParaRPr>
          </a:p>
          <a:p>
            <a:pPr algn="ctr" defTabSz="914400">
              <a:lnSpc>
                <a:spcPct val="100000"/>
              </a:lnSpc>
              <a:tabLst>
                <a:tab pos="0" algn="l"/>
              </a:tabLst>
            </a:pPr>
            <a:r>
              <a:rPr lang="en-US" sz="1500" b="1" u="none" strike="noStrike">
                <a:solidFill>
                  <a:srgbClr val="1E293B"/>
                </a:solidFill>
                <a:effectLst/>
                <a:uFillTx/>
                <a:latin typeface="Calibri"/>
                <a:ea typeface="Calibri"/>
              </a:rPr>
              <a:t>OpenAI</a:t>
            </a:r>
            <a:endParaRPr lang="en-IN" sz="1500" b="0" u="none" strike="noStrike">
              <a:solidFill>
                <a:srgbClr val="000000"/>
              </a:solidFill>
              <a:effectLst/>
              <a:uFillTx/>
              <a:latin typeface="Arial"/>
            </a:endParaRPr>
          </a:p>
        </p:txBody>
      </p:sp>
      <p:sp>
        <p:nvSpPr>
          <p:cNvPr id="126" name="Shape 4"/>
          <p:cNvSpPr/>
          <p:nvPr/>
        </p:nvSpPr>
        <p:spPr>
          <a:xfrm>
            <a:off x="4343400" y="1828800"/>
            <a:ext cx="3474360" cy="1142640"/>
          </a:xfrm>
          <a:prstGeom prst="roundRect">
            <a:avLst>
              <a:gd name="adj" fmla="val 8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7" name="Text 5"/>
          <p:cNvSpPr/>
          <p:nvPr/>
        </p:nvSpPr>
        <p:spPr>
          <a:xfrm>
            <a:off x="4343400" y="1828800"/>
            <a:ext cx="3474360" cy="1142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E293B"/>
                </a:solidFill>
                <a:effectLst/>
                <a:uFillTx/>
                <a:latin typeface="Calibri"/>
                <a:ea typeface="Calibri"/>
              </a:rPr>
              <a:t>Gemini “thinking”</a:t>
            </a:r>
            <a:endParaRPr lang="en-IN" sz="1500" b="0" u="none" strike="noStrike">
              <a:solidFill>
                <a:srgbClr val="000000"/>
              </a:solidFill>
              <a:effectLst/>
              <a:uFillTx/>
              <a:latin typeface="Arial"/>
            </a:endParaRPr>
          </a:p>
          <a:p>
            <a:pPr algn="ctr" defTabSz="914400">
              <a:lnSpc>
                <a:spcPct val="100000"/>
              </a:lnSpc>
              <a:tabLst>
                <a:tab pos="0" algn="l"/>
              </a:tabLst>
            </a:pPr>
            <a:r>
              <a:rPr lang="en-US" sz="1500" b="1" u="none" strike="noStrike">
                <a:solidFill>
                  <a:srgbClr val="1E293B"/>
                </a:solidFill>
                <a:effectLst/>
                <a:uFillTx/>
                <a:latin typeface="Calibri"/>
                <a:ea typeface="Calibri"/>
              </a:rPr>
              <a:t>Google</a:t>
            </a:r>
            <a:endParaRPr lang="en-IN" sz="1500" b="0" u="none" strike="noStrike">
              <a:solidFill>
                <a:srgbClr val="000000"/>
              </a:solidFill>
              <a:effectLst/>
              <a:uFillTx/>
              <a:latin typeface="Arial"/>
            </a:endParaRPr>
          </a:p>
        </p:txBody>
      </p:sp>
      <p:sp>
        <p:nvSpPr>
          <p:cNvPr id="128" name="Shape 6"/>
          <p:cNvSpPr/>
          <p:nvPr/>
        </p:nvSpPr>
        <p:spPr>
          <a:xfrm>
            <a:off x="8138160" y="1828800"/>
            <a:ext cx="3474360" cy="1142640"/>
          </a:xfrm>
          <a:prstGeom prst="roundRect">
            <a:avLst>
              <a:gd name="adj" fmla="val 8000"/>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29" name="Text 7"/>
          <p:cNvSpPr/>
          <p:nvPr/>
        </p:nvSpPr>
        <p:spPr>
          <a:xfrm>
            <a:off x="8138160" y="1828800"/>
            <a:ext cx="3474360" cy="1142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1E293B"/>
                </a:solidFill>
                <a:effectLst/>
                <a:uFillTx/>
                <a:latin typeface="Calibri"/>
                <a:ea typeface="Calibri"/>
              </a:rPr>
              <a:t>Claude extended</a:t>
            </a:r>
            <a:endParaRPr lang="en-IN" sz="1500" b="0" u="none" strike="noStrike">
              <a:solidFill>
                <a:srgbClr val="000000"/>
              </a:solidFill>
              <a:effectLst/>
              <a:uFillTx/>
              <a:latin typeface="Arial"/>
            </a:endParaRPr>
          </a:p>
          <a:p>
            <a:pPr algn="ctr" defTabSz="914400">
              <a:lnSpc>
                <a:spcPct val="100000"/>
              </a:lnSpc>
              <a:tabLst>
                <a:tab pos="0" algn="l"/>
              </a:tabLst>
            </a:pPr>
            <a:r>
              <a:rPr lang="en-US" sz="1500" b="1" u="none" strike="noStrike">
                <a:solidFill>
                  <a:srgbClr val="1E293B"/>
                </a:solidFill>
                <a:effectLst/>
                <a:uFillTx/>
                <a:latin typeface="Calibri"/>
                <a:ea typeface="Calibri"/>
              </a:rPr>
              <a:t>thinking · Anthropic</a:t>
            </a:r>
            <a:endParaRPr lang="en-IN" sz="1500" b="0" u="none" strike="noStrike">
              <a:solidFill>
                <a:srgbClr val="000000"/>
              </a:solidFill>
              <a:effectLst/>
              <a:uFillTx/>
              <a:latin typeface="Arial"/>
            </a:endParaRPr>
          </a:p>
        </p:txBody>
      </p:sp>
      <p:sp>
        <p:nvSpPr>
          <p:cNvPr id="130" name="Text 8"/>
          <p:cNvSpPr/>
          <p:nvPr/>
        </p:nvSpPr>
        <p:spPr>
          <a:xfrm>
            <a:off x="548640" y="324612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1E293B"/>
                </a:solidFill>
                <a:effectLst/>
                <a:uFillTx/>
                <a:latin typeface="Calibri"/>
                <a:ea typeface="Calibri"/>
              </a:rPr>
              <a:t>Steer with a reasoning-effort / thinking-budget knob (low · medium · high) — not prompt tricks.</a:t>
            </a:r>
            <a:endParaRPr lang="en-IN" sz="1600" b="0" u="none" strike="noStrike">
              <a:solidFill>
                <a:srgbClr val="000000"/>
              </a:solidFill>
              <a:effectLst/>
              <a:uFillTx/>
              <a:latin typeface="Arial"/>
            </a:endParaRPr>
          </a:p>
        </p:txBody>
      </p:sp>
      <p:sp>
        <p:nvSpPr>
          <p:cNvPr id="131" name="Shape 9"/>
          <p:cNvSpPr/>
          <p:nvPr/>
        </p:nvSpPr>
        <p:spPr>
          <a:xfrm>
            <a:off x="548640" y="3886200"/>
            <a:ext cx="11091240" cy="1599840"/>
          </a:xfrm>
          <a:prstGeom prst="roundRect">
            <a:avLst>
              <a:gd name="adj" fmla="val 5714"/>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32" name="Text 10"/>
          <p:cNvSpPr/>
          <p:nvPr/>
        </p:nvSpPr>
        <p:spPr>
          <a:xfrm>
            <a:off x="868680" y="4114800"/>
            <a:ext cx="10423800" cy="1188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B91C1C"/>
                </a:solidFill>
                <a:effectLst/>
                <a:uFillTx/>
                <a:latin typeface="Calibri"/>
                <a:ea typeface="Calibri"/>
              </a:rPr>
              <a:t>Don't over-reason:  </a:t>
            </a:r>
            <a:r>
              <a:rPr lang="en-US" sz="1500" b="0" u="none" strike="noStrike">
                <a:solidFill>
                  <a:srgbClr val="1E293B"/>
                </a:solidFill>
                <a:effectLst/>
                <a:uFillTx/>
                <a:latin typeface="Calibri"/>
                <a:ea typeface="Calibri"/>
              </a:rPr>
              <a:t>on a reasoning model, skip “think step by step” (it already does). Skip CoT for simple lookups — it just burns tokens + latency. And a long chain on a real-time-fact question is a </a:t>
            </a:r>
            <a:r>
              <a:rPr lang="en-US" sz="1500" b="1" u="none" strike="noStrike">
                <a:solidFill>
                  <a:srgbClr val="B91C1C"/>
                </a:solidFill>
                <a:effectLst/>
                <a:uFillTx/>
                <a:latin typeface="Calibri"/>
                <a:ea typeface="Calibri"/>
              </a:rPr>
              <a:t>fancier hallucination</a:t>
            </a:r>
            <a:r>
              <a:rPr lang="en-US" sz="1500" b="0" u="none" strike="noStrike">
                <a:solidFill>
                  <a:srgbClr val="1E293B"/>
                </a:solidFill>
                <a:effectLst/>
                <a:uFillTx/>
                <a:latin typeface="Calibri"/>
                <a:ea typeface="Calibri"/>
              </a:rPr>
              <a:t> → that's what RAG fixes (Day 4).</a:t>
            </a:r>
            <a:endParaRPr lang="en-IN" sz="1500" b="0" u="none" strike="noStrike">
              <a:solidFill>
                <a:srgbClr val="000000"/>
              </a:solidFill>
              <a:effectLst/>
              <a:uFillTx/>
              <a:latin typeface="Arial"/>
            </a:endParaRPr>
          </a:p>
        </p:txBody>
      </p:sp>
      <p:sp>
        <p:nvSpPr>
          <p:cNvPr id="133" name="Text 1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34" name="Text 1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36"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E293B"/>
                </a:solidFill>
                <a:effectLst/>
                <a:uFillTx/>
                <a:latin typeface="Calibri"/>
                <a:ea typeface="Calibri"/>
              </a:rPr>
              <a:t>You're using a reasoning model. Should you add “think step by step”?</a:t>
            </a:r>
            <a:endParaRPr lang="en-IN" sz="2600" b="0" u="none" strike="noStrike">
              <a:solidFill>
                <a:srgbClr val="000000"/>
              </a:solidFill>
              <a:effectLst/>
              <a:uFillTx/>
              <a:latin typeface="Arial"/>
            </a:endParaRPr>
          </a:p>
        </p:txBody>
      </p:sp>
      <p:sp>
        <p:nvSpPr>
          <p:cNvPr id="137"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38"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39"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Yes — always add it</a:t>
            </a:r>
            <a:endParaRPr lang="en-IN" sz="1800" b="0" u="none" strike="noStrike">
              <a:solidFill>
                <a:srgbClr val="000000"/>
              </a:solidFill>
              <a:effectLst/>
              <a:uFillTx/>
              <a:latin typeface="Arial"/>
            </a:endParaRPr>
          </a:p>
        </p:txBody>
      </p:sp>
      <p:sp>
        <p:nvSpPr>
          <p:cNvPr id="140"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1"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42"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No — it already reasons internally</a:t>
            </a:r>
            <a:endParaRPr lang="en-IN" sz="1800" b="0" u="none" strike="noStrike">
              <a:solidFill>
                <a:srgbClr val="000000"/>
              </a:solidFill>
              <a:effectLst/>
              <a:uFillTx/>
              <a:latin typeface="Arial"/>
            </a:endParaRPr>
          </a:p>
        </p:txBody>
      </p:sp>
      <p:sp>
        <p:nvSpPr>
          <p:cNvPr id="143"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4"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45"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Only at temperature 0</a:t>
            </a:r>
            <a:endParaRPr lang="en-IN" sz="1800" b="0" u="none" strike="noStrike">
              <a:solidFill>
                <a:srgbClr val="000000"/>
              </a:solidFill>
              <a:effectLst/>
              <a:uFillTx/>
              <a:latin typeface="Arial"/>
            </a:endParaRPr>
          </a:p>
        </p:txBody>
      </p:sp>
      <p:sp>
        <p:nvSpPr>
          <p:cNvPr id="146"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47"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48"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Only for prompts under 50 words</a:t>
            </a:r>
            <a:endParaRPr lang="en-IN" sz="1800" b="0" u="none" strike="noStrike">
              <a:solidFill>
                <a:srgbClr val="000000"/>
              </a:solidFill>
              <a:effectLst/>
              <a:uFillTx/>
              <a:latin typeface="Arial"/>
            </a:endParaRPr>
          </a:p>
        </p:txBody>
      </p:sp>
      <p:sp>
        <p:nvSpPr>
          <p:cNvPr id="149"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50"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51"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03</a:t>
            </a:r>
            <a:endParaRPr lang="en-IN" sz="9600" b="0" u="none" strike="noStrike">
              <a:solidFill>
                <a:srgbClr val="000000"/>
              </a:solidFill>
              <a:effectLst/>
              <a:uFillTx/>
              <a:latin typeface="Arial"/>
            </a:endParaRPr>
          </a:p>
        </p:txBody>
      </p:sp>
      <p:sp>
        <p:nvSpPr>
          <p:cNvPr id="152"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Outputs you can trust</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“Ask for JSON” vs Structured Outputs</a:t>
            </a:r>
            <a:endParaRPr lang="en-IN" sz="3000" b="0" u="none" strike="noStrike">
              <a:solidFill>
                <a:srgbClr val="000000"/>
              </a:solidFill>
              <a:effectLst/>
              <a:uFillTx/>
              <a:latin typeface="Arial"/>
            </a:endParaRPr>
          </a:p>
        </p:txBody>
      </p:sp>
      <p:sp>
        <p:nvSpPr>
          <p:cNvPr id="154" name="Shape 1"/>
          <p:cNvSpPr/>
          <p:nvPr/>
        </p:nvSpPr>
        <p:spPr>
          <a:xfrm>
            <a:off x="548640" y="1737360"/>
            <a:ext cx="5394600" cy="3565800"/>
          </a:xfrm>
          <a:prstGeom prst="roundRect">
            <a:avLst>
              <a:gd name="adj" fmla="val 2564"/>
            </a:avLst>
          </a:prstGeom>
          <a:solidFill>
            <a:srgbClr val="FECACA"/>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5" name="Text 2"/>
          <p:cNvSpPr/>
          <p:nvPr/>
        </p:nvSpPr>
        <p:spPr>
          <a:xfrm>
            <a:off x="86868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B91C1C"/>
                </a:solidFill>
                <a:effectLst/>
                <a:uFillTx/>
                <a:latin typeface="Calibri"/>
                <a:ea typeface="Calibri"/>
              </a:rPr>
              <a:t>“Please return JSON”</a:t>
            </a:r>
            <a:endParaRPr lang="en-IN" sz="1900" b="0" u="none" strike="noStrike">
              <a:solidFill>
                <a:srgbClr val="000000"/>
              </a:solidFill>
              <a:effectLst/>
              <a:uFillTx/>
              <a:latin typeface="Arial"/>
            </a:endParaRPr>
          </a:p>
        </p:txBody>
      </p:sp>
      <p:sp>
        <p:nvSpPr>
          <p:cNvPr id="156" name="Text 3"/>
          <p:cNvSpPr/>
          <p:nvPr/>
        </p:nvSpPr>
        <p:spPr>
          <a:xfrm>
            <a:off x="868680" y="246888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makes the text LOOK like JSON</a:t>
            </a:r>
            <a:endParaRPr lang="en-IN" sz="1400" b="0" u="none" strike="noStrike">
              <a:solidFill>
                <a:srgbClr val="000000"/>
              </a:solidFill>
              <a:effectLst/>
              <a:uFillTx/>
              <a:latin typeface="Arial"/>
            </a:endParaRPr>
          </a:p>
        </p:txBody>
      </p:sp>
      <p:sp>
        <p:nvSpPr>
          <p:cNvPr id="157" name="Text 4"/>
          <p:cNvSpPr/>
          <p:nvPr/>
        </p:nvSpPr>
        <p:spPr>
          <a:xfrm>
            <a:off x="868680" y="3017520"/>
            <a:ext cx="4754520" cy="21942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can drop a field</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can add extra keys</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can use the wrong type</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 your validate() throws → retry</a:t>
            </a:r>
            <a:endParaRPr lang="en-IN" sz="1500" b="0" u="none" strike="noStrike">
              <a:solidFill>
                <a:srgbClr val="000000"/>
              </a:solidFill>
              <a:effectLst/>
              <a:uFillTx/>
              <a:latin typeface="Arial"/>
            </a:endParaRPr>
          </a:p>
        </p:txBody>
      </p:sp>
      <p:sp>
        <p:nvSpPr>
          <p:cNvPr id="158" name="Shape 5"/>
          <p:cNvSpPr/>
          <p:nvPr/>
        </p:nvSpPr>
        <p:spPr>
          <a:xfrm>
            <a:off x="6172200" y="1737360"/>
            <a:ext cx="5394600" cy="3565800"/>
          </a:xfrm>
          <a:prstGeom prst="roundRect">
            <a:avLst>
              <a:gd name="adj" fmla="val 2564"/>
            </a:avLst>
          </a:prstGeom>
          <a:solidFill>
            <a:srgbClr val="BBF7D0"/>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59" name="Text 6"/>
          <p:cNvSpPr/>
          <p:nvPr/>
        </p:nvSpPr>
        <p:spPr>
          <a:xfrm>
            <a:off x="649224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15803D"/>
                </a:solidFill>
                <a:effectLst/>
                <a:uFillTx/>
                <a:latin typeface="Calibri"/>
                <a:ea typeface="Calibri"/>
              </a:rPr>
              <a:t>Structured Outputs</a:t>
            </a:r>
            <a:endParaRPr lang="en-IN" sz="1900" b="0" u="none" strike="noStrike">
              <a:solidFill>
                <a:srgbClr val="000000"/>
              </a:solidFill>
              <a:effectLst/>
              <a:uFillTx/>
              <a:latin typeface="Arial"/>
            </a:endParaRPr>
          </a:p>
        </p:txBody>
      </p:sp>
      <p:sp>
        <p:nvSpPr>
          <p:cNvPr id="160" name="Text 7"/>
          <p:cNvSpPr/>
          <p:nvPr/>
        </p:nvSpPr>
        <p:spPr>
          <a:xfrm>
            <a:off x="6492240" y="246888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generation constrained to your schema</a:t>
            </a:r>
            <a:endParaRPr lang="en-IN" sz="1400" b="0" u="none" strike="noStrike">
              <a:solidFill>
                <a:srgbClr val="000000"/>
              </a:solidFill>
              <a:effectLst/>
              <a:uFillTx/>
              <a:latin typeface="Arial"/>
            </a:endParaRPr>
          </a:p>
        </p:txBody>
      </p:sp>
      <p:sp>
        <p:nvSpPr>
          <p:cNvPr id="161" name="Text 8"/>
          <p:cNvSpPr/>
          <p:nvPr/>
        </p:nvSpPr>
        <p:spPr>
          <a:xfrm>
            <a:off x="6492240" y="3017520"/>
            <a:ext cx="4754520" cy="21942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every field present</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correct types, always</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no surprise keys</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 a typed object, guaranteed</a:t>
            </a:r>
            <a:endParaRPr lang="en-IN" sz="1500" b="0" u="none" strike="noStrike">
              <a:solidFill>
                <a:srgbClr val="000000"/>
              </a:solidFill>
              <a:effectLst/>
              <a:uFillTx/>
              <a:latin typeface="Arial"/>
            </a:endParaRPr>
          </a:p>
        </p:txBody>
      </p:sp>
      <p:sp>
        <p:nvSpPr>
          <p:cNvPr id="162" name="Text 9"/>
          <p:cNvSpPr/>
          <p:nvPr/>
        </p:nvSpPr>
        <p:spPr>
          <a:xfrm>
            <a:off x="548640" y="548640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93B"/>
                </a:solidFill>
                <a:effectLst/>
                <a:uFillTx/>
                <a:latin typeface="Calibri"/>
                <a:ea typeface="Calibri"/>
              </a:rPr>
              <a:t>Hope vs guarantee.  </a:t>
            </a:r>
            <a:r>
              <a:rPr lang="en-US" sz="1600" b="0" u="none" strike="noStrike">
                <a:solidFill>
                  <a:srgbClr val="1E293B"/>
                </a:solidFill>
                <a:effectLst/>
                <a:uFillTx/>
                <a:latin typeface="Calibri"/>
                <a:ea typeface="Calibri"/>
              </a:rPr>
              <a:t>The model literally can't emit a shape that breaks your schema.</a:t>
            </a:r>
            <a:endParaRPr lang="en-IN" sz="1600" b="0" u="none" strike="noStrike">
              <a:solidFill>
                <a:srgbClr val="000000"/>
              </a:solidFill>
              <a:effectLst/>
              <a:uFillTx/>
              <a:latin typeface="Arial"/>
            </a:endParaRPr>
          </a:p>
        </p:txBody>
      </p:sp>
      <p:sp>
        <p:nvSpPr>
          <p:cNvPr id="163" name="Text 10"/>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64" name="Text 11"/>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16</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Structured Outputs — in code</a:t>
            </a:r>
            <a:endParaRPr lang="en-IN" sz="3000" b="0" u="none" strike="noStrike">
              <a:solidFill>
                <a:srgbClr val="000000"/>
              </a:solidFill>
              <a:effectLst/>
              <a:uFillTx/>
              <a:latin typeface="Arial"/>
            </a:endParaRPr>
          </a:p>
        </p:txBody>
      </p:sp>
      <p:sp>
        <p:nvSpPr>
          <p:cNvPr id="166" name="Shape 1"/>
          <p:cNvSpPr/>
          <p:nvPr/>
        </p:nvSpPr>
        <p:spPr>
          <a:xfrm>
            <a:off x="548640" y="1554480"/>
            <a:ext cx="6949080" cy="4114440"/>
          </a:xfrm>
          <a:prstGeom prst="roundRect">
            <a:avLst>
              <a:gd name="adj" fmla="val 133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67" name="Text 2"/>
          <p:cNvSpPr/>
          <p:nvPr/>
        </p:nvSpPr>
        <p:spPr>
          <a:xfrm>
            <a:off x="804600" y="1737360"/>
            <a:ext cx="6437160" cy="37486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from pydantic import BaseModel</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class Recipe(BaseModel):</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title: str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ingredients: list[str]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minutes: int</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completion = client.chat.completions.parse(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model="gpt-4o-mini",</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messages=[{"role": "user",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"content": "A simple pasta recipe."}],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response_format=Recipe,      # pass the class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recipe = completion.choices[0].message.parsed</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print(recipe.title, recipe.minutes)</a:t>
            </a:r>
            <a:endParaRPr lang="en-IN" sz="1300" b="0" u="none" strike="noStrike">
              <a:solidFill>
                <a:srgbClr val="000000"/>
              </a:solidFill>
              <a:effectLst/>
              <a:uFillTx/>
              <a:latin typeface="Arial"/>
            </a:endParaRPr>
          </a:p>
        </p:txBody>
      </p:sp>
      <p:sp>
        <p:nvSpPr>
          <p:cNvPr id="168" name="Text 3"/>
          <p:cNvSpPr/>
          <p:nvPr/>
        </p:nvSpPr>
        <p:spPr>
          <a:xfrm>
            <a:off x="7772400" y="1828800"/>
            <a:ext cx="3840120" cy="32914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.parse(), not .create()</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response_format = your class</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message.parsed → a typed object</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recipe.title is safe to use</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works on gpt-4o-mini, Gemini, LiteLLM</a:t>
            </a:r>
            <a:endParaRPr lang="en-IN" sz="1500" b="0" u="none" strike="noStrike">
              <a:solidFill>
                <a:srgbClr val="000000"/>
              </a:solidFill>
              <a:effectLst/>
              <a:uFillTx/>
              <a:latin typeface="Arial"/>
            </a:endParaRPr>
          </a:p>
        </p:txBody>
      </p:sp>
      <p:sp>
        <p:nvSpPr>
          <p:cNvPr id="169" name="Text 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70" name="Text 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Lock the categories with an Enum</a:t>
            </a:r>
            <a:endParaRPr lang="en-IN" sz="3000" b="0" u="none" strike="noStrike">
              <a:solidFill>
                <a:srgbClr val="000000"/>
              </a:solidFill>
              <a:effectLst/>
              <a:uFillTx/>
              <a:latin typeface="Arial"/>
            </a:endParaRPr>
          </a:p>
        </p:txBody>
      </p:sp>
      <p:sp>
        <p:nvSpPr>
          <p:cNvPr id="172" name="Shape 1"/>
          <p:cNvSpPr/>
          <p:nvPr/>
        </p:nvSpPr>
        <p:spPr>
          <a:xfrm>
            <a:off x="548640" y="1554480"/>
            <a:ext cx="6949080" cy="3748680"/>
          </a:xfrm>
          <a:prstGeom prst="roundRect">
            <a:avLst>
              <a:gd name="adj" fmla="val 1463"/>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3" name="Text 2"/>
          <p:cNvSpPr/>
          <p:nvPr/>
        </p:nvSpPr>
        <p:spPr>
          <a:xfrm>
            <a:off x="804600" y="1737360"/>
            <a:ext cx="6437160" cy="338292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from enum import Enum</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class Priority(str, Enum):</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urgent = "urgent"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normal = "normal"</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spam   = "spam"</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class Ticket(BaseModel):</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customer: str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priority: Priority     # only these 3</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summary:  str</a:t>
            </a:r>
            <a:endParaRPr lang="en-IN" sz="1300" b="0" u="none" strike="noStrike">
              <a:solidFill>
                <a:srgbClr val="000000"/>
              </a:solidFill>
              <a:effectLst/>
              <a:uFillTx/>
              <a:latin typeface="Arial"/>
            </a:endParaRPr>
          </a:p>
        </p:txBody>
      </p:sp>
      <p:sp>
        <p:nvSpPr>
          <p:cNvPr id="174" name="Shape 3"/>
          <p:cNvSpPr/>
          <p:nvPr/>
        </p:nvSpPr>
        <p:spPr>
          <a:xfrm>
            <a:off x="7772400" y="1554480"/>
            <a:ext cx="3840120" cy="3748680"/>
          </a:xfrm>
          <a:prstGeom prst="roundRect">
            <a:avLst>
              <a:gd name="adj" fmla="val 2439"/>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75" name="Text 4"/>
          <p:cNvSpPr/>
          <p:nvPr/>
        </p:nvSpPr>
        <p:spPr>
          <a:xfrm>
            <a:off x="8001000" y="1783080"/>
            <a:ext cx="338292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Section 1's classifier —</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rgbClr val="6366F1"/>
                </a:solidFill>
                <a:effectLst/>
                <a:uFillTx/>
                <a:latin typeface="Calibri"/>
                <a:ea typeface="Calibri"/>
              </a:rPr>
              <a:t>now enforced</a:t>
            </a:r>
            <a:endParaRPr lang="en-IN" sz="1600" b="0" u="none" strike="noStrike">
              <a:solidFill>
                <a:srgbClr val="000000"/>
              </a:solidFill>
              <a:effectLst/>
              <a:uFillTx/>
              <a:latin typeface="Arial"/>
            </a:endParaRPr>
          </a:p>
        </p:txBody>
      </p:sp>
      <p:sp>
        <p:nvSpPr>
          <p:cNvPr id="176" name="Text 5"/>
          <p:cNvSpPr/>
          <p:nvPr/>
        </p:nvSpPr>
        <p:spPr>
          <a:xfrm>
            <a:off x="8001000" y="2697480"/>
            <a:ext cx="3382920" cy="23770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the model can't invent a 4th label</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few-shot suggested; the enum guarantees</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safe to write straight to a DB row</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same idea: dates, statuses, ratings</a:t>
            </a:r>
            <a:endParaRPr lang="en-IN" sz="1400" b="0" u="none" strike="noStrike">
              <a:solidFill>
                <a:srgbClr val="000000"/>
              </a:solidFill>
              <a:effectLst/>
              <a:uFillTx/>
              <a:latin typeface="Arial"/>
            </a:endParaRPr>
          </a:p>
        </p:txBody>
      </p:sp>
      <p:sp>
        <p:nvSpPr>
          <p:cNvPr id="177" name="Text 6"/>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78" name="Text 7"/>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180"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E293B"/>
                </a:solidFill>
                <a:effectLst/>
                <a:uFillTx/>
                <a:latin typeface="Calibri"/>
                <a:ea typeface="Calibri"/>
              </a:rPr>
              <a:t>“Ask for JSON” vs Structured Outputs — the real difference?</a:t>
            </a:r>
            <a:endParaRPr lang="en-IN" sz="2600" b="0" u="none" strike="noStrike">
              <a:solidFill>
                <a:srgbClr val="000000"/>
              </a:solidFill>
              <a:effectLst/>
              <a:uFillTx/>
              <a:latin typeface="Arial"/>
            </a:endParaRPr>
          </a:p>
        </p:txBody>
      </p:sp>
      <p:sp>
        <p:nvSpPr>
          <p:cNvPr id="181"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2"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183"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Structured Outputs is just faster</a:t>
            </a:r>
            <a:endParaRPr lang="en-IN" sz="1800" b="0" u="none" strike="noStrike">
              <a:solidFill>
                <a:srgbClr val="000000"/>
              </a:solidFill>
              <a:effectLst/>
              <a:uFillTx/>
              <a:latin typeface="Arial"/>
            </a:endParaRPr>
          </a:p>
        </p:txBody>
      </p:sp>
      <p:sp>
        <p:nvSpPr>
          <p:cNvPr id="184"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5"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186"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Structured Outputs guarantees your exact schema</a:t>
            </a:r>
            <a:endParaRPr lang="en-IN" sz="1800" b="0" u="none" strike="noStrike">
              <a:solidFill>
                <a:srgbClr val="000000"/>
              </a:solidFill>
              <a:effectLst/>
              <a:uFillTx/>
              <a:latin typeface="Arial"/>
            </a:endParaRPr>
          </a:p>
        </p:txBody>
      </p:sp>
      <p:sp>
        <p:nvSpPr>
          <p:cNvPr id="187"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88"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189"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JSON mode is always more accurate</a:t>
            </a:r>
            <a:endParaRPr lang="en-IN" sz="1800" b="0" u="none" strike="noStrike">
              <a:solidFill>
                <a:srgbClr val="000000"/>
              </a:solidFill>
              <a:effectLst/>
              <a:uFillTx/>
              <a:latin typeface="Arial"/>
            </a:endParaRPr>
          </a:p>
        </p:txBody>
      </p:sp>
      <p:sp>
        <p:nvSpPr>
          <p:cNvPr id="190"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191"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192"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There is no real difference</a:t>
            </a:r>
            <a:endParaRPr lang="en-IN" sz="1800" b="0" u="none" strike="noStrike">
              <a:solidFill>
                <a:srgbClr val="000000"/>
              </a:solidFill>
              <a:effectLst/>
              <a:uFillTx/>
              <a:latin typeface="Arial"/>
            </a:endParaRPr>
          </a:p>
        </p:txBody>
      </p:sp>
      <p:sp>
        <p:nvSpPr>
          <p:cNvPr id="193"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194"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19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195"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04</a:t>
            </a:r>
            <a:endParaRPr lang="en-IN" sz="9600" b="0" u="none" strike="noStrike">
              <a:solidFill>
                <a:srgbClr val="000000"/>
              </a:solidFill>
              <a:effectLst/>
              <a:uFillTx/>
              <a:latin typeface="Arial"/>
            </a:endParaRPr>
          </a:p>
        </p:txBody>
      </p:sp>
      <p:sp>
        <p:nvSpPr>
          <p:cNvPr id="196"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Giving the model tools</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model can't act — so give it tools</a:t>
            </a:r>
            <a:endParaRPr lang="en-IN" sz="3000" b="0" u="none" strike="noStrike">
              <a:solidFill>
                <a:srgbClr val="000000"/>
              </a:solidFill>
              <a:effectLst/>
              <a:uFillTx/>
              <a:latin typeface="Arial"/>
            </a:endParaRPr>
          </a:p>
        </p:txBody>
      </p:sp>
      <p:sp>
        <p:nvSpPr>
          <p:cNvPr id="198" name="Shape 1"/>
          <p:cNvSpPr/>
          <p:nvPr/>
        </p:nvSpPr>
        <p:spPr>
          <a:xfrm>
            <a:off x="548640" y="1737360"/>
            <a:ext cx="5394600" cy="3200040"/>
          </a:xfrm>
          <a:prstGeom prst="roundRect">
            <a:avLst>
              <a:gd name="adj" fmla="val 2857"/>
            </a:avLst>
          </a:prstGeom>
          <a:solidFill>
            <a:srgbClr val="FEF2F2"/>
          </a:solidFill>
          <a:ln w="12700">
            <a:solidFill>
              <a:srgbClr val="FECACA"/>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199" name="Text 2"/>
          <p:cNvSpPr/>
          <p:nvPr/>
        </p:nvSpPr>
        <p:spPr>
          <a:xfrm>
            <a:off x="86868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B91C1C"/>
                </a:solidFill>
                <a:effectLst/>
                <a:uFillTx/>
                <a:latin typeface="Calibri"/>
                <a:ea typeface="Calibri"/>
              </a:rPr>
              <a:t>The problem</a:t>
            </a:r>
            <a:endParaRPr lang="en-IN" sz="1900" b="0" u="none" strike="noStrike">
              <a:solidFill>
                <a:srgbClr val="000000"/>
              </a:solidFill>
              <a:effectLst/>
              <a:uFillTx/>
              <a:latin typeface="Arial"/>
            </a:endParaRPr>
          </a:p>
        </p:txBody>
      </p:sp>
      <p:sp>
        <p:nvSpPr>
          <p:cNvPr id="200" name="Text 3"/>
          <p:cNvSpPr/>
          <p:nvPr/>
        </p:nvSpPr>
        <p:spPr>
          <a:xfrm>
            <a:off x="868680" y="2560320"/>
            <a:ext cx="4754520" cy="22856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can't do exact arithmetic</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can't read YOUR database</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can't hit an API or see live data</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so it confidently guesses (Day 1)</a:t>
            </a:r>
            <a:endParaRPr lang="en-IN" sz="1550" b="0" u="none" strike="noStrike">
              <a:solidFill>
                <a:srgbClr val="000000"/>
              </a:solidFill>
              <a:effectLst/>
              <a:uFillTx/>
              <a:latin typeface="Arial"/>
            </a:endParaRPr>
          </a:p>
        </p:txBody>
      </p:sp>
      <p:sp>
        <p:nvSpPr>
          <p:cNvPr id="201" name="Shape 4"/>
          <p:cNvSpPr/>
          <p:nvPr/>
        </p:nvSpPr>
        <p:spPr>
          <a:xfrm>
            <a:off x="6263640" y="1737360"/>
            <a:ext cx="5394600" cy="3200040"/>
          </a:xfrm>
          <a:prstGeom prst="roundRect">
            <a:avLst>
              <a:gd name="adj" fmla="val 285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02" name="Text 5"/>
          <p:cNvSpPr/>
          <p:nvPr/>
        </p:nvSpPr>
        <p:spPr>
          <a:xfrm>
            <a:off x="6583680" y="1965960"/>
            <a:ext cx="475452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6366F1"/>
                </a:solidFill>
                <a:effectLst/>
                <a:uFillTx/>
                <a:latin typeface="Calibri"/>
                <a:ea typeface="Calibri"/>
              </a:rPr>
              <a:t>The idea</a:t>
            </a:r>
            <a:endParaRPr lang="en-IN" sz="1900" b="0" u="none" strike="noStrike">
              <a:solidFill>
                <a:srgbClr val="000000"/>
              </a:solidFill>
              <a:effectLst/>
              <a:uFillTx/>
              <a:latin typeface="Arial"/>
            </a:endParaRPr>
          </a:p>
        </p:txBody>
      </p:sp>
      <p:sp>
        <p:nvSpPr>
          <p:cNvPr id="203" name="Text 6"/>
          <p:cNvSpPr/>
          <p:nvPr/>
        </p:nvSpPr>
        <p:spPr>
          <a:xfrm>
            <a:off x="6583680" y="2560320"/>
            <a:ext cx="4754520" cy="228564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hand it a menu of tools (functions)</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each described as a JSON schema</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it REQUESTS a call — name + args</a:t>
            </a:r>
            <a:endParaRPr lang="en-IN" sz="15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50" b="0" u="none" strike="noStrike">
                <a:solidFill>
                  <a:srgbClr val="1E293B"/>
                </a:solidFill>
                <a:effectLst/>
                <a:uFillTx/>
                <a:latin typeface="Calibri"/>
                <a:ea typeface="Calibri"/>
              </a:rPr>
              <a:t>YOUR code runs it, returns the result</a:t>
            </a:r>
            <a:endParaRPr lang="en-IN" sz="1550" b="0" u="none" strike="noStrike">
              <a:solidFill>
                <a:srgbClr val="000000"/>
              </a:solidFill>
              <a:effectLst/>
              <a:uFillTx/>
              <a:latin typeface="Arial"/>
            </a:endParaRPr>
          </a:p>
        </p:txBody>
      </p:sp>
      <p:sp>
        <p:nvSpPr>
          <p:cNvPr id="204" name="Text 7"/>
          <p:cNvSpPr/>
          <p:nvPr/>
        </p:nvSpPr>
        <p:spPr>
          <a:xfrm>
            <a:off x="548640" y="516636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The boundary:  </a:t>
            </a:r>
            <a:r>
              <a:rPr lang="en-US" sz="1700" b="0" u="none" strike="noStrike">
                <a:solidFill>
                  <a:srgbClr val="1E293B"/>
                </a:solidFill>
                <a:effectLst/>
                <a:uFillTx/>
                <a:latin typeface="Calibri"/>
                <a:ea typeface="Calibri"/>
              </a:rPr>
              <a:t>the model requests. Only your code acts. That's the whole safety story.</a:t>
            </a:r>
            <a:endParaRPr lang="en-IN" sz="1700" b="0" u="none" strike="noStrike">
              <a:solidFill>
                <a:srgbClr val="000000"/>
              </a:solidFill>
              <a:effectLst/>
              <a:uFillTx/>
              <a:latin typeface="Arial"/>
            </a:endParaRPr>
          </a:p>
        </p:txBody>
      </p:sp>
      <p:sp>
        <p:nvSpPr>
          <p:cNvPr id="205" name="Text 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06"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The tool-call loop</a:t>
            </a:r>
            <a:endParaRPr lang="en-IN" sz="3000" b="0" u="none" strike="noStrike">
              <a:solidFill>
                <a:srgbClr val="000000"/>
              </a:solidFill>
              <a:effectLst/>
              <a:uFillTx/>
              <a:latin typeface="Arial"/>
            </a:endParaRPr>
          </a:p>
        </p:txBody>
      </p:sp>
      <p:sp>
        <p:nvSpPr>
          <p:cNvPr id="208" name="Shape 1"/>
          <p:cNvSpPr/>
          <p:nvPr/>
        </p:nvSpPr>
        <p:spPr>
          <a:xfrm>
            <a:off x="548640" y="1691640"/>
            <a:ext cx="685440" cy="6854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09" name="Text 2"/>
          <p:cNvSpPr/>
          <p:nvPr/>
        </p:nvSpPr>
        <p:spPr>
          <a:xfrm>
            <a:off x="548640" y="169164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1</a:t>
            </a:r>
            <a:endParaRPr lang="en-IN" sz="1800" b="0" u="none" strike="noStrike">
              <a:solidFill>
                <a:srgbClr val="000000"/>
              </a:solidFill>
              <a:effectLst/>
              <a:uFillTx/>
              <a:latin typeface="Arial"/>
            </a:endParaRPr>
          </a:p>
        </p:txBody>
      </p:sp>
      <p:sp>
        <p:nvSpPr>
          <p:cNvPr id="210" name="Text 3"/>
          <p:cNvSpPr/>
          <p:nvPr/>
        </p:nvSpPr>
        <p:spPr>
          <a:xfrm>
            <a:off x="1463040" y="1691640"/>
            <a:ext cx="32914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You → model</a:t>
            </a:r>
            <a:endParaRPr lang="en-IN" sz="1700" b="0" u="none" strike="noStrike">
              <a:solidFill>
                <a:srgbClr val="000000"/>
              </a:solidFill>
              <a:effectLst/>
              <a:uFillTx/>
              <a:latin typeface="Arial"/>
            </a:endParaRPr>
          </a:p>
        </p:txBody>
      </p:sp>
      <p:sp>
        <p:nvSpPr>
          <p:cNvPr id="211" name="Text 4"/>
          <p:cNvSpPr/>
          <p:nvPr/>
        </p:nvSpPr>
        <p:spPr>
          <a:xfrm>
            <a:off x="4846320" y="1691640"/>
            <a:ext cx="7131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4748B"/>
                </a:solidFill>
                <a:effectLst/>
                <a:uFillTx/>
                <a:latin typeface="Courier New"/>
                <a:ea typeface="Courier New"/>
              </a:rPr>
              <a:t>messages + tools=[…]</a:t>
            </a:r>
            <a:endParaRPr lang="en-IN" sz="1400" b="0" u="none" strike="noStrike">
              <a:solidFill>
                <a:srgbClr val="000000"/>
              </a:solidFill>
              <a:effectLst/>
              <a:uFillTx/>
              <a:latin typeface="Arial"/>
            </a:endParaRPr>
          </a:p>
        </p:txBody>
      </p:sp>
      <p:sp>
        <p:nvSpPr>
          <p:cNvPr id="212" name="Shape 5"/>
          <p:cNvSpPr/>
          <p:nvPr/>
        </p:nvSpPr>
        <p:spPr>
          <a:xfrm rot="5400000">
            <a:off x="713520" y="2441160"/>
            <a:ext cx="365400" cy="255600"/>
          </a:xfrm>
          <a:prstGeom prst="rightArrow">
            <a:avLst>
              <a:gd name="adj1" fmla="val 50000"/>
              <a:gd name="adj2" fmla="val 50000"/>
            </a:avLst>
          </a:prstGeom>
          <a:solidFill>
            <a:srgbClr val="E2E8F0"/>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3" name="Shape 6"/>
          <p:cNvSpPr/>
          <p:nvPr/>
        </p:nvSpPr>
        <p:spPr>
          <a:xfrm>
            <a:off x="548640" y="2743200"/>
            <a:ext cx="685440" cy="685440"/>
          </a:xfrm>
          <a:prstGeom prst="roundRect">
            <a:avLst>
              <a:gd name="adj" fmla="val 50000"/>
            </a:avLst>
          </a:prstGeom>
          <a:solidFill>
            <a:srgbClr val="0891B2"/>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4" name="Text 7"/>
          <p:cNvSpPr/>
          <p:nvPr/>
        </p:nvSpPr>
        <p:spPr>
          <a:xfrm>
            <a:off x="548640" y="274320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2</a:t>
            </a:r>
            <a:endParaRPr lang="en-IN" sz="1800" b="0" u="none" strike="noStrike">
              <a:solidFill>
                <a:srgbClr val="000000"/>
              </a:solidFill>
              <a:effectLst/>
              <a:uFillTx/>
              <a:latin typeface="Arial"/>
            </a:endParaRPr>
          </a:p>
        </p:txBody>
      </p:sp>
      <p:sp>
        <p:nvSpPr>
          <p:cNvPr id="215" name="Text 8"/>
          <p:cNvSpPr/>
          <p:nvPr/>
        </p:nvSpPr>
        <p:spPr>
          <a:xfrm>
            <a:off x="1463040" y="2743200"/>
            <a:ext cx="32914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model → you</a:t>
            </a:r>
            <a:endParaRPr lang="en-IN" sz="1700" b="0" u="none" strike="noStrike">
              <a:solidFill>
                <a:srgbClr val="000000"/>
              </a:solidFill>
              <a:effectLst/>
              <a:uFillTx/>
              <a:latin typeface="Arial"/>
            </a:endParaRPr>
          </a:p>
        </p:txBody>
      </p:sp>
      <p:sp>
        <p:nvSpPr>
          <p:cNvPr id="216" name="Text 9"/>
          <p:cNvSpPr/>
          <p:nvPr/>
        </p:nvSpPr>
        <p:spPr>
          <a:xfrm>
            <a:off x="4846320" y="2743200"/>
            <a:ext cx="7131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4748B"/>
                </a:solidFill>
                <a:effectLst/>
                <a:uFillTx/>
                <a:latin typeface="Courier New"/>
                <a:ea typeface="Courier New"/>
              </a:rPr>
              <a:t>a tool_call: name + JSON args</a:t>
            </a:r>
            <a:endParaRPr lang="en-IN" sz="1400" b="0" u="none" strike="noStrike">
              <a:solidFill>
                <a:srgbClr val="000000"/>
              </a:solidFill>
              <a:effectLst/>
              <a:uFillTx/>
              <a:latin typeface="Arial"/>
            </a:endParaRPr>
          </a:p>
        </p:txBody>
      </p:sp>
      <p:sp>
        <p:nvSpPr>
          <p:cNvPr id="217" name="Shape 10"/>
          <p:cNvSpPr/>
          <p:nvPr/>
        </p:nvSpPr>
        <p:spPr>
          <a:xfrm rot="5400000">
            <a:off x="713520" y="3492720"/>
            <a:ext cx="365400" cy="255600"/>
          </a:xfrm>
          <a:prstGeom prst="rightArrow">
            <a:avLst>
              <a:gd name="adj1" fmla="val 50000"/>
              <a:gd name="adj2" fmla="val 50000"/>
            </a:avLst>
          </a:prstGeom>
          <a:solidFill>
            <a:srgbClr val="E2E8F0"/>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18" name="Shape 11"/>
          <p:cNvSpPr/>
          <p:nvPr/>
        </p:nvSpPr>
        <p:spPr>
          <a:xfrm>
            <a:off x="548640" y="3794760"/>
            <a:ext cx="685440" cy="6854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19" name="Text 12"/>
          <p:cNvSpPr/>
          <p:nvPr/>
        </p:nvSpPr>
        <p:spPr>
          <a:xfrm>
            <a:off x="548640" y="379476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3</a:t>
            </a:r>
            <a:endParaRPr lang="en-IN" sz="1800" b="0" u="none" strike="noStrike">
              <a:solidFill>
                <a:srgbClr val="000000"/>
              </a:solidFill>
              <a:effectLst/>
              <a:uFillTx/>
              <a:latin typeface="Arial"/>
            </a:endParaRPr>
          </a:p>
        </p:txBody>
      </p:sp>
      <p:sp>
        <p:nvSpPr>
          <p:cNvPr id="220" name="Text 13"/>
          <p:cNvSpPr/>
          <p:nvPr/>
        </p:nvSpPr>
        <p:spPr>
          <a:xfrm>
            <a:off x="1463040" y="3794760"/>
            <a:ext cx="32914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You run it</a:t>
            </a:r>
            <a:endParaRPr lang="en-IN" sz="1700" b="0" u="none" strike="noStrike">
              <a:solidFill>
                <a:srgbClr val="000000"/>
              </a:solidFill>
              <a:effectLst/>
              <a:uFillTx/>
              <a:latin typeface="Arial"/>
            </a:endParaRPr>
          </a:p>
        </p:txBody>
      </p:sp>
      <p:sp>
        <p:nvSpPr>
          <p:cNvPr id="221" name="Text 14"/>
          <p:cNvSpPr/>
          <p:nvPr/>
        </p:nvSpPr>
        <p:spPr>
          <a:xfrm>
            <a:off x="4846320" y="3794760"/>
            <a:ext cx="7131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4748B"/>
                </a:solidFill>
                <a:effectLst/>
                <a:uFillTx/>
                <a:latin typeface="Courier New"/>
                <a:ea typeface="Courier New"/>
              </a:rPr>
              <a:t>append result as role:"tool"</a:t>
            </a:r>
            <a:endParaRPr lang="en-IN" sz="1400" b="0" u="none" strike="noStrike">
              <a:solidFill>
                <a:srgbClr val="000000"/>
              </a:solidFill>
              <a:effectLst/>
              <a:uFillTx/>
              <a:latin typeface="Arial"/>
            </a:endParaRPr>
          </a:p>
        </p:txBody>
      </p:sp>
      <p:sp>
        <p:nvSpPr>
          <p:cNvPr id="222" name="Shape 15"/>
          <p:cNvSpPr/>
          <p:nvPr/>
        </p:nvSpPr>
        <p:spPr>
          <a:xfrm rot="5400000">
            <a:off x="713520" y="4544280"/>
            <a:ext cx="365400" cy="255600"/>
          </a:xfrm>
          <a:prstGeom prst="rightArrow">
            <a:avLst>
              <a:gd name="adj1" fmla="val 50000"/>
              <a:gd name="adj2" fmla="val 50000"/>
            </a:avLst>
          </a:prstGeom>
          <a:solidFill>
            <a:srgbClr val="E2E8F0"/>
          </a:solidFill>
          <a:ln w="0">
            <a:noFill/>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23" name="Shape 16"/>
          <p:cNvSpPr/>
          <p:nvPr/>
        </p:nvSpPr>
        <p:spPr>
          <a:xfrm>
            <a:off x="548640" y="4846320"/>
            <a:ext cx="685440" cy="685440"/>
          </a:xfrm>
          <a:prstGeom prst="roundRect">
            <a:avLst>
              <a:gd name="adj" fmla="val 50000"/>
            </a:avLst>
          </a:prstGeom>
          <a:solidFill>
            <a:srgbClr val="0891B2"/>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24" name="Text 17"/>
          <p:cNvSpPr/>
          <p:nvPr/>
        </p:nvSpPr>
        <p:spPr>
          <a:xfrm>
            <a:off x="548640" y="484632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4</a:t>
            </a:r>
            <a:endParaRPr lang="en-IN" sz="1800" b="0" u="none" strike="noStrike">
              <a:solidFill>
                <a:srgbClr val="000000"/>
              </a:solidFill>
              <a:effectLst/>
              <a:uFillTx/>
              <a:latin typeface="Arial"/>
            </a:endParaRPr>
          </a:p>
        </p:txBody>
      </p:sp>
      <p:sp>
        <p:nvSpPr>
          <p:cNvPr id="225" name="Text 18"/>
          <p:cNvSpPr/>
          <p:nvPr/>
        </p:nvSpPr>
        <p:spPr>
          <a:xfrm>
            <a:off x="1463040" y="4846320"/>
            <a:ext cx="329148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You → model</a:t>
            </a:r>
            <a:endParaRPr lang="en-IN" sz="1700" b="0" u="none" strike="noStrike">
              <a:solidFill>
                <a:srgbClr val="000000"/>
              </a:solidFill>
              <a:effectLst/>
              <a:uFillTx/>
              <a:latin typeface="Arial"/>
            </a:endParaRPr>
          </a:p>
        </p:txBody>
      </p:sp>
      <p:sp>
        <p:nvSpPr>
          <p:cNvPr id="226" name="Text 19"/>
          <p:cNvSpPr/>
          <p:nvPr/>
        </p:nvSpPr>
        <p:spPr>
          <a:xfrm>
            <a:off x="4846320" y="4846320"/>
            <a:ext cx="7131960" cy="6854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64748B"/>
                </a:solidFill>
                <a:effectLst/>
                <a:uFillTx/>
                <a:latin typeface="Courier New"/>
                <a:ea typeface="Courier New"/>
              </a:rPr>
              <a:t>call again → final answer</a:t>
            </a:r>
            <a:endParaRPr lang="en-IN" sz="1400" b="0" u="none" strike="noStrike">
              <a:solidFill>
                <a:srgbClr val="000000"/>
              </a:solidFill>
              <a:effectLst/>
              <a:uFillTx/>
              <a:latin typeface="Arial"/>
            </a:endParaRPr>
          </a:p>
        </p:txBody>
      </p:sp>
      <p:sp>
        <p:nvSpPr>
          <p:cNvPr id="227" name="Text 20"/>
          <p:cNvSpPr/>
          <p:nvPr/>
        </p:nvSpPr>
        <p:spPr>
          <a:xfrm>
            <a:off x="548640" y="580644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Steps 2–4 repeat until the model has everything it needs to answer.</a:t>
            </a:r>
            <a:endParaRPr lang="en-IN" sz="1400" b="0" u="none" strike="noStrike">
              <a:solidFill>
                <a:srgbClr val="000000"/>
              </a:solidFill>
              <a:effectLst/>
              <a:uFillTx/>
              <a:latin typeface="Arial"/>
            </a:endParaRPr>
          </a:p>
        </p:txBody>
      </p:sp>
      <p:sp>
        <p:nvSpPr>
          <p:cNvPr id="228" name="Text 21"/>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29" name="Text 22"/>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Declare a tool — in code</a:t>
            </a:r>
            <a:endParaRPr lang="en-IN" sz="3000" b="0" u="none" strike="noStrike">
              <a:solidFill>
                <a:srgbClr val="000000"/>
              </a:solidFill>
              <a:effectLst/>
              <a:uFillTx/>
              <a:latin typeface="Arial"/>
            </a:endParaRPr>
          </a:p>
        </p:txBody>
      </p:sp>
      <p:sp>
        <p:nvSpPr>
          <p:cNvPr id="231" name="Shape 1"/>
          <p:cNvSpPr/>
          <p:nvPr/>
        </p:nvSpPr>
        <p:spPr>
          <a:xfrm>
            <a:off x="548640" y="1463040"/>
            <a:ext cx="7040520" cy="4480200"/>
          </a:xfrm>
          <a:prstGeom prst="roundRect">
            <a:avLst>
              <a:gd name="adj" fmla="val 122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2" name="Text 2"/>
          <p:cNvSpPr/>
          <p:nvPr/>
        </p:nvSpPr>
        <p:spPr>
          <a:xfrm>
            <a:off x="804600" y="1645920"/>
            <a:ext cx="6528600" cy="41144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tools = [{</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"type": "function",</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"function": {</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"name": "calculator",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"description": "Exact arithmetic on two numbers.",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"parameters": {</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"type": "object",</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"properties": {</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"a": {"type": "number"},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"b": {"type": "number"},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"op": {"type": "string",</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"enum": ["add","sub","mul","div"]}},</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"required": ["a", "b", "op"],</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def calculator(a, b, op):   # your real function</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return {"result": {"add": a+b, "mul": a*b}[op]}</a:t>
            </a:r>
            <a:endParaRPr lang="en-IN" sz="1300" b="0" u="none" strike="noStrike">
              <a:solidFill>
                <a:srgbClr val="000000"/>
              </a:solidFill>
              <a:effectLst/>
              <a:uFillTx/>
              <a:latin typeface="Arial"/>
            </a:endParaRPr>
          </a:p>
        </p:txBody>
      </p:sp>
      <p:sp>
        <p:nvSpPr>
          <p:cNvPr id="233" name="Shape 3"/>
          <p:cNvSpPr/>
          <p:nvPr/>
        </p:nvSpPr>
        <p:spPr>
          <a:xfrm>
            <a:off x="7863840" y="1463040"/>
            <a:ext cx="3748680" cy="4480200"/>
          </a:xfrm>
          <a:prstGeom prst="roundRect">
            <a:avLst>
              <a:gd name="adj" fmla="val 2439"/>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34" name="Text 4"/>
          <p:cNvSpPr/>
          <p:nvPr/>
        </p:nvSpPr>
        <p:spPr>
          <a:xfrm>
            <a:off x="8092440" y="1691640"/>
            <a:ext cx="329148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93B"/>
                </a:solidFill>
                <a:effectLst/>
                <a:uFillTx/>
                <a:latin typeface="Calibri"/>
                <a:ea typeface="Calibri"/>
              </a:rPr>
              <a:t>The schema is all</a:t>
            </a:r>
            <a:endParaRPr lang="en-IN" sz="1600" b="0" u="none" strike="noStrike">
              <a:solidFill>
                <a:srgbClr val="000000"/>
              </a:solidFill>
              <a:effectLst/>
              <a:uFillTx/>
              <a:latin typeface="Arial"/>
            </a:endParaRPr>
          </a:p>
          <a:p>
            <a:pPr defTabSz="914400">
              <a:lnSpc>
                <a:spcPct val="100000"/>
              </a:lnSpc>
              <a:tabLst>
                <a:tab pos="0" algn="l"/>
              </a:tabLst>
            </a:pPr>
            <a:r>
              <a:rPr lang="en-US" sz="1600" b="1" u="none" strike="noStrike">
                <a:solidFill>
                  <a:srgbClr val="1E293B"/>
                </a:solidFill>
                <a:effectLst/>
                <a:uFillTx/>
                <a:latin typeface="Calibri"/>
                <a:ea typeface="Calibri"/>
              </a:rPr>
              <a:t>the model knows</a:t>
            </a:r>
            <a:endParaRPr lang="en-IN" sz="1600" b="0" u="none" strike="noStrike">
              <a:solidFill>
                <a:srgbClr val="000000"/>
              </a:solidFill>
              <a:effectLst/>
              <a:uFillTx/>
              <a:latin typeface="Arial"/>
            </a:endParaRPr>
          </a:p>
        </p:txBody>
      </p:sp>
      <p:sp>
        <p:nvSpPr>
          <p:cNvPr id="235" name="Text 5"/>
          <p:cNvSpPr/>
          <p:nvPr/>
        </p:nvSpPr>
        <p:spPr>
          <a:xfrm>
            <a:off x="8092440" y="2606040"/>
            <a:ext cx="3291480" cy="237708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name — what to call</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description — WHEN to use it</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parameters — the args (JSON schema)</a:t>
            </a:r>
            <a:endParaRPr lang="en-IN" sz="14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00" b="0" u="none" strike="noStrike">
                <a:solidFill>
                  <a:srgbClr val="1E293B"/>
                </a:solidFill>
                <a:effectLst/>
                <a:uFillTx/>
                <a:latin typeface="Calibri"/>
                <a:ea typeface="Calibri"/>
              </a:rPr>
              <a:t>you write the real function</a:t>
            </a:r>
            <a:endParaRPr lang="en-IN" sz="1400" b="0" u="none" strike="noStrike">
              <a:solidFill>
                <a:srgbClr val="000000"/>
              </a:solidFill>
              <a:effectLst/>
              <a:uFillTx/>
              <a:latin typeface="Arial"/>
            </a:endParaRPr>
          </a:p>
        </p:txBody>
      </p:sp>
      <p:sp>
        <p:nvSpPr>
          <p:cNvPr id="236" name="Text 6"/>
          <p:cNvSpPr/>
          <p:nvPr/>
        </p:nvSpPr>
        <p:spPr>
          <a:xfrm>
            <a:off x="8092440" y="5349240"/>
            <a:ext cx="32914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6366F1"/>
                </a:solidFill>
                <a:effectLst/>
                <a:uFillTx/>
                <a:latin typeface="Calibri"/>
                <a:ea typeface="Calibri"/>
              </a:rPr>
              <a:t>description = prompt engineering</a:t>
            </a:r>
            <a:endParaRPr lang="en-IN" sz="1300" b="0" u="none" strike="noStrike">
              <a:solidFill>
                <a:srgbClr val="000000"/>
              </a:solidFill>
              <a:effectLst/>
              <a:uFillTx/>
              <a:latin typeface="Arial"/>
            </a:endParaRPr>
          </a:p>
        </p:txBody>
      </p:sp>
      <p:sp>
        <p:nvSpPr>
          <p:cNvPr id="237" name="Text 7"/>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38" name="Text 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Run the loop — in code</a:t>
            </a:r>
            <a:endParaRPr lang="en-IN" sz="3000" b="0" u="none" strike="noStrike">
              <a:solidFill>
                <a:srgbClr val="000000"/>
              </a:solidFill>
              <a:effectLst/>
              <a:uFillTx/>
              <a:latin typeface="Arial"/>
            </a:endParaRPr>
          </a:p>
        </p:txBody>
      </p:sp>
      <p:sp>
        <p:nvSpPr>
          <p:cNvPr id="240" name="Shape 1"/>
          <p:cNvSpPr/>
          <p:nvPr/>
        </p:nvSpPr>
        <p:spPr>
          <a:xfrm>
            <a:off x="548640" y="1463040"/>
            <a:ext cx="7040520" cy="4480200"/>
          </a:xfrm>
          <a:prstGeom prst="roundRect">
            <a:avLst>
              <a:gd name="adj" fmla="val 1224"/>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1" name="Text 2"/>
          <p:cNvSpPr/>
          <p:nvPr/>
        </p:nvSpPr>
        <p:spPr>
          <a:xfrm>
            <a:off x="804600" y="1645920"/>
            <a:ext cx="6528600" cy="411444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 1) model asks for the tool</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msgs = [{"role":"user","content":"What is 47853 * 1942?"}]</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r = client.chat.completions.create(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model="gpt-4o-mini", messages=msgs, tools=tools)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call = r.choices[0].message.tool_calls[0]</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2) you run it + feed the result back</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args = json.loads(call.function.arguments)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result = calculator(**args)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msgs.append(r.choices[0].message)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msgs.append({"role": "tool",</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"tool_call_id": call.id,</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"content": json.dumps(result)})</a:t>
            </a:r>
            <a:endParaRPr lang="en-IN" sz="1300" b="0" u="none" strike="noStrike">
              <a:solidFill>
                <a:srgbClr val="000000"/>
              </a:solidFill>
              <a:effectLst/>
              <a:uFillTx/>
              <a:latin typeface="Arial"/>
            </a:endParaRPr>
          </a:p>
          <a:p>
            <a:pPr defTabSz="914400">
              <a:lnSpc>
                <a:spcPct val="115000"/>
              </a:lnSpc>
              <a:tabLst>
                <a:tab pos="0" algn="l"/>
              </a:tabLst>
            </a:pP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final = client.chat.completions.create(</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model="gpt-4o-mini", messages=msgs, tools=tools)</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print(final.choices[0].message.content)</a:t>
            </a:r>
            <a:endParaRPr lang="en-IN" sz="1300" b="0" u="none" strike="noStrike">
              <a:solidFill>
                <a:srgbClr val="000000"/>
              </a:solidFill>
              <a:effectLst/>
              <a:uFillTx/>
              <a:latin typeface="Arial"/>
            </a:endParaRPr>
          </a:p>
        </p:txBody>
      </p:sp>
      <p:sp>
        <p:nvSpPr>
          <p:cNvPr id="242" name="Shape 3"/>
          <p:cNvSpPr/>
          <p:nvPr/>
        </p:nvSpPr>
        <p:spPr>
          <a:xfrm>
            <a:off x="7863840" y="1463040"/>
            <a:ext cx="3748680" cy="4480200"/>
          </a:xfrm>
          <a:prstGeom prst="roundRect">
            <a:avLst>
              <a:gd name="adj" fmla="val 2439"/>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43" name="Text 4"/>
          <p:cNvSpPr/>
          <p:nvPr/>
        </p:nvSpPr>
        <p:spPr>
          <a:xfrm>
            <a:off x="8092440" y="1691640"/>
            <a:ext cx="329148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6366F1"/>
                </a:solidFill>
                <a:effectLst/>
                <a:uFillTx/>
                <a:latin typeface="Calibri"/>
                <a:ea typeface="Calibri"/>
              </a:rPr>
              <a:t>Output</a:t>
            </a:r>
            <a:endParaRPr lang="en-IN" sz="1500" b="0" u="none" strike="noStrike">
              <a:solidFill>
                <a:srgbClr val="000000"/>
              </a:solidFill>
              <a:effectLst/>
              <a:uFillTx/>
              <a:latin typeface="Arial"/>
            </a:endParaRPr>
          </a:p>
        </p:txBody>
      </p:sp>
      <p:sp>
        <p:nvSpPr>
          <p:cNvPr id="244" name="Text 5"/>
          <p:cNvSpPr/>
          <p:nvPr/>
        </p:nvSpPr>
        <p:spPr>
          <a:xfrm>
            <a:off x="8092440" y="2148840"/>
            <a:ext cx="3291480" cy="1462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0" i="1" u="none" strike="noStrike">
                <a:solidFill>
                  <a:srgbClr val="1E293B"/>
                </a:solidFill>
                <a:effectLst/>
                <a:uFillTx/>
                <a:latin typeface="Calibri"/>
                <a:ea typeface="Calibri"/>
              </a:rPr>
              <a:t>“47,853 × 1,942 = 92,930,526.”</a:t>
            </a:r>
            <a:endParaRPr lang="en-IN" sz="1500" b="0" u="none" strike="noStrike">
              <a:solidFill>
                <a:srgbClr val="000000"/>
              </a:solidFill>
              <a:effectLst/>
              <a:uFillTx/>
              <a:latin typeface="Arial"/>
            </a:endParaRPr>
          </a:p>
        </p:txBody>
      </p:sp>
      <p:sp>
        <p:nvSpPr>
          <p:cNvPr id="245" name="Text 6"/>
          <p:cNvSpPr/>
          <p:nvPr/>
        </p:nvSpPr>
        <p:spPr>
          <a:xfrm>
            <a:off x="8092440" y="3931920"/>
            <a:ext cx="3291480" cy="1279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rgbClr val="64748B"/>
                </a:solidFill>
                <a:effectLst/>
                <a:uFillTx/>
                <a:latin typeface="Calibri"/>
                <a:ea typeface="Calibri"/>
              </a:rPr>
              <a:t>A real answer, built from real data — no hallucination.</a:t>
            </a:r>
            <a:endParaRPr lang="en-IN" sz="1300" b="0" u="none" strike="noStrike">
              <a:solidFill>
                <a:srgbClr val="000000"/>
              </a:solidFill>
              <a:effectLst/>
              <a:uFillTx/>
              <a:latin typeface="Arial"/>
            </a:endParaRPr>
          </a:p>
        </p:txBody>
      </p:sp>
      <p:sp>
        <p:nvSpPr>
          <p:cNvPr id="246" name="Text 7"/>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47" name="Text 8"/>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24</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49"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E293B"/>
                </a:solidFill>
                <a:effectLst/>
                <a:uFillTx/>
                <a:latin typeface="Calibri"/>
                <a:ea typeface="Calibri"/>
              </a:rPr>
              <a:t>In function calling, who actually runs the function?</a:t>
            </a:r>
            <a:endParaRPr lang="en-IN" sz="2600" b="0" u="none" strike="noStrike">
              <a:solidFill>
                <a:srgbClr val="000000"/>
              </a:solidFill>
              <a:effectLst/>
              <a:uFillTx/>
              <a:latin typeface="Arial"/>
            </a:endParaRPr>
          </a:p>
        </p:txBody>
      </p:sp>
      <p:sp>
        <p:nvSpPr>
          <p:cNvPr id="250"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1"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52"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The model, automatically</a:t>
            </a:r>
            <a:endParaRPr lang="en-IN" sz="1800" b="0" u="none" strike="noStrike">
              <a:solidFill>
                <a:srgbClr val="000000"/>
              </a:solidFill>
              <a:effectLst/>
              <a:uFillTx/>
              <a:latin typeface="Arial"/>
            </a:endParaRPr>
          </a:p>
        </p:txBody>
      </p:sp>
      <p:sp>
        <p:nvSpPr>
          <p:cNvPr id="253"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4"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255"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OpenAI's servers</a:t>
            </a:r>
            <a:endParaRPr lang="en-IN" sz="1800" b="0" u="none" strike="noStrike">
              <a:solidFill>
                <a:srgbClr val="000000"/>
              </a:solidFill>
              <a:effectLst/>
              <a:uFillTx/>
              <a:latin typeface="Arial"/>
            </a:endParaRPr>
          </a:p>
        </p:txBody>
      </p:sp>
      <p:sp>
        <p:nvSpPr>
          <p:cNvPr id="256"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57"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258"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Your own code</a:t>
            </a:r>
            <a:endParaRPr lang="en-IN" sz="1800" b="0" u="none" strike="noStrike">
              <a:solidFill>
                <a:srgbClr val="000000"/>
              </a:solidFill>
              <a:effectLst/>
              <a:uFillTx/>
              <a:latin typeface="Arial"/>
            </a:endParaRPr>
          </a:p>
        </p:txBody>
      </p:sp>
      <p:sp>
        <p:nvSpPr>
          <p:cNvPr id="259"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60"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261"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Nobody — it's simulated</a:t>
            </a:r>
            <a:endParaRPr lang="en-IN" sz="1800" b="0" u="none" strike="noStrike">
              <a:solidFill>
                <a:srgbClr val="000000"/>
              </a:solidFill>
              <a:effectLst/>
              <a:uFillTx/>
              <a:latin typeface="Arial"/>
            </a:endParaRPr>
          </a:p>
        </p:txBody>
      </p:sp>
      <p:sp>
        <p:nvSpPr>
          <p:cNvPr id="262"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63"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25</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264"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05</a:t>
            </a:r>
            <a:endParaRPr lang="en-IN" sz="9600" b="0" u="none" strike="noStrike">
              <a:solidFill>
                <a:srgbClr val="000000"/>
              </a:solidFill>
              <a:effectLst/>
              <a:uFillTx/>
              <a:latin typeface="Arial"/>
            </a:endParaRPr>
          </a:p>
        </p:txBody>
      </p:sp>
      <p:sp>
        <p:nvSpPr>
          <p:cNvPr id="265"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Many tools, safely</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Multiple tools &amp; routing</a:t>
            </a:r>
            <a:endParaRPr lang="en-IN" sz="3000" b="0" u="none" strike="noStrike">
              <a:solidFill>
                <a:srgbClr val="000000"/>
              </a:solidFill>
              <a:effectLst/>
              <a:uFillTx/>
              <a:latin typeface="Arial"/>
            </a:endParaRPr>
          </a:p>
        </p:txBody>
      </p:sp>
      <p:sp>
        <p:nvSpPr>
          <p:cNvPr id="267" name="Shape 1"/>
          <p:cNvSpPr/>
          <p:nvPr/>
        </p:nvSpPr>
        <p:spPr>
          <a:xfrm>
            <a:off x="548640" y="1554480"/>
            <a:ext cx="5668920" cy="1371240"/>
          </a:xfrm>
          <a:prstGeom prst="roundRect">
            <a:avLst>
              <a:gd name="adj" fmla="val 4000"/>
            </a:avLst>
          </a:prstGeom>
          <a:solidFill>
            <a:srgbClr val="F3F4F6"/>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68" name="Text 2"/>
          <p:cNvSpPr/>
          <p:nvPr/>
        </p:nvSpPr>
        <p:spPr>
          <a:xfrm>
            <a:off x="804600" y="1737360"/>
            <a:ext cx="5157000" cy="1005480"/>
          </a:xfrm>
          <a:prstGeom prst="rect">
            <a:avLst/>
          </a:prstGeom>
          <a:noFill/>
          <a:ln w="0">
            <a:noFill/>
          </a:ln>
        </p:spPr>
        <p:style>
          <a:lnRef idx="0"/>
          <a:fillRef idx="0"/>
          <a:effectRef idx="0"/>
          <a:fontRef idx="minor"/>
        </p:style>
        <p:txBody>
          <a:bodyPr lIns="0" tIns="0" rIns="0" bIns="0" anchor="t">
            <a:noAutofit/>
          </a:bodyPr>
          <a:p>
            <a:pPr defTabSz="914400">
              <a:lnSpc>
                <a:spcPct val="115000"/>
              </a:lnSpc>
              <a:tabLst>
                <a:tab pos="0" algn="l"/>
              </a:tabLst>
            </a:pPr>
            <a:r>
              <a:rPr lang="en-US" sz="1300" b="0" u="none" strike="noStrike">
                <a:solidFill>
                  <a:srgbClr val="1E293B"/>
                </a:solidFill>
                <a:effectLst/>
                <a:uFillTx/>
                <a:latin typeface="Courier New"/>
                <a:ea typeface="Courier New"/>
              </a:rPr>
              <a:t>tools = [calculator, get_weather]</a:t>
            </a:r>
            <a:endParaRPr lang="en-IN" sz="1300" b="0" u="none" strike="noStrike">
              <a:solidFill>
                <a:srgbClr val="000000"/>
              </a:solidFill>
              <a:effectLst/>
              <a:uFillTx/>
              <a:latin typeface="Arial"/>
            </a:endParaRPr>
          </a:p>
          <a:p>
            <a:pPr defTabSz="914400">
              <a:lnSpc>
                <a:spcPct val="115000"/>
              </a:lnSpc>
              <a:tabLst>
                <a:tab pos="0" algn="l"/>
              </a:tabLst>
            </a:pPr>
            <a:r>
              <a:rPr lang="en-US" sz="1300" b="0" u="none" strike="noStrike">
                <a:solidFill>
                  <a:srgbClr val="1E293B"/>
                </a:solidFill>
                <a:effectLst/>
                <a:uFillTx/>
                <a:latin typeface="Courier New"/>
                <a:ea typeface="Courier New"/>
              </a:rPr>
              <a:t># the model reads the question, picks the fitting tool</a:t>
            </a:r>
            <a:endParaRPr lang="en-IN" sz="1300" b="0" u="none" strike="noStrike">
              <a:solidFill>
                <a:srgbClr val="000000"/>
              </a:solidFill>
              <a:effectLst/>
              <a:uFillTx/>
              <a:latin typeface="Arial"/>
            </a:endParaRPr>
          </a:p>
        </p:txBody>
      </p:sp>
      <p:sp>
        <p:nvSpPr>
          <p:cNvPr id="269" name="Text 3"/>
          <p:cNvSpPr/>
          <p:nvPr/>
        </p:nvSpPr>
        <p:spPr>
          <a:xfrm>
            <a:off x="548640" y="3200400"/>
            <a:ext cx="54860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E293B"/>
                </a:solidFill>
                <a:effectLst/>
                <a:uFillTx/>
                <a:latin typeface="Calibri"/>
                <a:ea typeface="Calibri"/>
              </a:rPr>
              <a:t>How it routes</a:t>
            </a:r>
            <a:endParaRPr lang="en-IN" sz="1600" b="0" u="none" strike="noStrike">
              <a:solidFill>
                <a:srgbClr val="000000"/>
              </a:solidFill>
              <a:effectLst/>
              <a:uFillTx/>
              <a:latin typeface="Arial"/>
            </a:endParaRPr>
          </a:p>
        </p:txBody>
      </p:sp>
      <p:sp>
        <p:nvSpPr>
          <p:cNvPr id="270" name="Text 4"/>
          <p:cNvSpPr/>
          <p:nvPr/>
        </p:nvSpPr>
        <p:spPr>
          <a:xfrm>
            <a:off x="548640" y="3703320"/>
            <a:ext cx="5486040" cy="201132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450" b="0" u="none" strike="noStrike">
                <a:solidFill>
                  <a:srgbClr val="1E293B"/>
                </a:solidFill>
                <a:effectLst/>
                <a:uFillTx/>
                <a:latin typeface="Calibri"/>
                <a:ea typeface="Calibri"/>
              </a:rPr>
              <a:t>it matches the question to each tool's description</a:t>
            </a:r>
            <a:endParaRPr lang="en-IN" sz="14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50" b="0" u="none" strike="noStrike">
                <a:solidFill>
                  <a:srgbClr val="1E293B"/>
                </a:solidFill>
                <a:effectLst/>
                <a:uFillTx/>
                <a:latin typeface="Calibri"/>
                <a:ea typeface="Calibri"/>
              </a:rPr>
              <a:t>no extra code — you just list the tools</a:t>
            </a:r>
            <a:endParaRPr lang="en-IN" sz="14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50" b="0" u="none" strike="noStrike">
                <a:solidFill>
                  <a:srgbClr val="1E293B"/>
                </a:solidFill>
                <a:effectLst/>
                <a:uFillTx/>
                <a:latin typeface="Calibri"/>
                <a:ea typeface="Calibri"/>
              </a:rPr>
              <a:t>one turn can even request several calls at once</a:t>
            </a:r>
            <a:endParaRPr lang="en-IN" sz="145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450" b="0" u="none" strike="noStrike">
                <a:solidFill>
                  <a:srgbClr val="1E293B"/>
                </a:solidFill>
                <a:effectLst/>
                <a:uFillTx/>
                <a:latin typeface="Calibri"/>
                <a:ea typeface="Calibri"/>
              </a:rPr>
              <a:t>run each, return each result by its tool_call_id</a:t>
            </a:r>
            <a:endParaRPr lang="en-IN" sz="1450" b="0" u="none" strike="noStrike">
              <a:solidFill>
                <a:srgbClr val="000000"/>
              </a:solidFill>
              <a:effectLst/>
              <a:uFillTx/>
              <a:latin typeface="Arial"/>
            </a:endParaRPr>
          </a:p>
        </p:txBody>
      </p:sp>
      <p:sp>
        <p:nvSpPr>
          <p:cNvPr id="271" name="Shape 5"/>
          <p:cNvSpPr/>
          <p:nvPr/>
        </p:nvSpPr>
        <p:spPr>
          <a:xfrm>
            <a:off x="6583680" y="1554480"/>
            <a:ext cx="5028840" cy="4388760"/>
          </a:xfrm>
          <a:prstGeom prst="roundRect">
            <a:avLst>
              <a:gd name="adj" fmla="val 2083"/>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272" name="Text 6"/>
          <p:cNvSpPr/>
          <p:nvPr/>
        </p:nvSpPr>
        <p:spPr>
          <a:xfrm>
            <a:off x="6858000" y="1783080"/>
            <a:ext cx="45716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Routing = a free dispatcher</a:t>
            </a:r>
            <a:endParaRPr lang="en-IN" sz="1700" b="0" u="none" strike="noStrike">
              <a:solidFill>
                <a:srgbClr val="000000"/>
              </a:solidFill>
              <a:effectLst/>
              <a:uFillTx/>
              <a:latin typeface="Arial"/>
            </a:endParaRPr>
          </a:p>
        </p:txBody>
      </p:sp>
      <p:sp>
        <p:nvSpPr>
          <p:cNvPr id="273" name="Text 7"/>
          <p:cNvSpPr/>
          <p:nvPr/>
        </p:nvSpPr>
        <p:spPr>
          <a:xfrm>
            <a:off x="6858000" y="2377440"/>
            <a:ext cx="4480200" cy="3108600"/>
          </a:xfrm>
          <a:prstGeom prst="rect">
            <a:avLst/>
          </a:prstGeom>
          <a:noFill/>
          <a:ln w="0">
            <a:noFill/>
          </a:ln>
        </p:spPr>
        <p:style>
          <a:lnRef idx="0"/>
          <a:fillRef idx="0"/>
          <a:effectRef idx="0"/>
          <a:fontRef idx="minor"/>
        </p:style>
        <p:txBody>
          <a:bodyPr lIns="0" tIns="0" rIns="0" bIns="0" anchor="ctr">
            <a:noAutofit/>
          </a:bodyPr>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“What's 47853 × 1942?” → calculator</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“Weather in Delhi?” → get_weather</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“Just say hi” → no tool, a plain reply</a:t>
            </a:r>
            <a:endParaRPr lang="en-IN" sz="1500" b="0" u="none" strike="noStrike">
              <a:solidFill>
                <a:srgbClr val="000000"/>
              </a:solidFill>
              <a:effectLst/>
              <a:uFillTx/>
              <a:latin typeface="Arial"/>
            </a:endParaRPr>
          </a:p>
          <a:p>
            <a:pPr marL="343080" indent="-343080" defTabSz="914400">
              <a:lnSpc>
                <a:spcPct val="100000"/>
              </a:lnSpc>
              <a:spcAft>
                <a:spcPts val="1001"/>
              </a:spcAft>
              <a:buClr>
                <a:srgbClr val="1E293B"/>
              </a:buClr>
              <a:buFont typeface="Symbol" charset="2"/>
              <a:buChar char=""/>
            </a:pPr>
            <a:r>
              <a:rPr lang="en-US" sz="1500" b="0" u="none" strike="noStrike">
                <a:solidFill>
                  <a:srgbClr val="1E293B"/>
                </a:solidFill>
                <a:effectLst/>
                <a:uFillTx/>
                <a:latin typeface="Calibri"/>
                <a:ea typeface="Calibri"/>
              </a:rPr>
              <a:t>the description is how it decides — write it well</a:t>
            </a:r>
            <a:endParaRPr lang="en-IN" sz="1500" b="0" u="none" strike="noStrike">
              <a:solidFill>
                <a:srgbClr val="000000"/>
              </a:solidFill>
              <a:effectLst/>
              <a:uFillTx/>
              <a:latin typeface="Arial"/>
            </a:endParaRPr>
          </a:p>
        </p:txBody>
      </p:sp>
      <p:sp>
        <p:nvSpPr>
          <p:cNvPr id="274" name="Text 8"/>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75" name="Text 9"/>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27</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Tools are the model's hands — validate them</a:t>
            </a:r>
            <a:endParaRPr lang="en-IN" sz="3000" b="0" u="none" strike="noStrike">
              <a:solidFill>
                <a:srgbClr val="000000"/>
              </a:solidFill>
              <a:effectLst/>
              <a:uFillTx/>
              <a:latin typeface="Arial"/>
            </a:endParaRPr>
          </a:p>
        </p:txBody>
      </p:sp>
      <p:sp>
        <p:nvSpPr>
          <p:cNvPr id="277" name="Text 1"/>
          <p:cNvSpPr/>
          <p:nvPr/>
        </p:nvSpPr>
        <p:spPr>
          <a:xfrm>
            <a:off x="548640" y="1280160"/>
            <a:ext cx="1097244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i="1" u="none" strike="noStrike">
                <a:solidFill>
                  <a:srgbClr val="64748B"/>
                </a:solidFill>
                <a:effectLst/>
                <a:uFillTx/>
                <a:latin typeface="Calibri"/>
                <a:ea typeface="Calibri"/>
              </a:rPr>
              <a:t>Tool arguments come from a model steered by user text → treat them as untrusted (Day 1's injection lesson, made real).</a:t>
            </a:r>
            <a:endParaRPr lang="en-IN" sz="1600" b="0" u="none" strike="noStrike">
              <a:solidFill>
                <a:srgbClr val="000000"/>
              </a:solidFill>
              <a:effectLst/>
              <a:uFillTx/>
              <a:latin typeface="Arial"/>
            </a:endParaRPr>
          </a:p>
        </p:txBody>
      </p:sp>
      <p:sp>
        <p:nvSpPr>
          <p:cNvPr id="278" name="Shape 2"/>
          <p:cNvSpPr/>
          <p:nvPr/>
        </p:nvSpPr>
        <p:spPr>
          <a:xfrm>
            <a:off x="548640" y="2148840"/>
            <a:ext cx="685440" cy="6854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79" name="Text 3"/>
          <p:cNvSpPr/>
          <p:nvPr/>
        </p:nvSpPr>
        <p:spPr>
          <a:xfrm>
            <a:off x="548640" y="214884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1</a:t>
            </a:r>
            <a:endParaRPr lang="en-IN" sz="1800" b="0" u="none" strike="noStrike">
              <a:solidFill>
                <a:srgbClr val="000000"/>
              </a:solidFill>
              <a:effectLst/>
              <a:uFillTx/>
              <a:latin typeface="Arial"/>
            </a:endParaRPr>
          </a:p>
        </p:txBody>
      </p:sp>
      <p:sp>
        <p:nvSpPr>
          <p:cNvPr id="280" name="Text 4"/>
          <p:cNvSpPr/>
          <p:nvPr/>
        </p:nvSpPr>
        <p:spPr>
          <a:xfrm>
            <a:off x="1463040" y="2103120"/>
            <a:ext cx="3291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alibri"/>
                <a:ea typeface="Calibri"/>
              </a:rPr>
              <a:t>Validate / whitelist</a:t>
            </a:r>
            <a:endParaRPr lang="en-IN" sz="1700" b="0" u="none" strike="noStrike">
              <a:solidFill>
                <a:srgbClr val="000000"/>
              </a:solidFill>
              <a:effectLst/>
              <a:uFillTx/>
              <a:latin typeface="Arial"/>
            </a:endParaRPr>
          </a:p>
        </p:txBody>
      </p:sp>
      <p:sp>
        <p:nvSpPr>
          <p:cNvPr id="281" name="Text 5"/>
          <p:cNvSpPr/>
          <p:nvPr/>
        </p:nvSpPr>
        <p:spPr>
          <a:xfrm>
            <a:off x="4846320" y="2103120"/>
            <a:ext cx="7131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check every arg before running — never eval() a calculator, never run raw SQL from args</a:t>
            </a:r>
            <a:endParaRPr lang="en-IN" sz="1450" b="0" u="none" strike="noStrike">
              <a:solidFill>
                <a:srgbClr val="000000"/>
              </a:solidFill>
              <a:effectLst/>
              <a:uFillTx/>
              <a:latin typeface="Arial"/>
            </a:endParaRPr>
          </a:p>
        </p:txBody>
      </p:sp>
      <p:sp>
        <p:nvSpPr>
          <p:cNvPr id="282" name="Shape 6"/>
          <p:cNvSpPr/>
          <p:nvPr/>
        </p:nvSpPr>
        <p:spPr>
          <a:xfrm>
            <a:off x="548640" y="3246120"/>
            <a:ext cx="685440" cy="685440"/>
          </a:xfrm>
          <a:prstGeom prst="roundRect">
            <a:avLst>
              <a:gd name="adj" fmla="val 50000"/>
            </a:avLst>
          </a:prstGeom>
          <a:solidFill>
            <a:srgbClr val="0891B2"/>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83" name="Text 7"/>
          <p:cNvSpPr/>
          <p:nvPr/>
        </p:nvSpPr>
        <p:spPr>
          <a:xfrm>
            <a:off x="548640" y="324612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2</a:t>
            </a:r>
            <a:endParaRPr lang="en-IN" sz="1800" b="0" u="none" strike="noStrike">
              <a:solidFill>
                <a:srgbClr val="000000"/>
              </a:solidFill>
              <a:effectLst/>
              <a:uFillTx/>
              <a:latin typeface="Arial"/>
            </a:endParaRPr>
          </a:p>
        </p:txBody>
      </p:sp>
      <p:sp>
        <p:nvSpPr>
          <p:cNvPr id="284" name="Text 8"/>
          <p:cNvSpPr/>
          <p:nvPr/>
        </p:nvSpPr>
        <p:spPr>
          <a:xfrm>
            <a:off x="1463040" y="3200400"/>
            <a:ext cx="3291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0891B2"/>
                </a:solidFill>
                <a:effectLst/>
                <a:uFillTx/>
                <a:latin typeface="Calibri"/>
                <a:ea typeface="Calibri"/>
              </a:rPr>
              <a:t>Scope each tool</a:t>
            </a:r>
            <a:endParaRPr lang="en-IN" sz="1700" b="0" u="none" strike="noStrike">
              <a:solidFill>
                <a:srgbClr val="000000"/>
              </a:solidFill>
              <a:effectLst/>
              <a:uFillTx/>
              <a:latin typeface="Arial"/>
            </a:endParaRPr>
          </a:p>
        </p:txBody>
      </p:sp>
      <p:sp>
        <p:nvSpPr>
          <p:cNvPr id="285" name="Text 9"/>
          <p:cNvSpPr/>
          <p:nvPr/>
        </p:nvSpPr>
        <p:spPr>
          <a:xfrm>
            <a:off x="4846320" y="3200400"/>
            <a:ext cx="7131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least power that works — read-only where possible</a:t>
            </a:r>
            <a:endParaRPr lang="en-IN" sz="1450" b="0" u="none" strike="noStrike">
              <a:solidFill>
                <a:srgbClr val="000000"/>
              </a:solidFill>
              <a:effectLst/>
              <a:uFillTx/>
              <a:latin typeface="Arial"/>
            </a:endParaRPr>
          </a:p>
        </p:txBody>
      </p:sp>
      <p:sp>
        <p:nvSpPr>
          <p:cNvPr id="286" name="Shape 10"/>
          <p:cNvSpPr/>
          <p:nvPr/>
        </p:nvSpPr>
        <p:spPr>
          <a:xfrm>
            <a:off x="548640" y="4343400"/>
            <a:ext cx="685440" cy="685440"/>
          </a:xfrm>
          <a:prstGeom prst="roundRect">
            <a:avLst>
              <a:gd name="adj" fmla="val 50000"/>
            </a:avLst>
          </a:prstGeom>
          <a:solidFill>
            <a:srgbClr val="B91C1C"/>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87" name="Text 11"/>
          <p:cNvSpPr/>
          <p:nvPr/>
        </p:nvSpPr>
        <p:spPr>
          <a:xfrm>
            <a:off x="548640" y="4343400"/>
            <a:ext cx="685440" cy="685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rgbClr val="FFFFFF"/>
                </a:solidFill>
                <a:effectLst/>
                <a:uFillTx/>
                <a:latin typeface="Calibri"/>
                <a:ea typeface="Calibri"/>
              </a:rPr>
              <a:t>3</a:t>
            </a:r>
            <a:endParaRPr lang="en-IN" sz="1800" b="0" u="none" strike="noStrike">
              <a:solidFill>
                <a:srgbClr val="000000"/>
              </a:solidFill>
              <a:effectLst/>
              <a:uFillTx/>
              <a:latin typeface="Arial"/>
            </a:endParaRPr>
          </a:p>
        </p:txBody>
      </p:sp>
      <p:sp>
        <p:nvSpPr>
          <p:cNvPr id="288" name="Text 12"/>
          <p:cNvSpPr/>
          <p:nvPr/>
        </p:nvSpPr>
        <p:spPr>
          <a:xfrm>
            <a:off x="1463040" y="4297680"/>
            <a:ext cx="32914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B91C1C"/>
                </a:solidFill>
                <a:effectLst/>
                <a:uFillTx/>
                <a:latin typeface="Calibri"/>
                <a:ea typeface="Calibri"/>
              </a:rPr>
              <a:t>Gate costly actions</a:t>
            </a:r>
            <a:endParaRPr lang="en-IN" sz="1700" b="0" u="none" strike="noStrike">
              <a:solidFill>
                <a:srgbClr val="000000"/>
              </a:solidFill>
              <a:effectLst/>
              <a:uFillTx/>
              <a:latin typeface="Arial"/>
            </a:endParaRPr>
          </a:p>
        </p:txBody>
      </p:sp>
      <p:sp>
        <p:nvSpPr>
          <p:cNvPr id="289" name="Text 13"/>
          <p:cNvSpPr/>
          <p:nvPr/>
        </p:nvSpPr>
        <p:spPr>
          <a:xfrm>
            <a:off x="4846320" y="4297680"/>
            <a:ext cx="713196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50" b="0" u="none" strike="noStrike">
                <a:solidFill>
                  <a:srgbClr val="1E293B"/>
                </a:solidFill>
                <a:effectLst/>
                <a:uFillTx/>
                <a:latin typeface="Calibri"/>
                <a:ea typeface="Calibri"/>
              </a:rPr>
              <a:t>refunds, deletes, emails, payments → hard limits + a human in the loop</a:t>
            </a:r>
            <a:endParaRPr lang="en-IN" sz="1450" b="0" u="none" strike="noStrike">
              <a:solidFill>
                <a:srgbClr val="000000"/>
              </a:solidFill>
              <a:effectLst/>
              <a:uFillTx/>
              <a:latin typeface="Arial"/>
            </a:endParaRPr>
          </a:p>
        </p:txBody>
      </p:sp>
      <p:sp>
        <p:nvSpPr>
          <p:cNvPr id="290" name="Text 14"/>
          <p:cNvSpPr/>
          <p:nvPr/>
        </p:nvSpPr>
        <p:spPr>
          <a:xfrm>
            <a:off x="548640" y="56235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E293B"/>
                </a:solidFill>
                <a:effectLst/>
                <a:uFillTx/>
                <a:latin typeface="Calibri"/>
                <a:ea typeface="Calibri"/>
              </a:rPr>
              <a:t>The more power you give its hands, the harder you must check what they grab.</a:t>
            </a:r>
            <a:endParaRPr lang="en-IN" sz="1500" b="0" u="none" strike="noStrike">
              <a:solidFill>
                <a:srgbClr val="000000"/>
              </a:solidFill>
              <a:effectLst/>
              <a:uFillTx/>
              <a:latin typeface="Arial"/>
            </a:endParaRPr>
          </a:p>
        </p:txBody>
      </p:sp>
      <p:sp>
        <p:nvSpPr>
          <p:cNvPr id="291" name="Text 15"/>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292" name="Text 16"/>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28</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Text 0"/>
          <p:cNvSpPr/>
          <p:nvPr/>
        </p:nvSpPr>
        <p:spPr>
          <a:xfrm>
            <a:off x="548640" y="457200"/>
            <a:ext cx="54860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6366F1"/>
                </a:solidFill>
                <a:effectLst/>
                <a:uFillTx/>
                <a:latin typeface="Calibri"/>
                <a:ea typeface="Calibri"/>
              </a:rPr>
              <a:t>Quick check</a:t>
            </a:r>
            <a:endParaRPr lang="en-IN" sz="1600" b="0" u="none" strike="noStrike">
              <a:solidFill>
                <a:srgbClr val="000000"/>
              </a:solidFill>
              <a:effectLst/>
              <a:uFillTx/>
              <a:latin typeface="Arial"/>
            </a:endParaRPr>
          </a:p>
        </p:txBody>
      </p:sp>
      <p:sp>
        <p:nvSpPr>
          <p:cNvPr id="294" name="Text 1"/>
          <p:cNvSpPr/>
          <p:nvPr/>
        </p:nvSpPr>
        <p:spPr>
          <a:xfrm>
            <a:off x="548640" y="1051560"/>
            <a:ext cx="1109124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E293B"/>
                </a:solidFill>
                <a:effectLst/>
                <a:uFillTx/>
                <a:latin typeface="Calibri"/>
                <a:ea typeface="Calibri"/>
              </a:rPr>
              <a:t>Your agent has a send_refund(amount) tool. What's essential?</a:t>
            </a:r>
            <a:endParaRPr lang="en-IN" sz="2600" b="0" u="none" strike="noStrike">
              <a:solidFill>
                <a:srgbClr val="000000"/>
              </a:solidFill>
              <a:effectLst/>
              <a:uFillTx/>
              <a:latin typeface="Arial"/>
            </a:endParaRPr>
          </a:p>
        </p:txBody>
      </p:sp>
      <p:sp>
        <p:nvSpPr>
          <p:cNvPr id="295" name="Shape 2"/>
          <p:cNvSpPr/>
          <p:nvPr/>
        </p:nvSpPr>
        <p:spPr>
          <a:xfrm>
            <a:off x="548640" y="246888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96" name="Text 3"/>
          <p:cNvSpPr/>
          <p:nvPr/>
        </p:nvSpPr>
        <p:spPr>
          <a:xfrm>
            <a:off x="548640" y="246888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A</a:t>
            </a:r>
            <a:endParaRPr lang="en-IN" sz="1500" b="0" u="none" strike="noStrike">
              <a:solidFill>
                <a:srgbClr val="000000"/>
              </a:solidFill>
              <a:effectLst/>
              <a:uFillTx/>
              <a:latin typeface="Arial"/>
            </a:endParaRPr>
          </a:p>
        </p:txBody>
      </p:sp>
      <p:sp>
        <p:nvSpPr>
          <p:cNvPr id="297" name="Text 4"/>
          <p:cNvSpPr/>
          <p:nvPr/>
        </p:nvSpPr>
        <p:spPr>
          <a:xfrm>
            <a:off x="1325880" y="246888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Nothing — trust the model</a:t>
            </a:r>
            <a:endParaRPr lang="en-IN" sz="1800" b="0" u="none" strike="noStrike">
              <a:solidFill>
                <a:srgbClr val="000000"/>
              </a:solidFill>
              <a:effectLst/>
              <a:uFillTx/>
              <a:latin typeface="Arial"/>
            </a:endParaRPr>
          </a:p>
        </p:txBody>
      </p:sp>
      <p:sp>
        <p:nvSpPr>
          <p:cNvPr id="298" name="Shape 5"/>
          <p:cNvSpPr/>
          <p:nvPr/>
        </p:nvSpPr>
        <p:spPr>
          <a:xfrm>
            <a:off x="548640" y="333756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299" name="Text 6"/>
          <p:cNvSpPr/>
          <p:nvPr/>
        </p:nvSpPr>
        <p:spPr>
          <a:xfrm>
            <a:off x="548640" y="333756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B</a:t>
            </a:r>
            <a:endParaRPr lang="en-IN" sz="1500" b="0" u="none" strike="noStrike">
              <a:solidFill>
                <a:srgbClr val="000000"/>
              </a:solidFill>
              <a:effectLst/>
              <a:uFillTx/>
              <a:latin typeface="Arial"/>
            </a:endParaRPr>
          </a:p>
        </p:txBody>
      </p:sp>
      <p:sp>
        <p:nvSpPr>
          <p:cNvPr id="300" name="Text 7"/>
          <p:cNvSpPr/>
          <p:nvPr/>
        </p:nvSpPr>
        <p:spPr>
          <a:xfrm>
            <a:off x="1325880" y="333756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Validate/cap the amount + require human approval</a:t>
            </a:r>
            <a:endParaRPr lang="en-IN" sz="1800" b="0" u="none" strike="noStrike">
              <a:solidFill>
                <a:srgbClr val="000000"/>
              </a:solidFill>
              <a:effectLst/>
              <a:uFillTx/>
              <a:latin typeface="Arial"/>
            </a:endParaRPr>
          </a:p>
        </p:txBody>
      </p:sp>
      <p:sp>
        <p:nvSpPr>
          <p:cNvPr id="301" name="Shape 8"/>
          <p:cNvSpPr/>
          <p:nvPr/>
        </p:nvSpPr>
        <p:spPr>
          <a:xfrm>
            <a:off x="548640" y="420624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02" name="Text 9"/>
          <p:cNvSpPr/>
          <p:nvPr/>
        </p:nvSpPr>
        <p:spPr>
          <a:xfrm>
            <a:off x="548640" y="420624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C</a:t>
            </a:r>
            <a:endParaRPr lang="en-IN" sz="1500" b="0" u="none" strike="noStrike">
              <a:solidFill>
                <a:srgbClr val="000000"/>
              </a:solidFill>
              <a:effectLst/>
              <a:uFillTx/>
              <a:latin typeface="Arial"/>
            </a:endParaRPr>
          </a:p>
        </p:txBody>
      </p:sp>
      <p:sp>
        <p:nvSpPr>
          <p:cNvPr id="303" name="Text 10"/>
          <p:cNvSpPr/>
          <p:nvPr/>
        </p:nvSpPr>
        <p:spPr>
          <a:xfrm>
            <a:off x="1325880" y="420624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Use a bigger model</a:t>
            </a:r>
            <a:endParaRPr lang="en-IN" sz="1800" b="0" u="none" strike="noStrike">
              <a:solidFill>
                <a:srgbClr val="000000"/>
              </a:solidFill>
              <a:effectLst/>
              <a:uFillTx/>
              <a:latin typeface="Arial"/>
            </a:endParaRPr>
          </a:p>
        </p:txBody>
      </p:sp>
      <p:sp>
        <p:nvSpPr>
          <p:cNvPr id="304" name="Shape 11"/>
          <p:cNvSpPr/>
          <p:nvPr/>
        </p:nvSpPr>
        <p:spPr>
          <a:xfrm>
            <a:off x="548640" y="5074920"/>
            <a:ext cx="548280" cy="54828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05" name="Text 12"/>
          <p:cNvSpPr/>
          <p:nvPr/>
        </p:nvSpPr>
        <p:spPr>
          <a:xfrm>
            <a:off x="548640" y="5074920"/>
            <a:ext cx="5482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D</a:t>
            </a:r>
            <a:endParaRPr lang="en-IN" sz="1500" b="0" u="none" strike="noStrike">
              <a:solidFill>
                <a:srgbClr val="000000"/>
              </a:solidFill>
              <a:effectLst/>
              <a:uFillTx/>
              <a:latin typeface="Arial"/>
            </a:endParaRPr>
          </a:p>
        </p:txBody>
      </p:sp>
      <p:sp>
        <p:nvSpPr>
          <p:cNvPr id="306" name="Text 13"/>
          <p:cNvSpPr/>
          <p:nvPr/>
        </p:nvSpPr>
        <p:spPr>
          <a:xfrm>
            <a:off x="1325880" y="5074920"/>
            <a:ext cx="96008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Raise the temperature</a:t>
            </a:r>
            <a:endParaRPr lang="en-IN" sz="1800" b="0" u="none" strike="noStrike">
              <a:solidFill>
                <a:srgbClr val="000000"/>
              </a:solidFill>
              <a:effectLst/>
              <a:uFillTx/>
              <a:latin typeface="Arial"/>
            </a:endParaRPr>
          </a:p>
        </p:txBody>
      </p:sp>
      <p:sp>
        <p:nvSpPr>
          <p:cNvPr id="307"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308"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29</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EF0FF"/>
        </a:solidFill>
      </p:bgPr>
    </p:bg>
    <p:spTree>
      <p:nvGrpSpPr>
        <p:cNvPr id="1" name=""/>
        <p:cNvGrpSpPr/>
        <p:nvPr/>
      </p:nvGrpSpPr>
      <p:grpSpPr>
        <a:xfrm>
          <a:off x="0" y="0"/>
          <a:ext cx="0" cy="0"/>
          <a:chOff x="0" y="0"/>
          <a:chExt cx="0" cy="0"/>
        </a:xfrm>
      </p:grpSpPr>
      <p:sp>
        <p:nvSpPr>
          <p:cNvPr id="309" name="Text 0"/>
          <p:cNvSpPr/>
          <p:nvPr/>
        </p:nvSpPr>
        <p:spPr>
          <a:xfrm>
            <a:off x="548640" y="1828800"/>
            <a:ext cx="3657240" cy="1737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600" b="1" u="none" strike="noStrike">
                <a:solidFill>
                  <a:srgbClr val="6366F1"/>
                </a:solidFill>
                <a:effectLst/>
                <a:uFillTx/>
                <a:latin typeface="Calibri"/>
                <a:ea typeface="Calibri"/>
              </a:rPr>
              <a:t>06</a:t>
            </a:r>
            <a:endParaRPr lang="en-IN" sz="9600" b="0" u="none" strike="noStrike">
              <a:solidFill>
                <a:srgbClr val="000000"/>
              </a:solidFill>
              <a:effectLst/>
              <a:uFillTx/>
              <a:latin typeface="Arial"/>
            </a:endParaRPr>
          </a:p>
        </p:txBody>
      </p:sp>
      <p:sp>
        <p:nvSpPr>
          <p:cNvPr id="310" name="Text 1"/>
          <p:cNvSpPr/>
          <p:nvPr/>
        </p:nvSpPr>
        <p:spPr>
          <a:xfrm>
            <a:off x="603360" y="3657600"/>
            <a:ext cx="10606680" cy="914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400" b="1" u="none" strike="noStrike">
                <a:solidFill>
                  <a:srgbClr val="1E293B"/>
                </a:solidFill>
                <a:effectLst/>
                <a:uFillTx/>
                <a:latin typeface="Calibri"/>
                <a:ea typeface="Calibri"/>
              </a:rPr>
              <a:t>The agent skeleton</a:t>
            </a:r>
            <a:endParaRPr lang="en-IN" sz="3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Put it together</a:t>
            </a:r>
            <a:endParaRPr lang="en-IN" sz="3000" b="0" u="none" strike="noStrike">
              <a:solidFill>
                <a:srgbClr val="000000"/>
              </a:solidFill>
              <a:effectLst/>
              <a:uFillTx/>
              <a:latin typeface="Arial"/>
            </a:endParaRPr>
          </a:p>
        </p:txBody>
      </p:sp>
      <p:sp>
        <p:nvSpPr>
          <p:cNvPr id="312" name="Shape 1"/>
          <p:cNvSpPr/>
          <p:nvPr/>
        </p:nvSpPr>
        <p:spPr>
          <a:xfrm>
            <a:off x="548640" y="2194560"/>
            <a:ext cx="2468520" cy="1554120"/>
          </a:xfrm>
          <a:prstGeom prst="roundRect">
            <a:avLst>
              <a:gd name="adj" fmla="val 5882"/>
            </a:avLst>
          </a:prstGeom>
          <a:solidFill>
            <a:srgbClr val="F8FAFC"/>
          </a:solidFill>
          <a:ln w="12700">
            <a:solidFill>
              <a:srgbClr val="E2E8F0"/>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3" name="Text 2"/>
          <p:cNvSpPr/>
          <p:nvPr/>
        </p:nvSpPr>
        <p:spPr>
          <a:xfrm>
            <a:off x="548640" y="2194560"/>
            <a:ext cx="2468520" cy="1554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1E293B"/>
                </a:solidFill>
                <a:effectLst/>
                <a:uFillTx/>
                <a:latin typeface="Calibri"/>
                <a:ea typeface="Calibri"/>
              </a:rPr>
              <a:t>User message</a:t>
            </a:r>
            <a:endParaRPr lang="en-IN" sz="1600" b="0" u="none" strike="noStrike">
              <a:solidFill>
                <a:srgbClr val="000000"/>
              </a:solidFill>
              <a:effectLst/>
              <a:uFillTx/>
              <a:latin typeface="Arial"/>
            </a:endParaRPr>
          </a:p>
        </p:txBody>
      </p:sp>
      <p:sp>
        <p:nvSpPr>
          <p:cNvPr id="314" name="Shape 3"/>
          <p:cNvSpPr/>
          <p:nvPr/>
        </p:nvSpPr>
        <p:spPr>
          <a:xfrm>
            <a:off x="3035880" y="2788920"/>
            <a:ext cx="365400" cy="3654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5" name="Shape 4"/>
          <p:cNvSpPr/>
          <p:nvPr/>
        </p:nvSpPr>
        <p:spPr>
          <a:xfrm>
            <a:off x="3429000" y="2194560"/>
            <a:ext cx="2468520" cy="1554120"/>
          </a:xfrm>
          <a:prstGeom prst="roundRect">
            <a:avLst>
              <a:gd name="adj" fmla="val 588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6" name="Text 5"/>
          <p:cNvSpPr/>
          <p:nvPr/>
        </p:nvSpPr>
        <p:spPr>
          <a:xfrm>
            <a:off x="3429000" y="2194560"/>
            <a:ext cx="2468520" cy="1554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366F1"/>
                </a:solidFill>
                <a:effectLst/>
                <a:uFillTx/>
                <a:latin typeface="Calibri"/>
                <a:ea typeface="Calibri"/>
              </a:rPr>
              <a:t>Few-shot /</a:t>
            </a:r>
            <a:endParaRPr lang="en-IN"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6366F1"/>
                </a:solidFill>
                <a:effectLst/>
                <a:uFillTx/>
                <a:latin typeface="Calibri"/>
                <a:ea typeface="Calibri"/>
              </a:rPr>
              <a:t>good prompt</a:t>
            </a:r>
            <a:endParaRPr lang="en-IN" sz="1600" b="0" u="none" strike="noStrike">
              <a:solidFill>
                <a:srgbClr val="000000"/>
              </a:solidFill>
              <a:effectLst/>
              <a:uFillTx/>
              <a:latin typeface="Arial"/>
            </a:endParaRPr>
          </a:p>
        </p:txBody>
      </p:sp>
      <p:sp>
        <p:nvSpPr>
          <p:cNvPr id="317" name="Shape 6"/>
          <p:cNvSpPr/>
          <p:nvPr/>
        </p:nvSpPr>
        <p:spPr>
          <a:xfrm>
            <a:off x="5916240" y="2788920"/>
            <a:ext cx="365400" cy="3654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18" name="Shape 7"/>
          <p:cNvSpPr/>
          <p:nvPr/>
        </p:nvSpPr>
        <p:spPr>
          <a:xfrm>
            <a:off x="6309360" y="2194560"/>
            <a:ext cx="2468520" cy="1554120"/>
          </a:xfrm>
          <a:prstGeom prst="roundRect">
            <a:avLst>
              <a:gd name="adj" fmla="val 5882"/>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19" name="Text 8"/>
          <p:cNvSpPr/>
          <p:nvPr/>
        </p:nvSpPr>
        <p:spPr>
          <a:xfrm>
            <a:off x="6309360" y="2194560"/>
            <a:ext cx="2468520" cy="1554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6366F1"/>
                </a:solidFill>
                <a:effectLst/>
                <a:uFillTx/>
                <a:latin typeface="Calibri"/>
                <a:ea typeface="Calibri"/>
              </a:rPr>
              <a:t>Model calls</a:t>
            </a:r>
            <a:endParaRPr lang="en-IN"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6366F1"/>
                </a:solidFill>
                <a:effectLst/>
                <a:uFillTx/>
                <a:latin typeface="Calibri"/>
                <a:ea typeface="Calibri"/>
              </a:rPr>
              <a:t>a TOOL</a:t>
            </a:r>
            <a:endParaRPr lang="en-IN" sz="1600" b="0" u="none" strike="noStrike">
              <a:solidFill>
                <a:srgbClr val="000000"/>
              </a:solidFill>
              <a:effectLst/>
              <a:uFillTx/>
              <a:latin typeface="Arial"/>
            </a:endParaRPr>
          </a:p>
        </p:txBody>
      </p:sp>
      <p:sp>
        <p:nvSpPr>
          <p:cNvPr id="320" name="Shape 9"/>
          <p:cNvSpPr/>
          <p:nvPr/>
        </p:nvSpPr>
        <p:spPr>
          <a:xfrm>
            <a:off x="8796600" y="2788920"/>
            <a:ext cx="365400" cy="365400"/>
          </a:xfrm>
          <a:prstGeom prst="rightArrow">
            <a:avLst>
              <a:gd name="adj1" fmla="val 50000"/>
              <a:gd name="adj2" fmla="val 50000"/>
            </a:avLst>
          </a:prstGeom>
          <a:solidFill>
            <a:srgbClr val="64748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21" name="Shape 10"/>
          <p:cNvSpPr/>
          <p:nvPr/>
        </p:nvSpPr>
        <p:spPr>
          <a:xfrm>
            <a:off x="9189720" y="2194560"/>
            <a:ext cx="2468520" cy="1554120"/>
          </a:xfrm>
          <a:prstGeom prst="roundRect">
            <a:avLst>
              <a:gd name="adj" fmla="val 5882"/>
            </a:avLst>
          </a:prstGeom>
          <a:solidFill>
            <a:srgbClr val="F8FAFC"/>
          </a:solidFill>
          <a:ln w="12700">
            <a:solidFill>
              <a:srgbClr val="0891B2"/>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2" name="Text 11"/>
          <p:cNvSpPr/>
          <p:nvPr/>
        </p:nvSpPr>
        <p:spPr>
          <a:xfrm>
            <a:off x="9189720" y="2194560"/>
            <a:ext cx="2468520" cy="15541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891B2"/>
                </a:solidFill>
                <a:effectLst/>
                <a:uFillTx/>
                <a:latin typeface="Calibri"/>
                <a:ea typeface="Calibri"/>
              </a:rPr>
              <a:t>Returns a</a:t>
            </a:r>
            <a:endParaRPr lang="en-IN" sz="1600" b="0" u="none" strike="noStrike">
              <a:solidFill>
                <a:srgbClr val="000000"/>
              </a:solidFill>
              <a:effectLst/>
              <a:uFillTx/>
              <a:latin typeface="Arial"/>
            </a:endParaRPr>
          </a:p>
          <a:p>
            <a:pPr algn="ctr" defTabSz="914400">
              <a:lnSpc>
                <a:spcPct val="100000"/>
              </a:lnSpc>
              <a:tabLst>
                <a:tab pos="0" algn="l"/>
              </a:tabLst>
            </a:pPr>
            <a:r>
              <a:rPr lang="en-US" sz="1600" b="1" u="none" strike="noStrike">
                <a:solidFill>
                  <a:srgbClr val="0891B2"/>
                </a:solidFill>
                <a:effectLst/>
                <a:uFillTx/>
                <a:latin typeface="Calibri"/>
                <a:ea typeface="Calibri"/>
              </a:rPr>
              <a:t>STRUCTURED object</a:t>
            </a:r>
            <a:endParaRPr lang="en-IN" sz="1600" b="0" u="none" strike="noStrike">
              <a:solidFill>
                <a:srgbClr val="000000"/>
              </a:solidFill>
              <a:effectLst/>
              <a:uFillTx/>
              <a:latin typeface="Arial"/>
            </a:endParaRPr>
          </a:p>
        </p:txBody>
      </p:sp>
      <p:sp>
        <p:nvSpPr>
          <p:cNvPr id="323" name="Text 12"/>
          <p:cNvSpPr/>
          <p:nvPr/>
        </p:nvSpPr>
        <p:spPr>
          <a:xfrm>
            <a:off x="548640" y="4206240"/>
            <a:ext cx="1097244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1E293B"/>
                </a:solidFill>
                <a:effectLst/>
                <a:uFillTx/>
                <a:latin typeface="Calibri"/>
                <a:ea typeface="Calibri"/>
              </a:rPr>
              <a:t>All three of today's pillars in one flow  </a:t>
            </a:r>
            <a:r>
              <a:rPr lang="en-US" sz="1700" b="0" u="none" strike="noStrike">
                <a:solidFill>
                  <a:srgbClr val="64748B"/>
                </a:solidFill>
                <a:effectLst/>
                <a:uFillTx/>
                <a:latin typeface="Calibri"/>
                <a:ea typeface="Calibri"/>
              </a:rPr>
              <a:t>— and you never trusted a raw string.</a:t>
            </a:r>
            <a:endParaRPr lang="en-IN" sz="1700" b="0" u="none" strike="noStrike">
              <a:solidFill>
                <a:srgbClr val="000000"/>
              </a:solidFill>
              <a:effectLst/>
              <a:uFillTx/>
              <a:latin typeface="Arial"/>
            </a:endParaRPr>
          </a:p>
        </p:txBody>
      </p:sp>
      <p:sp>
        <p:nvSpPr>
          <p:cNvPr id="324" name="Text 13"/>
          <p:cNvSpPr/>
          <p:nvPr/>
        </p:nvSpPr>
        <p:spPr>
          <a:xfrm>
            <a:off x="548640" y="484632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§1–2 prompt well   ·   §4–5 call tools for real data   ·   §3 hand your code a typed object</a:t>
            </a:r>
            <a:endParaRPr lang="en-IN" sz="1400" b="0" u="none" strike="noStrike">
              <a:solidFill>
                <a:srgbClr val="000000"/>
              </a:solidFill>
              <a:effectLst/>
              <a:uFillTx/>
              <a:latin typeface="Arial"/>
            </a:endParaRPr>
          </a:p>
        </p:txBody>
      </p:sp>
      <p:sp>
        <p:nvSpPr>
          <p:cNvPr id="325"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32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31</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This loop is an agent</a:t>
            </a:r>
            <a:endParaRPr lang="en-IN" sz="3000" b="0" u="none" strike="noStrike">
              <a:solidFill>
                <a:srgbClr val="000000"/>
              </a:solidFill>
              <a:effectLst/>
              <a:uFillTx/>
              <a:latin typeface="Arial"/>
            </a:endParaRPr>
          </a:p>
        </p:txBody>
      </p:sp>
      <p:sp>
        <p:nvSpPr>
          <p:cNvPr id="328" name="Shape 1"/>
          <p:cNvSpPr/>
          <p:nvPr/>
        </p:nvSpPr>
        <p:spPr>
          <a:xfrm>
            <a:off x="548640" y="1463040"/>
            <a:ext cx="11091240" cy="1234080"/>
          </a:xfrm>
          <a:prstGeom prst="roundRect">
            <a:avLst>
              <a:gd name="adj" fmla="val 7407"/>
            </a:avLst>
          </a:prstGeom>
          <a:solidFill>
            <a:srgbClr val="EEF0FF"/>
          </a:solidFill>
          <a:ln w="12700">
            <a:solidFill>
              <a:srgbClr val="6366F1"/>
            </a:solidFill>
            <a:round/>
          </a:ln>
        </p:spPr>
        <p:style>
          <a:lnRef idx="0"/>
          <a:fillRef idx="0"/>
          <a:effectRef idx="0"/>
          <a:fontRef idx="minor"/>
        </p:style>
        <p:txBody>
          <a:bodyPr lIns="90000" tIns="45000" rIns="90000" bIns="45000" anchor="t">
            <a:noAutofit/>
          </a:bodyPr>
          <a:p>
            <a:endParaRPr lang="en-IN" sz="1800" b="0" u="none" strike="noStrike">
              <a:solidFill>
                <a:srgbClr val="000000"/>
              </a:solidFill>
              <a:effectLst/>
              <a:uFillTx/>
              <a:latin typeface="Arial"/>
            </a:endParaRPr>
          </a:p>
        </p:txBody>
      </p:sp>
      <p:sp>
        <p:nvSpPr>
          <p:cNvPr id="329" name="Text 2"/>
          <p:cNvSpPr/>
          <p:nvPr/>
        </p:nvSpPr>
        <p:spPr>
          <a:xfrm>
            <a:off x="868680" y="1463040"/>
            <a:ext cx="10423800" cy="1234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1" u="none" strike="noStrike">
                <a:solidFill>
                  <a:srgbClr val="6366F1"/>
                </a:solidFill>
                <a:effectLst/>
                <a:uFillTx/>
                <a:latin typeface="Courier New"/>
                <a:ea typeface="Courier New"/>
              </a:rPr>
              <a:t>think → call a tool → observe the result → think again</a:t>
            </a:r>
            <a:r>
              <a:rPr lang="en-US" sz="1700" b="0" u="none" strike="noStrike">
                <a:solidFill>
                  <a:srgbClr val="1E293B"/>
                </a:solidFill>
                <a:effectLst/>
                <a:uFillTx/>
                <a:latin typeface="Calibri"/>
                <a:ea typeface="Calibri"/>
              </a:rPr>
              <a:t>   , repeated until done  =  an agent.</a:t>
            </a:r>
            <a:endParaRPr lang="en-IN" sz="1700" b="0" u="none" strike="noStrike">
              <a:solidFill>
                <a:srgbClr val="000000"/>
              </a:solidFill>
              <a:effectLst/>
              <a:uFillTx/>
              <a:latin typeface="Arial"/>
            </a:endParaRPr>
          </a:p>
        </p:txBody>
      </p:sp>
      <p:sp>
        <p:nvSpPr>
          <p:cNvPr id="330" name="Shape 3"/>
          <p:cNvSpPr/>
          <p:nvPr/>
        </p:nvSpPr>
        <p:spPr>
          <a:xfrm>
            <a:off x="548640" y="2971800"/>
            <a:ext cx="639720" cy="639720"/>
          </a:xfrm>
          <a:prstGeom prst="roundRect">
            <a:avLst>
              <a:gd name="adj" fmla="val 50000"/>
            </a:avLst>
          </a:prstGeom>
          <a:solidFill>
            <a:srgbClr val="0891B2"/>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1" name="Text 4"/>
          <p:cNvSpPr/>
          <p:nvPr/>
        </p:nvSpPr>
        <p:spPr>
          <a:xfrm>
            <a:off x="548640" y="297180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332" name="Text 5"/>
          <p:cNvSpPr/>
          <p:nvPr/>
        </p:nvSpPr>
        <p:spPr>
          <a:xfrm>
            <a:off x="1417320" y="297180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0891B2"/>
                </a:solidFill>
                <a:effectLst/>
                <a:uFillTx/>
                <a:latin typeface="Calibri"/>
                <a:ea typeface="Calibri"/>
              </a:rPr>
              <a:t>RAG · Day 4  —  </a:t>
            </a:r>
            <a:r>
              <a:rPr lang="en-US" sz="1550" b="0" u="none" strike="noStrike">
                <a:solidFill>
                  <a:srgbClr val="1E293B"/>
                </a:solidFill>
                <a:effectLst/>
                <a:uFillTx/>
                <a:latin typeface="Calibri"/>
                <a:ea typeface="Calibri"/>
              </a:rPr>
              <a:t>the tool becomes “search my documents” — the model answers from YOUR data instead of hallucinating</a:t>
            </a:r>
            <a:endParaRPr lang="en-IN" sz="1550" b="0" u="none" strike="noStrike">
              <a:solidFill>
                <a:srgbClr val="000000"/>
              </a:solidFill>
              <a:effectLst/>
              <a:uFillTx/>
              <a:latin typeface="Arial"/>
            </a:endParaRPr>
          </a:p>
        </p:txBody>
      </p:sp>
      <p:sp>
        <p:nvSpPr>
          <p:cNvPr id="333" name="Shape 6"/>
          <p:cNvSpPr/>
          <p:nvPr/>
        </p:nvSpPr>
        <p:spPr>
          <a:xfrm>
            <a:off x="548640" y="4023360"/>
            <a:ext cx="639720" cy="63972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4" name="Text 7"/>
          <p:cNvSpPr/>
          <p:nvPr/>
        </p:nvSpPr>
        <p:spPr>
          <a:xfrm>
            <a:off x="548640" y="402336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335" name="Text 8"/>
          <p:cNvSpPr/>
          <p:nvPr/>
        </p:nvSpPr>
        <p:spPr>
          <a:xfrm>
            <a:off x="1417320" y="402336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6366F1"/>
                </a:solidFill>
                <a:effectLst/>
                <a:uFillTx/>
                <a:latin typeface="Calibri"/>
                <a:ea typeface="Calibri"/>
              </a:rPr>
              <a:t>Agents · Day 5  —  </a:t>
            </a:r>
            <a:r>
              <a:rPr lang="en-US" sz="1550" b="0" u="none" strike="noStrike">
                <a:solidFill>
                  <a:srgbClr val="1E293B"/>
                </a:solidFill>
                <a:effectLst/>
                <a:uFillTx/>
                <a:latin typeface="Calibri"/>
                <a:ea typeface="Calibri"/>
              </a:rPr>
              <a:t>this loop + memory + planning + many tools, running many steps on its own</a:t>
            </a:r>
            <a:endParaRPr lang="en-IN" sz="1550" b="0" u="none" strike="noStrike">
              <a:solidFill>
                <a:srgbClr val="000000"/>
              </a:solidFill>
              <a:effectLst/>
              <a:uFillTx/>
              <a:latin typeface="Arial"/>
            </a:endParaRPr>
          </a:p>
        </p:txBody>
      </p:sp>
      <p:sp>
        <p:nvSpPr>
          <p:cNvPr id="336" name="Shape 9"/>
          <p:cNvSpPr/>
          <p:nvPr/>
        </p:nvSpPr>
        <p:spPr>
          <a:xfrm>
            <a:off x="548640" y="5074920"/>
            <a:ext cx="639720" cy="639720"/>
          </a:xfrm>
          <a:prstGeom prst="roundRect">
            <a:avLst>
              <a:gd name="adj" fmla="val 50000"/>
            </a:avLst>
          </a:prstGeom>
          <a:solidFill>
            <a:srgbClr val="1E293B"/>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37" name="Text 10"/>
          <p:cNvSpPr/>
          <p:nvPr/>
        </p:nvSpPr>
        <p:spPr>
          <a:xfrm>
            <a:off x="548640" y="5074920"/>
            <a:ext cx="639720" cy="6397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338" name="Text 11"/>
          <p:cNvSpPr/>
          <p:nvPr/>
        </p:nvSpPr>
        <p:spPr>
          <a:xfrm>
            <a:off x="1417320" y="5074920"/>
            <a:ext cx="10423800" cy="822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50" b="1" u="none" strike="noStrike">
                <a:solidFill>
                  <a:srgbClr val="1E293B"/>
                </a:solidFill>
                <a:effectLst/>
                <a:uFillTx/>
                <a:latin typeface="Calibri"/>
                <a:ea typeface="Calibri"/>
              </a:rPr>
              <a:t>In the wild  —  </a:t>
            </a:r>
            <a:r>
              <a:rPr lang="en-US" sz="1550" b="0" u="none" strike="noStrike">
                <a:solidFill>
                  <a:srgbClr val="1E293B"/>
                </a:solidFill>
                <a:effectLst/>
                <a:uFillTx/>
                <a:latin typeface="Calibri"/>
                <a:ea typeface="Calibri"/>
              </a:rPr>
              <a:t>support automation · coding assistants (read/run) · data-extraction pipelines</a:t>
            </a:r>
            <a:endParaRPr lang="en-IN" sz="1550" b="0" u="none" strike="noStrike">
              <a:solidFill>
                <a:srgbClr val="000000"/>
              </a:solidFill>
              <a:effectLst/>
              <a:uFillTx/>
              <a:latin typeface="Arial"/>
            </a:endParaRPr>
          </a:p>
        </p:txBody>
      </p:sp>
      <p:sp>
        <p:nvSpPr>
          <p:cNvPr id="339" name="Text 12"/>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340" name="Text 13"/>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32</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Text 0"/>
          <p:cNvSpPr/>
          <p:nvPr/>
        </p:nvSpPr>
        <p:spPr>
          <a:xfrm>
            <a:off x="548640" y="457200"/>
            <a:ext cx="11091240" cy="7311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E293B"/>
                </a:solidFill>
                <a:effectLst/>
                <a:uFillTx/>
                <a:latin typeface="Calibri"/>
                <a:ea typeface="Calibri"/>
              </a:rPr>
              <a:t>Recap</a:t>
            </a:r>
            <a:endParaRPr lang="en-IN" sz="3000" b="0" u="none" strike="noStrike">
              <a:solidFill>
                <a:srgbClr val="000000"/>
              </a:solidFill>
              <a:effectLst/>
              <a:uFillTx/>
              <a:latin typeface="Arial"/>
            </a:endParaRPr>
          </a:p>
        </p:txBody>
      </p:sp>
      <p:sp>
        <p:nvSpPr>
          <p:cNvPr id="342" name="Shape 1"/>
          <p:cNvSpPr/>
          <p:nvPr/>
        </p:nvSpPr>
        <p:spPr>
          <a:xfrm>
            <a:off x="548640" y="1645920"/>
            <a:ext cx="566640" cy="5666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43" name="Text 2"/>
          <p:cNvSpPr/>
          <p:nvPr/>
        </p:nvSpPr>
        <p:spPr>
          <a:xfrm>
            <a:off x="548640" y="1645920"/>
            <a:ext cx="56664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1</a:t>
            </a:r>
            <a:endParaRPr lang="en-IN" sz="1500" b="0" u="none" strike="noStrike">
              <a:solidFill>
                <a:srgbClr val="000000"/>
              </a:solidFill>
              <a:effectLst/>
              <a:uFillTx/>
              <a:latin typeface="Arial"/>
            </a:endParaRPr>
          </a:p>
        </p:txBody>
      </p:sp>
      <p:sp>
        <p:nvSpPr>
          <p:cNvPr id="344" name="Text 3"/>
          <p:cNvSpPr/>
          <p:nvPr/>
        </p:nvSpPr>
        <p:spPr>
          <a:xfrm>
            <a:off x="1417320" y="1645920"/>
            <a:ext cx="10423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Few-shot teaches by example in the prompt — reach for it before fine-tuning.</a:t>
            </a:r>
            <a:endParaRPr lang="en-IN" sz="1800" b="0" u="none" strike="noStrike">
              <a:solidFill>
                <a:srgbClr val="000000"/>
              </a:solidFill>
              <a:effectLst/>
              <a:uFillTx/>
              <a:latin typeface="Arial"/>
            </a:endParaRPr>
          </a:p>
        </p:txBody>
      </p:sp>
      <p:sp>
        <p:nvSpPr>
          <p:cNvPr id="345" name="Shape 4"/>
          <p:cNvSpPr/>
          <p:nvPr/>
        </p:nvSpPr>
        <p:spPr>
          <a:xfrm>
            <a:off x="548640" y="2606040"/>
            <a:ext cx="566640" cy="5666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46" name="Text 5"/>
          <p:cNvSpPr/>
          <p:nvPr/>
        </p:nvSpPr>
        <p:spPr>
          <a:xfrm>
            <a:off x="548640" y="2606040"/>
            <a:ext cx="56664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2</a:t>
            </a:r>
            <a:endParaRPr lang="en-IN" sz="1500" b="0" u="none" strike="noStrike">
              <a:solidFill>
                <a:srgbClr val="000000"/>
              </a:solidFill>
              <a:effectLst/>
              <a:uFillTx/>
              <a:latin typeface="Arial"/>
            </a:endParaRPr>
          </a:p>
        </p:txBody>
      </p:sp>
      <p:sp>
        <p:nvSpPr>
          <p:cNvPr id="347" name="Text 6"/>
          <p:cNvSpPr/>
          <p:nvPr/>
        </p:nvSpPr>
        <p:spPr>
          <a:xfrm>
            <a:off x="1417320" y="2606040"/>
            <a:ext cx="10423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Chain-of-thought buys multi-step accuracy; reasoning models do it natively.</a:t>
            </a:r>
            <a:endParaRPr lang="en-IN" sz="1800" b="0" u="none" strike="noStrike">
              <a:solidFill>
                <a:srgbClr val="000000"/>
              </a:solidFill>
              <a:effectLst/>
              <a:uFillTx/>
              <a:latin typeface="Arial"/>
            </a:endParaRPr>
          </a:p>
        </p:txBody>
      </p:sp>
      <p:sp>
        <p:nvSpPr>
          <p:cNvPr id="348" name="Shape 7"/>
          <p:cNvSpPr/>
          <p:nvPr/>
        </p:nvSpPr>
        <p:spPr>
          <a:xfrm>
            <a:off x="548640" y="3566160"/>
            <a:ext cx="566640" cy="5666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49" name="Text 8"/>
          <p:cNvSpPr/>
          <p:nvPr/>
        </p:nvSpPr>
        <p:spPr>
          <a:xfrm>
            <a:off x="548640" y="3566160"/>
            <a:ext cx="56664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3</a:t>
            </a:r>
            <a:endParaRPr lang="en-IN" sz="1500" b="0" u="none" strike="noStrike">
              <a:solidFill>
                <a:srgbClr val="000000"/>
              </a:solidFill>
              <a:effectLst/>
              <a:uFillTx/>
              <a:latin typeface="Arial"/>
            </a:endParaRPr>
          </a:p>
        </p:txBody>
      </p:sp>
      <p:sp>
        <p:nvSpPr>
          <p:cNvPr id="350" name="Text 9"/>
          <p:cNvSpPr/>
          <p:nvPr/>
        </p:nvSpPr>
        <p:spPr>
          <a:xfrm>
            <a:off x="1417320" y="3566160"/>
            <a:ext cx="10423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parse() + a Pydantic model gives a guaranteed shape — the contract your code trusts.</a:t>
            </a:r>
            <a:endParaRPr lang="en-IN" sz="1800" b="0" u="none" strike="noStrike">
              <a:solidFill>
                <a:srgbClr val="000000"/>
              </a:solidFill>
              <a:effectLst/>
              <a:uFillTx/>
              <a:latin typeface="Arial"/>
            </a:endParaRPr>
          </a:p>
        </p:txBody>
      </p:sp>
      <p:sp>
        <p:nvSpPr>
          <p:cNvPr id="351" name="Shape 10"/>
          <p:cNvSpPr/>
          <p:nvPr/>
        </p:nvSpPr>
        <p:spPr>
          <a:xfrm>
            <a:off x="548640" y="4526280"/>
            <a:ext cx="566640" cy="566640"/>
          </a:xfrm>
          <a:prstGeom prst="roundRect">
            <a:avLst>
              <a:gd name="adj" fmla="val 50000"/>
            </a:avLst>
          </a:prstGeom>
          <a:solidFill>
            <a:srgbClr val="6366F1"/>
          </a:solidFill>
          <a:ln w="0">
            <a:noFill/>
          </a:ln>
        </p:spPr>
        <p:style>
          <a:lnRef idx="0"/>
          <a:fillRef idx="0"/>
          <a:effectRef idx="0"/>
          <a:fontRef idx="minor"/>
        </p:style>
        <p:txBody>
          <a:bodyPr lIns="90000" tIns="45000" rIns="90000" bIns="45000" anchor="t">
            <a:noAutofit/>
          </a:bodyPr>
          <a:p>
            <a:endParaRPr lang="en-IN" sz="1800" b="0" u="none" strike="noStrike">
              <a:solidFill>
                <a:srgbClr val="FFFFFF"/>
              </a:solidFill>
              <a:effectLst/>
              <a:uFillTx/>
              <a:latin typeface="Arial"/>
            </a:endParaRPr>
          </a:p>
        </p:txBody>
      </p:sp>
      <p:sp>
        <p:nvSpPr>
          <p:cNvPr id="352" name="Text 11"/>
          <p:cNvSpPr/>
          <p:nvPr/>
        </p:nvSpPr>
        <p:spPr>
          <a:xfrm>
            <a:off x="548640" y="4526280"/>
            <a:ext cx="566640" cy="5666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Calibri"/>
                <a:ea typeface="Calibri"/>
              </a:rPr>
              <a:t>4</a:t>
            </a:r>
            <a:endParaRPr lang="en-IN" sz="1500" b="0" u="none" strike="noStrike">
              <a:solidFill>
                <a:srgbClr val="000000"/>
              </a:solidFill>
              <a:effectLst/>
              <a:uFillTx/>
              <a:latin typeface="Arial"/>
            </a:endParaRPr>
          </a:p>
        </p:txBody>
      </p:sp>
      <p:sp>
        <p:nvSpPr>
          <p:cNvPr id="353" name="Text 12"/>
          <p:cNvSpPr/>
          <p:nvPr/>
        </p:nvSpPr>
        <p:spPr>
          <a:xfrm>
            <a:off x="1417320" y="4526280"/>
            <a:ext cx="10423800" cy="566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0" u="none" strike="noStrike">
                <a:solidFill>
                  <a:srgbClr val="1E293B"/>
                </a:solidFill>
                <a:effectLst/>
                <a:uFillTx/>
                <a:latin typeface="Calibri"/>
                <a:ea typeface="Calibri"/>
              </a:rPr>
              <a:t>Function calling: the model requests, your code runs — always validate args. That loop is an agent.</a:t>
            </a:r>
            <a:endParaRPr lang="en-IN" sz="1800" b="0" u="none" strike="noStrike">
              <a:solidFill>
                <a:srgbClr val="000000"/>
              </a:solidFill>
              <a:effectLst/>
              <a:uFillTx/>
              <a:latin typeface="Arial"/>
            </a:endParaRPr>
          </a:p>
        </p:txBody>
      </p:sp>
      <p:sp>
        <p:nvSpPr>
          <p:cNvPr id="354" name="Text 13"/>
          <p:cNvSpPr/>
          <p:nvPr/>
        </p:nvSpPr>
        <p:spPr>
          <a:xfrm>
            <a:off x="548640" y="5623560"/>
            <a:ext cx="1097244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i="1" u="none" strike="noStrike">
                <a:solidFill>
                  <a:srgbClr val="64748B"/>
                </a:solidFill>
                <a:effectLst/>
                <a:uFillTx/>
                <a:latin typeface="Calibri"/>
                <a:ea typeface="Calibri"/>
              </a:rPr>
              <a:t>Notebook §8 exercises + homework are in the run book. Next: Day 3 — embeddings &amp; vector search.</a:t>
            </a:r>
            <a:endParaRPr lang="en-IN" sz="1400" b="0" u="none" strike="noStrike">
              <a:solidFill>
                <a:srgbClr val="000000"/>
              </a:solidFill>
              <a:effectLst/>
              <a:uFillTx/>
              <a:latin typeface="Arial"/>
            </a:endParaRPr>
          </a:p>
        </p:txBody>
      </p:sp>
      <p:sp>
        <p:nvSpPr>
          <p:cNvPr id="355" name="Text 14"/>
          <p:cNvSpPr/>
          <p:nvPr/>
        </p:nvSpPr>
        <p:spPr>
          <a:xfrm>
            <a:off x="548640" y="6473880"/>
            <a:ext cx="5486040" cy="228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00" b="0" u="none" strike="noStrike">
                <a:solidFill>
                  <a:srgbClr val="64748B"/>
                </a:solidFill>
                <a:effectLst/>
                <a:uFillTx/>
                <a:latin typeface="Calibri"/>
                <a:ea typeface="Calibri"/>
              </a:rPr>
              <a:t>Generative AI · Day 2</a:t>
            </a:r>
            <a:endParaRPr lang="en-IN" sz="900" b="0" u="none" strike="noStrike">
              <a:solidFill>
                <a:srgbClr val="000000"/>
              </a:solidFill>
              <a:effectLst/>
              <a:uFillTx/>
              <a:latin typeface="Arial"/>
            </a:endParaRPr>
          </a:p>
        </p:txBody>
      </p:sp>
      <p:sp>
        <p:nvSpPr>
          <p:cNvPr id="356" name="Text 15"/>
          <p:cNvSpPr/>
          <p:nvPr/>
        </p:nvSpPr>
        <p:spPr>
          <a:xfrm>
            <a:off x="11183040" y="6473880"/>
            <a:ext cx="456840" cy="228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64748B"/>
                </a:solidFill>
                <a:effectLst/>
                <a:uFillTx/>
                <a:latin typeface="Calibri"/>
                <a:ea typeface="Calibri"/>
              </a:rPr>
              <a:t>33</a:t>
            </a:r>
            <a:endParaRPr lang="en-IN" sz="9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LibreOffice/26.2.5.2$MacOSX_X86_64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2026-07-28T03:03:49Z</dcterms:created>
  <dc:creator>Bhupendra Dahal</dc:creator>
  <dc:description/>
  <dc:language>en-IN</dc:language>
  <cp:lastModifiedBy>Bhupendra Dahal</cp:lastModifiedBy>
  <dcterms:modified xsi:type="dcterms:W3CDTF">2026-07-28T03:03:49Z</dcterms:modified>
  <cp:revision>1</cp:revision>
  <dc:subject>PptxGenJS Presentation</dc:subject>
  <dc:title>Generative AI — Day 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33</vt:r8>
  </property>
  <property fmtid="{D5CDD505-2E9C-101B-9397-08002B2CF9AE}" pid="3" name="PresentationFormat">
    <vt:lpwstr>On-screen Show (16:9)</vt:lpwstr>
  </property>
  <property fmtid="{D5CDD505-2E9C-101B-9397-08002B2CF9AE}" pid="4" name="Slides">
    <vt:r8>33</vt:r8>
  </property>
</Properties>
</file>