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12.xml" ContentType="application/vnd.openxmlformats-officedocument.presentationml.slide+xml"/>
  <Override PartName="/ppt/slides/slide19.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1.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5.xml" ContentType="application/vnd.openxmlformats-officedocument.presentationml.slide+xml"/>
  <Override PartName="/ppt/slides/slide2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21.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9.xml" ContentType="application/vnd.openxmlformats-officedocument.presentationml.notesSlide+xml"/>
  <Override PartName="/ppt/notesSlides/notesSlide19.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24.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IN" sz="1800" b="0" u="none" strike="noStrike">
                <a:solidFill>
                  <a:schemeClr val="dk1"/>
                </a:solidFill>
                <a:effectLst/>
                <a:uFillTx/>
                <a:latin typeface="Calibri"/>
              </a:rPr>
              <a:t>Click to move the slide</a:t>
            </a:r>
            <a:endParaRPr lang="en-IN"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71BA9ACB-4930-40FC-AAA6-C2ED3ABF06AA}"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second half of the day opens here. Let it sit for a beat - most of them have not thought about it, because /docs made everything feel private. Point out that their Module-2 API is completely open: any person on the network can delete any course. Do not answer the question; the next fifteen minutes are the answer. Then say the shape of the rest of the day: who you are (auth), what you may do (roles), then how anyone else ever runs this thing (Docker, deploy).</a:t>
            </a:r>
            <a:endParaRPr lang="en-IN" sz="2000" b="0" u="none" strike="noStrike">
              <a:solidFill>
                <a:srgbClr val="000000"/>
              </a:solidFill>
              <a:effectLst/>
              <a:uFillTx/>
              <a:latin typeface="Arial"/>
            </a:endParaRPr>
          </a:p>
        </p:txBody>
      </p:sp>
      <p:sp>
        <p:nvSpPr>
          <p:cNvPr id="366"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325697-E1EA-467A-8FCC-068A11CA155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Img"/>
          </p:nvPr>
        </p:nvSpPr>
        <p:spPr>
          <a:xfrm>
            <a:off x="685800" y="1143000"/>
            <a:ext cx="5486040" cy="3085920"/>
          </a:xfrm>
          <a:prstGeom prst="rect">
            <a:avLst/>
          </a:prstGeom>
          <a:ln w="0">
            <a:noFill/>
          </a:ln>
        </p:spPr>
      </p:sp>
      <p:sp>
        <p:nvSpPr>
          <p:cNvPr id="3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Twenty-eight minutes and the biggest hands-on block of the afternoon. Teach the two ideas (hashing, JWT) fast with the two runnable files, then get everyone to the padlock. Protect this block - if you are behind, cut Redis and architecture, never this.</a:t>
            </a:r>
            <a:endParaRPr lang="en-IN" sz="2000" b="0" u="none" strike="noStrike">
              <a:solidFill>
                <a:srgbClr val="000000"/>
              </a:solidFill>
              <a:effectLst/>
              <a:uFillTx/>
              <a:latin typeface="Arial"/>
            </a:endParaRPr>
          </a:p>
        </p:txBody>
      </p:sp>
      <p:sp>
        <p:nvSpPr>
          <p:cNvPr id="369"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A7ADD7-5F42-4033-9421-33A6120CAD9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685800" y="1143000"/>
            <a:ext cx="5486040" cy="3085920"/>
          </a:xfrm>
          <a:prstGeom prst="rect">
            <a:avLst/>
          </a:prstGeom>
          <a:ln w="0">
            <a:noFill/>
          </a:ln>
        </p:spPr>
      </p:sp>
      <p:sp>
        <p:nvSpPr>
          <p:cNvPr id="3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Ask first: 'your college portal stores your password - should the admin be able to read it?' Everyone says no, nobody can say how that is possible. Run n1_hashing.py: the two-different-hashes line is the moment. The salt explanation matters because it answers 'why not just hash it once and compare' - without salt, one rainbow table cracks your whole user base at once. Library note worth 20 seconds: pwdlib is what FastAPI's docs use now; passlib is unmaintained and the crypt module it used was removed in Python 3.13.</a:t>
            </a:r>
            <a:endParaRPr lang="en-IN" sz="2000" b="0" u="none" strike="noStrike">
              <a:solidFill>
                <a:srgbClr val="000000"/>
              </a:solidFill>
              <a:effectLst/>
              <a:uFillTx/>
              <a:latin typeface="Arial"/>
            </a:endParaRPr>
          </a:p>
        </p:txBody>
      </p:sp>
      <p:sp>
        <p:nvSpPr>
          <p:cNvPr id="372"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412A088-4B97-485C-8720-62DD22E96F3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685800" y="1143000"/>
            <a:ext cx="5486040" cy="3085920"/>
          </a:xfrm>
          <a:prstGeom prst="rect">
            <a:avLst/>
          </a:prstGeom>
          <a:ln w="0">
            <a:noFill/>
          </a:ln>
        </p:spPr>
      </p:sp>
      <p:sp>
        <p:nvSpPr>
          <p:cNvPr id="3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n2_jwt.py and do the tamper demo: change the role to admin, watch InvalidSignatureError. That refusal is the moment the whole idea lands. The most common misconception in the room will be 'the token is encrypted so it is safe' - kill it explicitly by decoding the payload on screen with no secret. Also mention exp: an expired token is rejected for you, automatically, which is why short lifetimes are cheap security.</a:t>
            </a:r>
            <a:endParaRPr lang="en-IN" sz="2000" b="0" u="none" strike="noStrike">
              <a:solidFill>
                <a:srgbClr val="000000"/>
              </a:solidFill>
              <a:effectLst/>
              <a:uFillTx/>
              <a:latin typeface="Arial"/>
            </a:endParaRPr>
          </a:p>
        </p:txBody>
      </p:sp>
      <p:sp>
        <p:nvSpPr>
          <p:cNvPr id="375"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8296460-DC5F-426E-AB62-537592921C9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Img"/>
          </p:nvPr>
        </p:nvSpPr>
        <p:spPr>
          <a:xfrm>
            <a:off x="685800" y="1143000"/>
            <a:ext cx="5486040" cy="3085920"/>
          </a:xfrm>
          <a:prstGeom prst="rect">
            <a:avLst/>
          </a:prstGeom>
          <a:ln w="0">
            <a:noFill/>
          </a:ln>
        </p:spPr>
      </p:sp>
      <p:sp>
        <p:nvSpPr>
          <p:cNvPr id="3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sentence of the module - say it while pointing back at the get_db slide. Auth stops being a scary separate topic and becomes a variation of something they did an hour ago. Then run the four-step demo and make EVERY student get to a green 200 before you move. Two warnings to give before they get stuck: /auth/login takes FORM fields not JSON (that is the OAuth2 spec, and curling it with JSON gives a confusing 422), and the token expires in 30 minutes so a mid-afternoon 401 is not a bug.</a:t>
            </a:r>
            <a:endParaRPr lang="en-IN" sz="2000" b="0" u="none" strike="noStrike">
              <a:solidFill>
                <a:srgbClr val="000000"/>
              </a:solidFill>
              <a:effectLst/>
              <a:uFillTx/>
              <a:latin typeface="Arial"/>
            </a:endParaRPr>
          </a:p>
        </p:txBody>
      </p:sp>
      <p:sp>
        <p:nvSpPr>
          <p:cNvPr id="378"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5ED3A15-3C3A-4A45-B086-A64D9FF9B24B}"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685800" y="1143000"/>
            <a:ext cx="5486040" cy="3085920"/>
          </a:xfrm>
          <a:prstGeom prst="rect">
            <a:avLst/>
          </a:prstGeom>
          <a:ln w="0">
            <a:noFill/>
          </a:ln>
        </p:spPr>
      </p:sp>
      <p:sp>
        <p:nvSpPr>
          <p:cNvPr id="3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a JWT is signed, not encrypted. Anyone holding it can read every claim, and that is expected. What they CANNOT do is change a claim, because the signature would stop matching. Not A: reading a token you already hold proves nothing about how you got it. Not C or D: verification and secrecy are separate from readability. Discussion prompt: 'so what must never go in a token?' - passwords, card numbers, anything you would not show the user.</a:t>
            </a:r>
            <a:endParaRPr lang="en-IN" sz="2000" b="0" u="none" strike="noStrike">
              <a:solidFill>
                <a:srgbClr val="000000"/>
              </a:solidFill>
              <a:effectLst/>
              <a:uFillTx/>
              <a:latin typeface="Arial"/>
            </a:endParaRPr>
          </a:p>
        </p:txBody>
      </p:sp>
      <p:sp>
        <p:nvSpPr>
          <p:cNvPr id="381"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B8BDEEC-A1C1-4C89-A2AF-A1DBFEF057AC}"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Img"/>
          </p:nvPr>
        </p:nvSpPr>
        <p:spPr>
          <a:xfrm>
            <a:off x="685800" y="1143000"/>
            <a:ext cx="5486040" cy="3085920"/>
          </a:xfrm>
          <a:prstGeom prst="rect">
            <a:avLst/>
          </a:prstGeom>
          <a:ln w="0">
            <a:noFill/>
          </a:ln>
        </p:spPr>
      </p:sp>
      <p:sp>
        <p:nvSpPr>
          <p:cNvPr id="3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Thirteen minutes, and mostly demo. The 401-vs-403 distinction is the keeper; the security checklist is a slide to photograph, not to teach line by line.</a:t>
            </a:r>
            <a:endParaRPr lang="en-IN" sz="2000" b="0" u="none" strike="noStrike">
              <a:solidFill>
                <a:srgbClr val="000000"/>
              </a:solidFill>
              <a:effectLst/>
              <a:uFillTx/>
              <a:latin typeface="Arial"/>
            </a:endParaRPr>
          </a:p>
        </p:txBody>
      </p:sp>
      <p:sp>
        <p:nvSpPr>
          <p:cNvPr id="384"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BC15D4-C297-4E0A-AE75-2A7249B4FC5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Img"/>
          </p:nvPr>
        </p:nvSpPr>
        <p:spPr>
          <a:xfrm>
            <a:off x="685800" y="1143000"/>
            <a:ext cx="5486040" cy="3085920"/>
          </a:xfrm>
          <a:prstGeom prst="rect">
            <a:avLst/>
          </a:prstGeom>
          <a:ln w="0">
            <a:noFill/>
          </a:ln>
        </p:spPr>
      </p:sp>
      <p:sp>
        <p:nvSpPr>
          <p:cNvPr id="3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Ask before revealing: 'a logged-in student calls DELETE /courses/CSE101 - which number?' Take a vote between 401 and 403; the room usually splits, and that split is why the slide exists. Then demo it: log in as a student, get the 403, log in as admin, get the 204. Authentication is WHO, authorisation is WHAT YOU MAY DO - two different questions, two different numbers.</a:t>
            </a:r>
            <a:endParaRPr lang="en-IN" sz="2000" b="0" u="none" strike="noStrike">
              <a:solidFill>
                <a:srgbClr val="000000"/>
              </a:solidFill>
              <a:effectLst/>
              <a:uFillTx/>
              <a:latin typeface="Arial"/>
            </a:endParaRPr>
          </a:p>
        </p:txBody>
      </p:sp>
      <p:sp>
        <p:nvSpPr>
          <p:cNvPr id="387"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31F200-15EE-40B4-A9C7-4CAB0C6CFD5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Img"/>
          </p:nvPr>
        </p:nvSpPr>
        <p:spPr>
          <a:xfrm>
            <a:off x="685800" y="1143000"/>
            <a:ext cx="5486040" cy="3085920"/>
          </a:xfrm>
          <a:prstGeom prst="rect">
            <a:avLst/>
          </a:prstGeom>
          <a:ln w="0">
            <a:noFill/>
          </a:ln>
        </p:spPr>
      </p:sp>
      <p:sp>
        <p:nvSpPr>
          <p:cNvPr id="3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a photograph-it slide, not a read-it-aloud slide. Spend the time on rules 1 and 7 only. Rule 1 with a real story: keys pushed to public GitHub get found by scanning bots within minutes, and the first thing they do is spin up crypto mining on your account. Rule 7 is the subtle one - 'no such user' versus 'wrong password' tells an attacker which emails are registered, which is account enumeration. Then one line on sessions vs tokens: a session means the server remembers you (easy to revoke, every server needs the same memory), a token means it remembers nothing and just checks a signature (scales trivially, hard to revoke early). That trade-off is why both still exist.</a:t>
            </a:r>
            <a:endParaRPr lang="en-IN" sz="2000" b="0" u="none" strike="noStrike">
              <a:solidFill>
                <a:srgbClr val="000000"/>
              </a:solidFill>
              <a:effectLst/>
              <a:uFillTx/>
              <a:latin typeface="Arial"/>
            </a:endParaRPr>
          </a:p>
        </p:txBody>
      </p:sp>
      <p:sp>
        <p:nvSpPr>
          <p:cNvPr id="390"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BB052E6-C73E-4B6B-8C69-460E7C41B5E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Img"/>
          </p:nvPr>
        </p:nvSpPr>
        <p:spPr>
          <a:xfrm>
            <a:off x="685800" y="1143000"/>
            <a:ext cx="5486040" cy="3085920"/>
          </a:xfrm>
          <a:prstGeom prst="rect">
            <a:avLst/>
          </a:prstGeom>
          <a:ln w="0">
            <a:noFill/>
          </a:ln>
        </p:spPr>
      </p:sp>
      <p:sp>
        <p:nvSpPr>
          <p:cNvPr id="3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they authenticated perfectly; they are simply not allowed. 401 (A) would be the answer with no token or a broken one, and it is the most common wrong answer here because the name 'Unauthorized' is misleading - it means unauthenticated. C is a real technique for hiding the existence of private resources, but it is not what require_role does. D is about the shape of the request, which was fine. Discussion prompt: 'when might returning 404 instead of 403 actually be the better choice?' - when even knowing the thing exists is a leak.</a:t>
            </a:r>
            <a:endParaRPr lang="en-IN" sz="2000" b="0" u="none" strike="noStrike">
              <a:solidFill>
                <a:srgbClr val="000000"/>
              </a:solidFill>
              <a:effectLst/>
              <a:uFillTx/>
              <a:latin typeface="Arial"/>
            </a:endParaRPr>
          </a:p>
        </p:txBody>
      </p:sp>
      <p:sp>
        <p:nvSpPr>
          <p:cNvPr id="393"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EEEB553-DDB7-43D7-A197-88781313ADF1}"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685800" y="1143000"/>
            <a:ext cx="5486040" cy="3085920"/>
          </a:xfrm>
          <a:prstGeom prst="rect">
            <a:avLst/>
          </a:prstGeom>
          <a:ln w="0">
            <a:noFill/>
          </a:ln>
        </p:spPr>
      </p:sp>
      <p:sp>
        <p:nvSpPr>
          <p:cNvPr id="3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Seven minutes, slide-led. Run the Redis demo if the timing is kind, but the expiry idea is the only thing they must leave with. This is also where the architecture bullets get named so nothing looks dropped.</a:t>
            </a:r>
            <a:endParaRPr lang="en-IN" sz="2000" b="0" u="none" strike="noStrike">
              <a:solidFill>
                <a:srgbClr val="000000"/>
              </a:solidFill>
              <a:effectLst/>
              <a:uFillTx/>
              <a:latin typeface="Arial"/>
            </a:endParaRPr>
          </a:p>
        </p:txBody>
      </p:sp>
      <p:sp>
        <p:nvSpPr>
          <p:cNvPr id="396"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724ADAA-FB55-42D5-8F63-A1778B292E8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Img"/>
          </p:nvPr>
        </p:nvSpPr>
        <p:spPr>
          <a:xfrm>
            <a:off x="685800" y="1143000"/>
            <a:ext cx="5486040" cy="3085920"/>
          </a:xfrm>
          <a:prstGeom prst="rect">
            <a:avLst/>
          </a:prstGeom>
          <a:ln w="0">
            <a:noFill/>
          </a:ln>
        </p:spPr>
      </p:sp>
      <p:sp>
        <p:nvSpPr>
          <p:cNvPr id="3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p1_redis_cache.py if you have the minute - two identical calls, one second versus microseconds, is a satisfying number. But the teaching is entirely in the two red-and-blue banners. Most courses teach the get/set and stop, which produces developers who cache a user's private dashboard and leak it to the next visitor. The seat-count example is the one to use because it is exactly their capstone: caching 'seats left' during registration means selling seats you do not have.</a:t>
            </a:r>
            <a:endParaRPr lang="en-IN" sz="2000" b="0" u="none" strike="noStrike">
              <a:solidFill>
                <a:srgbClr val="000000"/>
              </a:solidFill>
              <a:effectLst/>
              <a:uFillTx/>
              <a:latin typeface="Arial"/>
            </a:endParaRPr>
          </a:p>
        </p:txBody>
      </p:sp>
      <p:sp>
        <p:nvSpPr>
          <p:cNvPr id="399"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8A5A955-34A6-4E6B-B424-1DDF4622E57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685800" y="1143000"/>
            <a:ext cx="5486040" cy="3085920"/>
          </a:xfrm>
          <a:prstGeom prst="rect">
            <a:avLst/>
          </a:prstGeom>
          <a:ln w="0">
            <a:noFill/>
          </a:ln>
        </p:spPr>
      </p:sp>
      <p:sp>
        <p:nvSpPr>
          <p:cNvPr id="4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Ninety seconds, and say the amber banner out loud - students respect being told the difference between 'you can do this' and 'you know what this is'. The microservices line matters most: every student has read that microservices are what real companies use, and will over-engineer their capstone into six services that never talk to each other. Tell them a monolith is the correct engineering choice at their scale, and that splitting it is something you do when a specific pain forces you to.</a:t>
            </a:r>
            <a:endParaRPr lang="en-IN" sz="2000" b="0" u="none" strike="noStrike">
              <a:solidFill>
                <a:srgbClr val="000000"/>
              </a:solidFill>
              <a:effectLst/>
              <a:uFillTx/>
              <a:latin typeface="Arial"/>
            </a:endParaRPr>
          </a:p>
        </p:txBody>
      </p:sp>
      <p:sp>
        <p:nvSpPr>
          <p:cNvPr id="402"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1AA3EE-B3F8-40DF-9AC1-AF42F5F7B37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Img"/>
          </p:nvPr>
        </p:nvSpPr>
        <p:spPr>
          <a:xfrm>
            <a:off x="685800" y="1143000"/>
            <a:ext cx="5486040" cy="3085920"/>
          </a:xfrm>
          <a:prstGeom prst="rect">
            <a:avLst/>
          </a:prstGeom>
          <a:ln w="0">
            <a:noFill/>
          </a:ln>
        </p:spPr>
      </p:sp>
      <p:sp>
        <p:nvSpPr>
          <p:cNvPr id="4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Fifteen minutes, hands on keyboards. They write the Dockerfile and build one image. The --host 0.0.0.0 point is the one that saves them an evening.</a:t>
            </a:r>
            <a:endParaRPr lang="en-IN" sz="2000" b="0" u="none" strike="noStrike">
              <a:solidFill>
                <a:srgbClr val="000000"/>
              </a:solidFill>
              <a:effectLst/>
              <a:uFillTx/>
              <a:latin typeface="Arial"/>
            </a:endParaRPr>
          </a:p>
        </p:txBody>
      </p:sp>
      <p:sp>
        <p:nvSpPr>
          <p:cNvPr id="405"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DE2E19E-A364-4F70-BD16-E07788D6777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685800" y="1143000"/>
            <a:ext cx="5486040" cy="3085920"/>
          </a:xfrm>
          <a:prstGeom prst="rect">
            <a:avLst/>
          </a:prstGeom>
          <a:ln w="0">
            <a:noFill/>
          </a:ln>
        </p:spPr>
      </p:sp>
      <p:sp>
        <p:nvSpPr>
          <p:cNvPr id="4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callback in the green banner is worth the slide on its own - they typed docker compose up this morning without thinking of it as Docker, so the concept is already half-familiar. Ask the opening question genuinely and collect three answers before showing the list; someone in the room has definitely lost an evening to a version mismatch and the story is better from them than from you.</a:t>
            </a:r>
            <a:endParaRPr lang="en-IN" sz="2000" b="0" u="none" strike="noStrike">
              <a:solidFill>
                <a:srgbClr val="000000"/>
              </a:solidFill>
              <a:effectLst/>
              <a:uFillTx/>
              <a:latin typeface="Arial"/>
            </a:endParaRPr>
          </a:p>
        </p:txBody>
      </p:sp>
      <p:sp>
        <p:nvSpPr>
          <p:cNvPr id="408"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4E4640E-4F5E-449B-9A98-07C20AC909D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685800" y="1143000"/>
            <a:ext cx="5486040" cy="3085920"/>
          </a:xfrm>
          <a:prstGeom prst="rect">
            <a:avLst/>
          </a:prstGeom>
          <a:ln w="0">
            <a:noFill/>
          </a:ln>
        </p:spPr>
      </p:sp>
      <p:sp>
        <p:nvSpPr>
          <p:cNvPr id="4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Demo the layer cache: build, edit one line of Python, build again, and watch the install step say CACHED. It is a ten-second demo that makes an abstract idea concrete. The red banner is the one that saves them an evening - the symptom is maddening because the container runs, the logs look perfect, and nothing answers. Have them predict what happens before you run it without the flag. The .dockerignore point is a security point, not a size point; say the .env sentence slowly.</a:t>
            </a:r>
            <a:endParaRPr lang="en-IN" sz="2000" b="0" u="none" strike="noStrike">
              <a:solidFill>
                <a:srgbClr val="000000"/>
              </a:solidFill>
              <a:effectLst/>
              <a:uFillTx/>
              <a:latin typeface="Arial"/>
            </a:endParaRPr>
          </a:p>
        </p:txBody>
      </p:sp>
      <p:sp>
        <p:nvSpPr>
          <p:cNvPr id="411"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146E4E9-D769-48F8-961A-82E689BED26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Img"/>
          </p:nvPr>
        </p:nvSpPr>
        <p:spPr>
          <a:xfrm>
            <a:off x="685800" y="1143000"/>
            <a:ext cx="5486040" cy="3085920"/>
          </a:xfrm>
          <a:prstGeom prst="rect">
            <a:avLst/>
          </a:prstGeom>
          <a:ln w="0">
            <a:noFill/>
          </a:ln>
        </p:spPr>
      </p:sp>
      <p:sp>
        <p:nvSpPr>
          <p:cNvPr id="4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C - inside a container, 127.0.0.1 means the container itself, so the server is listening only to a machine nobody else can reach. Not A: EXPOSE is documentation, it publishes nothing - that is what -p does. B would fail loudly at startup, not silently. D would show a database error in the logs, and the logs look perfect. Discussion prompt: 'why is this so hard to debug the first time?' - because nothing is broken. Every layer is behaving exactly as told.</a:t>
            </a:r>
            <a:endParaRPr lang="en-IN" sz="2000" b="0" u="none" strike="noStrike">
              <a:solidFill>
                <a:srgbClr val="000000"/>
              </a:solidFill>
              <a:effectLst/>
              <a:uFillTx/>
              <a:latin typeface="Arial"/>
            </a:endParaRPr>
          </a:p>
        </p:txBody>
      </p:sp>
      <p:sp>
        <p:nvSpPr>
          <p:cNvPr id="414"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5D0CF90-0BDD-4234-B022-358679F22E6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685800" y="1143000"/>
            <a:ext cx="5486040" cy="3085920"/>
          </a:xfrm>
          <a:prstGeom prst="rect">
            <a:avLst/>
          </a:prstGeom>
          <a:ln w="0">
            <a:noFill/>
          </a:ln>
        </p:spPr>
      </p:sp>
      <p:sp>
        <p:nvSpPr>
          <p:cNvPr id="4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Sixteen minutes, and YOU drive. Pre-baked repo, projector, students watch. They do their own at home from DEPLOY.md. Narrate every click - they are following along in the guide later.</a:t>
            </a:r>
            <a:endParaRPr lang="en-IN" sz="2000" b="0" u="none" strike="noStrike">
              <a:solidFill>
                <a:srgbClr val="000000"/>
              </a:solidFill>
              <a:effectLst/>
              <a:uFillTx/>
              <a:latin typeface="Arial"/>
            </a:endParaRPr>
          </a:p>
        </p:txBody>
      </p:sp>
      <p:sp>
        <p:nvSpPr>
          <p:cNvPr id="417"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1D419E-36D7-4278-8250-1A1A3CB0DFE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Img"/>
          </p:nvPr>
        </p:nvSpPr>
        <p:spPr>
          <a:xfrm>
            <a:off x="685800" y="1143000"/>
            <a:ext cx="5486040" cy="3085920"/>
          </a:xfrm>
          <a:prstGeom prst="rect">
            <a:avLst/>
          </a:prstGeom>
          <a:ln w="0">
            <a:noFill/>
          </a:ln>
        </p:spPr>
      </p:sp>
      <p:sp>
        <p:nvSpPr>
          <p:cNvPr id="4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You drive this on the projector with a pre-baked repo; they follow at home from DEPLOY.md. Narrate every single click, because the guide has to make sense to them alone at 11pm. Step 3 is the one that fails for everybody - Render hands you postgresql:// and SQLAlchemy needs the driver named, so say it twice and write it on the board. Step 7 is the emotional payoff of the entire backend week: open it on YOUR phone on mobile data, hold it up, and say 'this is not on my laptop any more'.</a:t>
            </a:r>
            <a:endParaRPr lang="en-IN" sz="2000" b="0" u="none" strike="noStrike">
              <a:solidFill>
                <a:srgbClr val="000000"/>
              </a:solidFill>
              <a:effectLst/>
              <a:uFillTx/>
              <a:latin typeface="Arial"/>
            </a:endParaRPr>
          </a:p>
        </p:txBody>
      </p:sp>
      <p:sp>
        <p:nvSpPr>
          <p:cNvPr id="420"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C8577EC-36C8-42B4-8EFF-18678F8C88D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685800" y="1143000"/>
            <a:ext cx="5486040" cy="3085920"/>
          </a:xfrm>
          <a:prstGeom prst="rect">
            <a:avLst/>
          </a:prstGeom>
          <a:ln w="0">
            <a:noFill/>
          </a:ln>
        </p:spPr>
      </p:sp>
      <p:sp>
        <p:nvSpPr>
          <p:cNvPr id="4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Six minutes, slide-led. CI/CD was a bullet on a curriculum for years; these three slides make it real without costing you a demo. If you are behind, show only the first one - the loop picture is the whole idea, the other two are reference they can read in the tutorial file.</a:t>
            </a:r>
            <a:endParaRPr lang="en-IN" sz="2000" b="0" u="none" strike="noStrike">
              <a:solidFill>
                <a:srgbClr val="000000"/>
              </a:solidFill>
              <a:effectLst/>
              <a:uFillTx/>
              <a:latin typeface="Arial"/>
            </a:endParaRPr>
          </a:p>
        </p:txBody>
      </p:sp>
      <p:sp>
        <p:nvSpPr>
          <p:cNvPr id="423"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A8B245D-C7A3-4327-B2A1-06276C40BC64}"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685800" y="1143000"/>
            <a:ext cx="5486040" cy="3085920"/>
          </a:xfrm>
          <a:prstGeom prst="rect">
            <a:avLst/>
          </a:prstGeom>
          <a:ln w="0">
            <a:noFill/>
          </a:ln>
        </p:spPr>
      </p:sp>
      <p:sp>
        <p:nvSpPr>
          <p:cNvPr id="4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Open with the question, not the definition: 'who on your team is going to remember to run the checks before every merge?' Nobody. That is the whole pitch. The four boxes are the entire mental model - push, rented machine, your steps, green or red. The green banner is the bit worth slowing on: it is a FRESH machine, so the thing that is only on your laptop is exactly what CI finds. Tie CI vs CD back to Render: they already have the CD half from slide 19, they just did not have a name for it.</a:t>
            </a:r>
            <a:endParaRPr lang="en-IN" sz="2000" b="0" u="none" strike="noStrike">
              <a:solidFill>
                <a:srgbClr val="000000"/>
              </a:solidFill>
              <a:effectLst/>
              <a:uFillTx/>
              <a:latin typeface="Arial"/>
            </a:endParaRPr>
          </a:p>
        </p:txBody>
      </p:sp>
      <p:sp>
        <p:nvSpPr>
          <p:cNvPr id="426"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0842DC5-C6FA-48F2-A20B-71DCEA51926A}"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685800" y="1143000"/>
            <a:ext cx="5486040" cy="3085920"/>
          </a:xfrm>
          <a:prstGeom prst="rect">
            <a:avLst/>
          </a:prstGeom>
          <a:ln w="0">
            <a:noFill/>
          </a:ln>
        </p:spPr>
      </p:sp>
      <p:sp>
        <p:nvSpPr>
          <p:cNvPr id="4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 not read the YAML aloud. Point at the three comments - WHEN, WHERE, WHAT - and say that is the whole shape. The uses-vs-run card is the distinction people get wrong first. The amber banner is the one that actually costs them an evening: two jobs are two machines, so job 2 cannot see the file job 1 made. And the bottom line is worth reading out - all four are things every single person does once. The full commented file is r1_github_actions_ci.yml in their pack; tell them it is written to be read, not just copied.</a:t>
            </a:r>
            <a:endParaRPr lang="en-IN" sz="2000" b="0" u="none" strike="noStrike">
              <a:solidFill>
                <a:srgbClr val="000000"/>
              </a:solidFill>
              <a:effectLst/>
              <a:uFillTx/>
              <a:latin typeface="Arial"/>
            </a:endParaRPr>
          </a:p>
        </p:txBody>
      </p:sp>
      <p:sp>
        <p:nvSpPr>
          <p:cNvPr id="429"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C32C653-6C36-4BFF-B6D1-5A35AE8F597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685800" y="1143000"/>
            <a:ext cx="5486040" cy="3085920"/>
          </a:xfrm>
          <a:prstGeom prst="rect">
            <a:avLst/>
          </a:prstGeom>
          <a:ln w="0">
            <a:noFill/>
          </a:ln>
        </p:spPr>
      </p:sp>
      <p:sp>
        <p:nvSpPr>
          <p:cNvPr id="4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slide that makes them look competent in a code review, so do not rush it. Ask first: 'what does @v7 actually point at?' Most will say version 7. It points at whatever the owner last pushed there - and that code runs inside your CI with your secrets. Name tj-actions; it is recent, real, and it is why astral-sh/setup-uv now publishes immutable releases only, so @v9 does not even resolve and you must write @v9.0.0. Almost every tutorial online still teaches the moving-tag form, so they will see the wrong thing everywhere. The secrets banner: the fork rule surprises people and it is a good closing question - why can a fork not read them?</a:t>
            </a:r>
            <a:endParaRPr lang="en-IN" sz="2000" b="0" u="none" strike="noStrike">
              <a:solidFill>
                <a:srgbClr val="000000"/>
              </a:solidFill>
              <a:effectLst/>
              <a:uFillTx/>
              <a:latin typeface="Arial"/>
            </a:endParaRPr>
          </a:p>
        </p:txBody>
      </p:sp>
      <p:sp>
        <p:nvSpPr>
          <p:cNvPr id="432"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627FAE-5157-460A-97C6-5AAB328E653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685800" y="1143000"/>
            <a:ext cx="5486040" cy="3085920"/>
          </a:xfrm>
          <a:prstGeom prst="rect">
            <a:avLst/>
          </a:prstGeom>
          <a:ln w="0">
            <a:noFill/>
          </a:ln>
        </p:spPr>
      </p:sp>
      <p:sp>
        <p:nvSpPr>
          <p:cNvPr id="4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Deliberately underwhelming, and say so: 'you were probably expecting this to be harder'. Everything they learned in Week 2 still applies - same Depends, same schema, same padlock, same status codes. The only new thing is where the context comes from. This reframes the whole capstone: the AI is the small part, and the boring backend around it is what makes it a product rather than a notebook.</a:t>
            </a:r>
            <a:endParaRPr lang="en-IN" sz="2000" b="0" u="none" strike="noStrike">
              <a:solidFill>
                <a:srgbClr val="000000"/>
              </a:solidFill>
              <a:effectLst/>
              <a:uFillTx/>
              <a:latin typeface="Arial"/>
            </a:endParaRPr>
          </a:p>
        </p:txBody>
      </p:sp>
      <p:sp>
        <p:nvSpPr>
          <p:cNvPr id="435"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B30AD3A-8A75-419C-BEA0-58402BA2B4BC}"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685800" y="1143000"/>
            <a:ext cx="5486040" cy="3085920"/>
          </a:xfrm>
          <a:prstGeom prst="rect">
            <a:avLst/>
          </a:prstGeom>
          <a:ln w="0">
            <a:noFill/>
          </a:ln>
        </p:spPr>
      </p:sp>
      <p:sp>
        <p:nvSpPr>
          <p:cNvPr id="4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Read the list out loud as a checklist - naming what they can now do is what makes two dense sessions feel like progress instead of a blur. Then the capstone brief: they have every piece, and the capstone is those pieces pointed at a problem they care about. Remind them the final test is TAKE-HOME with a closing date, and that DEPLOY.md is the homework that matters most - a public URL is the single most valuable thing they leave this course with.</a:t>
            </a:r>
            <a:endParaRPr lang="en-IN" sz="2000" b="0" u="none" strike="noStrike">
              <a:solidFill>
                <a:srgbClr val="000000"/>
              </a:solidFill>
              <a:effectLst/>
              <a:uFillTx/>
              <a:latin typeface="Arial"/>
            </a:endParaRPr>
          </a:p>
        </p:txBody>
      </p:sp>
      <p:sp>
        <p:nvSpPr>
          <p:cNvPr id="438"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7228895-E4A9-455C-837D-FF6C34F2DE7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IN" sz="1800" b="0" u="none" strike="noStrike">
                <a:solidFill>
                  <a:schemeClr val="dk1"/>
                </a:solidFill>
                <a:effectLst/>
                <a:uFillTx/>
                <a:latin typeface="Calibri"/>
              </a:defRPr>
            </a:lvl1pPr>
          </a:lstStyle>
          <a:p>
            <a:pPr indent="0" algn="l">
              <a:buNone/>
            </a:pPr>
            <a:r>
              <a:rPr lang="en-IN" sz="1800" b="0" u="none" strike="noStrike">
                <a:solidFill>
                  <a:schemeClr val="dk1"/>
                </a:solidFill>
                <a:effectLst/>
                <a:uFillTx/>
                <a:latin typeface="Calibri"/>
              </a:rPr>
              <a:t>Click to edit the title text format</a:t>
            </a:r>
            <a:endParaRPr lang="en-IN"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IN"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IN"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IN"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IN" sz="3200" b="0" u="none" strike="noStrike">
                <a:solidFill>
                  <a:schemeClr val="dk1"/>
                </a:solidFill>
                <a:effectLst/>
                <a:uFillTx/>
                <a:latin typeface="Calibri"/>
              </a:rPr>
              <a:t>Click to edit the outline text format</a:t>
            </a:r>
            <a:endParaRPr lang="en-IN"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IN" sz="2400" b="0" u="none" strike="noStrike">
                <a:solidFill>
                  <a:schemeClr val="dk1"/>
                </a:solidFill>
                <a:effectLst/>
                <a:uFillTx/>
                <a:latin typeface="Calibri"/>
              </a:rPr>
              <a:t>Second Outline Level</a:t>
            </a:r>
            <a:endParaRPr lang="en-IN"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IN" sz="2000" b="0" u="none" strike="noStrike">
                <a:solidFill>
                  <a:schemeClr val="dk1"/>
                </a:solidFill>
                <a:effectLst/>
                <a:uFillTx/>
                <a:latin typeface="Calibri"/>
              </a:rPr>
              <a:t>Third Outline Level</a:t>
            </a:r>
            <a:endParaRPr lang="en-IN"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IN" sz="2000" b="0" u="none" strike="noStrike">
                <a:solidFill>
                  <a:schemeClr val="dk1"/>
                </a:solidFill>
                <a:effectLst/>
                <a:uFillTx/>
                <a:latin typeface="Calibri"/>
              </a:rPr>
              <a:t>Fourth Outline Level</a:t>
            </a:r>
            <a:endParaRPr lang="en-IN"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Fifth Outline Level</a:t>
            </a:r>
            <a:endParaRPr lang="en-IN"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Sixth Outline Level</a:t>
            </a:r>
            <a:endParaRPr lang="en-IN"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Seventh Outline Level</a:t>
            </a:r>
            <a:endParaRPr lang="en-IN"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Text 0"/>
          <p:cNvSpPr/>
          <p:nvPr/>
        </p:nvSpPr>
        <p:spPr>
          <a:xfrm>
            <a:off x="914400" y="1920240"/>
            <a:ext cx="1035972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0" i="1" u="none" strike="noStrike">
                <a:solidFill>
                  <a:srgbClr val="64748B"/>
                </a:solidFill>
                <a:effectLst/>
                <a:uFillTx/>
                <a:latin typeface="Calibri"/>
                <a:ea typeface="Calibri"/>
              </a:rPr>
              <a:t>Your API remembers things now.</a:t>
            </a:r>
            <a:endParaRPr lang="en-IN" sz="2200" b="0" u="none" strike="noStrike">
              <a:solidFill>
                <a:srgbClr val="000000"/>
              </a:solidFill>
              <a:effectLst/>
              <a:uFillTx/>
              <a:latin typeface="Arial"/>
            </a:endParaRPr>
          </a:p>
        </p:txBody>
      </p:sp>
      <p:sp>
        <p:nvSpPr>
          <p:cNvPr id="11" name="Text 1"/>
          <p:cNvSpPr/>
          <p:nvPr/>
        </p:nvSpPr>
        <p:spPr>
          <a:xfrm>
            <a:off x="914400" y="2514600"/>
            <a:ext cx="103597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800" b="1" u="none" strike="noStrike">
                <a:solidFill>
                  <a:srgbClr val="1E293B"/>
                </a:solidFill>
                <a:effectLst/>
                <a:uFillTx/>
                <a:latin typeface="Calibri"/>
                <a:ea typeface="Calibri"/>
              </a:rPr>
              <a:t>So does everyone else's browser.</a:t>
            </a:r>
            <a:endParaRPr lang="en-IN" sz="3800" b="0" u="none" strike="noStrike">
              <a:solidFill>
                <a:srgbClr val="000000"/>
              </a:solidFill>
              <a:effectLst/>
              <a:uFillTx/>
              <a:latin typeface="Arial"/>
            </a:endParaRPr>
          </a:p>
        </p:txBody>
      </p:sp>
      <p:sp>
        <p:nvSpPr>
          <p:cNvPr id="12" name="Shape 2"/>
          <p:cNvSpPr/>
          <p:nvPr/>
        </p:nvSpPr>
        <p:spPr>
          <a:xfrm>
            <a:off x="3108960" y="3611880"/>
            <a:ext cx="5970600" cy="639720"/>
          </a:xfrm>
          <a:prstGeom prst="roundRect">
            <a:avLst>
              <a:gd name="adj" fmla="val 8571"/>
            </a:avLst>
          </a:prstGeom>
          <a:solidFill>
            <a:srgbClr val="F3F4F6"/>
          </a:solidFill>
          <a:ln w="19050">
            <a:solidFill>
              <a:srgbClr val="B91C1C"/>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 name="Text 3"/>
          <p:cNvSpPr/>
          <p:nvPr/>
        </p:nvSpPr>
        <p:spPr>
          <a:xfrm>
            <a:off x="3108960" y="3611880"/>
            <a:ext cx="597060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B91C1C"/>
                </a:solidFill>
                <a:effectLst/>
                <a:uFillTx/>
                <a:latin typeface="Courier New"/>
                <a:ea typeface="Courier New"/>
              </a:rPr>
              <a:t>DELETE /courses/CSE101</a:t>
            </a:r>
            <a:endParaRPr lang="en-IN" sz="2000" b="0" u="none" strike="noStrike">
              <a:solidFill>
                <a:srgbClr val="000000"/>
              </a:solidFill>
              <a:effectLst/>
              <a:uFillTx/>
              <a:latin typeface="Arial"/>
            </a:endParaRPr>
          </a:p>
        </p:txBody>
      </p:sp>
      <p:sp>
        <p:nvSpPr>
          <p:cNvPr id="14" name="Text 4"/>
          <p:cNvSpPr/>
          <p:nvPr/>
        </p:nvSpPr>
        <p:spPr>
          <a:xfrm>
            <a:off x="914400" y="4572000"/>
            <a:ext cx="10359720" cy="822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000" b="1" u="none" strike="noStrike">
                <a:solidFill>
                  <a:srgbClr val="6366F1"/>
                </a:solidFill>
                <a:effectLst/>
                <a:uFillTx/>
                <a:latin typeface="Calibri"/>
                <a:ea typeface="Calibri"/>
              </a:rPr>
              <a:t>How does your API know who is asking?</a:t>
            </a:r>
            <a:endParaRPr lang="en-IN"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5"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08</a:t>
            </a:r>
            <a:endParaRPr lang="en-IN" sz="9600" b="0" u="none" strike="noStrike">
              <a:solidFill>
                <a:srgbClr val="000000"/>
              </a:solidFill>
              <a:effectLst/>
              <a:uFillTx/>
              <a:latin typeface="Arial"/>
            </a:endParaRPr>
          </a:p>
        </p:txBody>
      </p:sp>
      <p:sp>
        <p:nvSpPr>
          <p:cNvPr id="16"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Who is asking?</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Hashing is a one-way door</a:t>
            </a:r>
            <a:endParaRPr lang="en-IN" sz="3000" b="0" u="none" strike="noStrike">
              <a:solidFill>
                <a:srgbClr val="000000"/>
              </a:solidFill>
              <a:effectLst/>
              <a:uFillTx/>
              <a:latin typeface="Arial"/>
            </a:endParaRPr>
          </a:p>
        </p:txBody>
      </p:sp>
      <p:sp>
        <p:nvSpPr>
          <p:cNvPr id="18" name="Shape 1"/>
          <p:cNvSpPr/>
          <p:nvPr/>
        </p:nvSpPr>
        <p:spPr>
          <a:xfrm>
            <a:off x="548640" y="1600200"/>
            <a:ext cx="5394600" cy="1645560"/>
          </a:xfrm>
          <a:prstGeom prst="roundRect">
            <a:avLst>
              <a:gd name="adj" fmla="val 5556"/>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 name="Text 2"/>
          <p:cNvSpPr/>
          <p:nvPr/>
        </p:nvSpPr>
        <p:spPr>
          <a:xfrm>
            <a:off x="822960" y="1783080"/>
            <a:ext cx="48459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64748B"/>
                </a:solidFill>
                <a:effectLst/>
                <a:uFillTx/>
                <a:latin typeface="Calibri"/>
                <a:ea typeface="Calibri"/>
              </a:rPr>
              <a:t>ENCRYPTION</a:t>
            </a:r>
            <a:endParaRPr lang="en-IN" sz="2200" b="0" u="none" strike="noStrike">
              <a:solidFill>
                <a:srgbClr val="000000"/>
              </a:solidFill>
              <a:effectLst/>
              <a:uFillTx/>
              <a:latin typeface="Arial"/>
            </a:endParaRPr>
          </a:p>
        </p:txBody>
      </p:sp>
      <p:sp>
        <p:nvSpPr>
          <p:cNvPr id="20" name="Text 3"/>
          <p:cNvSpPr/>
          <p:nvPr/>
        </p:nvSpPr>
        <p:spPr>
          <a:xfrm>
            <a:off x="822960" y="2240280"/>
            <a:ext cx="484596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A two-way door. What goes in comes back out — if you hold the key.</a:t>
            </a:r>
            <a:endParaRPr lang="en-IN" sz="1500" b="0" u="none" strike="noStrike">
              <a:solidFill>
                <a:srgbClr val="000000"/>
              </a:solidFill>
              <a:effectLst/>
              <a:uFillTx/>
              <a:latin typeface="Arial"/>
            </a:endParaRPr>
          </a:p>
        </p:txBody>
      </p:sp>
      <p:sp>
        <p:nvSpPr>
          <p:cNvPr id="21" name="Shape 4"/>
          <p:cNvSpPr/>
          <p:nvPr/>
        </p:nvSpPr>
        <p:spPr>
          <a:xfrm>
            <a:off x="6245280" y="1600200"/>
            <a:ext cx="5394600" cy="1645560"/>
          </a:xfrm>
          <a:prstGeom prst="roundRect">
            <a:avLst>
              <a:gd name="adj" fmla="val 555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 name="Text 5"/>
          <p:cNvSpPr/>
          <p:nvPr/>
        </p:nvSpPr>
        <p:spPr>
          <a:xfrm>
            <a:off x="6519600" y="1783080"/>
            <a:ext cx="48459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15803D"/>
                </a:solidFill>
                <a:effectLst/>
                <a:uFillTx/>
                <a:latin typeface="Calibri"/>
                <a:ea typeface="Calibri"/>
              </a:rPr>
              <a:t>HASHING</a:t>
            </a:r>
            <a:endParaRPr lang="en-IN" sz="2200" b="0" u="none" strike="noStrike">
              <a:solidFill>
                <a:srgbClr val="000000"/>
              </a:solidFill>
              <a:effectLst/>
              <a:uFillTx/>
              <a:latin typeface="Arial"/>
            </a:endParaRPr>
          </a:p>
        </p:txBody>
      </p:sp>
      <p:sp>
        <p:nvSpPr>
          <p:cNvPr id="23" name="Text 6"/>
          <p:cNvSpPr/>
          <p:nvPr/>
        </p:nvSpPr>
        <p:spPr>
          <a:xfrm>
            <a:off x="6519600" y="2240280"/>
            <a:ext cx="484596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A one-way door. You never get it back — you only check whether a new attempt matches.</a:t>
            </a:r>
            <a:endParaRPr lang="en-IN" sz="1500" b="0" u="none" strike="noStrike">
              <a:solidFill>
                <a:srgbClr val="000000"/>
              </a:solidFill>
              <a:effectLst/>
              <a:uFillTx/>
              <a:latin typeface="Arial"/>
            </a:endParaRPr>
          </a:p>
        </p:txBody>
      </p:sp>
      <p:sp>
        <p:nvSpPr>
          <p:cNvPr id="24" name="Shape 7"/>
          <p:cNvSpPr/>
          <p:nvPr/>
        </p:nvSpPr>
        <p:spPr>
          <a:xfrm>
            <a:off x="548640" y="3383280"/>
            <a:ext cx="11091240" cy="1142640"/>
          </a:xfrm>
          <a:prstGeom prst="roundRect">
            <a:avLst>
              <a:gd name="adj" fmla="val 48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 name="Text 8"/>
          <p:cNvSpPr/>
          <p:nvPr/>
        </p:nvSpPr>
        <p:spPr>
          <a:xfrm>
            <a:off x="804600" y="3566160"/>
            <a:ext cx="10579320" cy="776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hash_1 = password_hash.hash("lpu-2026")</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hash_2 = password_hash.hash("lpu-2026")      # the SAME password</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hash_1 != hash_2      # -&gt; True</a:t>
            </a:r>
            <a:endParaRPr lang="en-IN" sz="1300" b="0" u="none" strike="noStrike">
              <a:solidFill>
                <a:srgbClr val="000000"/>
              </a:solidFill>
              <a:effectLst/>
              <a:uFillTx/>
              <a:latin typeface="Arial"/>
            </a:endParaRPr>
          </a:p>
        </p:txBody>
      </p:sp>
      <p:sp>
        <p:nvSpPr>
          <p:cNvPr id="26" name="Shape 9"/>
          <p:cNvSpPr/>
          <p:nvPr/>
        </p:nvSpPr>
        <p:spPr>
          <a:xfrm>
            <a:off x="548640" y="4709160"/>
            <a:ext cx="11091240" cy="731160"/>
          </a:xfrm>
          <a:prstGeom prst="roundRect">
            <a:avLst>
              <a:gd name="adj" fmla="val 125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 name="Text 10"/>
          <p:cNvSpPr/>
          <p:nvPr/>
        </p:nvSpPr>
        <p:spPr>
          <a:xfrm>
            <a:off x="868680" y="470916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Same password, different hashes.  </a:t>
            </a:r>
            <a:r>
              <a:rPr lang="en-US" sz="1500" b="0" u="none" strike="noStrike">
                <a:solidFill>
                  <a:srgbClr val="1E293B"/>
                </a:solidFill>
                <a:effectLst/>
                <a:uFillTx/>
                <a:latin typeface="Calibri"/>
                <a:ea typeface="Calibri"/>
              </a:rPr>
              <a:t>Each one carries its own random SALT — so two students who both picked 123456 do not look identical.</a:t>
            </a:r>
            <a:endParaRPr lang="en-IN" sz="1500" b="0" u="none" strike="noStrike">
              <a:solidFill>
                <a:srgbClr val="000000"/>
              </a:solidFill>
              <a:effectLst/>
              <a:uFillTx/>
              <a:latin typeface="Arial"/>
            </a:endParaRPr>
          </a:p>
        </p:txBody>
      </p:sp>
      <p:sp>
        <p:nvSpPr>
          <p:cNvPr id="28" name="Shape 11"/>
          <p:cNvSpPr/>
          <p:nvPr/>
        </p:nvSpPr>
        <p:spPr>
          <a:xfrm>
            <a:off x="548640" y="5577840"/>
            <a:ext cx="11091240" cy="685440"/>
          </a:xfrm>
          <a:prstGeom prst="roundRect">
            <a:avLst>
              <a:gd name="adj" fmla="val 13333"/>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 name="Text 12"/>
          <p:cNvSpPr/>
          <p:nvPr/>
        </p:nvSpPr>
        <p:spPr>
          <a:xfrm>
            <a:off x="868680" y="557784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There is no unhash().  </a:t>
            </a:r>
            <a:r>
              <a:rPr lang="en-US" sz="1500" b="0" u="none" strike="noStrike">
                <a:solidFill>
                  <a:srgbClr val="1E293B"/>
                </a:solidFill>
                <a:effectLst/>
                <a:uFillTx/>
                <a:latin typeface="Calibri"/>
                <a:ea typeface="Calibri"/>
              </a:rPr>
              <a:t>If a site ever emails you your old password, they stored it in plain text. Go and change it everywhere.</a:t>
            </a:r>
            <a:endParaRPr lang="en-IN" sz="1500" b="0" u="none" strike="noStrike">
              <a:solidFill>
                <a:srgbClr val="000000"/>
              </a:solidFill>
              <a:effectLst/>
              <a:uFillTx/>
              <a:latin typeface="Arial"/>
            </a:endParaRPr>
          </a:p>
        </p:txBody>
      </p:sp>
      <p:sp>
        <p:nvSpPr>
          <p:cNvPr id="30" name="Text 13"/>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31" name="Text 1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 JWT is readable. It is just not forgeable.</a:t>
            </a:r>
            <a:endParaRPr lang="en-IN" sz="3000" b="0" u="none" strike="noStrike">
              <a:solidFill>
                <a:srgbClr val="000000"/>
              </a:solidFill>
              <a:effectLst/>
              <a:uFillTx/>
              <a:latin typeface="Arial"/>
            </a:endParaRPr>
          </a:p>
        </p:txBody>
      </p:sp>
      <p:sp>
        <p:nvSpPr>
          <p:cNvPr id="33" name="Shape 1"/>
          <p:cNvSpPr/>
          <p:nvPr/>
        </p:nvSpPr>
        <p:spPr>
          <a:xfrm>
            <a:off x="548640" y="1463040"/>
            <a:ext cx="11091240" cy="822600"/>
          </a:xfrm>
          <a:prstGeom prst="roundRect">
            <a:avLst>
              <a:gd name="adj" fmla="val 6667"/>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 name="Text 2"/>
          <p:cNvSpPr/>
          <p:nvPr/>
        </p:nvSpPr>
        <p:spPr>
          <a:xfrm>
            <a:off x="804600" y="1645920"/>
            <a:ext cx="10579320" cy="4568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eyJhbGciOiJIUzI1NiJ9  .  eyJzdWIiOiJhZGFAbHB1LmluIiwicm9sZSI6ImFkbWluIn0  .  xToSGJEiXDek1BFbo</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header                              payload                                signature</a:t>
            </a:r>
            <a:endParaRPr lang="en-IN" sz="1150" b="0" u="none" strike="noStrike">
              <a:solidFill>
                <a:srgbClr val="000000"/>
              </a:solidFill>
              <a:effectLst/>
              <a:uFillTx/>
              <a:latin typeface="Arial"/>
            </a:endParaRPr>
          </a:p>
        </p:txBody>
      </p:sp>
      <p:sp>
        <p:nvSpPr>
          <p:cNvPr id="35" name="Shape 3"/>
          <p:cNvSpPr/>
          <p:nvPr/>
        </p:nvSpPr>
        <p:spPr>
          <a:xfrm>
            <a:off x="548640" y="2468880"/>
            <a:ext cx="5394600" cy="1462680"/>
          </a:xfrm>
          <a:prstGeom prst="roundRect">
            <a:avLst>
              <a:gd name="adj" fmla="val 6250"/>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6" name="Text 4"/>
          <p:cNvSpPr/>
          <p:nvPr/>
        </p:nvSpPr>
        <p:spPr>
          <a:xfrm>
            <a:off x="822960" y="263340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B45309"/>
                </a:solidFill>
                <a:effectLst/>
                <a:uFillTx/>
                <a:latin typeface="Calibri"/>
                <a:ea typeface="Calibri"/>
              </a:rPr>
              <a:t>Anyone can READ it</a:t>
            </a:r>
            <a:endParaRPr lang="en-IN" sz="1700" b="0" u="none" strike="noStrike">
              <a:solidFill>
                <a:srgbClr val="000000"/>
              </a:solidFill>
              <a:effectLst/>
              <a:uFillTx/>
              <a:latin typeface="Arial"/>
            </a:endParaRPr>
          </a:p>
        </p:txBody>
      </p:sp>
      <p:sp>
        <p:nvSpPr>
          <p:cNvPr id="37" name="Text 5"/>
          <p:cNvSpPr/>
          <p:nvPr/>
        </p:nvSpPr>
        <p:spPr>
          <a:xfrm>
            <a:off x="822960" y="3017520"/>
            <a:ext cx="484596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Base64-decode the middle chunk with no secret at all. It is NOT encrypted.</a:t>
            </a:r>
            <a:endParaRPr lang="en-IN" sz="1350" b="0" u="none" strike="noStrike">
              <a:solidFill>
                <a:srgbClr val="000000"/>
              </a:solidFill>
              <a:effectLst/>
              <a:uFillTx/>
              <a:latin typeface="Arial"/>
            </a:endParaRPr>
          </a:p>
        </p:txBody>
      </p:sp>
      <p:sp>
        <p:nvSpPr>
          <p:cNvPr id="38" name="Shape 6"/>
          <p:cNvSpPr/>
          <p:nvPr/>
        </p:nvSpPr>
        <p:spPr>
          <a:xfrm>
            <a:off x="6245280" y="2468880"/>
            <a:ext cx="5394600" cy="1462680"/>
          </a:xfrm>
          <a:prstGeom prst="roundRect">
            <a:avLst>
              <a:gd name="adj" fmla="val 625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9" name="Text 7"/>
          <p:cNvSpPr/>
          <p:nvPr/>
        </p:nvSpPr>
        <p:spPr>
          <a:xfrm>
            <a:off x="6519600" y="263340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5803D"/>
                </a:solidFill>
                <a:effectLst/>
                <a:uFillTx/>
                <a:latin typeface="Calibri"/>
                <a:ea typeface="Calibri"/>
              </a:rPr>
              <a:t>Nobody can CHANGE it</a:t>
            </a:r>
            <a:endParaRPr lang="en-IN" sz="1700" b="0" u="none" strike="noStrike">
              <a:solidFill>
                <a:srgbClr val="000000"/>
              </a:solidFill>
              <a:effectLst/>
              <a:uFillTx/>
              <a:latin typeface="Arial"/>
            </a:endParaRPr>
          </a:p>
        </p:txBody>
      </p:sp>
      <p:sp>
        <p:nvSpPr>
          <p:cNvPr id="40" name="Text 8"/>
          <p:cNvSpPr/>
          <p:nvPr/>
        </p:nvSpPr>
        <p:spPr>
          <a:xfrm>
            <a:off x="6519600" y="3017520"/>
            <a:ext cx="484596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Edit the payload and the signature stops matching, so decode refuses it.</a:t>
            </a:r>
            <a:endParaRPr lang="en-IN" sz="1350" b="0" u="none" strike="noStrike">
              <a:solidFill>
                <a:srgbClr val="000000"/>
              </a:solidFill>
              <a:effectLst/>
              <a:uFillTx/>
              <a:latin typeface="Arial"/>
            </a:endParaRPr>
          </a:p>
        </p:txBody>
      </p:sp>
      <p:sp>
        <p:nvSpPr>
          <p:cNvPr id="41" name="Shape 9"/>
          <p:cNvSpPr/>
          <p:nvPr/>
        </p:nvSpPr>
        <p:spPr>
          <a:xfrm>
            <a:off x="548640" y="4069080"/>
            <a:ext cx="11091240" cy="914040"/>
          </a:xfrm>
          <a:prstGeom prst="roundRect">
            <a:avLst>
              <a:gd name="adj" fmla="val 6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2" name="Text 10"/>
          <p:cNvSpPr/>
          <p:nvPr/>
        </p:nvSpPr>
        <p:spPr>
          <a:xfrm>
            <a:off x="804600" y="4251960"/>
            <a:ext cx="10579320" cy="5482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{"sub": "ada@lpu.in", "role": "admin", "exp": 1785849298}      &lt;- decoded with NO secret</a:t>
            </a:r>
            <a:endParaRPr lang="en-IN" sz="1250" b="0" u="none" strike="noStrike">
              <a:solidFill>
                <a:srgbClr val="000000"/>
              </a:solidFill>
              <a:effectLst/>
              <a:uFillTx/>
              <a:latin typeface="Arial"/>
            </a:endParaRPr>
          </a:p>
        </p:txBody>
      </p:sp>
      <p:sp>
        <p:nvSpPr>
          <p:cNvPr id="43" name="Shape 11"/>
          <p:cNvSpPr/>
          <p:nvPr/>
        </p:nvSpPr>
        <p:spPr>
          <a:xfrm>
            <a:off x="548640" y="5166360"/>
            <a:ext cx="11091240" cy="685440"/>
          </a:xfrm>
          <a:prstGeom prst="roundRect">
            <a:avLst>
              <a:gd name="adj" fmla="val 13333"/>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4" name="Text 12"/>
          <p:cNvSpPr/>
          <p:nvPr/>
        </p:nvSpPr>
        <p:spPr>
          <a:xfrm>
            <a:off x="868680" y="516636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Therefore: never put anything private in a token.  </a:t>
            </a:r>
            <a:r>
              <a:rPr lang="en-US" sz="1500" b="0" u="none" strike="noStrike">
                <a:solidFill>
                  <a:srgbClr val="1E293B"/>
                </a:solidFill>
                <a:effectLst/>
                <a:uFillTx/>
                <a:latin typeface="Calibri"/>
                <a:ea typeface="Calibri"/>
              </a:rPr>
              <a:t>No passwords, no card numbers. Assume the user can read it — because they can.</a:t>
            </a:r>
            <a:endParaRPr lang="en-IN" sz="1500" b="0" u="none" strike="noStrike">
              <a:solidFill>
                <a:srgbClr val="000000"/>
              </a:solidFill>
              <a:effectLst/>
              <a:uFillTx/>
              <a:latin typeface="Arial"/>
            </a:endParaRPr>
          </a:p>
        </p:txBody>
      </p:sp>
      <p:sp>
        <p:nvSpPr>
          <p:cNvPr id="45" name="Text 13"/>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46" name="Text 1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get_current_user is get_db with a different body</a:t>
            </a:r>
            <a:endParaRPr lang="en-IN" sz="3000" b="0" u="none" strike="noStrike">
              <a:solidFill>
                <a:srgbClr val="000000"/>
              </a:solidFill>
              <a:effectLst/>
              <a:uFillTx/>
              <a:latin typeface="Arial"/>
            </a:endParaRPr>
          </a:p>
        </p:txBody>
      </p:sp>
      <p:sp>
        <p:nvSpPr>
          <p:cNvPr id="48" name="Shape 1"/>
          <p:cNvSpPr/>
          <p:nvPr/>
        </p:nvSpPr>
        <p:spPr>
          <a:xfrm>
            <a:off x="548640" y="1463040"/>
            <a:ext cx="11091240" cy="1599840"/>
          </a:xfrm>
          <a:prstGeom prst="roundRect">
            <a:avLst>
              <a:gd name="adj" fmla="val 342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9" name="Text 2"/>
          <p:cNvSpPr/>
          <p:nvPr/>
        </p:nvSpPr>
        <p:spPr>
          <a:xfrm>
            <a:off x="804600" y="1645920"/>
            <a:ext cx="10579320" cy="12340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def get_current_user(token: str = Depends(oauth2_scheme),</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db: Session = Depends(get_db)) -&gt; User:</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payload = jwt.decode(token, SECRET_KEY, algorithms=[ALGORITHM])   # raises -&gt; 401</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return db.scalar(select(User).where(User.email == payload["sub"]))</a:t>
            </a:r>
            <a:endParaRPr lang="en-IN" sz="1200" b="0" u="none" strike="noStrike">
              <a:solidFill>
                <a:srgbClr val="000000"/>
              </a:solidFill>
              <a:effectLst/>
              <a:uFillTx/>
              <a:latin typeface="Arial"/>
            </a:endParaRPr>
          </a:p>
        </p:txBody>
      </p:sp>
      <p:sp>
        <p:nvSpPr>
          <p:cNvPr id="50" name="Shape 3"/>
          <p:cNvSpPr/>
          <p:nvPr/>
        </p:nvSpPr>
        <p:spPr>
          <a:xfrm>
            <a:off x="548640" y="3200400"/>
            <a:ext cx="11091240" cy="868320"/>
          </a:xfrm>
          <a:prstGeom prst="roundRect">
            <a:avLst>
              <a:gd name="adj" fmla="val 6316"/>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1" name="Text 4"/>
          <p:cNvSpPr/>
          <p:nvPr/>
        </p:nvSpPr>
        <p:spPr>
          <a:xfrm>
            <a:off x="804600" y="3383280"/>
            <a:ext cx="10579320" cy="5025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@router.get("/courses")</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def list_courses(db: Session = Depends(get_db), user: User = Depends(get_current_user)):</a:t>
            </a:r>
            <a:endParaRPr lang="en-IN" sz="1250" b="0" u="none" strike="noStrike">
              <a:solidFill>
                <a:srgbClr val="000000"/>
              </a:solidFill>
              <a:effectLst/>
              <a:uFillTx/>
              <a:latin typeface="Arial"/>
            </a:endParaRPr>
          </a:p>
        </p:txBody>
      </p:sp>
      <p:sp>
        <p:nvSpPr>
          <p:cNvPr id="52" name="Text 5"/>
          <p:cNvSpPr/>
          <p:nvPr/>
        </p:nvSpPr>
        <p:spPr>
          <a:xfrm>
            <a:off x="548640" y="4160520"/>
            <a:ext cx="1109124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i="1" u="none" strike="noStrike">
                <a:solidFill>
                  <a:srgbClr val="64748B"/>
                </a:solidFill>
                <a:effectLst/>
                <a:uFillTx/>
                <a:latin typeface="Calibri"/>
                <a:ea typeface="Calibri"/>
              </a:rPr>
              <a:t>There is no token-checking code in the endpoint. There never is.</a:t>
            </a:r>
            <a:endParaRPr lang="en-IN" sz="1400" b="0" u="none" strike="noStrike">
              <a:solidFill>
                <a:srgbClr val="000000"/>
              </a:solidFill>
              <a:effectLst/>
              <a:uFillTx/>
              <a:latin typeface="Arial"/>
            </a:endParaRPr>
          </a:p>
        </p:txBody>
      </p:sp>
      <p:sp>
        <p:nvSpPr>
          <p:cNvPr id="53" name="Shape 6"/>
          <p:cNvSpPr/>
          <p:nvPr/>
        </p:nvSpPr>
        <p:spPr>
          <a:xfrm>
            <a:off x="548640" y="4572000"/>
            <a:ext cx="11091240" cy="685440"/>
          </a:xfrm>
          <a:prstGeom prst="roundRect">
            <a:avLst>
              <a:gd name="adj" fmla="val 13333"/>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4" name="Text 7"/>
          <p:cNvSpPr/>
          <p:nvPr/>
        </p:nvSpPr>
        <p:spPr>
          <a:xfrm>
            <a:off x="868680" y="457200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Nothing new was invented for auth.  </a:t>
            </a:r>
            <a:r>
              <a:rPr lang="en-US" sz="1500" b="0" u="none" strike="noStrike">
                <a:solidFill>
                  <a:srgbClr val="1E293B"/>
                </a:solidFill>
                <a:effectLst/>
                <a:uFillTx/>
                <a:latin typeface="Calibri"/>
                <a:ea typeface="Calibri"/>
              </a:rPr>
              <a:t>Same Depends, same position in the signature. You learned this shape before the break.</a:t>
            </a:r>
            <a:endParaRPr lang="en-IN" sz="1500" b="0" u="none" strike="noStrike">
              <a:solidFill>
                <a:srgbClr val="000000"/>
              </a:solidFill>
              <a:effectLst/>
              <a:uFillTx/>
              <a:latin typeface="Arial"/>
            </a:endParaRPr>
          </a:p>
        </p:txBody>
      </p:sp>
      <p:sp>
        <p:nvSpPr>
          <p:cNvPr id="55" name="Shape 8"/>
          <p:cNvSpPr/>
          <p:nvPr/>
        </p:nvSpPr>
        <p:spPr>
          <a:xfrm>
            <a:off x="548640" y="5440680"/>
            <a:ext cx="11091240" cy="685440"/>
          </a:xfrm>
          <a:prstGeom prst="roundRect">
            <a:avLst>
              <a:gd name="adj" fmla="val 13333"/>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6" name="Text 9"/>
          <p:cNvSpPr/>
          <p:nvPr/>
        </p:nvSpPr>
        <p:spPr>
          <a:xfrm>
            <a:off x="868680" y="5440680"/>
            <a:ext cx="1042380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The demo, in this order:  </a:t>
            </a:r>
            <a:r>
              <a:rPr lang="en-US" sz="1500" b="0" u="none" strike="noStrike">
                <a:solidFill>
                  <a:srgbClr val="1E293B"/>
                </a:solidFill>
                <a:effectLst/>
                <a:uFillTx/>
                <a:latin typeface="Calibri"/>
                <a:ea typeface="Calibri"/>
              </a:rPr>
              <a:t>register → GET /courses = 401 → click the padlock → GET /courses = 200. Everyone, own machine.</a:t>
            </a:r>
            <a:endParaRPr lang="en-IN" sz="1500" b="0" u="none" strike="noStrike">
              <a:solidFill>
                <a:srgbClr val="000000"/>
              </a:solidFill>
              <a:effectLst/>
              <a:uFillTx/>
              <a:latin typeface="Arial"/>
            </a:endParaRPr>
          </a:p>
        </p:txBody>
      </p:sp>
      <p:sp>
        <p:nvSpPr>
          <p:cNvPr id="57" name="Text 10"/>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58" name="Text 1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60"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 base64-decode someone's JWT payload and read their email and role. What does that prove?</a:t>
            </a:r>
            <a:endParaRPr lang="en-IN" sz="2500" b="0" u="none" strike="noStrike">
              <a:solidFill>
                <a:srgbClr val="000000"/>
              </a:solidFill>
              <a:effectLst/>
              <a:uFillTx/>
              <a:latin typeface="Arial"/>
            </a:endParaRPr>
          </a:p>
        </p:txBody>
      </p:sp>
      <p:sp>
        <p:nvSpPr>
          <p:cNvPr id="61"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62"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63"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token was stolen</a:t>
            </a:r>
            <a:endParaRPr lang="en-IN" sz="1700" b="0" u="none" strike="noStrike">
              <a:solidFill>
                <a:srgbClr val="000000"/>
              </a:solidFill>
              <a:effectLst/>
              <a:uFillTx/>
              <a:latin typeface="Arial"/>
            </a:endParaRPr>
          </a:p>
        </p:txBody>
      </p:sp>
      <p:sp>
        <p:nvSpPr>
          <p:cNvPr id="64"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65"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66"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Nothing is wrong — tokens are readable by design</a:t>
            </a:r>
            <a:endParaRPr lang="en-IN" sz="1700" b="0" u="none" strike="noStrike">
              <a:solidFill>
                <a:srgbClr val="000000"/>
              </a:solidFill>
              <a:effectLst/>
              <a:uFillTx/>
              <a:latin typeface="Arial"/>
            </a:endParaRPr>
          </a:p>
        </p:txBody>
      </p:sp>
      <p:sp>
        <p:nvSpPr>
          <p:cNvPr id="67"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68"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69"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signature is broken</a:t>
            </a:r>
            <a:endParaRPr lang="en-IN" sz="1700" b="0" u="none" strike="noStrike">
              <a:solidFill>
                <a:srgbClr val="000000"/>
              </a:solidFill>
              <a:effectLst/>
              <a:uFillTx/>
              <a:latin typeface="Arial"/>
            </a:endParaRPr>
          </a:p>
        </p:txBody>
      </p:sp>
      <p:sp>
        <p:nvSpPr>
          <p:cNvPr id="70"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71"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72"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secret key has leaked</a:t>
            </a:r>
            <a:endParaRPr lang="en-IN" sz="1700" b="0" u="none" strike="noStrike">
              <a:solidFill>
                <a:srgbClr val="000000"/>
              </a:solidFill>
              <a:effectLst/>
              <a:uFillTx/>
              <a:latin typeface="Arial"/>
            </a:endParaRPr>
          </a:p>
        </p:txBody>
      </p:sp>
      <p:sp>
        <p:nvSpPr>
          <p:cNvPr id="73"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74"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75"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09</a:t>
            </a:r>
            <a:endParaRPr lang="en-IN" sz="9600" b="0" u="none" strike="noStrike">
              <a:solidFill>
                <a:srgbClr val="000000"/>
              </a:solidFill>
              <a:effectLst/>
              <a:uFillTx/>
              <a:latin typeface="Arial"/>
            </a:endParaRPr>
          </a:p>
        </p:txBody>
      </p:sp>
      <p:sp>
        <p:nvSpPr>
          <p:cNvPr id="76"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What may they do?</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401 is not 403</a:t>
            </a:r>
            <a:endParaRPr lang="en-IN" sz="3000" b="0" u="none" strike="noStrike">
              <a:solidFill>
                <a:srgbClr val="000000"/>
              </a:solidFill>
              <a:effectLst/>
              <a:uFillTx/>
              <a:latin typeface="Arial"/>
            </a:endParaRPr>
          </a:p>
        </p:txBody>
      </p:sp>
      <p:sp>
        <p:nvSpPr>
          <p:cNvPr id="78" name="Shape 1"/>
          <p:cNvSpPr/>
          <p:nvPr/>
        </p:nvSpPr>
        <p:spPr>
          <a:xfrm>
            <a:off x="548640" y="1554480"/>
            <a:ext cx="5394600" cy="1371240"/>
          </a:xfrm>
          <a:prstGeom prst="roundRect">
            <a:avLst>
              <a:gd name="adj" fmla="val 6667"/>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9" name="Text 2"/>
          <p:cNvSpPr/>
          <p:nvPr/>
        </p:nvSpPr>
        <p:spPr>
          <a:xfrm>
            <a:off x="822960" y="171900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B45309"/>
                </a:solidFill>
                <a:effectLst/>
                <a:uFillTx/>
                <a:latin typeface="Courier New"/>
                <a:ea typeface="Courier New"/>
              </a:rPr>
              <a:t>401 Unauthorized</a:t>
            </a:r>
            <a:endParaRPr lang="en-IN" sz="1800" b="0" u="none" strike="noStrike">
              <a:solidFill>
                <a:srgbClr val="000000"/>
              </a:solidFill>
              <a:effectLst/>
              <a:uFillTx/>
              <a:latin typeface="Arial"/>
            </a:endParaRPr>
          </a:p>
        </p:txBody>
      </p:sp>
      <p:sp>
        <p:nvSpPr>
          <p:cNvPr id="80" name="Text 3"/>
          <p:cNvSpPr/>
          <p:nvPr/>
        </p:nvSpPr>
        <p:spPr>
          <a:xfrm>
            <a:off x="822960" y="212148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"I don't know who you are."</a:t>
            </a:r>
            <a:endParaRPr lang="en-IN" sz="1500" b="0" u="none" strike="noStrike">
              <a:solidFill>
                <a:srgbClr val="000000"/>
              </a:solidFill>
              <a:effectLst/>
              <a:uFillTx/>
              <a:latin typeface="Arial"/>
            </a:endParaRPr>
          </a:p>
        </p:txBody>
      </p:sp>
      <p:sp>
        <p:nvSpPr>
          <p:cNvPr id="81" name="Text 4"/>
          <p:cNvSpPr/>
          <p:nvPr/>
        </p:nvSpPr>
        <p:spPr>
          <a:xfrm>
            <a:off x="822960" y="248724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i="1" u="none" strike="noStrike">
                <a:solidFill>
                  <a:srgbClr val="64748B"/>
                </a:solidFill>
                <a:effectLst/>
                <a:uFillTx/>
                <a:latin typeface="Calibri"/>
                <a:ea typeface="Calibri"/>
              </a:rPr>
              <a:t>Badly named — it means unauthenticated.</a:t>
            </a:r>
            <a:endParaRPr lang="en-IN" sz="1250" b="0" u="none" strike="noStrike">
              <a:solidFill>
                <a:srgbClr val="000000"/>
              </a:solidFill>
              <a:effectLst/>
              <a:uFillTx/>
              <a:latin typeface="Arial"/>
            </a:endParaRPr>
          </a:p>
        </p:txBody>
      </p:sp>
      <p:sp>
        <p:nvSpPr>
          <p:cNvPr id="82" name="Shape 5"/>
          <p:cNvSpPr/>
          <p:nvPr/>
        </p:nvSpPr>
        <p:spPr>
          <a:xfrm>
            <a:off x="6245280" y="1554480"/>
            <a:ext cx="5394600" cy="1371240"/>
          </a:xfrm>
          <a:prstGeom prst="roundRect">
            <a:avLst>
              <a:gd name="adj" fmla="val 6667"/>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3" name="Text 6"/>
          <p:cNvSpPr/>
          <p:nvPr/>
        </p:nvSpPr>
        <p:spPr>
          <a:xfrm>
            <a:off x="6519600" y="171900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B91C1C"/>
                </a:solidFill>
                <a:effectLst/>
                <a:uFillTx/>
                <a:latin typeface="Courier New"/>
                <a:ea typeface="Courier New"/>
              </a:rPr>
              <a:t>403 Forbidden</a:t>
            </a:r>
            <a:endParaRPr lang="en-IN" sz="1800" b="0" u="none" strike="noStrike">
              <a:solidFill>
                <a:srgbClr val="000000"/>
              </a:solidFill>
              <a:effectLst/>
              <a:uFillTx/>
              <a:latin typeface="Arial"/>
            </a:endParaRPr>
          </a:p>
        </p:txBody>
      </p:sp>
      <p:sp>
        <p:nvSpPr>
          <p:cNvPr id="84" name="Text 7"/>
          <p:cNvSpPr/>
          <p:nvPr/>
        </p:nvSpPr>
        <p:spPr>
          <a:xfrm>
            <a:off x="6519600" y="2121480"/>
            <a:ext cx="48459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"I know exactly who you are, and no."</a:t>
            </a:r>
            <a:endParaRPr lang="en-IN" sz="1500" b="0" u="none" strike="noStrike">
              <a:solidFill>
                <a:srgbClr val="000000"/>
              </a:solidFill>
              <a:effectLst/>
              <a:uFillTx/>
              <a:latin typeface="Arial"/>
            </a:endParaRPr>
          </a:p>
        </p:txBody>
      </p:sp>
      <p:sp>
        <p:nvSpPr>
          <p:cNvPr id="85" name="Text 8"/>
          <p:cNvSpPr/>
          <p:nvPr/>
        </p:nvSpPr>
        <p:spPr>
          <a:xfrm>
            <a:off x="6519600" y="2487240"/>
            <a:ext cx="48459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i="1" u="none" strike="noStrike">
                <a:solidFill>
                  <a:srgbClr val="64748B"/>
                </a:solidFill>
                <a:effectLst/>
                <a:uFillTx/>
                <a:latin typeface="Calibri"/>
                <a:ea typeface="Calibri"/>
              </a:rPr>
              <a:t>Authenticated fine. Just not allowed.</a:t>
            </a:r>
            <a:endParaRPr lang="en-IN" sz="1250" b="0" u="none" strike="noStrike">
              <a:solidFill>
                <a:srgbClr val="000000"/>
              </a:solidFill>
              <a:effectLst/>
              <a:uFillTx/>
              <a:latin typeface="Arial"/>
            </a:endParaRPr>
          </a:p>
        </p:txBody>
      </p:sp>
      <p:sp>
        <p:nvSpPr>
          <p:cNvPr id="86" name="Shape 9"/>
          <p:cNvSpPr/>
          <p:nvPr/>
        </p:nvSpPr>
        <p:spPr>
          <a:xfrm>
            <a:off x="548640" y="3108960"/>
            <a:ext cx="11091240" cy="1691280"/>
          </a:xfrm>
          <a:prstGeom prst="roundRect">
            <a:avLst>
              <a:gd name="adj" fmla="val 324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7" name="Text 10"/>
          <p:cNvSpPr/>
          <p:nvPr/>
        </p:nvSpPr>
        <p:spPr>
          <a:xfrm>
            <a:off x="804600" y="3291840"/>
            <a:ext cx="10579320" cy="13255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def require_role(*allowed: str):</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def checker(user: User = Depends(get_current_user)) -&gt; User:</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if user.role not in allowed:</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raise HTTPException(403, "...")</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return user</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return checker</a:t>
            </a:r>
            <a:endParaRPr lang="en-IN" sz="1200" b="0" u="none" strike="noStrike">
              <a:solidFill>
                <a:srgbClr val="000000"/>
              </a:solidFill>
              <a:effectLst/>
              <a:uFillTx/>
              <a:latin typeface="Arial"/>
            </a:endParaRPr>
          </a:p>
        </p:txBody>
      </p:sp>
      <p:sp>
        <p:nvSpPr>
          <p:cNvPr id="88" name="Shape 11"/>
          <p:cNvSpPr/>
          <p:nvPr/>
        </p:nvSpPr>
        <p:spPr>
          <a:xfrm>
            <a:off x="548640" y="4937760"/>
            <a:ext cx="11091240" cy="639720"/>
          </a:xfrm>
          <a:prstGeom prst="roundRect">
            <a:avLst>
              <a:gd name="adj" fmla="val 8571"/>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9" name="Text 12"/>
          <p:cNvSpPr/>
          <p:nvPr/>
        </p:nvSpPr>
        <p:spPr>
          <a:xfrm>
            <a:off x="804600" y="5120640"/>
            <a:ext cx="10579320" cy="27396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@router.delete("/{code}", dependencies=[Depends(require_role("admin"))])</a:t>
            </a:r>
            <a:endParaRPr lang="en-IN" sz="1250" b="0" u="none" strike="noStrike">
              <a:solidFill>
                <a:srgbClr val="000000"/>
              </a:solidFill>
              <a:effectLst/>
              <a:uFillTx/>
              <a:latin typeface="Arial"/>
            </a:endParaRPr>
          </a:p>
        </p:txBody>
      </p:sp>
      <p:sp>
        <p:nvSpPr>
          <p:cNvPr id="90" name="Shape 13"/>
          <p:cNvSpPr/>
          <p:nvPr/>
        </p:nvSpPr>
        <p:spPr>
          <a:xfrm>
            <a:off x="548640" y="5715000"/>
            <a:ext cx="11091240" cy="548280"/>
          </a:xfrm>
          <a:prstGeom prst="roundRect">
            <a:avLst>
              <a:gd name="adj" fmla="val 1666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1" name="Text 14"/>
          <p:cNvSpPr/>
          <p:nvPr/>
        </p:nvSpPr>
        <p:spPr>
          <a:xfrm>
            <a:off x="868680" y="571500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A function that RETURNS a dependency  </a:t>
            </a:r>
            <a:r>
              <a:rPr lang="en-US" sz="1500" b="0" u="none" strike="noStrike">
                <a:solidFill>
                  <a:srgbClr val="1E293B"/>
                </a:solidFill>
                <a:effectLst/>
                <a:uFillTx/>
                <a:latin typeface="Calibri"/>
                <a:ea typeface="Calibri"/>
              </a:rPr>
              <a:t>— so the same check is configured per route. Students find this clever. Let them.</a:t>
            </a:r>
            <a:endParaRPr lang="en-IN" sz="1500" b="0" u="none" strike="noStrike">
              <a:solidFill>
                <a:srgbClr val="000000"/>
              </a:solidFill>
              <a:effectLst/>
              <a:uFillTx/>
              <a:latin typeface="Arial"/>
            </a:endParaRPr>
          </a:p>
        </p:txBody>
      </p:sp>
      <p:sp>
        <p:nvSpPr>
          <p:cNvPr id="92" name="Text 15"/>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93" name="Text 1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Eight rules that are all real mistakes</a:t>
            </a:r>
            <a:endParaRPr lang="en-IN" sz="3000" b="0" u="none" strike="noStrike">
              <a:solidFill>
                <a:srgbClr val="000000"/>
              </a:solidFill>
              <a:effectLst/>
              <a:uFillTx/>
              <a:latin typeface="Arial"/>
            </a:endParaRPr>
          </a:p>
        </p:txBody>
      </p:sp>
      <p:sp>
        <p:nvSpPr>
          <p:cNvPr id="95"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Every one of these has taken down something you have used.</a:t>
            </a:r>
            <a:endParaRPr lang="en-IN" sz="1500" b="0" u="none" strike="noStrike">
              <a:solidFill>
                <a:srgbClr val="000000"/>
              </a:solidFill>
              <a:effectLst/>
              <a:uFillTx/>
              <a:latin typeface="Arial"/>
            </a:endParaRPr>
          </a:p>
        </p:txBody>
      </p:sp>
      <p:sp>
        <p:nvSpPr>
          <p:cNvPr id="96" name="Shape 2"/>
          <p:cNvSpPr/>
          <p:nvPr/>
        </p:nvSpPr>
        <p:spPr>
          <a:xfrm>
            <a:off x="548640" y="1783080"/>
            <a:ext cx="11091240" cy="475200"/>
          </a:xfrm>
          <a:prstGeom prst="roundRect">
            <a:avLst>
              <a:gd name="adj" fmla="val 19231"/>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97" name="Text 3"/>
          <p:cNvSpPr/>
          <p:nvPr/>
        </p:nvSpPr>
        <p:spPr>
          <a:xfrm>
            <a:off x="822960" y="1783080"/>
            <a:ext cx="44802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B91C1C"/>
                </a:solidFill>
                <a:effectLst/>
                <a:uFillTx/>
                <a:latin typeface="Calibri"/>
                <a:ea typeface="Calibri"/>
              </a:rPr>
              <a:t>Secrets from the environment, never the code</a:t>
            </a:r>
            <a:endParaRPr lang="en-IN" sz="1350" b="0" u="none" strike="noStrike">
              <a:solidFill>
                <a:srgbClr val="000000"/>
              </a:solidFill>
              <a:effectLst/>
              <a:uFillTx/>
              <a:latin typeface="Arial"/>
            </a:endParaRPr>
          </a:p>
        </p:txBody>
      </p:sp>
      <p:sp>
        <p:nvSpPr>
          <p:cNvPr id="98" name="Text 4"/>
          <p:cNvSpPr/>
          <p:nvPr/>
        </p:nvSpPr>
        <p:spPr>
          <a:xfrm>
            <a:off x="5486400" y="1783080"/>
            <a:ext cx="59432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 key in git is a key on the internet. Bots scan public repos in minutes.</a:t>
            </a:r>
            <a:endParaRPr lang="en-IN" sz="1250" b="0" u="none" strike="noStrike">
              <a:solidFill>
                <a:srgbClr val="000000"/>
              </a:solidFill>
              <a:effectLst/>
              <a:uFillTx/>
              <a:latin typeface="Arial"/>
            </a:endParaRPr>
          </a:p>
        </p:txBody>
      </p:sp>
      <p:sp>
        <p:nvSpPr>
          <p:cNvPr id="99" name="Shape 5"/>
          <p:cNvSpPr/>
          <p:nvPr/>
        </p:nvSpPr>
        <p:spPr>
          <a:xfrm>
            <a:off x="548640" y="2331720"/>
            <a:ext cx="11091240" cy="475200"/>
          </a:xfrm>
          <a:prstGeom prst="roundRect">
            <a:avLst>
              <a:gd name="adj" fmla="val 19231"/>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0" name="Text 6"/>
          <p:cNvSpPr/>
          <p:nvPr/>
        </p:nvSpPr>
        <p:spPr>
          <a:xfrm>
            <a:off x="822960" y="2331720"/>
            <a:ext cx="44802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B91C1C"/>
                </a:solidFill>
                <a:effectLst/>
                <a:uFillTx/>
                <a:latin typeface="Calibri"/>
                <a:ea typeface="Calibri"/>
              </a:rPr>
              <a:t>Never log a token or a password</a:t>
            </a:r>
            <a:endParaRPr lang="en-IN" sz="1350" b="0" u="none" strike="noStrike">
              <a:solidFill>
                <a:srgbClr val="000000"/>
              </a:solidFill>
              <a:effectLst/>
              <a:uFillTx/>
              <a:latin typeface="Arial"/>
            </a:endParaRPr>
          </a:p>
        </p:txBody>
      </p:sp>
      <p:sp>
        <p:nvSpPr>
          <p:cNvPr id="101" name="Text 7"/>
          <p:cNvSpPr/>
          <p:nvPr/>
        </p:nvSpPr>
        <p:spPr>
          <a:xfrm>
            <a:off x="5486400" y="2331720"/>
            <a:ext cx="59432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Logs get shipped to third parties, pasted into tickets, read by interns.</a:t>
            </a:r>
            <a:endParaRPr lang="en-IN" sz="1250" b="0" u="none" strike="noStrike">
              <a:solidFill>
                <a:srgbClr val="000000"/>
              </a:solidFill>
              <a:effectLst/>
              <a:uFillTx/>
              <a:latin typeface="Arial"/>
            </a:endParaRPr>
          </a:p>
        </p:txBody>
      </p:sp>
      <p:sp>
        <p:nvSpPr>
          <p:cNvPr id="102" name="Shape 8"/>
          <p:cNvSpPr/>
          <p:nvPr/>
        </p:nvSpPr>
        <p:spPr>
          <a:xfrm>
            <a:off x="548640" y="2880360"/>
            <a:ext cx="11091240" cy="475200"/>
          </a:xfrm>
          <a:prstGeom prst="roundRect">
            <a:avLst>
              <a:gd name="adj" fmla="val 1923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3" name="Text 9"/>
          <p:cNvSpPr/>
          <p:nvPr/>
        </p:nvSpPr>
        <p:spPr>
          <a:xfrm>
            <a:off x="822960" y="2880360"/>
            <a:ext cx="44802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B45309"/>
                </a:solidFill>
                <a:effectLst/>
                <a:uFillTx/>
                <a:latin typeface="Calibri"/>
                <a:ea typeface="Calibri"/>
              </a:rPr>
              <a:t>Never return a raw exception</a:t>
            </a:r>
            <a:endParaRPr lang="en-IN" sz="1350" b="0" u="none" strike="noStrike">
              <a:solidFill>
                <a:srgbClr val="000000"/>
              </a:solidFill>
              <a:effectLst/>
              <a:uFillTx/>
              <a:latin typeface="Arial"/>
            </a:endParaRPr>
          </a:p>
        </p:txBody>
      </p:sp>
      <p:sp>
        <p:nvSpPr>
          <p:cNvPr id="104" name="Text 10"/>
          <p:cNvSpPr/>
          <p:nvPr/>
        </p:nvSpPr>
        <p:spPr>
          <a:xfrm>
            <a:off x="5486400" y="2880360"/>
            <a:ext cx="59432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Stack traces leak table names, file paths and library versions.</a:t>
            </a:r>
            <a:endParaRPr lang="en-IN" sz="1250" b="0" u="none" strike="noStrike">
              <a:solidFill>
                <a:srgbClr val="000000"/>
              </a:solidFill>
              <a:effectLst/>
              <a:uFillTx/>
              <a:latin typeface="Arial"/>
            </a:endParaRPr>
          </a:p>
        </p:txBody>
      </p:sp>
      <p:sp>
        <p:nvSpPr>
          <p:cNvPr id="105" name="Shape 11"/>
          <p:cNvSpPr/>
          <p:nvPr/>
        </p:nvSpPr>
        <p:spPr>
          <a:xfrm>
            <a:off x="548640" y="3429000"/>
            <a:ext cx="11091240" cy="475200"/>
          </a:xfrm>
          <a:prstGeom prst="roundRect">
            <a:avLst>
              <a:gd name="adj" fmla="val 1923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6" name="Text 12"/>
          <p:cNvSpPr/>
          <p:nvPr/>
        </p:nvSpPr>
        <p:spPr>
          <a:xfrm>
            <a:off x="822960" y="3429000"/>
            <a:ext cx="44802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B45309"/>
                </a:solidFill>
                <a:effectLst/>
                <a:uFillTx/>
                <a:latin typeface="Calibri"/>
                <a:ea typeface="Calibri"/>
              </a:rPr>
              <a:t>HTTPS only</a:t>
            </a:r>
            <a:endParaRPr lang="en-IN" sz="1350" b="0" u="none" strike="noStrike">
              <a:solidFill>
                <a:srgbClr val="000000"/>
              </a:solidFill>
              <a:effectLst/>
              <a:uFillTx/>
              <a:latin typeface="Arial"/>
            </a:endParaRPr>
          </a:p>
        </p:txBody>
      </p:sp>
      <p:sp>
        <p:nvSpPr>
          <p:cNvPr id="107" name="Text 13"/>
          <p:cNvSpPr/>
          <p:nvPr/>
        </p:nvSpPr>
        <p:spPr>
          <a:xfrm>
            <a:off x="5486400" y="3429000"/>
            <a:ext cx="59432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 bearer token over plain HTTP is a password shouted across a cafe.</a:t>
            </a:r>
            <a:endParaRPr lang="en-IN" sz="1250" b="0" u="none" strike="noStrike">
              <a:solidFill>
                <a:srgbClr val="000000"/>
              </a:solidFill>
              <a:effectLst/>
              <a:uFillTx/>
              <a:latin typeface="Arial"/>
            </a:endParaRPr>
          </a:p>
        </p:txBody>
      </p:sp>
      <p:sp>
        <p:nvSpPr>
          <p:cNvPr id="108" name="Shape 14"/>
          <p:cNvSpPr/>
          <p:nvPr/>
        </p:nvSpPr>
        <p:spPr>
          <a:xfrm>
            <a:off x="548640" y="3977640"/>
            <a:ext cx="11091240" cy="475200"/>
          </a:xfrm>
          <a:prstGeom prst="roundRect">
            <a:avLst>
              <a:gd name="adj" fmla="val 1923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09" name="Text 15"/>
          <p:cNvSpPr/>
          <p:nvPr/>
        </p:nvSpPr>
        <p:spPr>
          <a:xfrm>
            <a:off x="822960" y="3977640"/>
            <a:ext cx="44802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64748B"/>
                </a:solidFill>
                <a:effectLst/>
                <a:uFillTx/>
                <a:latin typeface="Calibri"/>
                <a:ea typeface="Calibri"/>
              </a:rPr>
              <a:t>Real CORS origins in production</a:t>
            </a:r>
            <a:endParaRPr lang="en-IN" sz="1350" b="0" u="none" strike="noStrike">
              <a:solidFill>
                <a:srgbClr val="000000"/>
              </a:solidFill>
              <a:effectLst/>
              <a:uFillTx/>
              <a:latin typeface="Arial"/>
            </a:endParaRPr>
          </a:p>
        </p:txBody>
      </p:sp>
      <p:sp>
        <p:nvSpPr>
          <p:cNvPr id="110" name="Text 16"/>
          <p:cNvSpPr/>
          <p:nvPr/>
        </p:nvSpPr>
        <p:spPr>
          <a:xfrm>
            <a:off x="5486400" y="3977640"/>
            <a:ext cx="59432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 is fine in this room and wrong the moment you deploy.</a:t>
            </a:r>
            <a:endParaRPr lang="en-IN" sz="1250" b="0" u="none" strike="noStrike">
              <a:solidFill>
                <a:srgbClr val="000000"/>
              </a:solidFill>
              <a:effectLst/>
              <a:uFillTx/>
              <a:latin typeface="Arial"/>
            </a:endParaRPr>
          </a:p>
        </p:txBody>
      </p:sp>
      <p:sp>
        <p:nvSpPr>
          <p:cNvPr id="111" name="Shape 17"/>
          <p:cNvSpPr/>
          <p:nvPr/>
        </p:nvSpPr>
        <p:spPr>
          <a:xfrm>
            <a:off x="548640" y="4526280"/>
            <a:ext cx="11091240" cy="475200"/>
          </a:xfrm>
          <a:prstGeom prst="roundRect">
            <a:avLst>
              <a:gd name="adj" fmla="val 1923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2" name="Text 18"/>
          <p:cNvSpPr/>
          <p:nvPr/>
        </p:nvSpPr>
        <p:spPr>
          <a:xfrm>
            <a:off x="822960" y="4526280"/>
            <a:ext cx="44802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64748B"/>
                </a:solidFill>
                <a:effectLst/>
                <a:uFillTx/>
                <a:latin typeface="Calibri"/>
                <a:ea typeface="Calibri"/>
              </a:rPr>
              <a:t>Rate-limit /login</a:t>
            </a:r>
            <a:endParaRPr lang="en-IN" sz="1350" b="0" u="none" strike="noStrike">
              <a:solidFill>
                <a:srgbClr val="000000"/>
              </a:solidFill>
              <a:effectLst/>
              <a:uFillTx/>
              <a:latin typeface="Arial"/>
            </a:endParaRPr>
          </a:p>
        </p:txBody>
      </p:sp>
      <p:sp>
        <p:nvSpPr>
          <p:cNvPr id="113" name="Text 19"/>
          <p:cNvSpPr/>
          <p:nvPr/>
        </p:nvSpPr>
        <p:spPr>
          <a:xfrm>
            <a:off x="5486400" y="4526280"/>
            <a:ext cx="59432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Otherwise you have built an unlimited guessing machine.</a:t>
            </a:r>
            <a:endParaRPr lang="en-IN" sz="1250" b="0" u="none" strike="noStrike">
              <a:solidFill>
                <a:srgbClr val="000000"/>
              </a:solidFill>
              <a:effectLst/>
              <a:uFillTx/>
              <a:latin typeface="Arial"/>
            </a:endParaRPr>
          </a:p>
        </p:txBody>
      </p:sp>
      <p:sp>
        <p:nvSpPr>
          <p:cNvPr id="114" name="Shape 20"/>
          <p:cNvSpPr/>
          <p:nvPr/>
        </p:nvSpPr>
        <p:spPr>
          <a:xfrm>
            <a:off x="548640" y="5074920"/>
            <a:ext cx="11091240" cy="475200"/>
          </a:xfrm>
          <a:prstGeom prst="roundRect">
            <a:avLst>
              <a:gd name="adj" fmla="val 1923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5" name="Text 21"/>
          <p:cNvSpPr/>
          <p:nvPr/>
        </p:nvSpPr>
        <p:spPr>
          <a:xfrm>
            <a:off x="822960" y="5074920"/>
            <a:ext cx="44802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64748B"/>
                </a:solidFill>
                <a:effectLst/>
                <a:uFillTx/>
                <a:latin typeface="Calibri"/>
                <a:ea typeface="Calibri"/>
              </a:rPr>
              <a:t>Same error for bad user and bad password</a:t>
            </a:r>
            <a:endParaRPr lang="en-IN" sz="1350" b="0" u="none" strike="noStrike">
              <a:solidFill>
                <a:srgbClr val="000000"/>
              </a:solidFill>
              <a:effectLst/>
              <a:uFillTx/>
              <a:latin typeface="Arial"/>
            </a:endParaRPr>
          </a:p>
        </p:txBody>
      </p:sp>
      <p:sp>
        <p:nvSpPr>
          <p:cNvPr id="116" name="Text 22"/>
          <p:cNvSpPr/>
          <p:nvPr/>
        </p:nvSpPr>
        <p:spPr>
          <a:xfrm>
            <a:off x="5486400" y="5074920"/>
            <a:ext cx="59432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Or you have published your user list.</a:t>
            </a:r>
            <a:endParaRPr lang="en-IN" sz="1250" b="0" u="none" strike="noStrike">
              <a:solidFill>
                <a:srgbClr val="000000"/>
              </a:solidFill>
              <a:effectLst/>
              <a:uFillTx/>
              <a:latin typeface="Arial"/>
            </a:endParaRPr>
          </a:p>
        </p:txBody>
      </p:sp>
      <p:sp>
        <p:nvSpPr>
          <p:cNvPr id="117" name="Shape 23"/>
          <p:cNvSpPr/>
          <p:nvPr/>
        </p:nvSpPr>
        <p:spPr>
          <a:xfrm>
            <a:off x="548640" y="5623560"/>
            <a:ext cx="11091240" cy="475200"/>
          </a:xfrm>
          <a:prstGeom prst="roundRect">
            <a:avLst>
              <a:gd name="adj" fmla="val 1923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8" name="Text 24"/>
          <p:cNvSpPr/>
          <p:nvPr/>
        </p:nvSpPr>
        <p:spPr>
          <a:xfrm>
            <a:off x="822960" y="5623560"/>
            <a:ext cx="448020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5803D"/>
                </a:solidFill>
                <a:effectLst/>
                <a:uFillTx/>
                <a:latin typeface="Calibri"/>
                <a:ea typeface="Calibri"/>
              </a:rPr>
              <a:t>Short token lifetime</a:t>
            </a:r>
            <a:endParaRPr lang="en-IN" sz="1350" b="0" u="none" strike="noStrike">
              <a:solidFill>
                <a:srgbClr val="000000"/>
              </a:solidFill>
              <a:effectLst/>
              <a:uFillTx/>
              <a:latin typeface="Arial"/>
            </a:endParaRPr>
          </a:p>
        </p:txBody>
      </p:sp>
      <p:sp>
        <p:nvSpPr>
          <p:cNvPr id="119" name="Text 25"/>
          <p:cNvSpPr/>
          <p:nvPr/>
        </p:nvSpPr>
        <p:spPr>
          <a:xfrm>
            <a:off x="5486400" y="5623560"/>
            <a:ext cx="5943240" cy="47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A leaked token then expires by itself.</a:t>
            </a:r>
            <a:endParaRPr lang="en-IN" sz="1250" b="0" u="none" strike="noStrike">
              <a:solidFill>
                <a:srgbClr val="000000"/>
              </a:solidFill>
              <a:effectLst/>
              <a:uFillTx/>
              <a:latin typeface="Arial"/>
            </a:endParaRPr>
          </a:p>
        </p:txBody>
      </p:sp>
      <p:sp>
        <p:nvSpPr>
          <p:cNvPr id="120" name="Shape 26"/>
          <p:cNvSpPr/>
          <p:nvPr/>
        </p:nvSpPr>
        <p:spPr>
          <a:xfrm>
            <a:off x="548640" y="6263640"/>
            <a:ext cx="11091240" cy="456840"/>
          </a:xfrm>
          <a:prstGeom prst="roundRect">
            <a:avLst>
              <a:gd name="adj" fmla="val 20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1" name="Text 27"/>
          <p:cNvSpPr/>
          <p:nvPr/>
        </p:nvSpPr>
        <p:spPr>
          <a:xfrm>
            <a:off x="868680" y="6263640"/>
            <a:ext cx="104238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 Named, not taught:  </a:t>
            </a:r>
            <a:r>
              <a:rPr lang="en-US" sz="1500" b="0" u="none" strike="noStrike">
                <a:solidFill>
                  <a:srgbClr val="1E293B"/>
                </a:solidFill>
                <a:effectLst/>
                <a:uFillTx/>
                <a:latin typeface="Calibri"/>
                <a:ea typeface="Calibri"/>
              </a:rPr>
              <a:t>refresh tokens · OAuth social login · sessions vs stateless tokens.</a:t>
            </a:r>
            <a:endParaRPr lang="en-IN" sz="1500" b="0" u="none" strike="noStrike">
              <a:solidFill>
                <a:srgbClr val="000000"/>
              </a:solidFill>
              <a:effectLst/>
              <a:uFillTx/>
              <a:latin typeface="Arial"/>
            </a:endParaRPr>
          </a:p>
        </p:txBody>
      </p:sp>
      <p:sp>
        <p:nvSpPr>
          <p:cNvPr id="122" name="Text 28"/>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123" name="Text 2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125"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A logged-in student with a valid token calls DELETE /courses/CSE101, which is admin-only. What comes back?</a:t>
            </a:r>
            <a:endParaRPr lang="en-IN" sz="2500" b="0" u="none" strike="noStrike">
              <a:solidFill>
                <a:srgbClr val="000000"/>
              </a:solidFill>
              <a:effectLst/>
              <a:uFillTx/>
              <a:latin typeface="Arial"/>
            </a:endParaRPr>
          </a:p>
        </p:txBody>
      </p:sp>
      <p:sp>
        <p:nvSpPr>
          <p:cNvPr id="126"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27"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128"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401 — their token is not good enough</a:t>
            </a:r>
            <a:endParaRPr lang="en-IN" sz="1700" b="0" u="none" strike="noStrike">
              <a:solidFill>
                <a:srgbClr val="000000"/>
              </a:solidFill>
              <a:effectLst/>
              <a:uFillTx/>
              <a:latin typeface="Arial"/>
            </a:endParaRPr>
          </a:p>
        </p:txBody>
      </p:sp>
      <p:sp>
        <p:nvSpPr>
          <p:cNvPr id="129"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30"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131"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403 — you know who they are, and no</a:t>
            </a:r>
            <a:endParaRPr lang="en-IN" sz="1700" b="0" u="none" strike="noStrike">
              <a:solidFill>
                <a:srgbClr val="000000"/>
              </a:solidFill>
              <a:effectLst/>
              <a:uFillTx/>
              <a:latin typeface="Arial"/>
            </a:endParaRPr>
          </a:p>
        </p:txBody>
      </p:sp>
      <p:sp>
        <p:nvSpPr>
          <p:cNvPr id="132"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33"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134"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404 — pretend it does not exist</a:t>
            </a:r>
            <a:endParaRPr lang="en-IN" sz="1700" b="0" u="none" strike="noStrike">
              <a:solidFill>
                <a:srgbClr val="000000"/>
              </a:solidFill>
              <a:effectLst/>
              <a:uFillTx/>
              <a:latin typeface="Arial"/>
            </a:endParaRPr>
          </a:p>
        </p:txBody>
      </p:sp>
      <p:sp>
        <p:nvSpPr>
          <p:cNvPr id="135"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36"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137"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422 — the request is malformed</a:t>
            </a:r>
            <a:endParaRPr lang="en-IN" sz="1700" b="0" u="none" strike="noStrike">
              <a:solidFill>
                <a:srgbClr val="000000"/>
              </a:solidFill>
              <a:effectLst/>
              <a:uFillTx/>
              <a:latin typeface="Arial"/>
            </a:endParaRPr>
          </a:p>
        </p:txBody>
      </p:sp>
      <p:sp>
        <p:nvSpPr>
          <p:cNvPr id="138"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139"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10</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40"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10</a:t>
            </a:r>
            <a:endParaRPr lang="en-IN" sz="9600" b="0" u="none" strike="noStrike">
              <a:solidFill>
                <a:srgbClr val="000000"/>
              </a:solidFill>
              <a:effectLst/>
              <a:uFillTx/>
              <a:latin typeface="Arial"/>
            </a:endParaRPr>
          </a:p>
        </p:txBody>
      </p:sp>
      <p:sp>
        <p:nvSpPr>
          <p:cNvPr id="141"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Making it fast — and the part everyone skips</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 cache is a small fast place you check first</a:t>
            </a:r>
            <a:endParaRPr lang="en-IN" sz="3000" b="0" u="none" strike="noStrike">
              <a:solidFill>
                <a:srgbClr val="000000"/>
              </a:solidFill>
              <a:effectLst/>
              <a:uFillTx/>
              <a:latin typeface="Arial"/>
            </a:endParaRPr>
          </a:p>
        </p:txBody>
      </p:sp>
      <p:sp>
        <p:nvSpPr>
          <p:cNvPr id="143" name="Shape 1"/>
          <p:cNvSpPr/>
          <p:nvPr/>
        </p:nvSpPr>
        <p:spPr>
          <a:xfrm>
            <a:off x="548640" y="1463040"/>
            <a:ext cx="11091240" cy="1371240"/>
          </a:xfrm>
          <a:prstGeom prst="roundRect">
            <a:avLst>
              <a:gd name="adj" fmla="val 4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4" name="Text 2"/>
          <p:cNvSpPr/>
          <p:nvPr/>
        </p:nvSpPr>
        <p:spPr>
          <a:xfrm>
            <a:off x="804600" y="1645920"/>
            <a:ext cx="1057932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cached = r.get(key)</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if cached is not None:</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return cached                 # HIT  - microseconds</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value = slow_lookup(code)         # MISS - a full second</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r.set(key, value, ex=30)          # remember it, but only for 30 seconds</a:t>
            </a:r>
            <a:endParaRPr lang="en-IN" sz="1250" b="0" u="none" strike="noStrike">
              <a:solidFill>
                <a:srgbClr val="000000"/>
              </a:solidFill>
              <a:effectLst/>
              <a:uFillTx/>
              <a:latin typeface="Arial"/>
            </a:endParaRPr>
          </a:p>
        </p:txBody>
      </p:sp>
      <p:sp>
        <p:nvSpPr>
          <p:cNvPr id="145" name="Shape 3"/>
          <p:cNvSpPr/>
          <p:nvPr/>
        </p:nvSpPr>
        <p:spPr>
          <a:xfrm>
            <a:off x="548640" y="3017520"/>
            <a:ext cx="11091240" cy="639720"/>
          </a:xfrm>
          <a:prstGeom prst="roundRect">
            <a:avLst>
              <a:gd name="adj" fmla="val 14286"/>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6" name="Text 4"/>
          <p:cNvSpPr/>
          <p:nvPr/>
        </p:nvSpPr>
        <p:spPr>
          <a:xfrm>
            <a:off x="868680" y="301752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ex=30 is the interesting line, not get().  </a:t>
            </a:r>
            <a:r>
              <a:rPr lang="en-US" sz="1500" b="0" u="none" strike="noStrike">
                <a:solidFill>
                  <a:srgbClr val="1E293B"/>
                </a:solidFill>
                <a:effectLst/>
                <a:uFillTx/>
                <a:latin typeface="Calibri"/>
                <a:ea typeface="Calibri"/>
              </a:rPr>
              <a:t>That number is a promise about how stale you are willing to be.</a:t>
            </a:r>
            <a:endParaRPr lang="en-IN" sz="1500" b="0" u="none" strike="noStrike">
              <a:solidFill>
                <a:srgbClr val="000000"/>
              </a:solidFill>
              <a:effectLst/>
              <a:uFillTx/>
              <a:latin typeface="Arial"/>
            </a:endParaRPr>
          </a:p>
        </p:txBody>
      </p:sp>
      <p:sp>
        <p:nvSpPr>
          <p:cNvPr id="147" name="Shape 5"/>
          <p:cNvSpPr/>
          <p:nvPr/>
        </p:nvSpPr>
        <p:spPr>
          <a:xfrm>
            <a:off x="548640" y="3794760"/>
            <a:ext cx="11091240" cy="639720"/>
          </a:xfrm>
          <a:prstGeom prst="roundRect">
            <a:avLst>
              <a:gd name="adj" fmla="val 14286"/>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48" name="Text 6"/>
          <p:cNvSpPr/>
          <p:nvPr/>
        </p:nvSpPr>
        <p:spPr>
          <a:xfrm>
            <a:off x="868680" y="379476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Without an expiry you have not built a cache.  </a:t>
            </a:r>
            <a:r>
              <a:rPr lang="en-US" sz="1500" b="0" u="none" strike="noStrike">
                <a:solidFill>
                  <a:srgbClr val="1E293B"/>
                </a:solidFill>
                <a:effectLst/>
                <a:uFillTx/>
                <a:latin typeface="Calibri"/>
                <a:ea typeface="Calibri"/>
              </a:rPr>
              <a:t>You have built a second database that is quietly wrong forever.</a:t>
            </a:r>
            <a:endParaRPr lang="en-IN" sz="1500" b="0" u="none" strike="noStrike">
              <a:solidFill>
                <a:srgbClr val="000000"/>
              </a:solidFill>
              <a:effectLst/>
              <a:uFillTx/>
              <a:latin typeface="Arial"/>
            </a:endParaRPr>
          </a:p>
        </p:txBody>
      </p:sp>
      <p:sp>
        <p:nvSpPr>
          <p:cNvPr id="149" name="Text 7"/>
          <p:cNvSpPr/>
          <p:nvPr/>
        </p:nvSpPr>
        <p:spPr>
          <a:xfrm>
            <a:off x="548640" y="4617720"/>
            <a:ext cx="109724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B91C1C"/>
                </a:solidFill>
                <a:effectLst/>
                <a:uFillTx/>
                <a:latin typeface="Calibri"/>
                <a:ea typeface="Calibri"/>
              </a:rPr>
              <a:t>Do NOT cache</a:t>
            </a:r>
            <a:endParaRPr lang="en-IN" sz="1700" b="0" u="none" strike="noStrike">
              <a:solidFill>
                <a:srgbClr val="000000"/>
              </a:solidFill>
              <a:effectLst/>
              <a:uFillTx/>
              <a:latin typeface="Arial"/>
            </a:endParaRPr>
          </a:p>
        </p:txBody>
      </p:sp>
      <p:sp>
        <p:nvSpPr>
          <p:cNvPr id="150" name="Shape 8"/>
          <p:cNvSpPr/>
          <p:nvPr/>
        </p:nvSpPr>
        <p:spPr>
          <a:xfrm>
            <a:off x="548640" y="4983480"/>
            <a:ext cx="11091240" cy="493560"/>
          </a:xfrm>
          <a:prstGeom prst="roundRect">
            <a:avLst>
              <a:gd name="adj" fmla="val 1851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1" name="Text 9"/>
          <p:cNvSpPr/>
          <p:nvPr/>
        </p:nvSpPr>
        <p:spPr>
          <a:xfrm>
            <a:off x="822960" y="4983480"/>
            <a:ext cx="448020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E293B"/>
                </a:solidFill>
                <a:effectLst/>
                <a:uFillTx/>
                <a:latin typeface="Calibri"/>
                <a:ea typeface="Calibri"/>
              </a:rPr>
              <a:t>anything per-user and private</a:t>
            </a:r>
            <a:endParaRPr lang="en-IN" sz="1350" b="0" u="none" strike="noStrike">
              <a:solidFill>
                <a:srgbClr val="000000"/>
              </a:solidFill>
              <a:effectLst/>
              <a:uFillTx/>
              <a:latin typeface="Arial"/>
            </a:endParaRPr>
          </a:p>
        </p:txBody>
      </p:sp>
      <p:sp>
        <p:nvSpPr>
          <p:cNvPr id="152" name="Text 10"/>
          <p:cNvSpPr/>
          <p:nvPr/>
        </p:nvSpPr>
        <p:spPr>
          <a:xfrm>
            <a:off x="5486400" y="4983480"/>
            <a:ext cx="594324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serving one student another's cached page is a data breach, not a speed-up</a:t>
            </a:r>
            <a:endParaRPr lang="en-IN" sz="1250" b="0" u="none" strike="noStrike">
              <a:solidFill>
                <a:srgbClr val="000000"/>
              </a:solidFill>
              <a:effectLst/>
              <a:uFillTx/>
              <a:latin typeface="Arial"/>
            </a:endParaRPr>
          </a:p>
        </p:txBody>
      </p:sp>
      <p:sp>
        <p:nvSpPr>
          <p:cNvPr id="153" name="Shape 11"/>
          <p:cNvSpPr/>
          <p:nvPr/>
        </p:nvSpPr>
        <p:spPr>
          <a:xfrm>
            <a:off x="548640" y="5550480"/>
            <a:ext cx="11091240" cy="493560"/>
          </a:xfrm>
          <a:prstGeom prst="roundRect">
            <a:avLst>
              <a:gd name="adj" fmla="val 1851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4" name="Text 12"/>
          <p:cNvSpPr/>
          <p:nvPr/>
        </p:nvSpPr>
        <p:spPr>
          <a:xfrm>
            <a:off x="822960" y="5550480"/>
            <a:ext cx="448020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E293B"/>
                </a:solidFill>
                <a:effectLst/>
                <a:uFillTx/>
                <a:latin typeface="Calibri"/>
                <a:ea typeface="Calibri"/>
              </a:rPr>
              <a:t>anything that must be exact the instant it changes</a:t>
            </a:r>
            <a:endParaRPr lang="en-IN" sz="1350" b="0" u="none" strike="noStrike">
              <a:solidFill>
                <a:srgbClr val="000000"/>
              </a:solidFill>
              <a:effectLst/>
              <a:uFillTx/>
              <a:latin typeface="Arial"/>
            </a:endParaRPr>
          </a:p>
        </p:txBody>
      </p:sp>
      <p:sp>
        <p:nvSpPr>
          <p:cNvPr id="155" name="Text 13"/>
          <p:cNvSpPr/>
          <p:nvPr/>
        </p:nvSpPr>
        <p:spPr>
          <a:xfrm>
            <a:off x="5486400" y="5550480"/>
            <a:ext cx="594324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64748B"/>
                </a:solidFill>
                <a:effectLst/>
                <a:uFillTx/>
                <a:latin typeface="Calibri"/>
                <a:ea typeface="Calibri"/>
              </a:rPr>
              <a:t>a seat count during registration · a bank balance</a:t>
            </a:r>
            <a:endParaRPr lang="en-IN" sz="1250" b="0" u="none" strike="noStrike">
              <a:solidFill>
                <a:srgbClr val="000000"/>
              </a:solidFill>
              <a:effectLst/>
              <a:uFillTx/>
              <a:latin typeface="Arial"/>
            </a:endParaRPr>
          </a:p>
        </p:txBody>
      </p:sp>
      <p:sp>
        <p:nvSpPr>
          <p:cNvPr id="156"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157"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Four words you will be asked about in interviews</a:t>
            </a:r>
            <a:endParaRPr lang="en-IN" sz="3000" b="0" u="none" strike="noStrike">
              <a:solidFill>
                <a:srgbClr val="000000"/>
              </a:solidFill>
              <a:effectLst/>
              <a:uFillTx/>
              <a:latin typeface="Arial"/>
            </a:endParaRPr>
          </a:p>
        </p:txBody>
      </p:sp>
      <p:sp>
        <p:nvSpPr>
          <p:cNvPr id="159" name="Shape 1"/>
          <p:cNvSpPr/>
          <p:nvPr/>
        </p:nvSpPr>
        <p:spPr>
          <a:xfrm>
            <a:off x="548640" y="1645920"/>
            <a:ext cx="11091240" cy="914040"/>
          </a:xfrm>
          <a:prstGeom prst="roundRect">
            <a:avLst>
              <a:gd name="adj" fmla="val 10000"/>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0" name="Text 2"/>
          <p:cNvSpPr/>
          <p:nvPr/>
        </p:nvSpPr>
        <p:spPr>
          <a:xfrm>
            <a:off x="822960" y="1737360"/>
            <a:ext cx="1051524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Monolith vs microservices</a:t>
            </a:r>
            <a:endParaRPr lang="en-IN" sz="1600" b="0" u="none" strike="noStrike">
              <a:solidFill>
                <a:srgbClr val="000000"/>
              </a:solidFill>
              <a:effectLst/>
              <a:uFillTx/>
              <a:latin typeface="Arial"/>
            </a:endParaRPr>
          </a:p>
        </p:txBody>
      </p:sp>
      <p:sp>
        <p:nvSpPr>
          <p:cNvPr id="161" name="Text 3"/>
          <p:cNvSpPr/>
          <p:nvPr/>
        </p:nvSpPr>
        <p:spPr>
          <a:xfrm>
            <a:off x="822960" y="2084760"/>
            <a:ext cx="105152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One app you can actually debug, versus many you can deploy separately. You have a monolith — and for a capstone that is the RIGHT answer, not a compromise.</a:t>
            </a:r>
            <a:endParaRPr lang="en-IN" sz="1300" b="0" u="none" strike="noStrike">
              <a:solidFill>
                <a:srgbClr val="000000"/>
              </a:solidFill>
              <a:effectLst/>
              <a:uFillTx/>
              <a:latin typeface="Arial"/>
            </a:endParaRPr>
          </a:p>
        </p:txBody>
      </p:sp>
      <p:sp>
        <p:nvSpPr>
          <p:cNvPr id="162" name="Shape 4"/>
          <p:cNvSpPr/>
          <p:nvPr/>
        </p:nvSpPr>
        <p:spPr>
          <a:xfrm>
            <a:off x="548640" y="2697480"/>
            <a:ext cx="11091240" cy="914040"/>
          </a:xfrm>
          <a:prstGeom prst="roundRect">
            <a:avLst>
              <a:gd name="adj" fmla="val 10000"/>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3" name="Text 5"/>
          <p:cNvSpPr/>
          <p:nvPr/>
        </p:nvSpPr>
        <p:spPr>
          <a:xfrm>
            <a:off x="822960" y="2788920"/>
            <a:ext cx="1051524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891B2"/>
                </a:solidFill>
                <a:effectLst/>
                <a:uFillTx/>
                <a:latin typeface="Calibri"/>
                <a:ea typeface="Calibri"/>
              </a:rPr>
              <a:t>Message queues</a:t>
            </a:r>
            <a:endParaRPr lang="en-IN" sz="1600" b="0" u="none" strike="noStrike">
              <a:solidFill>
                <a:srgbClr val="000000"/>
              </a:solidFill>
              <a:effectLst/>
              <a:uFillTx/>
              <a:latin typeface="Arial"/>
            </a:endParaRPr>
          </a:p>
        </p:txBody>
      </p:sp>
      <p:sp>
        <p:nvSpPr>
          <p:cNvPr id="164" name="Text 6"/>
          <p:cNvSpPr/>
          <p:nvPr/>
        </p:nvSpPr>
        <p:spPr>
          <a:xfrm>
            <a:off x="822960" y="3136320"/>
            <a:ext cx="105152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"Do this later, reliably." The email goes on a queue; the user does not wait for it. You met the idea as BackgroundTasks.</a:t>
            </a:r>
            <a:endParaRPr lang="en-IN" sz="1300" b="0" u="none" strike="noStrike">
              <a:solidFill>
                <a:srgbClr val="000000"/>
              </a:solidFill>
              <a:effectLst/>
              <a:uFillTx/>
              <a:latin typeface="Arial"/>
            </a:endParaRPr>
          </a:p>
        </p:txBody>
      </p:sp>
      <p:sp>
        <p:nvSpPr>
          <p:cNvPr id="165" name="Shape 7"/>
          <p:cNvSpPr/>
          <p:nvPr/>
        </p:nvSpPr>
        <p:spPr>
          <a:xfrm>
            <a:off x="548640" y="3749040"/>
            <a:ext cx="11091240" cy="914040"/>
          </a:xfrm>
          <a:prstGeom prst="roundRect">
            <a:avLst>
              <a:gd name="adj" fmla="val 10000"/>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6" name="Text 8"/>
          <p:cNvSpPr/>
          <p:nvPr/>
        </p:nvSpPr>
        <p:spPr>
          <a:xfrm>
            <a:off x="822960" y="3840480"/>
            <a:ext cx="1051524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891B2"/>
                </a:solidFill>
                <a:effectLst/>
                <a:uFillTx/>
                <a:latin typeface="Calibri"/>
                <a:ea typeface="Calibri"/>
              </a:rPr>
              <a:t>CI/CD</a:t>
            </a:r>
            <a:endParaRPr lang="en-IN" sz="1600" b="0" u="none" strike="noStrike">
              <a:solidFill>
                <a:srgbClr val="000000"/>
              </a:solidFill>
              <a:effectLst/>
              <a:uFillTx/>
              <a:latin typeface="Arial"/>
            </a:endParaRPr>
          </a:p>
        </p:txBody>
      </p:sp>
      <p:sp>
        <p:nvSpPr>
          <p:cNvPr id="167" name="Text 9"/>
          <p:cNvSpPr/>
          <p:nvPr/>
        </p:nvSpPr>
        <p:spPr>
          <a:xfrm>
            <a:off x="822960" y="4187880"/>
            <a:ext cx="105152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Tests and deploys that run themselves when you push. Your Render deploy already does the CD half.</a:t>
            </a:r>
            <a:endParaRPr lang="en-IN" sz="1300" b="0" u="none" strike="noStrike">
              <a:solidFill>
                <a:srgbClr val="000000"/>
              </a:solidFill>
              <a:effectLst/>
              <a:uFillTx/>
              <a:latin typeface="Arial"/>
            </a:endParaRPr>
          </a:p>
        </p:txBody>
      </p:sp>
      <p:sp>
        <p:nvSpPr>
          <p:cNvPr id="168" name="Shape 10"/>
          <p:cNvSpPr/>
          <p:nvPr/>
        </p:nvSpPr>
        <p:spPr>
          <a:xfrm>
            <a:off x="548640" y="4800600"/>
            <a:ext cx="11091240" cy="914040"/>
          </a:xfrm>
          <a:prstGeom prst="roundRect">
            <a:avLst>
              <a:gd name="adj" fmla="val 10000"/>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9" name="Text 11"/>
          <p:cNvSpPr/>
          <p:nvPr/>
        </p:nvSpPr>
        <p:spPr>
          <a:xfrm>
            <a:off x="822960" y="4892040"/>
            <a:ext cx="10515240" cy="347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5803D"/>
                </a:solidFill>
                <a:effectLst/>
                <a:uFillTx/>
                <a:latin typeface="Calibri"/>
                <a:ea typeface="Calibri"/>
              </a:rPr>
              <a:t>Logging &amp; monitoring</a:t>
            </a:r>
            <a:endParaRPr lang="en-IN" sz="1600" b="0" u="none" strike="noStrike">
              <a:solidFill>
                <a:srgbClr val="000000"/>
              </a:solidFill>
              <a:effectLst/>
              <a:uFillTx/>
              <a:latin typeface="Arial"/>
            </a:endParaRPr>
          </a:p>
        </p:txBody>
      </p:sp>
      <p:sp>
        <p:nvSpPr>
          <p:cNvPr id="170" name="Text 12"/>
          <p:cNvSpPr/>
          <p:nvPr/>
        </p:nvSpPr>
        <p:spPr>
          <a:xfrm>
            <a:off x="822960" y="5239440"/>
            <a:ext cx="1051524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How you find out it broke BEFORE a user tells you. Print statements are not monitoring.</a:t>
            </a:r>
            <a:endParaRPr lang="en-IN" sz="1300" b="0" u="none" strike="noStrike">
              <a:solidFill>
                <a:srgbClr val="000000"/>
              </a:solidFill>
              <a:effectLst/>
              <a:uFillTx/>
              <a:latin typeface="Arial"/>
            </a:endParaRPr>
          </a:p>
        </p:txBody>
      </p:sp>
      <p:sp>
        <p:nvSpPr>
          <p:cNvPr id="171" name="Shape 13"/>
          <p:cNvSpPr/>
          <p:nvPr/>
        </p:nvSpPr>
        <p:spPr>
          <a:xfrm>
            <a:off x="548640" y="5897880"/>
            <a:ext cx="11091240" cy="548280"/>
          </a:xfrm>
          <a:prstGeom prst="roundRect">
            <a:avLst>
              <a:gd name="adj" fmla="val 16667"/>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2" name="Text 14"/>
          <p:cNvSpPr/>
          <p:nvPr/>
        </p:nvSpPr>
        <p:spPr>
          <a:xfrm>
            <a:off x="868680" y="589788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These are named, not built.  </a:t>
            </a:r>
            <a:r>
              <a:rPr lang="en-US" sz="1500" b="0" u="none" strike="noStrike">
                <a:solidFill>
                  <a:srgbClr val="1E293B"/>
                </a:solidFill>
                <a:effectLst/>
                <a:uFillTx/>
                <a:latin typeface="Calibri"/>
                <a:ea typeface="Calibri"/>
              </a:rPr>
              <a:t>You should recognise the words and be able to say what each is for. That is the honest goal.</a:t>
            </a:r>
            <a:endParaRPr lang="en-IN" sz="1500" b="0" u="none" strike="noStrike">
              <a:solidFill>
                <a:srgbClr val="000000"/>
              </a:solidFill>
              <a:effectLst/>
              <a:uFillTx/>
              <a:latin typeface="Arial"/>
            </a:endParaRPr>
          </a:p>
        </p:txBody>
      </p:sp>
      <p:sp>
        <p:nvSpPr>
          <p:cNvPr id="173" name="Text 15"/>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174" name="Text 1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75"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11</a:t>
            </a:r>
            <a:endParaRPr lang="en-IN" sz="9600" b="0" u="none" strike="noStrike">
              <a:solidFill>
                <a:srgbClr val="000000"/>
              </a:solidFill>
              <a:effectLst/>
              <a:uFillTx/>
              <a:latin typeface="Arial"/>
            </a:endParaRPr>
          </a:p>
        </p:txBody>
      </p:sp>
      <p:sp>
        <p:nvSpPr>
          <p:cNvPr id="176"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Putting it in a box</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"But it works on my machine"</a:t>
            </a:r>
            <a:endParaRPr lang="en-IN" sz="3000" b="0" u="none" strike="noStrike">
              <a:solidFill>
                <a:srgbClr val="000000"/>
              </a:solidFill>
              <a:effectLst/>
              <a:uFillTx/>
              <a:latin typeface="Arial"/>
            </a:endParaRPr>
          </a:p>
        </p:txBody>
      </p:sp>
      <p:sp>
        <p:nvSpPr>
          <p:cNvPr id="178"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Ask it first: your code works, you send it to a friend. What breaks?</a:t>
            </a:r>
            <a:endParaRPr lang="en-IN" sz="1500" b="0" u="none" strike="noStrike">
              <a:solidFill>
                <a:srgbClr val="000000"/>
              </a:solidFill>
              <a:effectLst/>
              <a:uFillTx/>
              <a:latin typeface="Arial"/>
            </a:endParaRPr>
          </a:p>
        </p:txBody>
      </p:sp>
      <p:sp>
        <p:nvSpPr>
          <p:cNvPr id="179" name="Shape 2"/>
          <p:cNvSpPr/>
          <p:nvPr/>
        </p:nvSpPr>
        <p:spPr>
          <a:xfrm>
            <a:off x="548640" y="1828800"/>
            <a:ext cx="11091240" cy="493560"/>
          </a:xfrm>
          <a:prstGeom prst="roundRect">
            <a:avLst>
              <a:gd name="adj" fmla="val 1851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0" name="Text 3"/>
          <p:cNvSpPr/>
          <p:nvPr/>
        </p:nvSpPr>
        <p:spPr>
          <a:xfrm>
            <a:off x="822960" y="1828800"/>
            <a:ext cx="420588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alibri"/>
                <a:ea typeface="Calibri"/>
              </a:rPr>
              <a:t>A different Python version</a:t>
            </a:r>
            <a:endParaRPr lang="en-IN" sz="1400" b="0" u="none" strike="noStrike">
              <a:solidFill>
                <a:srgbClr val="000000"/>
              </a:solidFill>
              <a:effectLst/>
              <a:uFillTx/>
              <a:latin typeface="Arial"/>
            </a:endParaRPr>
          </a:p>
        </p:txBody>
      </p:sp>
      <p:sp>
        <p:nvSpPr>
          <p:cNvPr id="181" name="Text 4"/>
          <p:cNvSpPr/>
          <p:nvPr/>
        </p:nvSpPr>
        <p:spPr>
          <a:xfrm>
            <a:off x="5212080" y="1828800"/>
            <a:ext cx="62175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3.12 here, 3.9 there</a:t>
            </a:r>
            <a:endParaRPr lang="en-IN" sz="1300" b="0" u="none" strike="noStrike">
              <a:solidFill>
                <a:srgbClr val="000000"/>
              </a:solidFill>
              <a:effectLst/>
              <a:uFillTx/>
              <a:latin typeface="Arial"/>
            </a:endParaRPr>
          </a:p>
        </p:txBody>
      </p:sp>
      <p:sp>
        <p:nvSpPr>
          <p:cNvPr id="182" name="Shape 5"/>
          <p:cNvSpPr/>
          <p:nvPr/>
        </p:nvSpPr>
        <p:spPr>
          <a:xfrm>
            <a:off x="548640" y="2395800"/>
            <a:ext cx="11091240" cy="493560"/>
          </a:xfrm>
          <a:prstGeom prst="roundRect">
            <a:avLst>
              <a:gd name="adj" fmla="val 1851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3" name="Text 6"/>
          <p:cNvSpPr/>
          <p:nvPr/>
        </p:nvSpPr>
        <p:spPr>
          <a:xfrm>
            <a:off x="822960" y="2395800"/>
            <a:ext cx="420588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alibri"/>
                <a:ea typeface="Calibri"/>
              </a:rPr>
              <a:t>A missing package</a:t>
            </a:r>
            <a:endParaRPr lang="en-IN" sz="1400" b="0" u="none" strike="noStrike">
              <a:solidFill>
                <a:srgbClr val="000000"/>
              </a:solidFill>
              <a:effectLst/>
              <a:uFillTx/>
              <a:latin typeface="Arial"/>
            </a:endParaRPr>
          </a:p>
        </p:txBody>
      </p:sp>
      <p:sp>
        <p:nvSpPr>
          <p:cNvPr id="184" name="Text 7"/>
          <p:cNvSpPr/>
          <p:nvPr/>
        </p:nvSpPr>
        <p:spPr>
          <a:xfrm>
            <a:off x="5212080" y="2395800"/>
            <a:ext cx="62175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you installed it months ago and forgot</a:t>
            </a:r>
            <a:endParaRPr lang="en-IN" sz="1300" b="0" u="none" strike="noStrike">
              <a:solidFill>
                <a:srgbClr val="000000"/>
              </a:solidFill>
              <a:effectLst/>
              <a:uFillTx/>
              <a:latin typeface="Arial"/>
            </a:endParaRPr>
          </a:p>
        </p:txBody>
      </p:sp>
      <p:sp>
        <p:nvSpPr>
          <p:cNvPr id="185" name="Shape 8"/>
          <p:cNvSpPr/>
          <p:nvPr/>
        </p:nvSpPr>
        <p:spPr>
          <a:xfrm>
            <a:off x="548640" y="2962800"/>
            <a:ext cx="11091240" cy="493560"/>
          </a:xfrm>
          <a:prstGeom prst="roundRect">
            <a:avLst>
              <a:gd name="adj" fmla="val 1851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6" name="Text 9"/>
          <p:cNvSpPr/>
          <p:nvPr/>
        </p:nvSpPr>
        <p:spPr>
          <a:xfrm>
            <a:off x="822960" y="2962800"/>
            <a:ext cx="420588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alibri"/>
                <a:ea typeface="Calibri"/>
              </a:rPr>
              <a:t>A different operating system</a:t>
            </a:r>
            <a:endParaRPr lang="en-IN" sz="1400" b="0" u="none" strike="noStrike">
              <a:solidFill>
                <a:srgbClr val="000000"/>
              </a:solidFill>
              <a:effectLst/>
              <a:uFillTx/>
              <a:latin typeface="Arial"/>
            </a:endParaRPr>
          </a:p>
        </p:txBody>
      </p:sp>
      <p:sp>
        <p:nvSpPr>
          <p:cNvPr id="187" name="Text 10"/>
          <p:cNvSpPr/>
          <p:nvPr/>
        </p:nvSpPr>
        <p:spPr>
          <a:xfrm>
            <a:off x="5212080" y="2962800"/>
            <a:ext cx="62175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paths, line endings, a C library</a:t>
            </a:r>
            <a:endParaRPr lang="en-IN" sz="1300" b="0" u="none" strike="noStrike">
              <a:solidFill>
                <a:srgbClr val="000000"/>
              </a:solidFill>
              <a:effectLst/>
              <a:uFillTx/>
              <a:latin typeface="Arial"/>
            </a:endParaRPr>
          </a:p>
        </p:txBody>
      </p:sp>
      <p:sp>
        <p:nvSpPr>
          <p:cNvPr id="188" name="Shape 11"/>
          <p:cNvSpPr/>
          <p:nvPr/>
        </p:nvSpPr>
        <p:spPr>
          <a:xfrm>
            <a:off x="548640" y="3529440"/>
            <a:ext cx="11091240" cy="493560"/>
          </a:xfrm>
          <a:prstGeom prst="roundRect">
            <a:avLst>
              <a:gd name="adj" fmla="val 1851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89" name="Text 12"/>
          <p:cNvSpPr/>
          <p:nvPr/>
        </p:nvSpPr>
        <p:spPr>
          <a:xfrm>
            <a:off x="822960" y="3529440"/>
            <a:ext cx="420588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alibri"/>
                <a:ea typeface="Calibri"/>
              </a:rPr>
              <a:t>A different database version</a:t>
            </a:r>
            <a:endParaRPr lang="en-IN" sz="1400" b="0" u="none" strike="noStrike">
              <a:solidFill>
                <a:srgbClr val="000000"/>
              </a:solidFill>
              <a:effectLst/>
              <a:uFillTx/>
              <a:latin typeface="Arial"/>
            </a:endParaRPr>
          </a:p>
        </p:txBody>
      </p:sp>
      <p:sp>
        <p:nvSpPr>
          <p:cNvPr id="190" name="Text 13"/>
          <p:cNvSpPr/>
          <p:nvPr/>
        </p:nvSpPr>
        <p:spPr>
          <a:xfrm>
            <a:off x="5212080" y="3529440"/>
            <a:ext cx="6217560" cy="493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the query works here and not there</a:t>
            </a:r>
            <a:endParaRPr lang="en-IN" sz="1300" b="0" u="none" strike="noStrike">
              <a:solidFill>
                <a:srgbClr val="000000"/>
              </a:solidFill>
              <a:effectLst/>
              <a:uFillTx/>
              <a:latin typeface="Arial"/>
            </a:endParaRPr>
          </a:p>
        </p:txBody>
      </p:sp>
      <p:sp>
        <p:nvSpPr>
          <p:cNvPr id="191" name="Shape 14"/>
          <p:cNvSpPr/>
          <p:nvPr/>
        </p:nvSpPr>
        <p:spPr>
          <a:xfrm>
            <a:off x="548640" y="4251960"/>
            <a:ext cx="11091240" cy="776880"/>
          </a:xfrm>
          <a:prstGeom prst="roundRect">
            <a:avLst>
              <a:gd name="adj" fmla="val 1176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2" name="Text 15"/>
          <p:cNvSpPr/>
          <p:nvPr/>
        </p:nvSpPr>
        <p:spPr>
          <a:xfrm>
            <a:off x="868680" y="4251960"/>
            <a:ext cx="104238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A container is your code plus everything it needs, in one sealed box.  </a:t>
            </a:r>
            <a:r>
              <a:rPr lang="en-US" sz="1500" b="0" u="none" strike="noStrike">
                <a:solidFill>
                  <a:srgbClr val="1E293B"/>
                </a:solidFill>
                <a:effectLst/>
                <a:uFillTx/>
                <a:latin typeface="Calibri"/>
                <a:ea typeface="Calibri"/>
              </a:rPr>
              <a:t>Same box on your laptop, your friend's, and a server in Singapore.</a:t>
            </a:r>
            <a:endParaRPr lang="en-IN" sz="1500" b="0" u="none" strike="noStrike">
              <a:solidFill>
                <a:srgbClr val="000000"/>
              </a:solidFill>
              <a:effectLst/>
              <a:uFillTx/>
              <a:latin typeface="Arial"/>
            </a:endParaRPr>
          </a:p>
        </p:txBody>
      </p:sp>
      <p:sp>
        <p:nvSpPr>
          <p:cNvPr id="193" name="Shape 16"/>
          <p:cNvSpPr/>
          <p:nvPr/>
        </p:nvSpPr>
        <p:spPr>
          <a:xfrm>
            <a:off x="548640" y="5166360"/>
            <a:ext cx="11091240" cy="639720"/>
          </a:xfrm>
          <a:prstGeom prst="roundRect">
            <a:avLst>
              <a:gd name="adj" fmla="val 14286"/>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4" name="Text 17"/>
          <p:cNvSpPr/>
          <p:nvPr/>
        </p:nvSpPr>
        <p:spPr>
          <a:xfrm>
            <a:off x="868680" y="5166360"/>
            <a:ext cx="1042380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You have been running one all along.  </a:t>
            </a:r>
            <a:r>
              <a:rPr lang="en-US" sz="1500" b="0" u="none" strike="noStrike">
                <a:solidFill>
                  <a:srgbClr val="1E293B"/>
                </a:solidFill>
                <a:effectLst/>
                <a:uFillTx/>
                <a:latin typeface="Calibri"/>
                <a:ea typeface="Calibri"/>
              </a:rPr>
              <a:t>The Postgres from this morning was a container. Now you make your own.</a:t>
            </a:r>
            <a:endParaRPr lang="en-IN" sz="1500" b="0" u="none" strike="noStrike">
              <a:solidFill>
                <a:srgbClr val="000000"/>
              </a:solidFill>
              <a:effectLst/>
              <a:uFillTx/>
              <a:latin typeface="Arial"/>
            </a:endParaRPr>
          </a:p>
        </p:txBody>
      </p:sp>
      <p:sp>
        <p:nvSpPr>
          <p:cNvPr id="195" name="Text 18"/>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196" name="Text 1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Seven lines, and one of them ruins your evening</a:t>
            </a:r>
            <a:endParaRPr lang="en-IN" sz="3000" b="0" u="none" strike="noStrike">
              <a:solidFill>
                <a:srgbClr val="000000"/>
              </a:solidFill>
              <a:effectLst/>
              <a:uFillTx/>
              <a:latin typeface="Arial"/>
            </a:endParaRPr>
          </a:p>
        </p:txBody>
      </p:sp>
      <p:sp>
        <p:nvSpPr>
          <p:cNvPr id="198" name="Shape 1"/>
          <p:cNvSpPr/>
          <p:nvPr/>
        </p:nvSpPr>
        <p:spPr>
          <a:xfrm>
            <a:off x="548640" y="1463040"/>
            <a:ext cx="11091240" cy="2285640"/>
          </a:xfrm>
          <a:prstGeom prst="roundRect">
            <a:avLst>
              <a:gd name="adj" fmla="val 24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9" name="Text 2"/>
          <p:cNvSpPr/>
          <p:nvPr/>
        </p:nvSpPr>
        <p:spPr>
          <a:xfrm>
            <a:off x="804600" y="1645920"/>
            <a:ext cx="10579320" cy="19198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FROM python:3.12-slim                       # 1 · a box that already has Python</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WORKDIR /app                                # 2 · where our code lives inside it</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COPY pyproject.toml uv.lock ./              # 3 · dependencies FIRST, on their own</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RUN pip install uv &amp;&amp; uv sync --frozen      # 4 · install them</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COPY 03_auth_deploy_ship/secure_api ./secure_api    # 5 · THEN the code</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EXPOSE 8000                                 # 6 · documentation for humans</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CMD ["uv", "run", "fastapi", "run", "secure_api/main.py", "--host", "0.0.0.0"]</a:t>
            </a:r>
            <a:endParaRPr lang="en-IN" sz="1150" b="0" u="none" strike="noStrike">
              <a:solidFill>
                <a:srgbClr val="000000"/>
              </a:solidFill>
              <a:effectLst/>
              <a:uFillTx/>
              <a:latin typeface="Arial"/>
            </a:endParaRPr>
          </a:p>
        </p:txBody>
      </p:sp>
      <p:sp>
        <p:nvSpPr>
          <p:cNvPr id="200" name="Shape 3"/>
          <p:cNvSpPr/>
          <p:nvPr/>
        </p:nvSpPr>
        <p:spPr>
          <a:xfrm>
            <a:off x="548640" y="3931920"/>
            <a:ext cx="11091240" cy="776880"/>
          </a:xfrm>
          <a:prstGeom prst="roundRect">
            <a:avLst>
              <a:gd name="adj" fmla="val 11765"/>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1" name="Text 4"/>
          <p:cNvSpPr/>
          <p:nvPr/>
        </p:nvSpPr>
        <p:spPr>
          <a:xfrm>
            <a:off x="868680" y="3931920"/>
            <a:ext cx="104238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Why are 3 and 5 separate?  </a:t>
            </a:r>
            <a:r>
              <a:rPr lang="en-US" sz="1500" b="0" u="none" strike="noStrike">
                <a:solidFill>
                  <a:srgbClr val="1E293B"/>
                </a:solidFill>
                <a:effectLst/>
                <a:uFillTx/>
                <a:latin typeface="Calibri"/>
                <a:ea typeface="Calibri"/>
              </a:rPr>
              <a:t>Each line is a cached LAYER. Your code changes hourly; your dependencies weekly. Split them and a code edit does not reinstall everything.</a:t>
            </a:r>
            <a:endParaRPr lang="en-IN" sz="1500" b="0" u="none" strike="noStrike">
              <a:solidFill>
                <a:srgbClr val="000000"/>
              </a:solidFill>
              <a:effectLst/>
              <a:uFillTx/>
              <a:latin typeface="Arial"/>
            </a:endParaRPr>
          </a:p>
        </p:txBody>
      </p:sp>
      <p:sp>
        <p:nvSpPr>
          <p:cNvPr id="202" name="Shape 5"/>
          <p:cNvSpPr/>
          <p:nvPr/>
        </p:nvSpPr>
        <p:spPr>
          <a:xfrm>
            <a:off x="548640" y="4846320"/>
            <a:ext cx="11091240" cy="776880"/>
          </a:xfrm>
          <a:prstGeom prst="roundRect">
            <a:avLst>
              <a:gd name="adj" fmla="val 11765"/>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3" name="Text 6"/>
          <p:cNvSpPr/>
          <p:nvPr/>
        </p:nvSpPr>
        <p:spPr>
          <a:xfrm>
            <a:off x="868680" y="4846320"/>
            <a:ext cx="1042380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--host 0.0.0.0 is not optional.  </a:t>
            </a:r>
            <a:r>
              <a:rPr lang="en-US" sz="1500" b="0" u="none" strike="noStrike">
                <a:solidFill>
                  <a:srgbClr val="1E293B"/>
                </a:solidFill>
                <a:effectLst/>
                <a:uFillTx/>
                <a:latin typeface="Calibri"/>
                <a:ea typeface="Calibri"/>
              </a:rPr>
              <a:t>127.0.0.1 means "this machine" — inside a container that is the container itself, so nothing outside can reach it.</a:t>
            </a:r>
            <a:endParaRPr lang="en-IN" sz="1500" b="0" u="none" strike="noStrike">
              <a:solidFill>
                <a:srgbClr val="000000"/>
              </a:solidFill>
              <a:effectLst/>
              <a:uFillTx/>
              <a:latin typeface="Arial"/>
            </a:endParaRPr>
          </a:p>
        </p:txBody>
      </p:sp>
      <p:sp>
        <p:nvSpPr>
          <p:cNvPr id="204" name="Shape 7"/>
          <p:cNvSpPr/>
          <p:nvPr/>
        </p:nvSpPr>
        <p:spPr>
          <a:xfrm>
            <a:off x="548640" y="5760720"/>
            <a:ext cx="11091240" cy="548280"/>
          </a:xfrm>
          <a:prstGeom prst="roundRect">
            <a:avLst>
              <a:gd name="adj" fmla="val 16667"/>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5" name="Text 8"/>
          <p:cNvSpPr/>
          <p:nvPr/>
        </p:nvSpPr>
        <p:spPr>
          <a:xfrm>
            <a:off x="868680" y="576072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.dockerignore:  </a:t>
            </a:r>
            <a:r>
              <a:rPr lang="en-US" sz="1500" b="0" u="none" strike="noStrike">
                <a:solidFill>
                  <a:srgbClr val="1E293B"/>
                </a:solidFill>
                <a:effectLst/>
                <a:uFillTx/>
                <a:latin typeface="Calibri"/>
                <a:ea typeface="Calibri"/>
              </a:rPr>
              <a:t>without it, your .env with real API keys is baked into the image and shipped to anyone who pulls it.</a:t>
            </a:r>
            <a:endParaRPr lang="en-IN" sz="1500" b="0" u="none" strike="noStrike">
              <a:solidFill>
                <a:srgbClr val="000000"/>
              </a:solidFill>
              <a:effectLst/>
              <a:uFillTx/>
              <a:latin typeface="Arial"/>
            </a:endParaRPr>
          </a:p>
        </p:txBody>
      </p:sp>
      <p:sp>
        <p:nvSpPr>
          <p:cNvPr id="206" name="Text 9"/>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207" name="Text 10"/>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209" name="Text 1"/>
          <p:cNvSpPr/>
          <p:nvPr/>
        </p:nvSpPr>
        <p:spPr>
          <a:xfrm>
            <a:off x="548640" y="1051560"/>
            <a:ext cx="11091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500" b="1" u="none" strike="noStrike">
                <a:solidFill>
                  <a:srgbClr val="1E293B"/>
                </a:solidFill>
                <a:effectLst/>
                <a:uFillTx/>
                <a:latin typeface="Calibri"/>
                <a:ea typeface="Calibri"/>
              </a:rPr>
              <a:t>Your container starts, the logs look perfect, and nothing answers on port 8000. What is the first thing to check?</a:t>
            </a:r>
            <a:endParaRPr lang="en-IN" sz="2500" b="0" u="none" strike="noStrike">
              <a:solidFill>
                <a:srgbClr val="000000"/>
              </a:solidFill>
              <a:effectLst/>
              <a:uFillTx/>
              <a:latin typeface="Arial"/>
            </a:endParaRPr>
          </a:p>
        </p:txBody>
      </p:sp>
      <p:sp>
        <p:nvSpPr>
          <p:cNvPr id="210" name="Shape 2"/>
          <p:cNvSpPr/>
          <p:nvPr/>
        </p:nvSpPr>
        <p:spPr>
          <a:xfrm>
            <a:off x="548640" y="26060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1" name="Text 3"/>
          <p:cNvSpPr/>
          <p:nvPr/>
        </p:nvSpPr>
        <p:spPr>
          <a:xfrm>
            <a:off x="548640" y="26060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212" name="Text 4"/>
          <p:cNvSpPr/>
          <p:nvPr/>
        </p:nvSpPr>
        <p:spPr>
          <a:xfrm>
            <a:off x="1325880" y="26060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Dockerfile is missing EXPOSE</a:t>
            </a:r>
            <a:endParaRPr lang="en-IN" sz="1700" b="0" u="none" strike="noStrike">
              <a:solidFill>
                <a:srgbClr val="000000"/>
              </a:solidFill>
              <a:effectLst/>
              <a:uFillTx/>
              <a:latin typeface="Arial"/>
            </a:endParaRPr>
          </a:p>
        </p:txBody>
      </p:sp>
      <p:sp>
        <p:nvSpPr>
          <p:cNvPr id="213" name="Shape 5"/>
          <p:cNvSpPr/>
          <p:nvPr/>
        </p:nvSpPr>
        <p:spPr>
          <a:xfrm>
            <a:off x="548640" y="34747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4" name="Text 6"/>
          <p:cNvSpPr/>
          <p:nvPr/>
        </p:nvSpPr>
        <p:spPr>
          <a:xfrm>
            <a:off x="548640" y="34747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215" name="Text 7"/>
          <p:cNvSpPr/>
          <p:nvPr/>
        </p:nvSpPr>
        <p:spPr>
          <a:xfrm>
            <a:off x="1325880" y="34747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image was built for the wrong OS</a:t>
            </a:r>
            <a:endParaRPr lang="en-IN" sz="1700" b="0" u="none" strike="noStrike">
              <a:solidFill>
                <a:srgbClr val="000000"/>
              </a:solidFill>
              <a:effectLst/>
              <a:uFillTx/>
              <a:latin typeface="Arial"/>
            </a:endParaRPr>
          </a:p>
        </p:txBody>
      </p:sp>
      <p:sp>
        <p:nvSpPr>
          <p:cNvPr id="216" name="Shape 8"/>
          <p:cNvSpPr/>
          <p:nvPr/>
        </p:nvSpPr>
        <p:spPr>
          <a:xfrm>
            <a:off x="548640" y="434340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7" name="Text 9"/>
          <p:cNvSpPr/>
          <p:nvPr/>
        </p:nvSpPr>
        <p:spPr>
          <a:xfrm>
            <a:off x="548640" y="434340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218" name="Text 10"/>
          <p:cNvSpPr/>
          <p:nvPr/>
        </p:nvSpPr>
        <p:spPr>
          <a:xfrm>
            <a:off x="1325880" y="434340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The server is bound to 127.0.0.1, not 0.0.0.0</a:t>
            </a:r>
            <a:endParaRPr lang="en-IN" sz="1700" b="0" u="none" strike="noStrike">
              <a:solidFill>
                <a:srgbClr val="000000"/>
              </a:solidFill>
              <a:effectLst/>
              <a:uFillTx/>
              <a:latin typeface="Arial"/>
            </a:endParaRPr>
          </a:p>
        </p:txBody>
      </p:sp>
      <p:sp>
        <p:nvSpPr>
          <p:cNvPr id="219" name="Shape 11"/>
          <p:cNvSpPr/>
          <p:nvPr/>
        </p:nvSpPr>
        <p:spPr>
          <a:xfrm>
            <a:off x="548640" y="52120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20" name="Text 12"/>
          <p:cNvSpPr/>
          <p:nvPr/>
        </p:nvSpPr>
        <p:spPr>
          <a:xfrm>
            <a:off x="548640" y="52120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221" name="Text 13"/>
          <p:cNvSpPr/>
          <p:nvPr/>
        </p:nvSpPr>
        <p:spPr>
          <a:xfrm>
            <a:off x="1325880" y="52120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1E293B"/>
                </a:solidFill>
                <a:effectLst/>
                <a:uFillTx/>
                <a:latin typeface="Calibri"/>
                <a:ea typeface="Calibri"/>
              </a:rPr>
              <a:t>Postgres is not running yet</a:t>
            </a:r>
            <a:endParaRPr lang="en-IN" sz="1700" b="0" u="none" strike="noStrike">
              <a:solidFill>
                <a:srgbClr val="000000"/>
              </a:solidFill>
              <a:effectLst/>
              <a:uFillTx/>
              <a:latin typeface="Arial"/>
            </a:endParaRPr>
          </a:p>
        </p:txBody>
      </p:sp>
      <p:sp>
        <p:nvSpPr>
          <p:cNvPr id="222"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223"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224"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12</a:t>
            </a:r>
            <a:endParaRPr lang="en-IN" sz="9600" b="0" u="none" strike="noStrike">
              <a:solidFill>
                <a:srgbClr val="000000"/>
              </a:solidFill>
              <a:effectLst/>
              <a:uFillTx/>
              <a:latin typeface="Arial"/>
            </a:endParaRPr>
          </a:p>
        </p:txBody>
      </p:sp>
      <p:sp>
        <p:nvSpPr>
          <p:cNvPr id="225"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Shipping it</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From your laptop to a URL anyone can open</a:t>
            </a:r>
            <a:endParaRPr lang="en-IN" sz="3000" b="0" u="none" strike="noStrike">
              <a:solidFill>
                <a:srgbClr val="000000"/>
              </a:solidFill>
              <a:effectLst/>
              <a:uFillTx/>
              <a:latin typeface="Arial"/>
            </a:endParaRPr>
          </a:p>
        </p:txBody>
      </p:sp>
      <p:sp>
        <p:nvSpPr>
          <p:cNvPr id="227" name="Shape 1"/>
          <p:cNvSpPr/>
          <p:nvPr/>
        </p:nvSpPr>
        <p:spPr>
          <a:xfrm>
            <a:off x="548640" y="1636920"/>
            <a:ext cx="456840" cy="4568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28" name="Text 2"/>
          <p:cNvSpPr/>
          <p:nvPr/>
        </p:nvSpPr>
        <p:spPr>
          <a:xfrm>
            <a:off x="548640" y="16369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IN" sz="1500" b="0" u="none" strike="noStrike">
              <a:solidFill>
                <a:srgbClr val="000000"/>
              </a:solidFill>
              <a:effectLst/>
              <a:uFillTx/>
              <a:latin typeface="Arial"/>
            </a:endParaRPr>
          </a:p>
        </p:txBody>
      </p:sp>
      <p:sp>
        <p:nvSpPr>
          <p:cNvPr id="229" name="Shape 3"/>
          <p:cNvSpPr/>
          <p:nvPr/>
        </p:nvSpPr>
        <p:spPr>
          <a:xfrm>
            <a:off x="1188720" y="1600200"/>
            <a:ext cx="10451160" cy="529920"/>
          </a:xfrm>
          <a:prstGeom prst="roundRect">
            <a:avLst>
              <a:gd name="adj" fmla="val 172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0" name="Text 4"/>
          <p:cNvSpPr/>
          <p:nvPr/>
        </p:nvSpPr>
        <p:spPr>
          <a:xfrm>
            <a:off x="1463040" y="1600200"/>
            <a:ext cx="457164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E293B"/>
                </a:solidFill>
                <a:effectLst/>
                <a:uFillTx/>
                <a:latin typeface="Calibri"/>
                <a:ea typeface="Calibri"/>
              </a:rPr>
              <a:t>Push to GitHub</a:t>
            </a:r>
            <a:endParaRPr lang="en-IN" sz="1350" b="0" u="none" strike="noStrike">
              <a:solidFill>
                <a:srgbClr val="000000"/>
              </a:solidFill>
              <a:effectLst/>
              <a:uFillTx/>
              <a:latin typeface="Arial"/>
            </a:endParaRPr>
          </a:p>
        </p:txBody>
      </p:sp>
      <p:sp>
        <p:nvSpPr>
          <p:cNvPr id="231" name="Text 5"/>
          <p:cNvSpPr/>
          <p:nvPr/>
        </p:nvSpPr>
        <p:spPr>
          <a:xfrm>
            <a:off x="6126480" y="1600200"/>
            <a:ext cx="539460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B91C1C"/>
                </a:solidFill>
                <a:effectLst/>
                <a:uFillTx/>
                <a:latin typeface="Calibri"/>
                <a:ea typeface="Calibri"/>
              </a:rPr>
              <a:t>and check .env is gitignored — a leaked key is found by bots in minutes</a:t>
            </a:r>
            <a:endParaRPr lang="en-IN" sz="1200" b="0" u="none" strike="noStrike">
              <a:solidFill>
                <a:srgbClr val="000000"/>
              </a:solidFill>
              <a:effectLst/>
              <a:uFillTx/>
              <a:latin typeface="Arial"/>
            </a:endParaRPr>
          </a:p>
        </p:txBody>
      </p:sp>
      <p:sp>
        <p:nvSpPr>
          <p:cNvPr id="232" name="Shape 6"/>
          <p:cNvSpPr/>
          <p:nvPr/>
        </p:nvSpPr>
        <p:spPr>
          <a:xfrm>
            <a:off x="548640" y="2231280"/>
            <a:ext cx="456840" cy="4568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33" name="Text 7"/>
          <p:cNvSpPr/>
          <p:nvPr/>
        </p:nvSpPr>
        <p:spPr>
          <a:xfrm>
            <a:off x="548640" y="223128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IN" sz="1500" b="0" u="none" strike="noStrike">
              <a:solidFill>
                <a:srgbClr val="000000"/>
              </a:solidFill>
              <a:effectLst/>
              <a:uFillTx/>
              <a:latin typeface="Arial"/>
            </a:endParaRPr>
          </a:p>
        </p:txBody>
      </p:sp>
      <p:sp>
        <p:nvSpPr>
          <p:cNvPr id="234" name="Shape 8"/>
          <p:cNvSpPr/>
          <p:nvPr/>
        </p:nvSpPr>
        <p:spPr>
          <a:xfrm>
            <a:off x="1188720" y="2194560"/>
            <a:ext cx="10451160" cy="529920"/>
          </a:xfrm>
          <a:prstGeom prst="roundRect">
            <a:avLst>
              <a:gd name="adj" fmla="val 172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5" name="Text 9"/>
          <p:cNvSpPr/>
          <p:nvPr/>
        </p:nvSpPr>
        <p:spPr>
          <a:xfrm>
            <a:off x="1463040" y="2194560"/>
            <a:ext cx="457164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E293B"/>
                </a:solidFill>
                <a:effectLst/>
                <a:uFillTx/>
                <a:latin typeface="Calibri"/>
                <a:ea typeface="Calibri"/>
              </a:rPr>
              <a:t>Create a free Postgres</a:t>
            </a:r>
            <a:endParaRPr lang="en-IN" sz="1350" b="0" u="none" strike="noStrike">
              <a:solidFill>
                <a:srgbClr val="000000"/>
              </a:solidFill>
              <a:effectLst/>
              <a:uFillTx/>
              <a:latin typeface="Arial"/>
            </a:endParaRPr>
          </a:p>
        </p:txBody>
      </p:sp>
      <p:sp>
        <p:nvSpPr>
          <p:cNvPr id="236" name="Text 10"/>
          <p:cNvSpPr/>
          <p:nvPr/>
        </p:nvSpPr>
        <p:spPr>
          <a:xfrm>
            <a:off x="6126480" y="2194560"/>
            <a:ext cx="539460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64748B"/>
                </a:solidFill>
                <a:effectLst/>
                <a:uFillTx/>
                <a:latin typeface="Calibri"/>
                <a:ea typeface="Calibri"/>
              </a:rPr>
              <a:t>copy the INTERNAL url, not the external one</a:t>
            </a:r>
            <a:endParaRPr lang="en-IN" sz="1200" b="0" u="none" strike="noStrike">
              <a:solidFill>
                <a:srgbClr val="000000"/>
              </a:solidFill>
              <a:effectLst/>
              <a:uFillTx/>
              <a:latin typeface="Arial"/>
            </a:endParaRPr>
          </a:p>
        </p:txBody>
      </p:sp>
      <p:sp>
        <p:nvSpPr>
          <p:cNvPr id="237" name="Shape 11"/>
          <p:cNvSpPr/>
          <p:nvPr/>
        </p:nvSpPr>
        <p:spPr>
          <a:xfrm>
            <a:off x="548640" y="2825640"/>
            <a:ext cx="456840" cy="4568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38" name="Text 12"/>
          <p:cNvSpPr/>
          <p:nvPr/>
        </p:nvSpPr>
        <p:spPr>
          <a:xfrm>
            <a:off x="548640" y="282564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IN" sz="1500" b="0" u="none" strike="noStrike">
              <a:solidFill>
                <a:srgbClr val="000000"/>
              </a:solidFill>
              <a:effectLst/>
              <a:uFillTx/>
              <a:latin typeface="Arial"/>
            </a:endParaRPr>
          </a:p>
        </p:txBody>
      </p:sp>
      <p:sp>
        <p:nvSpPr>
          <p:cNvPr id="239" name="Shape 13"/>
          <p:cNvSpPr/>
          <p:nvPr/>
        </p:nvSpPr>
        <p:spPr>
          <a:xfrm>
            <a:off x="1188720" y="2788920"/>
            <a:ext cx="10451160" cy="529920"/>
          </a:xfrm>
          <a:prstGeom prst="roundRect">
            <a:avLst>
              <a:gd name="adj" fmla="val 172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0" name="Text 14"/>
          <p:cNvSpPr/>
          <p:nvPr/>
        </p:nvSpPr>
        <p:spPr>
          <a:xfrm>
            <a:off x="1463040" y="2788920"/>
            <a:ext cx="457164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E293B"/>
                </a:solidFill>
                <a:effectLst/>
                <a:uFillTx/>
                <a:latin typeface="Calibri"/>
                <a:ea typeface="Calibri"/>
              </a:rPr>
              <a:t>postgresql:// → postgresql+psycopg://</a:t>
            </a:r>
            <a:endParaRPr lang="en-IN" sz="1350" b="0" u="none" strike="noStrike">
              <a:solidFill>
                <a:srgbClr val="000000"/>
              </a:solidFill>
              <a:effectLst/>
              <a:uFillTx/>
              <a:latin typeface="Arial"/>
            </a:endParaRPr>
          </a:p>
        </p:txBody>
      </p:sp>
      <p:sp>
        <p:nvSpPr>
          <p:cNvPr id="241" name="Text 15"/>
          <p:cNvSpPr/>
          <p:nvPr/>
        </p:nvSpPr>
        <p:spPr>
          <a:xfrm>
            <a:off x="6126480" y="2788920"/>
            <a:ext cx="539460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B91C1C"/>
                </a:solidFill>
                <a:effectLst/>
                <a:uFillTx/>
                <a:latin typeface="Calibri"/>
                <a:ea typeface="Calibri"/>
              </a:rPr>
              <a:t>the single most common first-deploy failure. Every time.</a:t>
            </a:r>
            <a:endParaRPr lang="en-IN" sz="1200" b="0" u="none" strike="noStrike">
              <a:solidFill>
                <a:srgbClr val="000000"/>
              </a:solidFill>
              <a:effectLst/>
              <a:uFillTx/>
              <a:latin typeface="Arial"/>
            </a:endParaRPr>
          </a:p>
        </p:txBody>
      </p:sp>
      <p:sp>
        <p:nvSpPr>
          <p:cNvPr id="242" name="Shape 16"/>
          <p:cNvSpPr/>
          <p:nvPr/>
        </p:nvSpPr>
        <p:spPr>
          <a:xfrm>
            <a:off x="548640" y="3420000"/>
            <a:ext cx="456840" cy="4568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43" name="Text 17"/>
          <p:cNvSpPr/>
          <p:nvPr/>
        </p:nvSpPr>
        <p:spPr>
          <a:xfrm>
            <a:off x="548640" y="342000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4</a:t>
            </a:r>
            <a:endParaRPr lang="en-IN" sz="1500" b="0" u="none" strike="noStrike">
              <a:solidFill>
                <a:srgbClr val="000000"/>
              </a:solidFill>
              <a:effectLst/>
              <a:uFillTx/>
              <a:latin typeface="Arial"/>
            </a:endParaRPr>
          </a:p>
        </p:txBody>
      </p:sp>
      <p:sp>
        <p:nvSpPr>
          <p:cNvPr id="244" name="Shape 18"/>
          <p:cNvSpPr/>
          <p:nvPr/>
        </p:nvSpPr>
        <p:spPr>
          <a:xfrm>
            <a:off x="1188720" y="3383280"/>
            <a:ext cx="10451160" cy="529920"/>
          </a:xfrm>
          <a:prstGeom prst="roundRect">
            <a:avLst>
              <a:gd name="adj" fmla="val 172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5" name="Text 19"/>
          <p:cNvSpPr/>
          <p:nvPr/>
        </p:nvSpPr>
        <p:spPr>
          <a:xfrm>
            <a:off x="1463040" y="3383280"/>
            <a:ext cx="457164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E293B"/>
                </a:solidFill>
                <a:effectLst/>
                <a:uFillTx/>
                <a:latin typeface="Calibri"/>
                <a:ea typeface="Calibri"/>
              </a:rPr>
              <a:t>New Web Service, from the repo</a:t>
            </a:r>
            <a:endParaRPr lang="en-IN" sz="1350" b="0" u="none" strike="noStrike">
              <a:solidFill>
                <a:srgbClr val="000000"/>
              </a:solidFill>
              <a:effectLst/>
              <a:uFillTx/>
              <a:latin typeface="Arial"/>
            </a:endParaRPr>
          </a:p>
        </p:txBody>
      </p:sp>
      <p:sp>
        <p:nvSpPr>
          <p:cNvPr id="246" name="Text 20"/>
          <p:cNvSpPr/>
          <p:nvPr/>
        </p:nvSpPr>
        <p:spPr>
          <a:xfrm>
            <a:off x="6126480" y="3383280"/>
            <a:ext cx="539460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64748B"/>
                </a:solidFill>
                <a:effectLst/>
                <a:uFillTx/>
                <a:latin typeface="Calibri"/>
                <a:ea typeface="Calibri"/>
              </a:rPr>
              <a:t>it finds your Dockerfile by itself</a:t>
            </a:r>
            <a:endParaRPr lang="en-IN" sz="1200" b="0" u="none" strike="noStrike">
              <a:solidFill>
                <a:srgbClr val="000000"/>
              </a:solidFill>
              <a:effectLst/>
              <a:uFillTx/>
              <a:latin typeface="Arial"/>
            </a:endParaRPr>
          </a:p>
        </p:txBody>
      </p:sp>
      <p:sp>
        <p:nvSpPr>
          <p:cNvPr id="247" name="Shape 21"/>
          <p:cNvSpPr/>
          <p:nvPr/>
        </p:nvSpPr>
        <p:spPr>
          <a:xfrm>
            <a:off x="548640" y="4014360"/>
            <a:ext cx="456840" cy="4568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48" name="Text 22"/>
          <p:cNvSpPr/>
          <p:nvPr/>
        </p:nvSpPr>
        <p:spPr>
          <a:xfrm>
            <a:off x="548640" y="401436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5</a:t>
            </a:r>
            <a:endParaRPr lang="en-IN" sz="1500" b="0" u="none" strike="noStrike">
              <a:solidFill>
                <a:srgbClr val="000000"/>
              </a:solidFill>
              <a:effectLst/>
              <a:uFillTx/>
              <a:latin typeface="Arial"/>
            </a:endParaRPr>
          </a:p>
        </p:txBody>
      </p:sp>
      <p:sp>
        <p:nvSpPr>
          <p:cNvPr id="249" name="Shape 23"/>
          <p:cNvSpPr/>
          <p:nvPr/>
        </p:nvSpPr>
        <p:spPr>
          <a:xfrm>
            <a:off x="1188720" y="3977640"/>
            <a:ext cx="10451160" cy="529920"/>
          </a:xfrm>
          <a:prstGeom prst="roundRect">
            <a:avLst>
              <a:gd name="adj" fmla="val 172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0" name="Text 24"/>
          <p:cNvSpPr/>
          <p:nvPr/>
        </p:nvSpPr>
        <p:spPr>
          <a:xfrm>
            <a:off x="1463040" y="3977640"/>
            <a:ext cx="457164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E293B"/>
                </a:solidFill>
                <a:effectLst/>
                <a:uFillTx/>
                <a:latin typeface="Calibri"/>
                <a:ea typeface="Calibri"/>
              </a:rPr>
              <a:t>Set DATABASE_URL, SECRET_KEY, ALLOWED_ORIGINS</a:t>
            </a:r>
            <a:endParaRPr lang="en-IN" sz="1350" b="0" u="none" strike="noStrike">
              <a:solidFill>
                <a:srgbClr val="000000"/>
              </a:solidFill>
              <a:effectLst/>
              <a:uFillTx/>
              <a:latin typeface="Arial"/>
            </a:endParaRPr>
          </a:p>
        </p:txBody>
      </p:sp>
      <p:sp>
        <p:nvSpPr>
          <p:cNvPr id="251" name="Text 25"/>
          <p:cNvSpPr/>
          <p:nvPr/>
        </p:nvSpPr>
        <p:spPr>
          <a:xfrm>
            <a:off x="6126480" y="3977640"/>
            <a:ext cx="539460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B45309"/>
                </a:solidFill>
                <a:effectLst/>
                <a:uFillTx/>
                <a:latin typeface="Calibri"/>
                <a:ea typeface="Calibri"/>
              </a:rPr>
              <a:t>a NEW secret — not the one on this slide</a:t>
            </a:r>
            <a:endParaRPr lang="en-IN" sz="1200" b="0" u="none" strike="noStrike">
              <a:solidFill>
                <a:srgbClr val="000000"/>
              </a:solidFill>
              <a:effectLst/>
              <a:uFillTx/>
              <a:latin typeface="Arial"/>
            </a:endParaRPr>
          </a:p>
        </p:txBody>
      </p:sp>
      <p:sp>
        <p:nvSpPr>
          <p:cNvPr id="252" name="Shape 26"/>
          <p:cNvSpPr/>
          <p:nvPr/>
        </p:nvSpPr>
        <p:spPr>
          <a:xfrm>
            <a:off x="548640" y="4608720"/>
            <a:ext cx="456840" cy="4568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53" name="Text 27"/>
          <p:cNvSpPr/>
          <p:nvPr/>
        </p:nvSpPr>
        <p:spPr>
          <a:xfrm>
            <a:off x="548640" y="46087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6</a:t>
            </a:r>
            <a:endParaRPr lang="en-IN" sz="1500" b="0" u="none" strike="noStrike">
              <a:solidFill>
                <a:srgbClr val="000000"/>
              </a:solidFill>
              <a:effectLst/>
              <a:uFillTx/>
              <a:latin typeface="Arial"/>
            </a:endParaRPr>
          </a:p>
        </p:txBody>
      </p:sp>
      <p:sp>
        <p:nvSpPr>
          <p:cNvPr id="254" name="Shape 28"/>
          <p:cNvSpPr/>
          <p:nvPr/>
        </p:nvSpPr>
        <p:spPr>
          <a:xfrm>
            <a:off x="1188720" y="4572000"/>
            <a:ext cx="10451160" cy="529920"/>
          </a:xfrm>
          <a:prstGeom prst="roundRect">
            <a:avLst>
              <a:gd name="adj" fmla="val 172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55" name="Text 29"/>
          <p:cNvSpPr/>
          <p:nvPr/>
        </p:nvSpPr>
        <p:spPr>
          <a:xfrm>
            <a:off x="1463040" y="4572000"/>
            <a:ext cx="457164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E293B"/>
                </a:solidFill>
                <a:effectLst/>
                <a:uFillTx/>
                <a:latin typeface="Calibri"/>
                <a:ea typeface="Calibri"/>
              </a:rPr>
              <a:t>Wait for Live, open /docs, register, log in</a:t>
            </a:r>
            <a:endParaRPr lang="en-IN" sz="1350" b="0" u="none" strike="noStrike">
              <a:solidFill>
                <a:srgbClr val="000000"/>
              </a:solidFill>
              <a:effectLst/>
              <a:uFillTx/>
              <a:latin typeface="Arial"/>
            </a:endParaRPr>
          </a:p>
        </p:txBody>
      </p:sp>
      <p:sp>
        <p:nvSpPr>
          <p:cNvPr id="256" name="Text 30"/>
          <p:cNvSpPr/>
          <p:nvPr/>
        </p:nvSpPr>
        <p:spPr>
          <a:xfrm>
            <a:off x="6126480" y="4572000"/>
            <a:ext cx="539460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64748B"/>
                </a:solidFill>
                <a:effectLst/>
                <a:uFillTx/>
                <a:latin typeface="Calibri"/>
                <a:ea typeface="Calibri"/>
              </a:rPr>
              <a:t>the first build takes 3–5 minutes</a:t>
            </a:r>
            <a:endParaRPr lang="en-IN" sz="1200" b="0" u="none" strike="noStrike">
              <a:solidFill>
                <a:srgbClr val="000000"/>
              </a:solidFill>
              <a:effectLst/>
              <a:uFillTx/>
              <a:latin typeface="Arial"/>
            </a:endParaRPr>
          </a:p>
        </p:txBody>
      </p:sp>
      <p:sp>
        <p:nvSpPr>
          <p:cNvPr id="257" name="Shape 31"/>
          <p:cNvSpPr/>
          <p:nvPr/>
        </p:nvSpPr>
        <p:spPr>
          <a:xfrm>
            <a:off x="548640" y="5203080"/>
            <a:ext cx="456840" cy="456840"/>
          </a:xfrm>
          <a:prstGeom prst="roundRect">
            <a:avLst>
              <a:gd name="adj" fmla="val 50000"/>
            </a:avLst>
          </a:prstGeom>
          <a:solidFill>
            <a:srgbClr val="15803D"/>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58" name="Text 32"/>
          <p:cNvSpPr/>
          <p:nvPr/>
        </p:nvSpPr>
        <p:spPr>
          <a:xfrm>
            <a:off x="548640" y="520308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7</a:t>
            </a:r>
            <a:endParaRPr lang="en-IN" sz="1500" b="0" u="none" strike="noStrike">
              <a:solidFill>
                <a:srgbClr val="000000"/>
              </a:solidFill>
              <a:effectLst/>
              <a:uFillTx/>
              <a:latin typeface="Arial"/>
            </a:endParaRPr>
          </a:p>
        </p:txBody>
      </p:sp>
      <p:sp>
        <p:nvSpPr>
          <p:cNvPr id="259" name="Shape 33"/>
          <p:cNvSpPr/>
          <p:nvPr/>
        </p:nvSpPr>
        <p:spPr>
          <a:xfrm>
            <a:off x="1188720" y="5166360"/>
            <a:ext cx="10451160" cy="529920"/>
          </a:xfrm>
          <a:prstGeom prst="roundRect">
            <a:avLst>
              <a:gd name="adj" fmla="val 17241"/>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60" name="Text 34"/>
          <p:cNvSpPr/>
          <p:nvPr/>
        </p:nvSpPr>
        <p:spPr>
          <a:xfrm>
            <a:off x="1463040" y="5166360"/>
            <a:ext cx="457164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5803D"/>
                </a:solidFill>
                <a:effectLst/>
                <a:uFillTx/>
                <a:latin typeface="Calibri"/>
                <a:ea typeface="Calibri"/>
              </a:rPr>
              <a:t>Open it on your phone. On mobile data.</a:t>
            </a:r>
            <a:endParaRPr lang="en-IN" sz="1350" b="0" u="none" strike="noStrike">
              <a:solidFill>
                <a:srgbClr val="000000"/>
              </a:solidFill>
              <a:effectLst/>
              <a:uFillTx/>
              <a:latin typeface="Arial"/>
            </a:endParaRPr>
          </a:p>
        </p:txBody>
      </p:sp>
      <p:sp>
        <p:nvSpPr>
          <p:cNvPr id="261" name="Text 35"/>
          <p:cNvSpPr/>
          <p:nvPr/>
        </p:nvSpPr>
        <p:spPr>
          <a:xfrm>
            <a:off x="6126480" y="5166360"/>
            <a:ext cx="539460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5803D"/>
                </a:solidFill>
                <a:effectLst/>
                <a:uFillTx/>
                <a:latin typeface="Calibri"/>
                <a:ea typeface="Calibri"/>
              </a:rPr>
              <a:t>this is the one that matters</a:t>
            </a:r>
            <a:endParaRPr lang="en-IN" sz="1200" b="0" u="none" strike="noStrike">
              <a:solidFill>
                <a:srgbClr val="000000"/>
              </a:solidFill>
              <a:effectLst/>
              <a:uFillTx/>
              <a:latin typeface="Arial"/>
            </a:endParaRPr>
          </a:p>
        </p:txBody>
      </p:sp>
      <p:sp>
        <p:nvSpPr>
          <p:cNvPr id="262" name="Shape 36"/>
          <p:cNvSpPr/>
          <p:nvPr/>
        </p:nvSpPr>
        <p:spPr>
          <a:xfrm>
            <a:off x="548640" y="5806440"/>
            <a:ext cx="11091240" cy="548280"/>
          </a:xfrm>
          <a:prstGeom prst="roundRect">
            <a:avLst>
              <a:gd name="adj" fmla="val 16667"/>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63" name="Text 37"/>
          <p:cNvSpPr/>
          <p:nvPr/>
        </p:nvSpPr>
        <p:spPr>
          <a:xfrm>
            <a:off x="868680" y="580644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Free instances sleep after ~15 min  </a:t>
            </a:r>
            <a:r>
              <a:rPr lang="en-US" sz="1500" b="0" u="none" strike="noStrike">
                <a:solidFill>
                  <a:srgbClr val="1E293B"/>
                </a:solidFill>
                <a:effectLst/>
                <a:uFillTx/>
                <a:latin typeface="Calibri"/>
                <a:ea typeface="Calibri"/>
              </a:rPr>
              <a:t>and take ~50 seconds to wake. Tell them, or it gets reported as a bug.</a:t>
            </a:r>
            <a:endParaRPr lang="en-IN" sz="1500" b="0" u="none" strike="noStrike">
              <a:solidFill>
                <a:srgbClr val="000000"/>
              </a:solidFill>
              <a:effectLst/>
              <a:uFillTx/>
              <a:latin typeface="Arial"/>
            </a:endParaRPr>
          </a:p>
        </p:txBody>
      </p:sp>
      <p:sp>
        <p:nvSpPr>
          <p:cNvPr id="264" name="Text 38"/>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265" name="Text 3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266"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13</a:t>
            </a:r>
            <a:endParaRPr lang="en-IN" sz="9600" b="0" u="none" strike="noStrike">
              <a:solidFill>
                <a:srgbClr val="000000"/>
              </a:solidFill>
              <a:effectLst/>
              <a:uFillTx/>
              <a:latin typeface="Arial"/>
            </a:endParaRPr>
          </a:p>
        </p:txBody>
      </p:sp>
      <p:sp>
        <p:nvSpPr>
          <p:cNvPr id="267"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And then it happens by itself</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Nobody remembers to run the checks</a:t>
            </a:r>
            <a:endParaRPr lang="en-IN" sz="3000" b="0" u="none" strike="noStrike">
              <a:solidFill>
                <a:srgbClr val="000000"/>
              </a:solidFill>
              <a:effectLst/>
              <a:uFillTx/>
              <a:latin typeface="Arial"/>
            </a:endParaRPr>
          </a:p>
        </p:txBody>
      </p:sp>
      <p:sp>
        <p:nvSpPr>
          <p:cNvPr id="269"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That is the entire reason CI exists. Not discipline - automation.</a:t>
            </a:r>
            <a:endParaRPr lang="en-IN" sz="1500" b="0" u="none" strike="noStrike">
              <a:solidFill>
                <a:srgbClr val="000000"/>
              </a:solidFill>
              <a:effectLst/>
              <a:uFillTx/>
              <a:latin typeface="Arial"/>
            </a:endParaRPr>
          </a:p>
        </p:txBody>
      </p:sp>
      <p:sp>
        <p:nvSpPr>
          <p:cNvPr id="270" name="Shape 2"/>
          <p:cNvSpPr/>
          <p:nvPr/>
        </p:nvSpPr>
        <p:spPr>
          <a:xfrm>
            <a:off x="548640" y="1828800"/>
            <a:ext cx="2605680" cy="1371240"/>
          </a:xfrm>
          <a:prstGeom prst="roundRect">
            <a:avLst>
              <a:gd name="adj" fmla="val 666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1" name="Text 3"/>
          <p:cNvSpPr/>
          <p:nvPr/>
        </p:nvSpPr>
        <p:spPr>
          <a:xfrm>
            <a:off x="749880" y="1993320"/>
            <a:ext cx="22399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You push</a:t>
            </a:r>
            <a:endParaRPr lang="en-IN" sz="1500" b="0" u="none" strike="noStrike">
              <a:solidFill>
                <a:srgbClr val="000000"/>
              </a:solidFill>
              <a:effectLst/>
              <a:uFillTx/>
              <a:latin typeface="Arial"/>
            </a:endParaRPr>
          </a:p>
        </p:txBody>
      </p:sp>
      <p:sp>
        <p:nvSpPr>
          <p:cNvPr id="272" name="Text 4"/>
          <p:cNvSpPr/>
          <p:nvPr/>
        </p:nvSpPr>
        <p:spPr>
          <a:xfrm>
            <a:off x="749880" y="2487240"/>
            <a:ext cx="223992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93B"/>
                </a:solidFill>
                <a:effectLst/>
                <a:uFillTx/>
                <a:latin typeface="Courier New"/>
                <a:ea typeface="Courier New"/>
              </a:rPr>
              <a:t>git push</a:t>
            </a:r>
            <a:endParaRPr lang="en-IN" sz="1150" b="0" u="none" strike="noStrike">
              <a:solidFill>
                <a:srgbClr val="000000"/>
              </a:solidFill>
              <a:effectLst/>
              <a:uFillTx/>
              <a:latin typeface="Arial"/>
            </a:endParaRPr>
          </a:p>
        </p:txBody>
      </p:sp>
      <p:sp>
        <p:nvSpPr>
          <p:cNvPr id="273" name="Shape 5"/>
          <p:cNvSpPr/>
          <p:nvPr/>
        </p:nvSpPr>
        <p:spPr>
          <a:xfrm>
            <a:off x="3182040" y="2395800"/>
            <a:ext cx="145800" cy="23724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74" name="Shape 6"/>
          <p:cNvSpPr/>
          <p:nvPr/>
        </p:nvSpPr>
        <p:spPr>
          <a:xfrm>
            <a:off x="3355920" y="1828800"/>
            <a:ext cx="2605680" cy="1371240"/>
          </a:xfrm>
          <a:prstGeom prst="roundRect">
            <a:avLst>
              <a:gd name="adj" fmla="val 6667"/>
            </a:avLst>
          </a:prstGeom>
          <a:solidFill>
            <a:srgbClr val="EEF0FF"/>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5" name="Text 7"/>
          <p:cNvSpPr/>
          <p:nvPr/>
        </p:nvSpPr>
        <p:spPr>
          <a:xfrm>
            <a:off x="3557160" y="1993320"/>
            <a:ext cx="22399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891B2"/>
                </a:solidFill>
                <a:effectLst/>
                <a:uFillTx/>
                <a:latin typeface="Calibri"/>
                <a:ea typeface="Calibri"/>
              </a:rPr>
              <a:t>GitHub rents a machine</a:t>
            </a:r>
            <a:endParaRPr lang="en-IN" sz="1500" b="0" u="none" strike="noStrike">
              <a:solidFill>
                <a:srgbClr val="000000"/>
              </a:solidFill>
              <a:effectLst/>
              <a:uFillTx/>
              <a:latin typeface="Arial"/>
            </a:endParaRPr>
          </a:p>
        </p:txBody>
      </p:sp>
      <p:sp>
        <p:nvSpPr>
          <p:cNvPr id="276" name="Text 8"/>
          <p:cNvSpPr/>
          <p:nvPr/>
        </p:nvSpPr>
        <p:spPr>
          <a:xfrm>
            <a:off x="3557160" y="2487240"/>
            <a:ext cx="223992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93B"/>
                </a:solidFill>
                <a:effectLst/>
                <a:uFillTx/>
                <a:latin typeface="Courier New"/>
                <a:ea typeface="Courier New"/>
              </a:rPr>
              <a:t>a fresh Ubuntu VM, free</a:t>
            </a:r>
            <a:endParaRPr lang="en-IN" sz="1150" b="0" u="none" strike="noStrike">
              <a:solidFill>
                <a:srgbClr val="000000"/>
              </a:solidFill>
              <a:effectLst/>
              <a:uFillTx/>
              <a:latin typeface="Arial"/>
            </a:endParaRPr>
          </a:p>
        </p:txBody>
      </p:sp>
      <p:sp>
        <p:nvSpPr>
          <p:cNvPr id="277" name="Shape 9"/>
          <p:cNvSpPr/>
          <p:nvPr/>
        </p:nvSpPr>
        <p:spPr>
          <a:xfrm>
            <a:off x="5989320" y="2395800"/>
            <a:ext cx="145800" cy="23724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78" name="Shape 10"/>
          <p:cNvSpPr/>
          <p:nvPr/>
        </p:nvSpPr>
        <p:spPr>
          <a:xfrm>
            <a:off x="6163200" y="1828800"/>
            <a:ext cx="2605680" cy="1371240"/>
          </a:xfrm>
          <a:prstGeom prst="roundRect">
            <a:avLst>
              <a:gd name="adj" fmla="val 666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9" name="Text 11"/>
          <p:cNvSpPr/>
          <p:nvPr/>
        </p:nvSpPr>
        <p:spPr>
          <a:xfrm>
            <a:off x="6364080" y="1993320"/>
            <a:ext cx="22399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It runs your steps</a:t>
            </a:r>
            <a:endParaRPr lang="en-IN" sz="1500" b="0" u="none" strike="noStrike">
              <a:solidFill>
                <a:srgbClr val="000000"/>
              </a:solidFill>
              <a:effectLst/>
              <a:uFillTx/>
              <a:latin typeface="Arial"/>
            </a:endParaRPr>
          </a:p>
        </p:txBody>
      </p:sp>
      <p:sp>
        <p:nvSpPr>
          <p:cNvPr id="280" name="Text 12"/>
          <p:cNvSpPr/>
          <p:nvPr/>
        </p:nvSpPr>
        <p:spPr>
          <a:xfrm>
            <a:off x="6364080" y="2487240"/>
            <a:ext cx="223992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93B"/>
                </a:solidFill>
                <a:effectLst/>
                <a:uFillTx/>
                <a:latin typeface="Courier New"/>
                <a:ea typeface="Courier New"/>
              </a:rPr>
              <a:t>install, check, build</a:t>
            </a:r>
            <a:endParaRPr lang="en-IN" sz="1150" b="0" u="none" strike="noStrike">
              <a:solidFill>
                <a:srgbClr val="000000"/>
              </a:solidFill>
              <a:effectLst/>
              <a:uFillTx/>
              <a:latin typeface="Arial"/>
            </a:endParaRPr>
          </a:p>
        </p:txBody>
      </p:sp>
      <p:sp>
        <p:nvSpPr>
          <p:cNvPr id="281" name="Shape 13"/>
          <p:cNvSpPr/>
          <p:nvPr/>
        </p:nvSpPr>
        <p:spPr>
          <a:xfrm>
            <a:off x="8796600" y="2395800"/>
            <a:ext cx="145800" cy="23724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82" name="Shape 14"/>
          <p:cNvSpPr/>
          <p:nvPr/>
        </p:nvSpPr>
        <p:spPr>
          <a:xfrm>
            <a:off x="8970120" y="1828800"/>
            <a:ext cx="2605680" cy="1371240"/>
          </a:xfrm>
          <a:prstGeom prst="roundRect">
            <a:avLst>
              <a:gd name="adj" fmla="val 6667"/>
            </a:avLst>
          </a:prstGeom>
          <a:solidFill>
            <a:srgbClr val="F0FDF4"/>
          </a:solidFill>
          <a:ln w="12700">
            <a:solidFill>
              <a:srgbClr val="15803D"/>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3" name="Text 15"/>
          <p:cNvSpPr/>
          <p:nvPr/>
        </p:nvSpPr>
        <p:spPr>
          <a:xfrm>
            <a:off x="9171360" y="1993320"/>
            <a:ext cx="22399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Green or red</a:t>
            </a:r>
            <a:endParaRPr lang="en-IN" sz="1500" b="0" u="none" strike="noStrike">
              <a:solidFill>
                <a:srgbClr val="000000"/>
              </a:solidFill>
              <a:effectLst/>
              <a:uFillTx/>
              <a:latin typeface="Arial"/>
            </a:endParaRPr>
          </a:p>
        </p:txBody>
      </p:sp>
      <p:sp>
        <p:nvSpPr>
          <p:cNvPr id="284" name="Text 16"/>
          <p:cNvSpPr/>
          <p:nvPr/>
        </p:nvSpPr>
        <p:spPr>
          <a:xfrm>
            <a:off x="9171360" y="2487240"/>
            <a:ext cx="223992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1E293B"/>
                </a:solidFill>
                <a:effectLst/>
                <a:uFillTx/>
                <a:latin typeface="Courier New"/>
                <a:ea typeface="Courier New"/>
              </a:rPr>
              <a:t>on the pull request</a:t>
            </a:r>
            <a:endParaRPr lang="en-IN" sz="1150" b="0" u="none" strike="noStrike">
              <a:solidFill>
                <a:srgbClr val="000000"/>
              </a:solidFill>
              <a:effectLst/>
              <a:uFillTx/>
              <a:latin typeface="Arial"/>
            </a:endParaRPr>
          </a:p>
        </p:txBody>
      </p:sp>
      <p:sp>
        <p:nvSpPr>
          <p:cNvPr id="285" name="Shape 17"/>
          <p:cNvSpPr/>
          <p:nvPr/>
        </p:nvSpPr>
        <p:spPr>
          <a:xfrm>
            <a:off x="548640" y="3429000"/>
            <a:ext cx="11091240" cy="1005480"/>
          </a:xfrm>
          <a:prstGeom prst="roundRect">
            <a:avLst>
              <a:gd name="adj" fmla="val 9091"/>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6" name="Text 18"/>
          <p:cNvSpPr/>
          <p:nvPr/>
        </p:nvSpPr>
        <p:spPr>
          <a:xfrm>
            <a:off x="868680" y="3429000"/>
            <a:ext cx="1042380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The machine is FRESH every single time.  </a:t>
            </a:r>
            <a:r>
              <a:rPr lang="en-US" sz="1500" b="0" u="none" strike="noStrike">
                <a:solidFill>
                  <a:srgbClr val="1E293B"/>
                </a:solidFill>
                <a:effectLst/>
                <a:uFillTx/>
                <a:latin typeface="Calibri"/>
                <a:ea typeface="Calibri"/>
              </a:rPr>
              <a:t>Nothing of yours is on it - not your Python, not your packages, not that one file you forgot to commit. That is why CI catches "but it works on my machine" when Docker alone does not.</a:t>
            </a:r>
            <a:endParaRPr lang="en-IN" sz="1500" b="0" u="none" strike="noStrike">
              <a:solidFill>
                <a:srgbClr val="000000"/>
              </a:solidFill>
              <a:effectLst/>
              <a:uFillTx/>
              <a:latin typeface="Arial"/>
            </a:endParaRPr>
          </a:p>
        </p:txBody>
      </p:sp>
      <p:sp>
        <p:nvSpPr>
          <p:cNvPr id="287" name="Shape 19"/>
          <p:cNvSpPr/>
          <p:nvPr/>
        </p:nvSpPr>
        <p:spPr>
          <a:xfrm>
            <a:off x="548640" y="4617720"/>
            <a:ext cx="11091240" cy="914040"/>
          </a:xfrm>
          <a:prstGeom prst="roundRect">
            <a:avLst>
              <a:gd name="adj" fmla="val 10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88" name="Text 20"/>
          <p:cNvSpPr/>
          <p:nvPr/>
        </p:nvSpPr>
        <p:spPr>
          <a:xfrm>
            <a:off x="868680" y="4617720"/>
            <a:ext cx="1042380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CI vs CD.  </a:t>
            </a:r>
            <a:r>
              <a:rPr lang="en-US" sz="1500" b="0" u="none" strike="noStrike">
                <a:solidFill>
                  <a:srgbClr val="1E293B"/>
                </a:solidFill>
                <a:effectLst/>
                <a:uFillTx/>
                <a:latin typeface="Calibri"/>
                <a:ea typeface="Calibri"/>
              </a:rPr>
              <a:t>Continuous INTEGRATION = the checks run on every push. Continuous DELIVERY/DEPLOYMENT = a green run ships it. You get CI today; Render's auto-deploy on push is already the CD half.</a:t>
            </a:r>
            <a:endParaRPr lang="en-IN" sz="1500" b="0" u="none" strike="noStrike">
              <a:solidFill>
                <a:srgbClr val="000000"/>
              </a:solidFill>
              <a:effectLst/>
              <a:uFillTx/>
              <a:latin typeface="Arial"/>
            </a:endParaRPr>
          </a:p>
        </p:txBody>
      </p:sp>
      <p:sp>
        <p:nvSpPr>
          <p:cNvPr id="289" name="Text 21"/>
          <p:cNvSpPr/>
          <p:nvPr/>
        </p:nvSpPr>
        <p:spPr>
          <a:xfrm>
            <a:off x="548640" y="56692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93B"/>
                </a:solidFill>
                <a:effectLst/>
                <a:uFillTx/>
                <a:latin typeface="Calibri"/>
                <a:ea typeface="Calibri"/>
              </a:rPr>
              <a:t>Free for public repos. Your capstone qualifies.</a:t>
            </a:r>
            <a:endParaRPr lang="en-IN" sz="1500" b="0" u="none" strike="noStrike">
              <a:solidFill>
                <a:srgbClr val="000000"/>
              </a:solidFill>
              <a:effectLst/>
              <a:uFillTx/>
              <a:latin typeface="Arial"/>
            </a:endParaRPr>
          </a:p>
        </p:txBody>
      </p:sp>
      <p:sp>
        <p:nvSpPr>
          <p:cNvPr id="290" name="Text 22"/>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291" name="Text 23"/>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One file. Three questions.</a:t>
            </a:r>
            <a:endParaRPr lang="en-IN" sz="3000" b="0" u="none" strike="noStrike">
              <a:solidFill>
                <a:srgbClr val="000000"/>
              </a:solidFill>
              <a:effectLst/>
              <a:uFillTx/>
              <a:latin typeface="Arial"/>
            </a:endParaRPr>
          </a:p>
        </p:txBody>
      </p:sp>
      <p:sp>
        <p:nvSpPr>
          <p:cNvPr id="293"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It must live at .github/workflows/ - GitHub looks nowhere else, and warns you about nothing.</a:t>
            </a:r>
            <a:endParaRPr lang="en-IN" sz="1500" b="0" u="none" strike="noStrike">
              <a:solidFill>
                <a:srgbClr val="000000"/>
              </a:solidFill>
              <a:effectLst/>
              <a:uFillTx/>
              <a:latin typeface="Arial"/>
            </a:endParaRPr>
          </a:p>
        </p:txBody>
      </p:sp>
      <p:sp>
        <p:nvSpPr>
          <p:cNvPr id="294" name="Shape 2"/>
          <p:cNvSpPr/>
          <p:nvPr/>
        </p:nvSpPr>
        <p:spPr>
          <a:xfrm>
            <a:off x="548640" y="1600200"/>
            <a:ext cx="6949080" cy="3017160"/>
          </a:xfrm>
          <a:prstGeom prst="roundRect">
            <a:avLst>
              <a:gd name="adj" fmla="val 1818"/>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5" name="Text 3"/>
          <p:cNvSpPr/>
          <p:nvPr/>
        </p:nvSpPr>
        <p:spPr>
          <a:xfrm>
            <a:off x="804600" y="1783080"/>
            <a:ext cx="6437160" cy="265140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00" b="0" u="none" strike="noStrike">
                <a:solidFill>
                  <a:srgbClr val="1E293B"/>
                </a:solidFill>
                <a:effectLst/>
                <a:uFillTx/>
                <a:latin typeface="Courier New"/>
                <a:ea typeface="Courier New"/>
              </a:rPr>
              <a:t>name: CI</a:t>
            </a:r>
            <a:endParaRPr lang="en-IN" sz="1200" b="0" u="none" strike="noStrike">
              <a:solidFill>
                <a:srgbClr val="000000"/>
              </a:solidFill>
              <a:effectLst/>
              <a:uFillTx/>
              <a:latin typeface="Arial"/>
            </a:endParaRPr>
          </a:p>
          <a:p>
            <a:pPr defTabSz="914400">
              <a:lnSpc>
                <a:spcPct val="115000"/>
              </a:lnSpc>
              <a:tabLst>
                <a:tab pos="0" algn="l"/>
              </a:tabLst>
            </a:pP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on:                        # WHEN does it run?</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push:</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branches: [main]</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pull_request:</a:t>
            </a:r>
            <a:endParaRPr lang="en-IN" sz="1200" b="0" u="none" strike="noStrike">
              <a:solidFill>
                <a:srgbClr val="000000"/>
              </a:solidFill>
              <a:effectLst/>
              <a:uFillTx/>
              <a:latin typeface="Arial"/>
            </a:endParaRPr>
          </a:p>
          <a:p>
            <a:pPr defTabSz="914400">
              <a:lnSpc>
                <a:spcPct val="115000"/>
              </a:lnSpc>
              <a:tabLst>
                <a:tab pos="0" algn="l"/>
              </a:tabLst>
            </a:pP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jobs:</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check:</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runs-on: ubuntu-latest   # WHERE does it run?</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steps:                   # WHAT does it do?</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 uses: actions/checkout@v7</a:t>
            </a:r>
            <a:endParaRPr lang="en-IN" sz="1200" b="0" u="none" strike="noStrike">
              <a:solidFill>
                <a:srgbClr val="000000"/>
              </a:solidFill>
              <a:effectLst/>
              <a:uFillTx/>
              <a:latin typeface="Arial"/>
            </a:endParaRPr>
          </a:p>
          <a:p>
            <a:pPr defTabSz="914400">
              <a:lnSpc>
                <a:spcPct val="115000"/>
              </a:lnSpc>
              <a:tabLst>
                <a:tab pos="0" algn="l"/>
              </a:tabLst>
            </a:pPr>
            <a:r>
              <a:rPr lang="en-US" sz="1200" b="0" u="none" strike="noStrike">
                <a:solidFill>
                  <a:srgbClr val="1E293B"/>
                </a:solidFill>
                <a:effectLst/>
                <a:uFillTx/>
                <a:latin typeface="Courier New"/>
                <a:ea typeface="Courier New"/>
              </a:rPr>
              <a:t>      - run: uv sync --frozen</a:t>
            </a:r>
            <a:endParaRPr lang="en-IN" sz="1200" b="0" u="none" strike="noStrike">
              <a:solidFill>
                <a:srgbClr val="000000"/>
              </a:solidFill>
              <a:effectLst/>
              <a:uFillTx/>
              <a:latin typeface="Arial"/>
            </a:endParaRPr>
          </a:p>
        </p:txBody>
      </p:sp>
      <p:sp>
        <p:nvSpPr>
          <p:cNvPr id="296" name="Shape 4"/>
          <p:cNvSpPr/>
          <p:nvPr/>
        </p:nvSpPr>
        <p:spPr>
          <a:xfrm>
            <a:off x="7863840" y="1600200"/>
            <a:ext cx="3776040" cy="3017160"/>
          </a:xfrm>
          <a:prstGeom prst="roundRect">
            <a:avLst>
              <a:gd name="adj" fmla="val 3030"/>
            </a:avLst>
          </a:prstGeom>
          <a:solidFill>
            <a:srgbClr val="F1F5F9"/>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97" name="Text 5"/>
          <p:cNvSpPr/>
          <p:nvPr/>
        </p:nvSpPr>
        <p:spPr>
          <a:xfrm>
            <a:off x="8138160" y="1783080"/>
            <a:ext cx="32914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uses  vs  run</a:t>
            </a:r>
            <a:endParaRPr lang="en-IN" sz="1600" b="0" u="none" strike="noStrike">
              <a:solidFill>
                <a:srgbClr val="000000"/>
              </a:solidFill>
              <a:effectLst/>
              <a:uFillTx/>
              <a:latin typeface="Arial"/>
            </a:endParaRPr>
          </a:p>
        </p:txBody>
      </p:sp>
      <p:sp>
        <p:nvSpPr>
          <p:cNvPr id="298" name="Text 6"/>
          <p:cNvSpPr/>
          <p:nvPr/>
        </p:nvSpPr>
        <p:spPr>
          <a:xfrm>
            <a:off x="8138160" y="2240280"/>
            <a:ext cx="3291480" cy="1371240"/>
          </a:xfrm>
          <a:prstGeom prst="rect">
            <a:avLst/>
          </a:prstGeom>
          <a:noFill/>
          <a:ln w="0">
            <a:noFill/>
          </a:ln>
        </p:spPr>
        <p:style>
          <a:lnRef idx="0"/>
          <a:fillRef idx="0"/>
          <a:effectRef idx="0"/>
          <a:fontRef idx="minor"/>
        </p:style>
        <p:txBody>
          <a:bodyPr lIns="0" tIns="0" rIns="0" bIns="0" anchor="ctr">
            <a:noAutofit/>
          </a:bodyPr>
          <a:p>
            <a:r>
              <a:rPr lang="en-US" sz="1350" b="1" u="none" strike="noStrike">
                <a:solidFill>
                  <a:srgbClr val="6366F1"/>
                </a:solidFill>
                <a:effectLst/>
                <a:uFillTx/>
                <a:latin typeface="Courier New"/>
                <a:ea typeface="Courier New"/>
              </a:rPr>
              <a:t>uses:</a:t>
            </a:r>
            <a:r>
              <a:rPr lang="en-US" sz="1350" b="0" u="none" strike="noStrike">
                <a:solidFill>
                  <a:srgbClr val="1E293B"/>
                </a:solidFill>
                <a:effectLst/>
                <a:uFillTx/>
                <a:latin typeface="Calibri"/>
                <a:ea typeface="Calibri"/>
              </a:rPr>
              <a:t>  borrow a step</a:t>
            </a:r>
            <a:endParaRPr lang="en-IN" sz="1350" b="0" u="none" strike="noStrike">
              <a:solidFill>
                <a:srgbClr val="000000"/>
              </a:solidFill>
              <a:effectLst/>
              <a:uFillTx/>
              <a:latin typeface="Arial"/>
            </a:endParaRPr>
          </a:p>
          <a:p>
            <a:r>
              <a:rPr lang="en-US" sz="1350" b="0" u="none" strike="noStrike">
                <a:solidFill>
                  <a:srgbClr val="1E293B"/>
                </a:solidFill>
                <a:effectLst/>
                <a:uFillTx/>
                <a:latin typeface="Calibri"/>
                <a:ea typeface="Calibri"/>
              </a:rPr>
              <a:t>         someone published</a:t>
            </a:r>
            <a:endParaRPr lang="en-IN" sz="1350" b="0" u="none" strike="noStrike">
              <a:solidFill>
                <a:srgbClr val="000000"/>
              </a:solidFill>
              <a:effectLst/>
              <a:uFillTx/>
              <a:latin typeface="Arial"/>
            </a:endParaRPr>
          </a:p>
          <a:p>
            <a:endParaRPr lang="en-IN" sz="1350" b="0" u="none" strike="noStrike">
              <a:solidFill>
                <a:srgbClr val="000000"/>
              </a:solidFill>
              <a:effectLst/>
              <a:uFillTx/>
              <a:latin typeface="Arial"/>
            </a:endParaRPr>
          </a:p>
          <a:p>
            <a:pPr defTabSz="914400">
              <a:lnSpc>
                <a:spcPct val="100000"/>
              </a:lnSpc>
              <a:tabLst>
                <a:tab pos="0" algn="l"/>
              </a:tabLst>
            </a:pPr>
            <a:r>
              <a:rPr lang="en-US" sz="1350" b="1" u="none" strike="noStrike">
                <a:solidFill>
                  <a:srgbClr val="0891B2"/>
                </a:solidFill>
                <a:effectLst/>
                <a:uFillTx/>
                <a:latin typeface="Courier New"/>
                <a:ea typeface="Courier New"/>
              </a:rPr>
              <a:t>run:</a:t>
            </a:r>
            <a:r>
              <a:rPr lang="en-US" sz="1350" b="0" u="none" strike="noStrike">
                <a:solidFill>
                  <a:srgbClr val="1E293B"/>
                </a:solidFill>
                <a:effectLst/>
                <a:uFillTx/>
                <a:latin typeface="Calibri"/>
                <a:ea typeface="Calibri"/>
              </a:rPr>
              <a:t>   your own shell</a:t>
            </a:r>
            <a:endParaRPr lang="en-IN"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rgbClr val="1E293B"/>
                </a:solidFill>
                <a:effectLst/>
                <a:uFillTx/>
                <a:latin typeface="Calibri"/>
                <a:ea typeface="Calibri"/>
              </a:rPr>
              <a:t>         command</a:t>
            </a:r>
            <a:endParaRPr lang="en-IN" sz="1350" b="0" u="none" strike="noStrike">
              <a:solidFill>
                <a:srgbClr val="000000"/>
              </a:solidFill>
              <a:effectLst/>
              <a:uFillTx/>
              <a:latin typeface="Arial"/>
            </a:endParaRPr>
          </a:p>
        </p:txBody>
      </p:sp>
      <p:sp>
        <p:nvSpPr>
          <p:cNvPr id="299" name="Text 7"/>
          <p:cNvSpPr/>
          <p:nvPr/>
        </p:nvSpPr>
        <p:spPr>
          <a:xfrm>
            <a:off x="8138160" y="3794760"/>
            <a:ext cx="32914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i="1" u="none" strike="noStrike">
                <a:solidFill>
                  <a:srgbClr val="64748B"/>
                </a:solidFill>
                <a:effectLst/>
                <a:uFillTx/>
                <a:latin typeface="Calibri"/>
                <a:ea typeface="Calibri"/>
              </a:rPr>
              <a:t>Never both in one step.</a:t>
            </a:r>
            <a:endParaRPr lang="en-IN" sz="1250" b="0" u="none" strike="noStrike">
              <a:solidFill>
                <a:srgbClr val="000000"/>
              </a:solidFill>
              <a:effectLst/>
              <a:uFillTx/>
              <a:latin typeface="Arial"/>
            </a:endParaRPr>
          </a:p>
        </p:txBody>
      </p:sp>
      <p:sp>
        <p:nvSpPr>
          <p:cNvPr id="300" name="Shape 8"/>
          <p:cNvSpPr/>
          <p:nvPr/>
        </p:nvSpPr>
        <p:spPr>
          <a:xfrm>
            <a:off x="548640" y="4754880"/>
            <a:ext cx="11091240" cy="1005480"/>
          </a:xfrm>
          <a:prstGeom prst="roundRect">
            <a:avLst>
              <a:gd name="adj" fmla="val 9091"/>
            </a:avLst>
          </a:prstGeom>
          <a:solidFill>
            <a:srgbClr val="FFFBEB"/>
          </a:solidFill>
          <a:ln w="12700">
            <a:solidFill>
              <a:srgbClr val="FDE68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1" name="Text 9"/>
          <p:cNvSpPr/>
          <p:nvPr/>
        </p:nvSpPr>
        <p:spPr>
          <a:xfrm>
            <a:off x="868680" y="4754880"/>
            <a:ext cx="1042380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45309"/>
                </a:solidFill>
                <a:effectLst/>
                <a:uFillTx/>
                <a:latin typeface="Calibri"/>
                <a:ea typeface="Calibri"/>
              </a:rPr>
              <a:t>Every JOB is a different machine.  </a:t>
            </a:r>
            <a:r>
              <a:rPr lang="en-US" sz="1500" b="0" u="none" strike="noStrike">
                <a:solidFill>
                  <a:srgbClr val="1E293B"/>
                </a:solidFill>
                <a:effectLst/>
                <a:uFillTx/>
                <a:latin typeface="Calibri"/>
                <a:ea typeface="Calibri"/>
              </a:rPr>
              <a:t>They share nothing - not files, not installed packages. Jobs run in parallel by default; needs: forces an order. And the first step is almost always checkout, because the machine does not have your code.</a:t>
            </a:r>
            <a:endParaRPr lang="en-IN" sz="1500" b="0" u="none" strike="noStrike">
              <a:solidFill>
                <a:srgbClr val="000000"/>
              </a:solidFill>
              <a:effectLst/>
              <a:uFillTx/>
              <a:latin typeface="Arial"/>
            </a:endParaRPr>
          </a:p>
        </p:txBody>
      </p:sp>
      <p:sp>
        <p:nvSpPr>
          <p:cNvPr id="302" name="Text 10"/>
          <p:cNvSpPr/>
          <p:nvPr/>
        </p:nvSpPr>
        <p:spPr>
          <a:xfrm>
            <a:off x="548640" y="58978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E293B"/>
                </a:solidFill>
                <a:effectLst/>
                <a:uFillTx/>
                <a:latin typeface="Calibri"/>
                <a:ea typeface="Calibri"/>
              </a:rPr>
              <a:t>The four failures: wrong folder  ·  no checkout  ·  expecting job 2 to see job 1's files  ·  YAML indentation</a:t>
            </a:r>
            <a:endParaRPr lang="en-IN" sz="1400" b="0" u="none" strike="noStrike">
              <a:solidFill>
                <a:srgbClr val="000000"/>
              </a:solidFill>
              <a:effectLst/>
              <a:uFillTx/>
              <a:latin typeface="Arial"/>
            </a:endParaRPr>
          </a:p>
        </p:txBody>
      </p:sp>
      <p:sp>
        <p:nvSpPr>
          <p:cNvPr id="303" name="Text 11"/>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304" name="Text 1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@v7 is a decision about who can run code in your CI</a:t>
            </a:r>
            <a:endParaRPr lang="en-IN" sz="3000" b="0" u="none" strike="noStrike">
              <a:solidFill>
                <a:srgbClr val="000000"/>
              </a:solidFill>
              <a:effectLst/>
              <a:uFillTx/>
              <a:latin typeface="Arial"/>
            </a:endParaRPr>
          </a:p>
        </p:txBody>
      </p:sp>
      <p:sp>
        <p:nvSpPr>
          <p:cNvPr id="306" name="Text 1"/>
          <p:cNvSpPr/>
          <p:nvPr/>
        </p:nvSpPr>
        <p:spPr>
          <a:xfrm>
            <a:off x="548640" y="11887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The one slide here that is about security, not convenience.</a:t>
            </a:r>
            <a:endParaRPr lang="en-IN" sz="1500" b="0" u="none" strike="noStrike">
              <a:solidFill>
                <a:srgbClr val="000000"/>
              </a:solidFill>
              <a:effectLst/>
              <a:uFillTx/>
              <a:latin typeface="Arial"/>
            </a:endParaRPr>
          </a:p>
        </p:txBody>
      </p:sp>
      <p:sp>
        <p:nvSpPr>
          <p:cNvPr id="307" name="Shape 2"/>
          <p:cNvSpPr/>
          <p:nvPr/>
        </p:nvSpPr>
        <p:spPr>
          <a:xfrm>
            <a:off x="548640" y="1600200"/>
            <a:ext cx="11091240" cy="1325520"/>
          </a:xfrm>
          <a:prstGeom prst="roundRect">
            <a:avLst>
              <a:gd name="adj" fmla="val 6897"/>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08" name="Text 3"/>
          <p:cNvSpPr/>
          <p:nvPr/>
        </p:nvSpPr>
        <p:spPr>
          <a:xfrm>
            <a:off x="868680" y="1737360"/>
            <a:ext cx="10423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B91C1C"/>
                </a:solidFill>
                <a:effectLst/>
                <a:uFillTx/>
                <a:latin typeface="Calibri"/>
                <a:ea typeface="Calibri"/>
              </a:rPr>
              <a:t>A moving tag points at whatever the owner points it at - today, and tomorrow.</a:t>
            </a:r>
            <a:endParaRPr lang="en-IN" sz="1700" b="0" u="none" strike="noStrike">
              <a:solidFill>
                <a:srgbClr val="000000"/>
              </a:solidFill>
              <a:effectLst/>
              <a:uFillTx/>
              <a:latin typeface="Arial"/>
            </a:endParaRPr>
          </a:p>
        </p:txBody>
      </p:sp>
      <p:sp>
        <p:nvSpPr>
          <p:cNvPr id="309" name="Text 4"/>
          <p:cNvSpPr/>
          <p:nvPr/>
        </p:nvSpPr>
        <p:spPr>
          <a:xfrm>
            <a:off x="868680" y="212148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In 2025 tj-actions/changed-files was compromised exactly this way. Thousands of repositories ran the attacker's code, inside their own CI, with access to their own secrets.</a:t>
            </a:r>
            <a:endParaRPr lang="en-IN" sz="1450" b="0" u="none" strike="noStrike">
              <a:solidFill>
                <a:srgbClr val="000000"/>
              </a:solidFill>
              <a:effectLst/>
              <a:uFillTx/>
              <a:latin typeface="Arial"/>
            </a:endParaRPr>
          </a:p>
        </p:txBody>
      </p:sp>
      <p:sp>
        <p:nvSpPr>
          <p:cNvPr id="310" name="Shape 5"/>
          <p:cNvSpPr/>
          <p:nvPr/>
        </p:nvSpPr>
        <p:spPr>
          <a:xfrm>
            <a:off x="548640" y="3108960"/>
            <a:ext cx="11091240" cy="566640"/>
          </a:xfrm>
          <a:prstGeom prst="roundRect">
            <a:avLst>
              <a:gd name="adj" fmla="val 16129"/>
            </a:avLst>
          </a:prstGeom>
          <a:solidFill>
            <a:srgbClr val="F1F5F9"/>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1" name="Text 6"/>
          <p:cNvSpPr/>
          <p:nvPr/>
        </p:nvSpPr>
        <p:spPr>
          <a:xfrm>
            <a:off x="777240" y="3108960"/>
            <a:ext cx="28342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B45309"/>
                </a:solidFill>
                <a:effectLst/>
                <a:uFillTx/>
                <a:latin typeface="Courier New"/>
                <a:ea typeface="Courier New"/>
              </a:rPr>
              <a:t>@v7</a:t>
            </a:r>
            <a:endParaRPr lang="en-IN" sz="1250" b="0" u="none" strike="noStrike">
              <a:solidFill>
                <a:srgbClr val="000000"/>
              </a:solidFill>
              <a:effectLst/>
              <a:uFillTx/>
              <a:latin typeface="Arial"/>
            </a:endParaRPr>
          </a:p>
        </p:txBody>
      </p:sp>
      <p:sp>
        <p:nvSpPr>
          <p:cNvPr id="312" name="Text 7"/>
          <p:cNvSpPr/>
          <p:nvPr/>
        </p:nvSpPr>
        <p:spPr>
          <a:xfrm>
            <a:off x="3749040" y="3108960"/>
            <a:ext cx="17370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93B"/>
                </a:solidFill>
                <a:effectLst/>
                <a:uFillTx/>
                <a:latin typeface="Calibri"/>
                <a:ea typeface="Calibri"/>
              </a:rPr>
              <a:t>moving tag</a:t>
            </a:r>
            <a:endParaRPr lang="en-IN" sz="1300" b="0" u="none" strike="noStrike">
              <a:solidFill>
                <a:srgbClr val="000000"/>
              </a:solidFill>
              <a:effectLst/>
              <a:uFillTx/>
              <a:latin typeface="Arial"/>
            </a:endParaRPr>
          </a:p>
        </p:txBody>
      </p:sp>
      <p:sp>
        <p:nvSpPr>
          <p:cNvPr id="313" name="Text 8"/>
          <p:cNvSpPr/>
          <p:nvPr/>
        </p:nvSpPr>
        <p:spPr>
          <a:xfrm>
            <a:off x="5577840" y="3108960"/>
            <a:ext cx="58518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convenient, and someone else decides what it means</a:t>
            </a:r>
            <a:endParaRPr lang="en-IN" sz="1300" b="0" u="none" strike="noStrike">
              <a:solidFill>
                <a:srgbClr val="000000"/>
              </a:solidFill>
              <a:effectLst/>
              <a:uFillTx/>
              <a:latin typeface="Arial"/>
            </a:endParaRPr>
          </a:p>
        </p:txBody>
      </p:sp>
      <p:sp>
        <p:nvSpPr>
          <p:cNvPr id="314" name="Shape 9"/>
          <p:cNvSpPr/>
          <p:nvPr/>
        </p:nvSpPr>
        <p:spPr>
          <a:xfrm>
            <a:off x="548640" y="3767400"/>
            <a:ext cx="11091240" cy="566640"/>
          </a:xfrm>
          <a:prstGeom prst="roundRect">
            <a:avLst>
              <a:gd name="adj" fmla="val 16129"/>
            </a:avLst>
          </a:prstGeom>
          <a:solidFill>
            <a:srgbClr val="F1F5F9"/>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5" name="Text 10"/>
          <p:cNvSpPr/>
          <p:nvPr/>
        </p:nvSpPr>
        <p:spPr>
          <a:xfrm>
            <a:off x="777240" y="3767400"/>
            <a:ext cx="28342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891B2"/>
                </a:solidFill>
                <a:effectLst/>
                <a:uFillTx/>
                <a:latin typeface="Courier New"/>
                <a:ea typeface="Courier New"/>
              </a:rPr>
              <a:t>@v7.0.1</a:t>
            </a:r>
            <a:endParaRPr lang="en-IN" sz="1250" b="0" u="none" strike="noStrike">
              <a:solidFill>
                <a:srgbClr val="000000"/>
              </a:solidFill>
              <a:effectLst/>
              <a:uFillTx/>
              <a:latin typeface="Arial"/>
            </a:endParaRPr>
          </a:p>
        </p:txBody>
      </p:sp>
      <p:sp>
        <p:nvSpPr>
          <p:cNvPr id="316" name="Text 11"/>
          <p:cNvSpPr/>
          <p:nvPr/>
        </p:nvSpPr>
        <p:spPr>
          <a:xfrm>
            <a:off x="3749040" y="3767400"/>
            <a:ext cx="17370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93B"/>
                </a:solidFill>
                <a:effectLst/>
                <a:uFillTx/>
                <a:latin typeface="Calibri"/>
                <a:ea typeface="Calibri"/>
              </a:rPr>
              <a:t>exact release</a:t>
            </a:r>
            <a:endParaRPr lang="en-IN" sz="1300" b="0" u="none" strike="noStrike">
              <a:solidFill>
                <a:srgbClr val="000000"/>
              </a:solidFill>
              <a:effectLst/>
              <a:uFillTx/>
              <a:latin typeface="Arial"/>
            </a:endParaRPr>
          </a:p>
        </p:txBody>
      </p:sp>
      <p:sp>
        <p:nvSpPr>
          <p:cNvPr id="317" name="Text 12"/>
          <p:cNvSpPr/>
          <p:nvPr/>
        </p:nvSpPr>
        <p:spPr>
          <a:xfrm>
            <a:off x="5577840" y="3767400"/>
            <a:ext cx="58518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better - a specific published version</a:t>
            </a:r>
            <a:endParaRPr lang="en-IN" sz="1300" b="0" u="none" strike="noStrike">
              <a:solidFill>
                <a:srgbClr val="000000"/>
              </a:solidFill>
              <a:effectLst/>
              <a:uFillTx/>
              <a:latin typeface="Arial"/>
            </a:endParaRPr>
          </a:p>
        </p:txBody>
      </p:sp>
      <p:sp>
        <p:nvSpPr>
          <p:cNvPr id="318" name="Shape 13"/>
          <p:cNvSpPr/>
          <p:nvPr/>
        </p:nvSpPr>
        <p:spPr>
          <a:xfrm>
            <a:off x="548640" y="4425840"/>
            <a:ext cx="11091240" cy="566640"/>
          </a:xfrm>
          <a:prstGeom prst="roundRect">
            <a:avLst>
              <a:gd name="adj" fmla="val 16129"/>
            </a:avLst>
          </a:prstGeom>
          <a:solidFill>
            <a:srgbClr val="F0FDF4"/>
          </a:solidFill>
          <a:ln w="12700">
            <a:solidFill>
              <a:srgbClr val="15803D"/>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9" name="Text 14"/>
          <p:cNvSpPr/>
          <p:nvPr/>
        </p:nvSpPr>
        <p:spPr>
          <a:xfrm>
            <a:off x="777240" y="4425840"/>
            <a:ext cx="28342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5803D"/>
                </a:solidFill>
                <a:effectLst/>
                <a:uFillTx/>
                <a:latin typeface="Courier New"/>
                <a:ea typeface="Courier New"/>
              </a:rPr>
              <a:t>@a1b2c3... # v7.0.1</a:t>
            </a:r>
            <a:endParaRPr lang="en-IN" sz="1250" b="0" u="none" strike="noStrike">
              <a:solidFill>
                <a:srgbClr val="000000"/>
              </a:solidFill>
              <a:effectLst/>
              <a:uFillTx/>
              <a:latin typeface="Arial"/>
            </a:endParaRPr>
          </a:p>
        </p:txBody>
      </p:sp>
      <p:sp>
        <p:nvSpPr>
          <p:cNvPr id="320" name="Text 15"/>
          <p:cNvSpPr/>
          <p:nvPr/>
        </p:nvSpPr>
        <p:spPr>
          <a:xfrm>
            <a:off x="3749040" y="4425840"/>
            <a:ext cx="17370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93B"/>
                </a:solidFill>
                <a:effectLst/>
                <a:uFillTx/>
                <a:latin typeface="Calibri"/>
                <a:ea typeface="Calibri"/>
              </a:rPr>
              <a:t>pinned commit</a:t>
            </a:r>
            <a:endParaRPr lang="en-IN" sz="1300" b="0" u="none" strike="noStrike">
              <a:solidFill>
                <a:srgbClr val="000000"/>
              </a:solidFill>
              <a:effectLst/>
              <a:uFillTx/>
              <a:latin typeface="Arial"/>
            </a:endParaRPr>
          </a:p>
        </p:txBody>
      </p:sp>
      <p:sp>
        <p:nvSpPr>
          <p:cNvPr id="321" name="Text 16"/>
          <p:cNvSpPr/>
          <p:nvPr/>
        </p:nvSpPr>
        <p:spPr>
          <a:xfrm>
            <a:off x="5577840" y="4425840"/>
            <a:ext cx="58518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1E293B"/>
                </a:solidFill>
                <a:effectLst/>
                <a:uFillTx/>
                <a:latin typeface="Calibri"/>
                <a:ea typeface="Calibri"/>
              </a:rPr>
              <a:t>GitHub's own hardening guidance</a:t>
            </a:r>
            <a:endParaRPr lang="en-IN" sz="1300" b="0" u="none" strike="noStrike">
              <a:solidFill>
                <a:srgbClr val="000000"/>
              </a:solidFill>
              <a:effectLst/>
              <a:uFillTx/>
              <a:latin typeface="Arial"/>
            </a:endParaRPr>
          </a:p>
        </p:txBody>
      </p:sp>
      <p:sp>
        <p:nvSpPr>
          <p:cNvPr id="322" name="Shape 17"/>
          <p:cNvSpPr/>
          <p:nvPr/>
        </p:nvSpPr>
        <p:spPr>
          <a:xfrm>
            <a:off x="548640" y="5166360"/>
            <a:ext cx="11091240" cy="959760"/>
          </a:xfrm>
          <a:prstGeom prst="roundRect">
            <a:avLst>
              <a:gd name="adj" fmla="val 9524"/>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3" name="Text 18"/>
          <p:cNvSpPr/>
          <p:nvPr/>
        </p:nvSpPr>
        <p:spPr>
          <a:xfrm>
            <a:off x="868680" y="5166360"/>
            <a:ext cx="10423800" cy="959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Secrets never go in the file.  </a:t>
            </a:r>
            <a:r>
              <a:rPr lang="en-US" sz="1500" b="0" u="none" strike="noStrike">
                <a:solidFill>
                  <a:srgbClr val="1E293B"/>
                </a:solidFill>
                <a:effectLst/>
                <a:uFillTx/>
                <a:latin typeface="Calibri"/>
                <a:ea typeface="Calibri"/>
              </a:rPr>
              <a:t>Settings -&gt; Secrets -&gt; Actions, then ${{ secrets.NAME }}. GitHub masks them in logs, and pull requests from forks cannot read them at all - otherwise anyone could open a PR that prints your keys.</a:t>
            </a:r>
            <a:endParaRPr lang="en-IN" sz="1500" b="0" u="none" strike="noStrike">
              <a:solidFill>
                <a:srgbClr val="000000"/>
              </a:solidFill>
              <a:effectLst/>
              <a:uFillTx/>
              <a:latin typeface="Arial"/>
            </a:endParaRPr>
          </a:p>
        </p:txBody>
      </p:sp>
      <p:sp>
        <p:nvSpPr>
          <p:cNvPr id="324" name="Text 19"/>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325" name="Text 20"/>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Week 1 meets Week 2, and it is an anticlimax</a:t>
            </a:r>
            <a:endParaRPr lang="en-IN" sz="3000" b="0" u="none" strike="noStrike">
              <a:solidFill>
                <a:srgbClr val="000000"/>
              </a:solidFill>
              <a:effectLst/>
              <a:uFillTx/>
              <a:latin typeface="Arial"/>
            </a:endParaRPr>
          </a:p>
        </p:txBody>
      </p:sp>
      <p:sp>
        <p:nvSpPr>
          <p:cNvPr id="327" name="Shape 1"/>
          <p:cNvSpPr/>
          <p:nvPr/>
        </p:nvSpPr>
        <p:spPr>
          <a:xfrm>
            <a:off x="548640" y="1554480"/>
            <a:ext cx="11091240" cy="1737000"/>
          </a:xfrm>
          <a:prstGeom prst="roundRect">
            <a:avLst>
              <a:gd name="adj" fmla="val 3158"/>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8" name="Text 2"/>
          <p:cNvSpPr/>
          <p:nvPr/>
        </p:nvSpPr>
        <p:spPr>
          <a:xfrm>
            <a:off x="804600" y="1737360"/>
            <a:ext cx="10579320" cy="13712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150" b="0" u="none" strike="noStrike">
                <a:solidFill>
                  <a:srgbClr val="1E293B"/>
                </a:solidFill>
                <a:effectLst/>
                <a:uFillTx/>
                <a:latin typeface="Courier New"/>
                <a:ea typeface="Courier New"/>
              </a:rPr>
              <a:t>@router.post("/ask")</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def ask(incoming: AskIn, db: Session = Depends(get_db),</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user: User = Depends(get_current_user)):        # the SAME padlock</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context = "\n".join(f"- {c.code}: {c.title}" for c in db.scalars(select(Course)).all())</a:t>
            </a:r>
            <a:endParaRPr lang="en-IN" sz="1150" b="0" u="none" strike="noStrike">
              <a:solidFill>
                <a:srgbClr val="000000"/>
              </a:solidFill>
              <a:effectLst/>
              <a:uFillTx/>
              <a:latin typeface="Arial"/>
            </a:endParaRPr>
          </a:p>
          <a:p>
            <a:pPr defTabSz="914400">
              <a:lnSpc>
                <a:spcPct val="115000"/>
              </a:lnSpc>
              <a:tabLst>
                <a:tab pos="0" algn="l"/>
              </a:tabLst>
            </a:pPr>
            <a:r>
              <a:rPr lang="en-US" sz="1150" b="0" u="none" strike="noStrike">
                <a:solidFill>
                  <a:srgbClr val="1E293B"/>
                </a:solidFill>
                <a:effectLst/>
                <a:uFillTx/>
                <a:latin typeface="Courier New"/>
                <a:ea typeface="Courier New"/>
              </a:rPr>
              <a:t>    prompt = f"Answer using ONLY this list.\n\n{context}\n\nQuestion: {incoming.question}"</a:t>
            </a:r>
            <a:endParaRPr lang="en-IN" sz="1150" b="0" u="none" strike="noStrike">
              <a:solidFill>
                <a:srgbClr val="000000"/>
              </a:solidFill>
              <a:effectLst/>
              <a:uFillTx/>
              <a:latin typeface="Arial"/>
            </a:endParaRPr>
          </a:p>
        </p:txBody>
      </p:sp>
      <p:sp>
        <p:nvSpPr>
          <p:cNvPr id="329" name="Shape 3"/>
          <p:cNvSpPr/>
          <p:nvPr/>
        </p:nvSpPr>
        <p:spPr>
          <a:xfrm>
            <a:off x="548640" y="3474720"/>
            <a:ext cx="11091240" cy="529920"/>
          </a:xfrm>
          <a:prstGeom prst="roundRect">
            <a:avLst>
              <a:gd name="adj" fmla="val 172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0" name="Text 4"/>
          <p:cNvSpPr/>
          <p:nvPr/>
        </p:nvSpPr>
        <p:spPr>
          <a:xfrm>
            <a:off x="822960" y="3474720"/>
            <a:ext cx="164556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Retrieve</a:t>
            </a:r>
            <a:endParaRPr lang="en-IN" sz="1500" b="0" u="none" strike="noStrike">
              <a:solidFill>
                <a:srgbClr val="000000"/>
              </a:solidFill>
              <a:effectLst/>
              <a:uFillTx/>
              <a:latin typeface="Arial"/>
            </a:endParaRPr>
          </a:p>
        </p:txBody>
      </p:sp>
      <p:sp>
        <p:nvSpPr>
          <p:cNvPr id="331" name="Text 5"/>
          <p:cNvSpPr/>
          <p:nvPr/>
        </p:nvSpPr>
        <p:spPr>
          <a:xfrm>
            <a:off x="2560320" y="3474720"/>
            <a:ext cx="886932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from your own database, instead of a vector store</a:t>
            </a:r>
            <a:endParaRPr lang="en-IN" sz="1350" b="0" u="none" strike="noStrike">
              <a:solidFill>
                <a:srgbClr val="000000"/>
              </a:solidFill>
              <a:effectLst/>
              <a:uFillTx/>
              <a:latin typeface="Arial"/>
            </a:endParaRPr>
          </a:p>
        </p:txBody>
      </p:sp>
      <p:sp>
        <p:nvSpPr>
          <p:cNvPr id="332" name="Shape 6"/>
          <p:cNvSpPr/>
          <p:nvPr/>
        </p:nvSpPr>
        <p:spPr>
          <a:xfrm>
            <a:off x="548640" y="4078080"/>
            <a:ext cx="11091240" cy="529920"/>
          </a:xfrm>
          <a:prstGeom prst="roundRect">
            <a:avLst>
              <a:gd name="adj" fmla="val 172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3" name="Text 7"/>
          <p:cNvSpPr/>
          <p:nvPr/>
        </p:nvSpPr>
        <p:spPr>
          <a:xfrm>
            <a:off x="822960" y="4078080"/>
            <a:ext cx="164556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891B2"/>
                </a:solidFill>
                <a:effectLst/>
                <a:uFillTx/>
                <a:latin typeface="Calibri"/>
                <a:ea typeface="Calibri"/>
              </a:rPr>
              <a:t>Augment</a:t>
            </a:r>
            <a:endParaRPr lang="en-IN" sz="1500" b="0" u="none" strike="noStrike">
              <a:solidFill>
                <a:srgbClr val="000000"/>
              </a:solidFill>
              <a:effectLst/>
              <a:uFillTx/>
              <a:latin typeface="Arial"/>
            </a:endParaRPr>
          </a:p>
        </p:txBody>
      </p:sp>
      <p:sp>
        <p:nvSpPr>
          <p:cNvPr id="334" name="Text 8"/>
          <p:cNvSpPr/>
          <p:nvPr/>
        </p:nvSpPr>
        <p:spPr>
          <a:xfrm>
            <a:off x="2560320" y="4078080"/>
            <a:ext cx="886932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the context goes into the prompt</a:t>
            </a:r>
            <a:endParaRPr lang="en-IN" sz="1350" b="0" u="none" strike="noStrike">
              <a:solidFill>
                <a:srgbClr val="000000"/>
              </a:solidFill>
              <a:effectLst/>
              <a:uFillTx/>
              <a:latin typeface="Arial"/>
            </a:endParaRPr>
          </a:p>
        </p:txBody>
      </p:sp>
      <p:sp>
        <p:nvSpPr>
          <p:cNvPr id="335" name="Shape 9"/>
          <p:cNvSpPr/>
          <p:nvPr/>
        </p:nvSpPr>
        <p:spPr>
          <a:xfrm>
            <a:off x="548640" y="4681800"/>
            <a:ext cx="11091240" cy="529920"/>
          </a:xfrm>
          <a:prstGeom prst="roundRect">
            <a:avLst>
              <a:gd name="adj" fmla="val 172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6" name="Text 10"/>
          <p:cNvSpPr/>
          <p:nvPr/>
        </p:nvSpPr>
        <p:spPr>
          <a:xfrm>
            <a:off x="822960" y="4681800"/>
            <a:ext cx="164556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Generate</a:t>
            </a:r>
            <a:endParaRPr lang="en-IN" sz="1500" b="0" u="none" strike="noStrike">
              <a:solidFill>
                <a:srgbClr val="000000"/>
              </a:solidFill>
              <a:effectLst/>
              <a:uFillTx/>
              <a:latin typeface="Arial"/>
            </a:endParaRPr>
          </a:p>
        </p:txBody>
      </p:sp>
      <p:sp>
        <p:nvSpPr>
          <p:cNvPr id="337" name="Text 11"/>
          <p:cNvSpPr/>
          <p:nvPr/>
        </p:nvSpPr>
        <p:spPr>
          <a:xfrm>
            <a:off x="2560320" y="4681800"/>
            <a:ext cx="8869320" cy="529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and the model answers from YOUR data, not its memory</a:t>
            </a:r>
            <a:endParaRPr lang="en-IN" sz="1350" b="0" u="none" strike="noStrike">
              <a:solidFill>
                <a:srgbClr val="000000"/>
              </a:solidFill>
              <a:effectLst/>
              <a:uFillTx/>
              <a:latin typeface="Arial"/>
            </a:endParaRPr>
          </a:p>
        </p:txBody>
      </p:sp>
      <p:sp>
        <p:nvSpPr>
          <p:cNvPr id="338" name="Shape 12"/>
          <p:cNvSpPr/>
          <p:nvPr/>
        </p:nvSpPr>
        <p:spPr>
          <a:xfrm>
            <a:off x="548640" y="5394960"/>
            <a:ext cx="11091240" cy="731160"/>
          </a:xfrm>
          <a:prstGeom prst="roundRect">
            <a:avLst>
              <a:gd name="adj" fmla="val 125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39" name="Text 13"/>
          <p:cNvSpPr/>
          <p:nvPr/>
        </p:nvSpPr>
        <p:spPr>
          <a:xfrm>
            <a:off x="868680" y="5394960"/>
            <a:ext cx="1042380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An AI feature is not a different kind of software.  </a:t>
            </a:r>
            <a:r>
              <a:rPr lang="en-US" sz="1500" b="0" u="none" strike="noStrike">
                <a:solidFill>
                  <a:srgbClr val="1E293B"/>
                </a:solidFill>
                <a:effectLst/>
                <a:uFillTx/>
                <a:latin typeface="Calibri"/>
                <a:ea typeface="Calibri"/>
              </a:rPr>
              <a:t>It is an endpoint that happens to call a model — and the AI part is ten lines of it.</a:t>
            </a:r>
            <a:endParaRPr lang="en-IN" sz="1500" b="0" u="none" strike="noStrike">
              <a:solidFill>
                <a:srgbClr val="000000"/>
              </a:solidFill>
              <a:effectLst/>
              <a:uFillTx/>
              <a:latin typeface="Arial"/>
            </a:endParaRPr>
          </a:p>
        </p:txBody>
      </p:sp>
      <p:sp>
        <p:nvSpPr>
          <p:cNvPr id="340" name="Text 14"/>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341"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Where you started, and where you are now</a:t>
            </a:r>
            <a:endParaRPr lang="en-IN" sz="3000" b="0" u="none" strike="noStrike">
              <a:solidFill>
                <a:srgbClr val="000000"/>
              </a:solidFill>
              <a:effectLst/>
              <a:uFillTx/>
              <a:latin typeface="Arial"/>
            </a:endParaRPr>
          </a:p>
        </p:txBody>
      </p:sp>
      <p:sp>
        <p:nvSpPr>
          <p:cNvPr id="343" name="Shape 1"/>
          <p:cNvSpPr/>
          <p:nvPr/>
        </p:nvSpPr>
        <p:spPr>
          <a:xfrm>
            <a:off x="548640" y="1554480"/>
            <a:ext cx="11091240" cy="776880"/>
          </a:xfrm>
          <a:prstGeom prst="roundRect">
            <a:avLst>
              <a:gd name="adj" fmla="val 705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4" name="Text 2"/>
          <p:cNvSpPr/>
          <p:nvPr/>
        </p:nvSpPr>
        <p:spPr>
          <a:xfrm>
            <a:off x="804600" y="1737360"/>
            <a:ext cx="10579320" cy="4111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250" b="0" u="none" strike="noStrike">
                <a:solidFill>
                  <a:srgbClr val="1E293B"/>
                </a:solidFill>
                <a:effectLst/>
                <a:uFillTx/>
                <a:latin typeface="Courier New"/>
                <a:ea typeface="Courier New"/>
              </a:rPr>
              <a:t>class Student:                                      https://your-api.onrender.com/docs</a:t>
            </a:r>
            <a:endParaRPr lang="en-IN" sz="1250" b="0" u="none" strike="noStrike">
              <a:solidFill>
                <a:srgbClr val="000000"/>
              </a:solidFill>
              <a:effectLst/>
              <a:uFillTx/>
              <a:latin typeface="Arial"/>
            </a:endParaRPr>
          </a:p>
          <a:p>
            <a:pPr defTabSz="914400">
              <a:lnSpc>
                <a:spcPct val="115000"/>
              </a:lnSpc>
              <a:tabLst>
                <a:tab pos="0" algn="l"/>
              </a:tabLst>
            </a:pPr>
            <a:r>
              <a:rPr lang="en-US" sz="1250" b="0" u="none" strike="noStrike">
                <a:solidFill>
                  <a:srgbClr val="1E293B"/>
                </a:solidFill>
                <a:effectLst/>
                <a:uFillTx/>
                <a:latin typeface="Courier New"/>
                <a:ea typeface="Courier New"/>
              </a:rPr>
              <a:t>    def __init__(self, name): ...          ----&gt;     behind a login, on a real database</a:t>
            </a:r>
            <a:endParaRPr lang="en-IN" sz="1250" b="0" u="none" strike="noStrike">
              <a:solidFill>
                <a:srgbClr val="000000"/>
              </a:solidFill>
              <a:effectLst/>
              <a:uFillTx/>
              <a:latin typeface="Arial"/>
            </a:endParaRPr>
          </a:p>
        </p:txBody>
      </p:sp>
      <p:sp>
        <p:nvSpPr>
          <p:cNvPr id="345" name="Shape 3"/>
          <p:cNvSpPr/>
          <p:nvPr/>
        </p:nvSpPr>
        <p:spPr>
          <a:xfrm>
            <a:off x="548640" y="2560320"/>
            <a:ext cx="11091240" cy="566640"/>
          </a:xfrm>
          <a:prstGeom prst="roundRect">
            <a:avLst>
              <a:gd name="adj" fmla="val 1612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6" name="Text 4"/>
          <p:cNvSpPr/>
          <p:nvPr/>
        </p:nvSpPr>
        <p:spPr>
          <a:xfrm>
            <a:off x="822960" y="2560320"/>
            <a:ext cx="32914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6366F1"/>
                </a:solidFill>
                <a:effectLst/>
                <a:uFillTx/>
                <a:latin typeface="Calibri"/>
                <a:ea typeface="Calibri"/>
              </a:rPr>
              <a:t>A class became an API</a:t>
            </a:r>
            <a:endParaRPr lang="en-IN" sz="1450" b="0" u="none" strike="noStrike">
              <a:solidFill>
                <a:srgbClr val="000000"/>
              </a:solidFill>
              <a:effectLst/>
              <a:uFillTx/>
              <a:latin typeface="Arial"/>
            </a:endParaRPr>
          </a:p>
        </p:txBody>
      </p:sp>
      <p:sp>
        <p:nvSpPr>
          <p:cNvPr id="347" name="Text 5"/>
          <p:cNvSpPr/>
          <p:nvPr/>
        </p:nvSpPr>
        <p:spPr>
          <a:xfrm>
            <a:off x="4206240" y="2560320"/>
            <a:ext cx="72234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objects → endpoints → validation that writes itself</a:t>
            </a:r>
            <a:endParaRPr lang="en-IN" sz="1350" b="0" u="none" strike="noStrike">
              <a:solidFill>
                <a:srgbClr val="000000"/>
              </a:solidFill>
              <a:effectLst/>
              <a:uFillTx/>
              <a:latin typeface="Arial"/>
            </a:endParaRPr>
          </a:p>
        </p:txBody>
      </p:sp>
      <p:sp>
        <p:nvSpPr>
          <p:cNvPr id="348" name="Shape 6"/>
          <p:cNvSpPr/>
          <p:nvPr/>
        </p:nvSpPr>
        <p:spPr>
          <a:xfrm>
            <a:off x="548640" y="3218760"/>
            <a:ext cx="11091240" cy="566640"/>
          </a:xfrm>
          <a:prstGeom prst="roundRect">
            <a:avLst>
              <a:gd name="adj" fmla="val 1612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49" name="Text 7"/>
          <p:cNvSpPr/>
          <p:nvPr/>
        </p:nvSpPr>
        <p:spPr>
          <a:xfrm>
            <a:off x="822960" y="3218760"/>
            <a:ext cx="32914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6366F1"/>
                </a:solidFill>
                <a:effectLst/>
                <a:uFillTx/>
                <a:latin typeface="Calibri"/>
                <a:ea typeface="Calibri"/>
              </a:rPr>
              <a:t>The API got a memory</a:t>
            </a:r>
            <a:endParaRPr lang="en-IN" sz="1450" b="0" u="none" strike="noStrike">
              <a:solidFill>
                <a:srgbClr val="000000"/>
              </a:solidFill>
              <a:effectLst/>
              <a:uFillTx/>
              <a:latin typeface="Arial"/>
            </a:endParaRPr>
          </a:p>
        </p:txBody>
      </p:sp>
      <p:sp>
        <p:nvSpPr>
          <p:cNvPr id="350" name="Text 8"/>
          <p:cNvSpPr/>
          <p:nvPr/>
        </p:nvSpPr>
        <p:spPr>
          <a:xfrm>
            <a:off x="4206240" y="3218760"/>
            <a:ext cx="72234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SQL, PostgreSQL, SQLAlchemy — it survives a restart</a:t>
            </a:r>
            <a:endParaRPr lang="en-IN" sz="1350" b="0" u="none" strike="noStrike">
              <a:solidFill>
                <a:srgbClr val="000000"/>
              </a:solidFill>
              <a:effectLst/>
              <a:uFillTx/>
              <a:latin typeface="Arial"/>
            </a:endParaRPr>
          </a:p>
        </p:txBody>
      </p:sp>
      <p:sp>
        <p:nvSpPr>
          <p:cNvPr id="351" name="Shape 9"/>
          <p:cNvSpPr/>
          <p:nvPr/>
        </p:nvSpPr>
        <p:spPr>
          <a:xfrm>
            <a:off x="548640" y="3877200"/>
            <a:ext cx="11091240" cy="566640"/>
          </a:xfrm>
          <a:prstGeom prst="roundRect">
            <a:avLst>
              <a:gd name="adj" fmla="val 1612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2" name="Text 10"/>
          <p:cNvSpPr/>
          <p:nvPr/>
        </p:nvSpPr>
        <p:spPr>
          <a:xfrm>
            <a:off x="822960" y="3877200"/>
            <a:ext cx="32914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0891B2"/>
                </a:solidFill>
                <a:effectLst/>
                <a:uFillTx/>
                <a:latin typeface="Calibri"/>
                <a:ea typeface="Calibri"/>
              </a:rPr>
              <a:t>It learned who is asking</a:t>
            </a:r>
            <a:endParaRPr lang="en-IN" sz="1450" b="0" u="none" strike="noStrike">
              <a:solidFill>
                <a:srgbClr val="000000"/>
              </a:solidFill>
              <a:effectLst/>
              <a:uFillTx/>
              <a:latin typeface="Arial"/>
            </a:endParaRPr>
          </a:p>
        </p:txBody>
      </p:sp>
      <p:sp>
        <p:nvSpPr>
          <p:cNvPr id="353" name="Text 11"/>
          <p:cNvSpPr/>
          <p:nvPr/>
        </p:nvSpPr>
        <p:spPr>
          <a:xfrm>
            <a:off x="4206240" y="3877200"/>
            <a:ext cx="72234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hashing, JWT, get_current_user, roles</a:t>
            </a:r>
            <a:endParaRPr lang="en-IN" sz="1350" b="0" u="none" strike="noStrike">
              <a:solidFill>
                <a:srgbClr val="000000"/>
              </a:solidFill>
              <a:effectLst/>
              <a:uFillTx/>
              <a:latin typeface="Arial"/>
            </a:endParaRPr>
          </a:p>
        </p:txBody>
      </p:sp>
      <p:sp>
        <p:nvSpPr>
          <p:cNvPr id="354" name="Shape 12"/>
          <p:cNvSpPr/>
          <p:nvPr/>
        </p:nvSpPr>
        <p:spPr>
          <a:xfrm>
            <a:off x="548640" y="4535280"/>
            <a:ext cx="11091240" cy="566640"/>
          </a:xfrm>
          <a:prstGeom prst="roundRect">
            <a:avLst>
              <a:gd name="adj" fmla="val 1612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5" name="Text 13"/>
          <p:cNvSpPr/>
          <p:nvPr/>
        </p:nvSpPr>
        <p:spPr>
          <a:xfrm>
            <a:off x="822960" y="4535280"/>
            <a:ext cx="32914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0891B2"/>
                </a:solidFill>
                <a:effectLst/>
                <a:uFillTx/>
                <a:latin typeface="Calibri"/>
                <a:ea typeface="Calibri"/>
              </a:rPr>
              <a:t>It got packed in a box</a:t>
            </a:r>
            <a:endParaRPr lang="en-IN" sz="1450" b="0" u="none" strike="noStrike">
              <a:solidFill>
                <a:srgbClr val="000000"/>
              </a:solidFill>
              <a:effectLst/>
              <a:uFillTx/>
              <a:latin typeface="Arial"/>
            </a:endParaRPr>
          </a:p>
        </p:txBody>
      </p:sp>
      <p:sp>
        <p:nvSpPr>
          <p:cNvPr id="356" name="Text 14"/>
          <p:cNvSpPr/>
          <p:nvPr/>
        </p:nvSpPr>
        <p:spPr>
          <a:xfrm>
            <a:off x="4206240" y="4535280"/>
            <a:ext cx="72234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a Dockerfile, and three services with one command</a:t>
            </a:r>
            <a:endParaRPr lang="en-IN" sz="1350" b="0" u="none" strike="noStrike">
              <a:solidFill>
                <a:srgbClr val="000000"/>
              </a:solidFill>
              <a:effectLst/>
              <a:uFillTx/>
              <a:latin typeface="Arial"/>
            </a:endParaRPr>
          </a:p>
        </p:txBody>
      </p:sp>
      <p:sp>
        <p:nvSpPr>
          <p:cNvPr id="357" name="Shape 15"/>
          <p:cNvSpPr/>
          <p:nvPr/>
        </p:nvSpPr>
        <p:spPr>
          <a:xfrm>
            <a:off x="548640" y="5193720"/>
            <a:ext cx="11091240" cy="566640"/>
          </a:xfrm>
          <a:prstGeom prst="roundRect">
            <a:avLst>
              <a:gd name="adj" fmla="val 16129"/>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58" name="Text 16"/>
          <p:cNvSpPr/>
          <p:nvPr/>
        </p:nvSpPr>
        <p:spPr>
          <a:xfrm>
            <a:off x="822960" y="5193720"/>
            <a:ext cx="329148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15803D"/>
                </a:solidFill>
                <a:effectLst/>
                <a:uFillTx/>
                <a:latin typeface="Calibri"/>
                <a:ea typeface="Calibri"/>
              </a:rPr>
              <a:t>And it went public</a:t>
            </a:r>
            <a:endParaRPr lang="en-IN" sz="1450" b="0" u="none" strike="noStrike">
              <a:solidFill>
                <a:srgbClr val="000000"/>
              </a:solidFill>
              <a:effectLst/>
              <a:uFillTx/>
              <a:latin typeface="Arial"/>
            </a:endParaRPr>
          </a:p>
        </p:txBody>
      </p:sp>
      <p:sp>
        <p:nvSpPr>
          <p:cNvPr id="359" name="Text 17"/>
          <p:cNvSpPr/>
          <p:nvPr/>
        </p:nvSpPr>
        <p:spPr>
          <a:xfrm>
            <a:off x="4206240" y="5193720"/>
            <a:ext cx="72234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alibri"/>
                <a:ea typeface="Calibri"/>
              </a:rPr>
              <a:t>a URL that works on any phone, on any network</a:t>
            </a:r>
            <a:endParaRPr lang="en-IN" sz="1350" b="0" u="none" strike="noStrike">
              <a:solidFill>
                <a:srgbClr val="000000"/>
              </a:solidFill>
              <a:effectLst/>
              <a:uFillTx/>
              <a:latin typeface="Arial"/>
            </a:endParaRPr>
          </a:p>
        </p:txBody>
      </p:sp>
      <p:sp>
        <p:nvSpPr>
          <p:cNvPr id="360" name="Shape 18"/>
          <p:cNvSpPr/>
          <p:nvPr/>
        </p:nvSpPr>
        <p:spPr>
          <a:xfrm>
            <a:off x="548640" y="5897880"/>
            <a:ext cx="11091240" cy="548280"/>
          </a:xfrm>
          <a:prstGeom prst="roundRect">
            <a:avLst>
              <a:gd name="adj" fmla="val 1666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61" name="Text 19"/>
          <p:cNvSpPr/>
          <p:nvPr/>
        </p:nvSpPr>
        <p:spPr>
          <a:xfrm>
            <a:off x="868680" y="5897880"/>
            <a:ext cx="1042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That URL is what goes in your CV.  </a:t>
            </a:r>
            <a:r>
              <a:rPr lang="en-US" sz="1500" b="0" u="none" strike="noStrike">
                <a:solidFill>
                  <a:srgbClr val="1E293B"/>
                </a:solidFill>
                <a:effectLst/>
                <a:uFillTx/>
                <a:latin typeface="Calibri"/>
                <a:ea typeface="Calibri"/>
              </a:rPr>
              <a:t>Not the code — the link. Capstone brief is next, and the test is take-home.</a:t>
            </a:r>
            <a:endParaRPr lang="en-IN" sz="1500" b="0" u="none" strike="noStrike">
              <a:solidFill>
                <a:srgbClr val="000000"/>
              </a:solidFill>
              <a:effectLst/>
              <a:uFillTx/>
              <a:latin typeface="Arial"/>
            </a:endParaRPr>
          </a:p>
        </p:txBody>
      </p:sp>
      <p:sp>
        <p:nvSpPr>
          <p:cNvPr id="362" name="Text 20"/>
          <p:cNvSpPr/>
          <p:nvPr/>
        </p:nvSpPr>
        <p:spPr>
          <a:xfrm>
            <a:off x="548640" y="6473880"/>
            <a:ext cx="6857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Auth, Docker &amp; Deploy  ·  hashing  ·  JWT  ·  roles  ·  Docker  ·  shipping it</a:t>
            </a:r>
            <a:endParaRPr lang="en-IN" sz="900" b="0" u="none" strike="noStrike">
              <a:solidFill>
                <a:srgbClr val="000000"/>
              </a:solidFill>
              <a:effectLst/>
              <a:uFillTx/>
              <a:latin typeface="Arial"/>
            </a:endParaRPr>
          </a:p>
        </p:txBody>
      </p:sp>
      <p:sp>
        <p:nvSpPr>
          <p:cNvPr id="363" name="Text 2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LibreOffice/26.2.5.2$MacOSX_X86_64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2026-08-05T04:52:41Z</dcterms:created>
  <dc:creator>Bhupendra Dahal</dc:creator>
  <dc:description/>
  <dc:language>en-IN</dc:language>
  <cp:lastModifiedBy>Bhupendra Dahal</cp:lastModifiedBy>
  <dcterms:modified xsi:type="dcterms:W3CDTF">2026-08-05T04:52:41Z</dcterms:modified>
  <cp:revision>1</cp:revision>
  <dc:subject>PptxGenJS Presentation</dc:subject>
  <dc:title>Auth, Docker &amp; Deploy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25</vt:r8>
  </property>
  <property fmtid="{D5CDD505-2E9C-101B-9397-08002B2CF9AE}" pid="3" name="PresentationFormat">
    <vt:lpwstr>On-screen Show (16:9)</vt:lpwstr>
  </property>
  <property fmtid="{D5CDD505-2E9C-101B-9397-08002B2CF9AE}" pid="4" name="Slides">
    <vt:r8>25</vt:r8>
  </property>
</Properties>
</file>