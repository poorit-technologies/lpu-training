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s/slide16.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13.xml" ContentType="application/vnd.openxmlformats-officedocument.presentationml.slide+xml"/>
  <Override PartName="/ppt/slides/slide21.xml" ContentType="application/vnd.openxmlformats-officedocument.presentationml.slide+xml"/>
  <Override PartName="/ppt/slides/slide14.xml" ContentType="application/vnd.openxmlformats-officedocument.presentationml.slide+xml"/>
  <Override PartName="/ppt/slides/slide4.xml" ContentType="application/vnd.openxmlformats-officedocument.presentationml.slide+xml"/>
  <Override PartName="/ppt/slides/slide35.xml" ContentType="application/vnd.openxmlformats-officedocument.presentationml.slide+xml"/>
  <Override PartName="/ppt/slides/slide27.xml" ContentType="application/vnd.openxmlformats-officedocument.presentationml.slide+xml"/>
  <Override PartName="/ppt/slides/slide22.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8.xml" ContentType="application/vnd.openxmlformats-officedocument.presentationml.slide+xml"/>
  <Override PartName="/ppt/slides/slide31.xml" ContentType="application/vnd.openxmlformats-officedocument.presentationml.slide+xml"/>
  <Override PartName="/ppt/slides/slide3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21.xml" ContentType="application/vnd.openxmlformats-officedocument.presentationml.notesSlide+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15.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0.xml" ContentType="application/vnd.openxmlformats-officedocument.presentationml.notesSlide+xml"/>
  <Override PartName="/ppt/notesSlides/notesSlide3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30.xml" ContentType="application/vnd.openxmlformats-officedocument.presentationml.notesSlide+xml"/>
  <Override PartName="/ppt/notesSlides/notesSlide14.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29.xml" ContentType="application/vnd.openxmlformats-officedocument.presentationml.notesSlide+xml"/>
  <Override PartName="/ppt/notesSlides/notesSlide27.xml" ContentType="application/vnd.openxmlformats-officedocument.presentationml.notesSlide+xml"/>
  <Override PartName="/ppt/notesSlides/notesSlide32.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5.xml" ContentType="application/vnd.openxmlformats-officedocument.presentationml.notesSlide+xml"/>
  <Override PartName="/ppt/notesSlides/notesSlide33.xml" ContentType="application/vnd.openxmlformats-officedocument.presentationml.notesSlide+xml"/>
  <Override PartName="/ppt/notesSlides/notesSlide31.xml" ContentType="application/vnd.openxmlformats-officedocument.presentationml.notesSlide+xml"/>
  <Override PartName="/ppt/notesSlides/notesSlide22.xml" ContentType="application/vnd.openxmlformats-officedocument.presentationml.notesSlide+xml"/>
  <Override PartName="/ppt/notesSlides/notesSlide1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IN" sz="1800" b="0" u="none" strike="noStrike">
                <a:solidFill>
                  <a:schemeClr val="dk1"/>
                </a:solidFill>
                <a:effectLst/>
                <a:uFillTx/>
                <a:latin typeface="Calibri"/>
              </a:rPr>
              <a:t>Click to move the slide</a:t>
            </a:r>
            <a:endParaRPr lang="en-IN"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01E3CD55-D2B6-4647-8888-37DE369569A2}" type="slidenum">
              <a:rPr lang="en-IN" sz="1400" b="0" u="none" strike="noStrike">
                <a:solidFill>
                  <a:srgbClr val="000000"/>
                </a:solidFill>
                <a:effectLst/>
                <a:uFillTx/>
                <a:latin typeface="Times New Roman"/>
              </a:rPr>
              <a:t>1</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sldImg"/>
          </p:nvPr>
        </p:nvSpPr>
        <p:spPr>
          <a:xfrm>
            <a:off x="685800" y="1143000"/>
            <a:ext cx="5486040" cy="3085920"/>
          </a:xfrm>
          <a:prstGeom prst="rect">
            <a:avLst/>
          </a:prstGeom>
          <a:ln w="0">
            <a:noFill/>
          </a:ln>
        </p:spPr>
      </p:sp>
      <p:sp>
        <p:nvSpPr>
          <p:cNvPr id="4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Set the arc before anything else: three things today, and they stack. OOP teaches the SHAPE of a thing. FastAPI gives that shape a job. Pydantic makes it enforce itself. Say the promise in the italic line out loud - it is the hook for the whole session and you will call back to it in the recap. Do NOT open with syntax; open with the hook on the next slide.</a:t>
            </a:r>
            <a:endParaRPr lang="en-IN" sz="2000" b="0" u="none" strike="noStrike">
              <a:solidFill>
                <a:srgbClr val="000000"/>
              </a:solidFill>
              <a:effectLst/>
              <a:uFillTx/>
              <a:latin typeface="Arial"/>
            </a:endParaRPr>
          </a:p>
        </p:txBody>
      </p:sp>
      <p:sp>
        <p:nvSpPr>
          <p:cNvPr id="472"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1441519-94D7-435F-A6B6-A066A4C6822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Img"/>
          </p:nvPr>
        </p:nvSpPr>
        <p:spPr>
          <a:xfrm>
            <a:off x="685800" y="1143000"/>
            <a:ext cx="5486040" cy="3085920"/>
          </a:xfrm>
          <a:prstGeom prst="rect">
            <a:avLst/>
          </a:prstGeom>
          <a:ln w="0">
            <a:noFill/>
          </a:ln>
        </p:spPr>
      </p:sp>
      <p:sp>
        <p:nvSpPr>
          <p:cNvPr id="4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Think-pair-share, 90 seconds. Let them commit to an answer before you steer. Expect: (1) 'put it online' - good, but WHAT do you put online? A script that runs and dies helps nobody. (2) 'make a website' - a website is a face; something has to answer it. (3) 'host it on a server' - closest; ask what the thing on the server actually DOES all day. Land it: a backend is a program that STAYS RUNNING, WAITS, and ANSWERS. Then the follow-up question that opens slide 4: when you tap like on a post, what exactly travels to the server and what comes back? Steer to: a small message out, a small message back. Do not say the word API until they have described one.</a:t>
            </a:r>
            <a:endParaRPr lang="en-IN" sz="2000" b="0" u="none" strike="noStrike">
              <a:solidFill>
                <a:srgbClr val="000000"/>
              </a:solidFill>
              <a:effectLst/>
              <a:uFillTx/>
              <a:latin typeface="Arial"/>
            </a:endParaRPr>
          </a:p>
        </p:txBody>
      </p:sp>
      <p:sp>
        <p:nvSpPr>
          <p:cNvPr id="475"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13E8EF7-19C6-4632-A329-06A2D2EF9E29}"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sldImg"/>
          </p:nvPr>
        </p:nvSpPr>
        <p:spPr>
          <a:xfrm>
            <a:off x="685800" y="1143000"/>
            <a:ext cx="5486040" cy="3085920"/>
          </a:xfrm>
          <a:prstGeom prst="rect">
            <a:avLst/>
          </a:prstGeom>
          <a:ln w="0">
            <a:noFill/>
          </a:ln>
        </p:spPr>
      </p:sp>
      <p:sp>
        <p:nvSpPr>
          <p:cNvPr id="4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One minute, no detail. The point is that nothing today is throwaway - the app they build in the last twenty minutes is the one that gets a database and a login later. Students work harder on code they know they are keeping. Do not explain CRUD, databases or Docker here; just plant the words so nothing later feels like it came from nowhere.</a:t>
            </a:r>
            <a:endParaRPr lang="en-IN" sz="2000" b="0" u="none" strike="noStrike">
              <a:solidFill>
                <a:srgbClr val="000000"/>
              </a:solidFill>
              <a:effectLst/>
              <a:uFillTx/>
              <a:latin typeface="Arial"/>
            </a:endParaRPr>
          </a:p>
        </p:txBody>
      </p:sp>
      <p:sp>
        <p:nvSpPr>
          <p:cNvPr id="478"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04C3AEA-AC49-4126-9446-07549408E327}"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Img"/>
          </p:nvPr>
        </p:nvSpPr>
        <p:spPr>
          <a:xfrm>
            <a:off x="685800" y="1143000"/>
            <a:ext cx="5486040" cy="3085920"/>
          </a:xfrm>
          <a:prstGeom prst="rect">
            <a:avLst/>
          </a:prstGeom>
          <a:ln w="0">
            <a:noFill/>
          </a:ln>
        </p:spPr>
      </p:sp>
      <p:sp>
        <p:nvSpPr>
          <p:cNvPr id="4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Draw this on the whiteboard as well as showing it - you will point at the board all day. The question that makes it land: WHY would a company return raw data instead of just building the website? Because the website, the Android app, the iPhone app and a partner company all need the SAME answers. Build the answers once, build four faces on top. That is why backend is a separate job from frontend. Second beat: a notebook computes an answer for YOU, once, on YOUR machine. An API computes it for ANYONE, repeatedly, from anywhere. That is the whole difference and they are 40 minutes from crossing it.</a:t>
            </a:r>
            <a:endParaRPr lang="en-IN" sz="2000" b="0" u="none" strike="noStrike">
              <a:solidFill>
                <a:srgbClr val="000000"/>
              </a:solidFill>
              <a:effectLst/>
              <a:uFillTx/>
              <a:latin typeface="Arial"/>
            </a:endParaRPr>
          </a:p>
        </p:txBody>
      </p:sp>
      <p:sp>
        <p:nvSpPr>
          <p:cNvPr id="481"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0DE0BC5-551A-41C1-BF34-8643061B8A53}"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Img"/>
          </p:nvPr>
        </p:nvSpPr>
        <p:spPr>
          <a:xfrm>
            <a:off x="685800" y="1143000"/>
            <a:ext cx="5486040" cy="3085920"/>
          </a:xfrm>
          <a:prstGeom prst="rect">
            <a:avLst/>
          </a:prstGeom>
          <a:ln w="0">
            <a:noFill/>
          </a:ln>
        </p:spPr>
      </p:sp>
      <p:sp>
        <p:nvSpPr>
          <p:cNvPr id="4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42 minutes, the biggest block of the day. Resist the urge to rush to FastAPI; every Pydantic model later in the day is a class, and students who are shaky here stay shaky all week. Start with the PROBLEM (next slide), never with the definition.</a:t>
            </a:r>
            <a:endParaRPr lang="en-IN" sz="2000" b="0" u="none" strike="noStrike">
              <a:solidFill>
                <a:srgbClr val="000000"/>
              </a:solidFill>
              <a:effectLst/>
              <a:uFillTx/>
              <a:latin typeface="Arial"/>
            </a:endParaRPr>
          </a:p>
        </p:txBody>
      </p:sp>
      <p:sp>
        <p:nvSpPr>
          <p:cNvPr id="484"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44C9C6E-4B8E-47CF-B8FF-763E67EED357}"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Img"/>
          </p:nvPr>
        </p:nvSpPr>
        <p:spPr>
          <a:xfrm>
            <a:off x="685800" y="1143000"/>
            <a:ext cx="5486040" cy="3085920"/>
          </a:xfrm>
          <a:prstGeom prst="rect">
            <a:avLst/>
          </a:prstGeom>
          <a:ln w="0">
            <a:noFill/>
          </a:ln>
        </p:spPr>
      </p:sp>
      <p:sp>
        <p:nvSpPr>
          <p:cNvPr id="4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Do not skip this slide to save time; it is the reason OOP exists and most students have only ever been told the definition. Ask the class to literally tell you the lines of code that delete Raj, and let someone get the order wrong out loud. Then the punch: the three lists are three copies of one idea, held together by nothing but discipline. An object replaces discipline with structure.</a:t>
            </a:r>
            <a:endParaRPr lang="en-IN" sz="2000" b="0" u="none" strike="noStrike">
              <a:solidFill>
                <a:srgbClr val="000000"/>
              </a:solidFill>
              <a:effectLst/>
              <a:uFillTx/>
              <a:latin typeface="Arial"/>
            </a:endParaRPr>
          </a:p>
        </p:txBody>
      </p:sp>
      <p:sp>
        <p:nvSpPr>
          <p:cNvPr id="487"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FA18937-D686-4559-A148-0BAA5E7A7870}"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Img"/>
          </p:nvPr>
        </p:nvSpPr>
        <p:spPr>
          <a:xfrm>
            <a:off x="685800" y="1143000"/>
            <a:ext cx="5486040" cy="3085920"/>
          </a:xfrm>
          <a:prstGeom prst="rect">
            <a:avLst/>
          </a:prstGeom>
          <a:ln w="0">
            <a:noFill/>
          </a:ln>
        </p:spPr>
      </p:sp>
      <p:sp>
        <p:nvSpPr>
          <p:cNvPr id="4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Do not EXPLAIN self - PROVE it with the two lines at the bottom. Students who have been told 'self refers to the instance' five times still cannot use it; students who see Student.label(ada) produce identical output get it immediately. Then the question that catches everyone: 'Student is a class - is ada a class?' No: an OBJECT, an INSTANCE. Make them say the word instance out loud, it is the exam question they get wrong. If time allows, show class attributes live: change Student.college and watch it change for every object at once.</a:t>
            </a:r>
            <a:endParaRPr lang="en-IN" sz="2000" b="0" u="none" strike="noStrike">
              <a:solidFill>
                <a:srgbClr val="000000"/>
              </a:solidFill>
              <a:effectLst/>
              <a:uFillTx/>
              <a:latin typeface="Arial"/>
            </a:endParaRPr>
          </a:p>
        </p:txBody>
      </p:sp>
      <p:sp>
        <p:nvSpPr>
          <p:cNvPr id="490"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5398A2A-9593-414A-9C6F-9817156A5722}"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Img"/>
          </p:nvPr>
        </p:nvSpPr>
        <p:spPr>
          <a:xfrm>
            <a:off x="685800" y="1143000"/>
            <a:ext cx="5486040" cy="3085920"/>
          </a:xfrm>
          <a:prstGeom prst="rect">
            <a:avLst/>
          </a:prstGeom>
          <a:ln w="0">
            <a:noFill/>
          </a:ln>
        </p:spPr>
      </p:sp>
      <p:sp>
        <p:nvSpPr>
          <p:cNvPr id="4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table is a reference, not a lecture. Spend your time in the notebook (section 10), one small example each, and after each one ask the class WHICH PILLAR that was. Recognition beats recitation. The examples are eight lines each on purpose - if a pillar needs a page of code to demonstrate, the example is wrong.</a:t>
            </a:r>
            <a:endParaRPr lang="en-IN" sz="2000" b="0" u="none" strike="noStrike">
              <a:solidFill>
                <a:srgbClr val="000000"/>
              </a:solidFill>
              <a:effectLst/>
              <a:uFillTx/>
              <a:latin typeface="Arial"/>
            </a:endParaRPr>
          </a:p>
        </p:txBody>
      </p:sp>
      <p:sp>
        <p:nvSpPr>
          <p:cNvPr id="493"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DBE9691-CD1B-4998-A3FC-D2DBB144734A}"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Img"/>
          </p:nvPr>
        </p:nvSpPr>
        <p:spPr>
          <a:xfrm>
            <a:off x="685800" y="1143000"/>
            <a:ext cx="5486040" cy="3085920"/>
          </a:xfrm>
          <a:prstGeom prst="rect">
            <a:avLst/>
          </a:prstGeom>
          <a:ln w="0">
            <a:noFill/>
          </a:ln>
        </p:spPr>
      </p:sp>
      <p:sp>
        <p:nvSpPr>
          <p:cNvPr id="4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most important sentence of the module is the last line - say it slowly and write it on the board. Everything from here (Pydantic validators, HTTPException, auth in module 4) is a variation on it. Someone will point out that account._balance = -500 still works: agree honestly. Python does not lock the door, it puts up a sign. The underscore means 'internal, you are on your own'. There is also __name which mangles the name and makes it awkward - still not locked. That honesty buys you credibility for the rest of the day; pretending Python has private attributes loses it.</a:t>
            </a:r>
            <a:endParaRPr lang="en-IN" sz="2000" b="0" u="none" strike="noStrike">
              <a:solidFill>
                <a:srgbClr val="000000"/>
              </a:solidFill>
              <a:effectLst/>
              <a:uFillTx/>
              <a:latin typeface="Arial"/>
            </a:endParaRPr>
          </a:p>
        </p:txBody>
      </p:sp>
      <p:sp>
        <p:nvSpPr>
          <p:cNvPr id="496"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B0EB79B-E7C9-47E2-93D8-27D57C3AD05C}"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Img"/>
          </p:nvPr>
        </p:nvSpPr>
        <p:spPr>
          <a:xfrm>
            <a:off x="685800" y="1143000"/>
            <a:ext cx="5486040" cy="3085920"/>
          </a:xfrm>
          <a:prstGeom prst="rect">
            <a:avLst/>
          </a:prstGeom>
          <a:ln w="0">
            <a:noFill/>
          </a:ln>
        </p:spPr>
      </p:sp>
      <p:sp>
        <p:nvSpPr>
          <p:cNvPr id="4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Two pillars on one slide because they only make sense together - inheritance without polymorphism is just copy-paste with extra steps. The output box is the whole lesson: describe() lives in the parent but produced a different answer for the child. Ask 'which role() ran?' before you tell them. For polymorphism, notebook section 10 has two cells: first change EmailNotifier() to SMSNotifier() and re-run, then run the broadcast() cell underneath - one function handling both classes without naming either. The second cell is the one that proves it; the first only shows the two are swappable. Name duck typing out loud: Python never checks a shared base class, it just calls .send() and sees if the object has one.</a:t>
            </a:r>
            <a:endParaRPr lang="en-IN" sz="2000" b="0" u="none" strike="noStrike">
              <a:solidFill>
                <a:srgbClr val="000000"/>
              </a:solidFill>
              <a:effectLst/>
              <a:uFillTx/>
              <a:latin typeface="Arial"/>
            </a:endParaRPr>
          </a:p>
        </p:txBody>
      </p:sp>
      <p:sp>
        <p:nvSpPr>
          <p:cNvPr id="499"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33706C-CAD6-4345-A359-9AB4B273EBB3}"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Img"/>
          </p:nvPr>
        </p:nvSpPr>
        <p:spPr>
          <a:xfrm>
            <a:off x="685800" y="1143000"/>
            <a:ext cx="5486040" cy="3085920"/>
          </a:xfrm>
          <a:prstGeom prst="rect">
            <a:avLst/>
          </a:prstGeom>
          <a:ln w="0">
            <a:noFill/>
          </a:ln>
        </p:spPr>
      </p:sp>
      <p:sp>
        <p:nvSpPr>
          <p:cNvPr id="5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prevents a very common beginner disease: inheriting from everything. Give them the test as a sentence they can say out loud - 'is a' or 'has a' - and make them apply it to the Library exercise coming up. The last line is a deliberate seed for module 3; when you build a foreign key in two sessions, point back at this slide and say 'this is that'.</a:t>
            </a:r>
            <a:endParaRPr lang="en-IN" sz="2000" b="0" u="none" strike="noStrike">
              <a:solidFill>
                <a:srgbClr val="000000"/>
              </a:solidFill>
              <a:effectLst/>
              <a:uFillTx/>
              <a:latin typeface="Arial"/>
            </a:endParaRPr>
          </a:p>
        </p:txBody>
      </p:sp>
      <p:sp>
        <p:nvSpPr>
          <p:cNvPr id="502"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3645E56-21F7-4023-8189-30D61CF328F0}"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Img"/>
          </p:nvPr>
        </p:nvSpPr>
        <p:spPr>
          <a:xfrm>
            <a:off x="685800" y="1143000"/>
            <a:ext cx="5486040" cy="3085920"/>
          </a:xfrm>
          <a:prstGeom prst="rect">
            <a:avLst/>
          </a:prstGeom>
          <a:ln w="0">
            <a:noFill/>
          </a:ln>
        </p:spPr>
      </p:sp>
      <p:sp>
        <p:nvSpPr>
          <p:cNvPr id="5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Teach the dunders BEFORE the dataclass, in that order, or @dataclass stays magic forever. Show print() on a plain class first and let them see the memory address - it is genuinely useless and that lands the point. The == one surprises people: two objects with identical values are not equal by default, because == asks 'same object in memory?' not 'same values?'. Then the bridge line at the bottom - say it twice today. When they meet BaseModel after the break, the reaction you want is 'oh, I already know this shape'.</a:t>
            </a:r>
            <a:endParaRPr lang="en-IN" sz="2000" b="0" u="none" strike="noStrike">
              <a:solidFill>
                <a:srgbClr val="000000"/>
              </a:solidFill>
              <a:effectLst/>
              <a:uFillTx/>
              <a:latin typeface="Arial"/>
            </a:endParaRPr>
          </a:p>
        </p:txBody>
      </p:sp>
      <p:sp>
        <p:nvSpPr>
          <p:cNvPr id="505"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5EDA91-902C-4E0F-99B4-6582FFA27854}"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sldImg"/>
          </p:nvPr>
        </p:nvSpPr>
        <p:spPr>
          <a:xfrm>
            <a:off x="685800" y="1143000"/>
            <a:ext cx="5486040" cy="3085920"/>
          </a:xfrm>
          <a:prstGeom prst="rect">
            <a:avLst/>
          </a:prstGeom>
          <a:ln w="0">
            <a:noFill/>
          </a:ln>
        </p:spPr>
      </p:sp>
      <p:sp>
        <p:nvSpPr>
          <p:cNvPr id="5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composition, has-a. A student is not a kind of course, so inheritance (A) would be wrong and would give Student every method a Course has, which is nonsense. It is not polymorphism (C) - nothing is being overridden - and not encapsulation (D), though the list may well be kept private too. Discussion prompt: 'name one thing in this room that IS-A something else, and one thing that HAS-A something else.' Then: this exact shape is what a database calls a relationship, and we build it in module 3.</a:t>
            </a:r>
            <a:endParaRPr lang="en-IN" sz="2000" b="0" u="none" strike="noStrike">
              <a:solidFill>
                <a:srgbClr val="000000"/>
              </a:solidFill>
              <a:effectLst/>
              <a:uFillTx/>
              <a:latin typeface="Arial"/>
            </a:endParaRPr>
          </a:p>
        </p:txBody>
      </p:sp>
      <p:sp>
        <p:nvSpPr>
          <p:cNvPr id="508"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08C2D31-98FD-4678-BC8D-DA1F88E6DB8B}"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Img"/>
          </p:nvPr>
        </p:nvSpPr>
        <p:spPr>
          <a:xfrm>
            <a:off x="685800" y="1143000"/>
            <a:ext cx="5486040" cy="3085920"/>
          </a:xfrm>
          <a:prstGeom prst="rect">
            <a:avLst/>
          </a:prstGeom>
          <a:ln w="0">
            <a:noFill/>
          </a:ln>
        </p:spPr>
      </p:sp>
      <p:sp>
        <p:nvSpPr>
          <p:cNvPr id="5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8 minutes, but do not skip it. Students nod at 'package manager' without knowing what any of the words mean, and then cannot debug their own environment for the rest of the course.</a:t>
            </a:r>
            <a:endParaRPr lang="en-IN" sz="2000" b="0" u="none" strike="noStrike">
              <a:solidFill>
                <a:srgbClr val="000000"/>
              </a:solidFill>
              <a:effectLst/>
              <a:uFillTx/>
              <a:latin typeface="Arial"/>
            </a:endParaRPr>
          </a:p>
        </p:txBody>
      </p:sp>
      <p:sp>
        <p:nvSpPr>
          <p:cNvPr id="511"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FBA6199-9BFA-4161-88F7-4C57E13705AC}"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sldImg"/>
          </p:nvPr>
        </p:nvSpPr>
        <p:spPr>
          <a:xfrm>
            <a:off x="685800" y="1143000"/>
            <a:ext cx="5486040" cy="3085920"/>
          </a:xfrm>
          <a:prstGeom prst="rect">
            <a:avLst/>
          </a:prstGeom>
          <a:ln w="0">
            <a:noFill/>
          </a:ln>
        </p:spPr>
      </p:sp>
      <p:sp>
        <p:nvSpPr>
          <p:cNvPr id="5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Two minutes here saves confusion all week. The venv story at the bottom is the one that sticks - tell it as a story about two projects on one laptop, not as a definition. Then have everyone look inside their own project: there is a .venv folder, and nothing was installed globally. If a student asks 'why not just always install globally' - because your laptop then has exactly one version of everything, forever, shared by every project you will ever write.</a:t>
            </a:r>
            <a:endParaRPr lang="en-IN" sz="2000" b="0" u="none" strike="noStrike">
              <a:solidFill>
                <a:srgbClr val="000000"/>
              </a:solidFill>
              <a:effectLst/>
              <a:uFillTx/>
              <a:latin typeface="Arial"/>
            </a:endParaRPr>
          </a:p>
        </p:txBody>
      </p:sp>
      <p:sp>
        <p:nvSpPr>
          <p:cNvPr id="514"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6348343-D19F-486E-920D-1C86985B450A}"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sldImg"/>
          </p:nvPr>
        </p:nvSpPr>
        <p:spPr>
          <a:xfrm>
            <a:off x="685800" y="1143000"/>
            <a:ext cx="5486040" cy="3085920"/>
          </a:xfrm>
          <a:prstGeom prst="rect">
            <a:avLst/>
          </a:prstGeom>
          <a:ln w="0">
            <a:noFill/>
          </a:ln>
        </p:spPr>
      </p:sp>
      <p:sp>
        <p:nvSpPr>
          <p:cNvPr id="5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lock-file question in the blue box is the one worth asking the class before revealing. Most have met the bug without knowing it had a name - 'it works on my machine'. A lock file pins the EXACT version of every package and every package's package, so every machine installs something identical. Latest 2026: Python 3.14 is the current stable line; uv is what the ecosystem has moved to. Practical warning to give now: the number one failure is 'uv: command not found' AFTER a successful install - the terminal must be closed and reopened.</a:t>
            </a:r>
            <a:endParaRPr lang="en-IN" sz="2000" b="0" u="none" strike="noStrike">
              <a:solidFill>
                <a:srgbClr val="000000"/>
              </a:solidFill>
              <a:effectLst/>
              <a:uFillTx/>
              <a:latin typeface="Arial"/>
            </a:endParaRPr>
          </a:p>
        </p:txBody>
      </p:sp>
      <p:sp>
        <p:nvSpPr>
          <p:cNvPr id="517"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2E048C-066D-4E5B-B9CF-DA9A4CD217C0}"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Img"/>
          </p:nvPr>
        </p:nvSpPr>
        <p:spPr>
          <a:xfrm>
            <a:off x="685800" y="1143000"/>
            <a:ext cx="5486040" cy="3085920"/>
          </a:xfrm>
          <a:prstGeom prst="rect">
            <a:avLst/>
          </a:prstGeom>
          <a:ln w="0">
            <a:noFill/>
          </a:ln>
        </p:spPr>
      </p:sp>
      <p:sp>
        <p:nvSpPr>
          <p:cNvPr id="5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Ask the models/schemas question before you reveal the answer - it is the same split as StudentIn / StudentOut which they meet in section 04, so planting it here makes that slide land instantly. Show the running d8_structured_app and open /docs beside the single-file version: IDENTICAL documentation, completely different file layout. Structure is for humans, not for the machine. Do not make them build this today; it is homework.</a:t>
            </a:r>
            <a:endParaRPr lang="en-IN" sz="2000" b="0" u="none" strike="noStrike">
              <a:solidFill>
                <a:srgbClr val="000000"/>
              </a:solidFill>
              <a:effectLst/>
              <a:uFillTx/>
              <a:latin typeface="Arial"/>
            </a:endParaRPr>
          </a:p>
        </p:txBody>
      </p:sp>
      <p:sp>
        <p:nvSpPr>
          <p:cNvPr id="520"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1607359-D364-48D2-B110-62B858B0EBCB}"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685800" y="1143000"/>
            <a:ext cx="5486040" cy="3085920"/>
          </a:xfrm>
          <a:prstGeom prst="rect">
            <a:avLst/>
          </a:prstGeom>
          <a:ln w="0">
            <a:noFill/>
          </a:ln>
        </p:spPr>
      </p:sp>
      <p:sp>
        <p:nvSpPr>
          <p:cNvPr id="5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a lock file (uv.lock) records the exact resolved version of every package and every dependency of those packages, so every machine installs something byte-identical. Why not the others: the Python version is not what drifted (A); a venv isolates projects from each other but says nothing about WHICH version gets installed (C); repeating the install changes nothing (D). Discussion: 'has anyone here lost an evening to works-on-my-machine?' - let one story get told, it is worth the minute.</a:t>
            </a:r>
            <a:endParaRPr lang="en-IN" sz="2000" b="0" u="none" strike="noStrike">
              <a:solidFill>
                <a:srgbClr val="000000"/>
              </a:solidFill>
              <a:effectLst/>
              <a:uFillTx/>
              <a:latin typeface="Arial"/>
            </a:endParaRPr>
          </a:p>
        </p:txBody>
      </p:sp>
      <p:sp>
        <p:nvSpPr>
          <p:cNvPr id="523"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BAD9856-F9B0-4578-8AFC-B9AB892F24E0}"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Img"/>
          </p:nvPr>
        </p:nvSpPr>
        <p:spPr>
          <a:xfrm>
            <a:off x="685800" y="1143000"/>
            <a:ext cx="5486040" cy="3085920"/>
          </a:xfrm>
          <a:prstGeom prst="rect">
            <a:avLst/>
          </a:prstGeom>
          <a:ln w="0">
            <a:noFill/>
          </a:ln>
        </p:spPr>
      </p:sp>
      <p:sp>
        <p:nvSpPr>
          <p:cNvPr id="5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45 minutes, the heart of the day. Every demo should be run live; do not read code off slides that you could be running. Get everyone to /docs as fast as possible - that is where the session turns.</a:t>
            </a:r>
            <a:endParaRPr lang="en-IN" sz="2000" b="0" u="none" strike="noStrike">
              <a:solidFill>
                <a:srgbClr val="000000"/>
              </a:solidFill>
              <a:effectLst/>
              <a:uFillTx/>
              <a:latin typeface="Arial"/>
            </a:endParaRPr>
          </a:p>
        </p:txBody>
      </p:sp>
      <p:sp>
        <p:nvSpPr>
          <p:cNvPr id="526"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207F8CA-E5C7-489F-A786-885DACB9607F}"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685800" y="1143000"/>
            <a:ext cx="5486040" cy="3085920"/>
          </a:xfrm>
          <a:prstGeom prst="rect">
            <a:avLst/>
          </a:prstGeom>
          <a:ln w="0">
            <a:noFill/>
          </a:ln>
        </p:spPr>
      </p:sp>
      <p:sp>
        <p:nvSpPr>
          <p:cNvPr id="5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moment of the day. Run it live, then make EVERY student click Try it out -&gt; Execute on /health before you say another word. Walk the room. Two habits to establish right now: (1) ban the URL bar - it can only do GET, and the moment they need POST it is useless; (2) fastapi dev reloads on save - prove it by editing the message and refreshing, so they stop restarting by hand and know to check the terminal when a change does not appear. If someone asks why their friend cannot open 127.0.0.1 - it means THIS machine, the server is only listening to itself. That is a module 4 problem; name it and park it.</a:t>
            </a:r>
            <a:endParaRPr lang="en-IN" sz="2000" b="0" u="none" strike="noStrike">
              <a:solidFill>
                <a:srgbClr val="000000"/>
              </a:solidFill>
              <a:effectLst/>
              <a:uFillTx/>
              <a:latin typeface="Arial"/>
            </a:endParaRPr>
          </a:p>
        </p:txBody>
      </p:sp>
      <p:sp>
        <p:nvSpPr>
          <p:cNvPr id="529"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A2D6DAC-061A-4BCF-9922-3399D14701E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Img"/>
          </p:nvPr>
        </p:nvSpPr>
        <p:spPr>
          <a:xfrm>
            <a:off x="685800" y="1143000"/>
            <a:ext cx="5486040" cy="3085920"/>
          </a:xfrm>
          <a:prstGeom prst="rect">
            <a:avLst/>
          </a:prstGeom>
          <a:ln w="0">
            <a:noFill/>
          </a:ln>
        </p:spPr>
      </p:sp>
      <p:sp>
        <p:nvSpPr>
          <p:cNvPr id="5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Say out loud that PUT, PATCH and DELETE are coming in the next module - students need to know things are deferred, not missing, or they assume the course is thin. The red box is the single most common API design mistake and it is worth one minute. Ask the class to fix GET /deleteStudent out loud: DELETE /students/1. Then ask what GET /getAllStudentsList should be. If someone asks when to use PUT vs PATCH, that is a module 2 conversation - write it on the parking board.</a:t>
            </a:r>
            <a:endParaRPr lang="en-IN" sz="2000" b="0" u="none" strike="noStrike">
              <a:solidFill>
                <a:srgbClr val="000000"/>
              </a:solidFill>
              <a:effectLst/>
              <a:uFillTx/>
              <a:latin typeface="Arial"/>
            </a:endParaRPr>
          </a:p>
        </p:txBody>
      </p:sp>
      <p:sp>
        <p:nvSpPr>
          <p:cNvPr id="532"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59A61E6-571D-47FE-BEED-C9C47D0DB854}"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sldImg"/>
          </p:nvPr>
        </p:nvSpPr>
        <p:spPr>
          <a:xfrm>
            <a:off x="685800" y="1143000"/>
            <a:ext cx="5486040" cy="3085920"/>
          </a:xfrm>
          <a:prstGeom prst="rect">
            <a:avLst/>
          </a:prstGeom>
          <a:ln w="0">
            <a:noFill/>
          </a:ln>
        </p:spPr>
      </p:sp>
      <p:sp>
        <p:nvSpPr>
          <p:cNvPr id="5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Students mix these up constantly, so give them the two questions as words they can say: WHICH one -&gt; path. HOW do you want it -&gt; query. Then the test question: should limit be a path param or a query param? Query - it does not identify a resource, it shapes the answer, and it must be optional. Good habits start here. Demo /students with no query params at all and show the defaults coming back as {branch: null, limit: 10} - None became JSON null on the way out, for free.</a:t>
            </a:r>
            <a:endParaRPr lang="en-IN" sz="2000" b="0" u="none" strike="noStrike">
              <a:solidFill>
                <a:srgbClr val="000000"/>
              </a:solidFill>
              <a:effectLst/>
              <a:uFillTx/>
              <a:latin typeface="Arial"/>
            </a:endParaRPr>
          </a:p>
        </p:txBody>
      </p:sp>
      <p:sp>
        <p:nvSpPr>
          <p:cNvPr id="535"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DE0F78D-13BD-42B6-AB8E-1D155943FEE3}"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sldImg"/>
          </p:nvPr>
        </p:nvSpPr>
        <p:spPr>
          <a:xfrm>
            <a:off x="685800" y="1143000"/>
            <a:ext cx="5486040" cy="3085920"/>
          </a:xfrm>
          <a:prstGeom prst="rect">
            <a:avLst/>
          </a:prstGeom>
          <a:ln w="0">
            <a:noFill/>
          </a:ln>
        </p:spPr>
      </p:sp>
      <p:sp>
        <p:nvSpPr>
          <p:cNvPr id="5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Do this live - typing /students/abc into the browser and getting a beautifully structured error is a genuine wow moment. Point at the type hint and say 'that word, and nothing else, produced all of this'. Then the question that connects it to their own experience: where in a project you have already written would automatic validation have saved you from a crash? Let two people tell the story; their examples land better than yours. Keep this JSON on screen - you will point back at it in section 04 when Pydantic's error() output turns out to be the identical shape.</a:t>
            </a:r>
            <a:endParaRPr lang="en-IN" sz="2000" b="0" u="none" strike="noStrike">
              <a:solidFill>
                <a:srgbClr val="000000"/>
              </a:solidFill>
              <a:effectLst/>
              <a:uFillTx/>
              <a:latin typeface="Arial"/>
            </a:endParaRPr>
          </a:p>
        </p:txBody>
      </p:sp>
      <p:sp>
        <p:nvSpPr>
          <p:cNvPr id="538"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52C9263-2FE7-4D3A-B1DF-5F4175D32ECC}"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sldImg"/>
          </p:nvPr>
        </p:nvSpPr>
        <p:spPr>
          <a:xfrm>
            <a:off x="685800" y="1143000"/>
            <a:ext cx="5486040" cy="3085920"/>
          </a:xfrm>
          <a:prstGeom prst="rect">
            <a:avLst/>
          </a:prstGeom>
          <a:ln w="0">
            <a:noFill/>
          </a:ln>
        </p:spPr>
      </p:sp>
      <p:sp>
        <p:nvSpPr>
          <p:cNvPr id="5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four rows are real - they were run and these are the actual status codes. Open /docs after showing this and point at where ge=1 and min_length=3 appear in the generated documentation. That is the payoff: in most codebases the docs say one thing and the code does another, because they are written in two places by two people at two times. Here there is only one place. Mnemonic for the numbers: gt/lt = strictly, ge/le = or equal.</a:t>
            </a:r>
            <a:endParaRPr lang="en-IN" sz="2000" b="0" u="none" strike="noStrike">
              <a:solidFill>
                <a:srgbClr val="000000"/>
              </a:solidFill>
              <a:effectLst/>
              <a:uFillTx/>
              <a:latin typeface="Arial"/>
            </a:endParaRPr>
          </a:p>
        </p:txBody>
      </p:sp>
      <p:sp>
        <p:nvSpPr>
          <p:cNvPr id="541"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0D71547-B7EF-4C7C-BF30-746883488F1B}"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sldImg"/>
          </p:nvPr>
        </p:nvSpPr>
        <p:spPr>
          <a:xfrm>
            <a:off x="685800" y="1143000"/>
            <a:ext cx="5486040" cy="3085920"/>
          </a:xfrm>
          <a:prstGeom prst="rect">
            <a:avLst/>
          </a:prstGeom>
          <a:ln w="0">
            <a:noFill/>
          </a:ln>
        </p:spPr>
      </p:sp>
      <p:sp>
        <p:nvSpPr>
          <p:cNvPr id="5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this one live - the endpoint genuinely returns the password in its dict and the response genuinely does not contain it. That gap is the lesson. Ask BEFORE revealing: 'the function returns a dict containing password. What will the response contain?' Most will say the password. Then show it. Use the status module (status.HTTP_201_CREATED) rather than bare numbers - it reads better and autocompletes. The four status codes at the bottom are all they need today; module 2 adds the rest.</a:t>
            </a:r>
            <a:endParaRPr lang="en-IN" sz="2000" b="0" u="none" strike="noStrike">
              <a:solidFill>
                <a:srgbClr val="000000"/>
              </a:solidFill>
              <a:effectLst/>
              <a:uFillTx/>
              <a:latin typeface="Arial"/>
            </a:endParaRPr>
          </a:p>
        </p:txBody>
      </p:sp>
      <p:sp>
        <p:nvSpPr>
          <p:cNvPr id="544"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726D133-6E3D-4290-AF8D-013062754155}"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sldImg"/>
          </p:nvPr>
        </p:nvSpPr>
        <p:spPr>
          <a:xfrm>
            <a:off x="685800" y="1143000"/>
            <a:ext cx="5486040" cy="3085920"/>
          </a:xfrm>
          <a:prstGeom prst="rect">
            <a:avLst/>
          </a:prstGeom>
          <a:ln w="0">
            <a:noFill/>
          </a:ln>
        </p:spPr>
      </p:sp>
      <p:sp>
        <p:nvSpPr>
          <p:cNvPr id="5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Show both endpoints in /docs side by side and make them watch the status number, not the text. This is the single most common beginner mistake in API code and it survives into production more often than it should, because everything LOOKS fine in the browser. Second point worth 30 seconds: put the id in the message. 'Not found' at 2am tells you nothing; 'No student with id 99' tells you what was asked for.</a:t>
            </a:r>
            <a:endParaRPr lang="en-IN" sz="2000" b="0" u="none" strike="noStrike">
              <a:solidFill>
                <a:srgbClr val="000000"/>
              </a:solidFill>
              <a:effectLst/>
              <a:uFillTx/>
              <a:latin typeface="Arial"/>
            </a:endParaRPr>
          </a:p>
        </p:txBody>
      </p:sp>
      <p:sp>
        <p:nvSpPr>
          <p:cNvPr id="547"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DBB4AE3-3FC1-40B1-877F-B544BB79FBB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sldImg"/>
          </p:nvPr>
        </p:nvSpPr>
        <p:spPr>
          <a:xfrm>
            <a:off x="685800" y="1143000"/>
            <a:ext cx="5486040" cy="3085920"/>
          </a:xfrm>
          <a:prstGeom prst="rect">
            <a:avLst/>
          </a:prstGeom>
          <a:ln w="0">
            <a:noFill/>
          </a:ln>
        </p:spPr>
      </p:sp>
      <p:sp>
        <p:nvSpPr>
          <p:cNvPr id="5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Most courses hand-wave this; the measured numbers are what make it stick, and they are real - two simultaneous requests, wall clock. Have the two curl commands ready to paste in a second terminal; fumbling this live kills the moment. The counter-intuitive result is the teaching: students assume async is always faster and safer. Here the plain def was safe because FastAPI ran it in a threadpool, and the async def was the one that froze the server. Rule for the board: not sure -&gt; def.</a:t>
            </a:r>
            <a:endParaRPr lang="en-IN" sz="2000" b="0" u="none" strike="noStrike">
              <a:solidFill>
                <a:srgbClr val="000000"/>
              </a:solidFill>
              <a:effectLst/>
              <a:uFillTx/>
              <a:latin typeface="Arial"/>
            </a:endParaRPr>
          </a:p>
        </p:txBody>
      </p:sp>
      <p:sp>
        <p:nvSpPr>
          <p:cNvPr id="550"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2AD3C8D-DF07-427C-9BBF-1AEE058F04CE}"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sldImg"/>
          </p:nvPr>
        </p:nvSpPr>
        <p:spPr>
          <a:xfrm>
            <a:off x="685800" y="1143000"/>
            <a:ext cx="5486040" cy="3085920"/>
          </a:xfrm>
          <a:prstGeom prst="rect">
            <a:avLst/>
          </a:prstGeom>
          <a:ln w="0">
            <a:noFill/>
          </a:ln>
        </p:spPr>
      </p:sp>
      <p:sp>
        <p:nvSpPr>
          <p:cNvPr id="5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These three are the 'if time allows' block - each is a five minute demo and each is a genuine oh-that-is-clever moment. If you must cut, cut in reverse order: background tasks first, then middleware, keep Depends. Depends earns its place because it is how the database session arrives in module 3 and how every login works in module 4 - showing it now means neither is a surprise. CORS is worth 90 seconds even if you skip the rest: every student meets that bug in their capstone when their React app on port 3000 calls the API on 8000 and the browser blocks it.</a:t>
            </a:r>
            <a:endParaRPr lang="en-IN" sz="2000" b="0" u="none" strike="noStrike">
              <a:solidFill>
                <a:srgbClr val="000000"/>
              </a:solidFill>
              <a:effectLst/>
              <a:uFillTx/>
              <a:latin typeface="Arial"/>
            </a:endParaRPr>
          </a:p>
        </p:txBody>
      </p:sp>
      <p:sp>
        <p:nvSpPr>
          <p:cNvPr id="553"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CC5FFCC-3340-43A0-BC8F-923564FF8593}"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type="sldImg"/>
          </p:nvPr>
        </p:nvSpPr>
        <p:spPr>
          <a:xfrm>
            <a:off x="685800" y="1143000"/>
            <a:ext cx="5486040" cy="3085920"/>
          </a:xfrm>
          <a:prstGeom prst="rect">
            <a:avLst/>
          </a:prstGeom>
          <a:ln w="0">
            <a:noFill/>
          </a:ln>
        </p:spPr>
      </p:sp>
      <p:sp>
        <p:nvSpPr>
          <p:cNvPr id="5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C - response_model filters the response down to the declared shape, so password is dropped on the way out. Why not the others: it is real filtering, not documentation-only (A); extra fields are removed rather than treated as an error (B); the declared fields are all present (D). Discussion prompt: 'so where else could a password leak from?' - logs, error messages, and the database model being returned directly. That is exactly why models/ and schemas/ are separate folders.</a:t>
            </a:r>
            <a:endParaRPr lang="en-IN" sz="2000" b="0" u="none" strike="noStrike">
              <a:solidFill>
                <a:srgbClr val="000000"/>
              </a:solidFill>
              <a:effectLst/>
              <a:uFillTx/>
              <a:latin typeface="Arial"/>
            </a:endParaRPr>
          </a:p>
        </p:txBody>
      </p:sp>
      <p:sp>
        <p:nvSpPr>
          <p:cNvPr id="556"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1F39144-3D39-44E1-9CBA-B1E1A47F1814}"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PlaceHolder 1"/>
          <p:cNvSpPr>
            <a:spLocks noGrp="1"/>
          </p:cNvSpPr>
          <p:nvPr>
            <p:ph type="sldImg"/>
          </p:nvPr>
        </p:nvSpPr>
        <p:spPr>
          <a:xfrm>
            <a:off x="685800" y="1143000"/>
            <a:ext cx="5486040" cy="3085920"/>
          </a:xfrm>
          <a:prstGeom prst="rect">
            <a:avLst/>
          </a:prstGeom>
          <a:ln w="0">
            <a:noFill/>
          </a:ln>
        </p:spPr>
      </p:sp>
      <p:sp>
        <p:nvSpPr>
          <p:cNvPr id="5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22 minutes. They have already been using it all through section 03 without naming it - StudentIn was a Pydantic model. Now go deep on what it can enforce.</a:t>
            </a:r>
            <a:endParaRPr lang="en-IN" sz="2000" b="0" u="none" strike="noStrike">
              <a:solidFill>
                <a:srgbClr val="000000"/>
              </a:solidFill>
              <a:effectLst/>
              <a:uFillTx/>
              <a:latin typeface="Arial"/>
            </a:endParaRPr>
          </a:p>
        </p:txBody>
      </p:sp>
      <p:sp>
        <p:nvSpPr>
          <p:cNvPr id="559"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A81FF45-8122-4755-B5B0-C81EA3BDB7AA}"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PlaceHolder 1"/>
          <p:cNvSpPr>
            <a:spLocks noGrp="1"/>
          </p:cNvSpPr>
          <p:nvPr>
            <p:ph type="sldImg"/>
          </p:nvPr>
        </p:nvSpPr>
        <p:spPr>
          <a:xfrm>
            <a:off x="685800" y="1143000"/>
            <a:ext cx="5486040" cy="3085920"/>
          </a:xfrm>
          <a:prstGeom prst="rect">
            <a:avLst/>
          </a:prstGeom>
          <a:ln w="0">
            <a:noFill/>
          </a:ln>
        </p:spPr>
      </p:sp>
      <p:sp>
        <p:nvSpPr>
          <p:cNvPr id="5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coercion-vs-rejection distinction confuses everyone, so ask it as a question: '21 in quotes was accepted but hello was not - what is the rule?' If it can become the declared type without losing meaning, it does. Otherwise it is refused. Then the big connection in the blue box - go back to the /students/abc slide and put the two JSON blocks side by side. FastAPI's 422 body IS a Pydantic error list. Students think of validation and API errors as two topics; this is the moment they become one. 2026 note: this is Pydantic v2. Tutorials using @validator, .dict() or .json() are v1 - the modern names are @field_validator, .model_dump(), .model_dump_json().</a:t>
            </a:r>
            <a:endParaRPr lang="en-IN" sz="2000" b="0" u="none" strike="noStrike">
              <a:solidFill>
                <a:srgbClr val="000000"/>
              </a:solidFill>
              <a:effectLst/>
              <a:uFillTx/>
              <a:latin typeface="Arial"/>
            </a:endParaRPr>
          </a:p>
        </p:txBody>
      </p:sp>
      <p:sp>
        <p:nvSpPr>
          <p:cNvPr id="562"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30FACF4-D3B3-484E-935E-33C360FBC9AB}"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type="sldImg"/>
          </p:nvPr>
        </p:nvSpPr>
        <p:spPr>
          <a:xfrm>
            <a:off x="685800" y="1143000"/>
            <a:ext cx="5486040" cy="3085920"/>
          </a:xfrm>
          <a:prstGeom prst="rect">
            <a:avLst/>
          </a:prstGeom>
          <a:ln w="0">
            <a:noFill/>
          </a:ln>
        </p:spPr>
      </p:sp>
      <p:sp>
        <p:nvSpPr>
          <p:cNvPr id="5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the notebook's section 15 cell live - it breaks each rule on purpose and prints exactly the four messages on this slide. The point to hammer: they declared WHAT they wanted, not HOW to check it, and got better error messages than they would have written by hand. Connect it forward: this is the same Field() they will put on the Student model in the build at the end of the session, and the same rules that show up in /docs for whoever consumes their API.</a:t>
            </a:r>
            <a:endParaRPr lang="en-IN" sz="2000" b="0" u="none" strike="noStrike">
              <a:solidFill>
                <a:srgbClr val="000000"/>
              </a:solidFill>
              <a:effectLst/>
              <a:uFillTx/>
              <a:latin typeface="Arial"/>
            </a:endParaRPr>
          </a:p>
        </p:txBody>
      </p:sp>
      <p:sp>
        <p:nvSpPr>
          <p:cNvPr id="565"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0AE6FCF-E47B-4B41-BE8B-14D244CEDC12}"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PlaceHolder 1"/>
          <p:cNvSpPr>
            <a:spLocks noGrp="1"/>
          </p:cNvSpPr>
          <p:nvPr>
            <p:ph type="sldImg"/>
          </p:nvPr>
        </p:nvSpPr>
        <p:spPr>
          <a:xfrm>
            <a:off x="685800" y="1143000"/>
            <a:ext cx="5486040" cy="3085920"/>
          </a:xfrm>
          <a:prstGeom prst="rect">
            <a:avLst/>
          </a:prstGeom>
          <a:ln w="0">
            <a:noFill/>
          </a:ln>
        </p:spPr>
      </p:sp>
      <p:sp>
        <p:nvSpPr>
          <p:cNvPr id="5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empty loc in the last line of output is the best teaching moment in this section - every other error names a field, and the model validator's error names nothing, because no single field is wrong. That one line of real output explains the distinction better than any sentence you could say. Ask the amber-box question before revealing. Also worth 30 seconds: a validator can CLEAN instead of reject - .strip().upper() on a branch code means the rest of your code never worries about whitespace again. Two traps to mention: forgetting @classmethod, and forgetting to return the value (the field silently becomes None).</a:t>
            </a:r>
            <a:endParaRPr lang="en-IN" sz="2000" b="0" u="none" strike="noStrike">
              <a:solidFill>
                <a:srgbClr val="000000"/>
              </a:solidFill>
              <a:effectLst/>
              <a:uFillTx/>
              <a:latin typeface="Arial"/>
            </a:endParaRPr>
          </a:p>
        </p:txBody>
      </p:sp>
      <p:sp>
        <p:nvSpPr>
          <p:cNvPr id="568"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71DB29E-65A2-4316-8D5E-3635DD3381AE}"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PlaceHolder 1"/>
          <p:cNvSpPr>
            <a:spLocks noGrp="1"/>
          </p:cNvSpPr>
          <p:nvPr>
            <p:ph type="sldImg"/>
          </p:nvPr>
        </p:nvSpPr>
        <p:spPr>
          <a:xfrm>
            <a:off x="685800" y="1143000"/>
            <a:ext cx="5486040" cy="3085920"/>
          </a:xfrm>
          <a:prstGeom prst="rect">
            <a:avLst/>
          </a:prstGeom>
          <a:ln w="0">
            <a:noFill/>
          </a:ln>
        </p:spPr>
      </p:sp>
      <p:sp>
        <p:nvSpPr>
          <p:cNvPr id="5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C - only a model validator can see more than one field at a time. Why not the others: a field validator on price cannot see quantity, and vice versa (A, B); Field(le=...) constrains a single declared field, not an expression across two (D). Discussion prompt: 'give me another rule that needs the whole object' - start date before end date, discount not larger than the price, confirm-email matching email. Once they can generate their own examples they own the distinction.</a:t>
            </a:r>
            <a:endParaRPr lang="en-IN" sz="2000" b="0" u="none" strike="noStrike">
              <a:solidFill>
                <a:srgbClr val="000000"/>
              </a:solidFill>
              <a:effectLst/>
              <a:uFillTx/>
              <a:latin typeface="Arial"/>
            </a:endParaRPr>
          </a:p>
        </p:txBody>
      </p:sp>
      <p:sp>
        <p:nvSpPr>
          <p:cNvPr id="571"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589E3C1-E95C-4463-89CD-5A8597597653}"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PlaceHolder 1"/>
          <p:cNvSpPr>
            <a:spLocks noGrp="1"/>
          </p:cNvSpPr>
          <p:nvPr>
            <p:ph type="sldImg"/>
          </p:nvPr>
        </p:nvSpPr>
        <p:spPr>
          <a:xfrm>
            <a:off x="685800" y="1143000"/>
            <a:ext cx="5486040" cy="3085920"/>
          </a:xfrm>
          <a:prstGeom prst="rect">
            <a:avLst/>
          </a:prstGeom>
          <a:ln w="0">
            <a:noFill/>
          </a:ln>
        </p:spPr>
      </p:sp>
      <p:sp>
        <p:nvSpPr>
          <p:cNvPr id="5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Close the loop with the promise from the title slide: 'you will have written a running API and never written a line of validation code'. Say it back to them now that it is true. Do the recap as a call-and-response - name the row, let the class fill in the details - rather than reading it. Then set the homework from the notes (Course API, split it into routers, student-has-courses in plain Python, and five deliberately-broken requests to write down). The last line tells them what is coming so nothing feels missing.</a:t>
            </a:r>
            <a:endParaRPr lang="en-IN" sz="2000" b="0" u="none" strike="noStrike">
              <a:solidFill>
                <a:srgbClr val="000000"/>
              </a:solidFill>
              <a:effectLst/>
              <a:uFillTx/>
              <a:latin typeface="Arial"/>
            </a:endParaRPr>
          </a:p>
        </p:txBody>
      </p:sp>
      <p:sp>
        <p:nvSpPr>
          <p:cNvPr id="574"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87E13F-60B4-48ED-A052-40BFF32A03BF}"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IN" sz="1800" b="0" u="none" strike="noStrike">
                <a:solidFill>
                  <a:schemeClr val="dk1"/>
                </a:solidFill>
                <a:effectLst/>
                <a:uFillTx/>
                <a:latin typeface="Calibri"/>
              </a:defRPr>
            </a:lvl1pPr>
          </a:lstStyle>
          <a:p>
            <a:pPr indent="0" algn="l">
              <a:buNone/>
            </a:pPr>
            <a:r>
              <a:rPr lang="en-IN" sz="1800" b="0" u="none" strike="noStrike">
                <a:solidFill>
                  <a:schemeClr val="dk1"/>
                </a:solidFill>
                <a:effectLst/>
                <a:uFillTx/>
                <a:latin typeface="Calibri"/>
              </a:rPr>
              <a:t>Click to edit the title text format</a:t>
            </a:r>
            <a:endParaRPr lang="en-IN"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IN"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IN"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IN"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IN"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IN" sz="3200" b="0" u="none" strike="noStrike">
                <a:solidFill>
                  <a:schemeClr val="dk1"/>
                </a:solidFill>
                <a:effectLst/>
                <a:uFillTx/>
                <a:latin typeface="Calibri"/>
              </a:rPr>
              <a:t>Click to edit the outline text format</a:t>
            </a:r>
            <a:endParaRPr lang="en-IN"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IN" sz="2400" b="0" u="none" strike="noStrike">
                <a:solidFill>
                  <a:schemeClr val="dk1"/>
                </a:solidFill>
                <a:effectLst/>
                <a:uFillTx/>
                <a:latin typeface="Calibri"/>
              </a:rPr>
              <a:t>Second Outline Level</a:t>
            </a:r>
            <a:endParaRPr lang="en-IN"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IN" sz="2000" b="0" u="none" strike="noStrike">
                <a:solidFill>
                  <a:schemeClr val="dk1"/>
                </a:solidFill>
                <a:effectLst/>
                <a:uFillTx/>
                <a:latin typeface="Calibri"/>
              </a:rPr>
              <a:t>Third Outline Level</a:t>
            </a:r>
            <a:endParaRPr lang="en-IN"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IN" sz="2000" b="0" u="none" strike="noStrike">
                <a:solidFill>
                  <a:schemeClr val="dk1"/>
                </a:solidFill>
                <a:effectLst/>
                <a:uFillTx/>
                <a:latin typeface="Calibri"/>
              </a:rPr>
              <a:t>Fourth Outline Level</a:t>
            </a:r>
            <a:endParaRPr lang="en-IN"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Fifth Outline Level</a:t>
            </a:r>
            <a:endParaRPr lang="en-IN"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Sixth Outline Level</a:t>
            </a:r>
            <a:endParaRPr lang="en-IN"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Seventh Outline Level</a:t>
            </a:r>
            <a:endParaRPr lang="en-IN"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Text 0"/>
          <p:cNvSpPr/>
          <p:nvPr/>
        </p:nvSpPr>
        <p:spPr>
          <a:xfrm>
            <a:off x="548640" y="2194560"/>
            <a:ext cx="1097244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400" b="1" u="none" strike="noStrike">
                <a:solidFill>
                  <a:srgbClr val="1E293B"/>
                </a:solidFill>
                <a:effectLst/>
                <a:uFillTx/>
                <a:latin typeface="Calibri"/>
                <a:ea typeface="Calibri"/>
              </a:rPr>
              <a:t>Backend Foundations</a:t>
            </a:r>
            <a:endParaRPr lang="en-IN" sz="5400" b="0" u="none" strike="noStrike">
              <a:solidFill>
                <a:srgbClr val="000000"/>
              </a:solidFill>
              <a:effectLst/>
              <a:uFillTx/>
              <a:latin typeface="Arial"/>
            </a:endParaRPr>
          </a:p>
        </p:txBody>
      </p:sp>
      <p:sp>
        <p:nvSpPr>
          <p:cNvPr id="11" name="Text 1"/>
          <p:cNvSpPr/>
          <p:nvPr/>
        </p:nvSpPr>
        <p:spPr>
          <a:xfrm>
            <a:off x="548640" y="3383280"/>
            <a:ext cx="109724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rgbClr val="6366F1"/>
                </a:solidFill>
                <a:effectLst/>
                <a:uFillTx/>
                <a:latin typeface="Calibri"/>
                <a:ea typeface="Calibri"/>
              </a:rPr>
              <a:t>Python &amp; OOP   ·   FastAPI   ·   Pydantic</a:t>
            </a:r>
            <a:endParaRPr lang="en-IN" sz="2200" b="0" u="none" strike="noStrike">
              <a:solidFill>
                <a:srgbClr val="000000"/>
              </a:solidFill>
              <a:effectLst/>
              <a:uFillTx/>
              <a:latin typeface="Arial"/>
            </a:endParaRPr>
          </a:p>
        </p:txBody>
      </p:sp>
      <p:sp>
        <p:nvSpPr>
          <p:cNvPr id="12" name="Text 2"/>
          <p:cNvSpPr/>
          <p:nvPr/>
        </p:nvSpPr>
        <p:spPr>
          <a:xfrm>
            <a:off x="548640" y="4023360"/>
            <a:ext cx="109724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By the end of today you will have written a running API — and never written a line of validation code.</a:t>
            </a:r>
            <a:endParaRPr lang="en-IN" sz="1500" b="0" u="none" strike="noStrike">
              <a:solidFill>
                <a:srgbClr val="000000"/>
              </a:solidFill>
              <a:effectLst/>
              <a:uFillTx/>
              <a:latin typeface="Arial"/>
            </a:endParaRPr>
          </a:p>
        </p:txBody>
      </p:sp>
      <p:sp>
        <p:nvSpPr>
          <p:cNvPr id="13" name="Text 3"/>
          <p:cNvSpPr/>
          <p:nvPr/>
        </p:nvSpPr>
        <p:spPr>
          <a:xfrm>
            <a:off x="548640" y="585216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E293B"/>
                </a:solidFill>
                <a:effectLst/>
                <a:uFillTx/>
                <a:latin typeface="Calibri"/>
                <a:ea typeface="Calibri"/>
              </a:rPr>
              <a:t>Lovely Professional University</a:t>
            </a:r>
            <a:r>
              <a:rPr lang="en-US" sz="1300" b="0" u="none" strike="noStrike">
                <a:solidFill>
                  <a:srgbClr val="64748B"/>
                </a:solidFill>
                <a:effectLst/>
                <a:uFillTx/>
                <a:latin typeface="Calibri"/>
                <a:ea typeface="Calibri"/>
              </a:rPr>
              <a:t>    ·    Backend &amp; Generative AI    ·    Poorit Technologies</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Text 0"/>
          <p:cNvSpPr/>
          <p:nvPr/>
        </p:nvSpPr>
        <p:spPr>
          <a:xfrm>
            <a:off x="914400" y="1920240"/>
            <a:ext cx="103597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0" i="1" u="none" strike="noStrike">
                <a:solidFill>
                  <a:srgbClr val="64748B"/>
                </a:solidFill>
                <a:effectLst/>
                <a:uFillTx/>
                <a:latin typeface="Calibri"/>
                <a:ea typeface="Calibri"/>
              </a:rPr>
              <a:t>Every program you have written so far</a:t>
            </a:r>
            <a:endParaRPr lang="en-IN" sz="2000" b="0" u="none" strike="noStrike">
              <a:solidFill>
                <a:srgbClr val="000000"/>
              </a:solidFill>
              <a:effectLst/>
              <a:uFillTx/>
              <a:latin typeface="Arial"/>
            </a:endParaRPr>
          </a:p>
        </p:txBody>
      </p:sp>
      <p:sp>
        <p:nvSpPr>
          <p:cNvPr id="15" name="Text 1"/>
          <p:cNvSpPr/>
          <p:nvPr/>
        </p:nvSpPr>
        <p:spPr>
          <a:xfrm>
            <a:off x="914400" y="2377440"/>
            <a:ext cx="1035972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000" b="1" u="none" strike="noStrike">
                <a:solidFill>
                  <a:srgbClr val="1E293B"/>
                </a:solidFill>
                <a:effectLst/>
                <a:uFillTx/>
                <a:latin typeface="Calibri"/>
                <a:ea typeface="Calibri"/>
              </a:rPr>
              <a:t>runs on your laptop.</a:t>
            </a:r>
            <a:endParaRPr lang="en-IN" sz="4000" b="0" u="none" strike="noStrike">
              <a:solidFill>
                <a:srgbClr val="000000"/>
              </a:solidFill>
              <a:effectLst/>
              <a:uFillTx/>
              <a:latin typeface="Arial"/>
            </a:endParaRPr>
          </a:p>
        </p:txBody>
      </p:sp>
      <p:sp>
        <p:nvSpPr>
          <p:cNvPr id="16" name="Text 2"/>
          <p:cNvSpPr/>
          <p:nvPr/>
        </p:nvSpPr>
        <p:spPr>
          <a:xfrm>
            <a:off x="914400" y="3429000"/>
            <a:ext cx="1035972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400" b="1" u="none" strike="noStrike">
                <a:solidFill>
                  <a:srgbClr val="64748B"/>
                </a:solidFill>
                <a:effectLst/>
                <a:uFillTx/>
                <a:latin typeface="Calibri"/>
                <a:ea typeface="Calibri"/>
              </a:rPr>
              <a:t>Close the lid.</a:t>
            </a:r>
            <a:endParaRPr lang="en-IN" sz="3400" b="0" u="none" strike="noStrike">
              <a:solidFill>
                <a:srgbClr val="000000"/>
              </a:solidFill>
              <a:effectLst/>
              <a:uFillTx/>
              <a:latin typeface="Arial"/>
            </a:endParaRPr>
          </a:p>
        </p:txBody>
      </p:sp>
      <p:sp>
        <p:nvSpPr>
          <p:cNvPr id="17" name="Text 3"/>
          <p:cNvSpPr/>
          <p:nvPr/>
        </p:nvSpPr>
        <p:spPr>
          <a:xfrm>
            <a:off x="914400" y="4206240"/>
            <a:ext cx="1035972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6366F1"/>
                </a:solidFill>
                <a:effectLst/>
                <a:uFillTx/>
                <a:latin typeface="Calibri"/>
                <a:ea typeface="Calibri"/>
              </a:rPr>
              <a:t>Who else can use it?</a:t>
            </a:r>
            <a:endParaRPr lang="en-IN"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One app, grown over four sessions</a:t>
            </a:r>
            <a:endParaRPr lang="en-IN" sz="3000" b="0" u="none" strike="noStrike">
              <a:solidFill>
                <a:srgbClr val="000000"/>
              </a:solidFill>
              <a:effectLst/>
              <a:uFillTx/>
              <a:latin typeface="Arial"/>
            </a:endParaRPr>
          </a:p>
        </p:txBody>
      </p:sp>
      <p:sp>
        <p:nvSpPr>
          <p:cNvPr id="19" name="Text 1"/>
          <p:cNvSpPr/>
          <p:nvPr/>
        </p:nvSpPr>
        <p:spPr>
          <a:xfrm>
            <a:off x="548640" y="11887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Today's app is small on purpose. You are going to live with it for a while.</a:t>
            </a:r>
            <a:endParaRPr lang="en-IN" sz="1500" b="0" u="none" strike="noStrike">
              <a:solidFill>
                <a:srgbClr val="000000"/>
              </a:solidFill>
              <a:effectLst/>
              <a:uFillTx/>
              <a:latin typeface="Arial"/>
            </a:endParaRPr>
          </a:p>
        </p:txBody>
      </p:sp>
      <p:sp>
        <p:nvSpPr>
          <p:cNvPr id="20" name="Shape 2"/>
          <p:cNvSpPr/>
          <p:nvPr/>
        </p:nvSpPr>
        <p:spPr>
          <a:xfrm>
            <a:off x="548640" y="1828800"/>
            <a:ext cx="639720" cy="63972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1" name="Text 3"/>
          <p:cNvSpPr/>
          <p:nvPr/>
        </p:nvSpPr>
        <p:spPr>
          <a:xfrm>
            <a:off x="548640" y="1828800"/>
            <a:ext cx="63972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1</a:t>
            </a:r>
            <a:endParaRPr lang="en-IN" sz="1500" b="0" u="none" strike="noStrike">
              <a:solidFill>
                <a:srgbClr val="000000"/>
              </a:solidFill>
              <a:effectLst/>
              <a:uFillTx/>
              <a:latin typeface="Arial"/>
            </a:endParaRPr>
          </a:p>
        </p:txBody>
      </p:sp>
      <p:sp>
        <p:nvSpPr>
          <p:cNvPr id="22" name="Shape 4"/>
          <p:cNvSpPr/>
          <p:nvPr/>
        </p:nvSpPr>
        <p:spPr>
          <a:xfrm>
            <a:off x="1463040" y="1828800"/>
            <a:ext cx="10176840" cy="639720"/>
          </a:xfrm>
          <a:prstGeom prst="roundRect">
            <a:avLst>
              <a:gd name="adj" fmla="val 1428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 name="Text 5"/>
          <p:cNvSpPr/>
          <p:nvPr/>
        </p:nvSpPr>
        <p:spPr>
          <a:xfrm>
            <a:off x="1737360" y="1828800"/>
            <a:ext cx="137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6366F1"/>
                </a:solidFill>
                <a:effectLst/>
                <a:uFillTx/>
                <a:latin typeface="Calibri"/>
                <a:ea typeface="Calibri"/>
              </a:rPr>
              <a:t>TODAY</a:t>
            </a:r>
            <a:endParaRPr lang="en-IN" sz="1300" b="0" u="none" strike="noStrike">
              <a:solidFill>
                <a:srgbClr val="000000"/>
              </a:solidFill>
              <a:effectLst/>
              <a:uFillTx/>
              <a:latin typeface="Arial"/>
            </a:endParaRPr>
          </a:p>
        </p:txBody>
      </p:sp>
      <p:sp>
        <p:nvSpPr>
          <p:cNvPr id="24" name="Text 6"/>
          <p:cNvSpPr/>
          <p:nvPr/>
        </p:nvSpPr>
        <p:spPr>
          <a:xfrm>
            <a:off x="3200400" y="1828800"/>
            <a:ext cx="83206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0" u="none" strike="noStrike">
                <a:solidFill>
                  <a:srgbClr val="1E293B"/>
                </a:solidFill>
                <a:effectLst/>
                <a:uFillTx/>
                <a:latin typeface="Calibri"/>
                <a:ea typeface="Calibri"/>
              </a:rPr>
              <a:t>Objects, an API that answers, data that validates itself</a:t>
            </a:r>
            <a:endParaRPr lang="en-IN" sz="1550" b="0" u="none" strike="noStrike">
              <a:solidFill>
                <a:srgbClr val="000000"/>
              </a:solidFill>
              <a:effectLst/>
              <a:uFillTx/>
              <a:latin typeface="Arial"/>
            </a:endParaRPr>
          </a:p>
        </p:txBody>
      </p:sp>
      <p:sp>
        <p:nvSpPr>
          <p:cNvPr id="25" name="Shape 7"/>
          <p:cNvSpPr/>
          <p:nvPr/>
        </p:nvSpPr>
        <p:spPr>
          <a:xfrm>
            <a:off x="548640" y="2788920"/>
            <a:ext cx="639720" cy="639720"/>
          </a:xfrm>
          <a:prstGeom prst="roundRect">
            <a:avLst>
              <a:gd name="adj" fmla="val 50000"/>
            </a:avLst>
          </a:prstGeom>
          <a:solidFill>
            <a:srgbClr val="CBD5E1"/>
          </a:solid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6" name="Text 8"/>
          <p:cNvSpPr/>
          <p:nvPr/>
        </p:nvSpPr>
        <p:spPr>
          <a:xfrm>
            <a:off x="548640" y="2788920"/>
            <a:ext cx="63972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2</a:t>
            </a:r>
            <a:endParaRPr lang="en-IN" sz="1500" b="0" u="none" strike="noStrike">
              <a:solidFill>
                <a:srgbClr val="000000"/>
              </a:solidFill>
              <a:effectLst/>
              <a:uFillTx/>
              <a:latin typeface="Arial"/>
            </a:endParaRPr>
          </a:p>
        </p:txBody>
      </p:sp>
      <p:sp>
        <p:nvSpPr>
          <p:cNvPr id="27" name="Shape 9"/>
          <p:cNvSpPr/>
          <p:nvPr/>
        </p:nvSpPr>
        <p:spPr>
          <a:xfrm>
            <a:off x="1463040" y="2788920"/>
            <a:ext cx="10176840" cy="639720"/>
          </a:xfrm>
          <a:prstGeom prst="roundRect">
            <a:avLst>
              <a:gd name="adj" fmla="val 14286"/>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 name="Text 10"/>
          <p:cNvSpPr/>
          <p:nvPr/>
        </p:nvSpPr>
        <p:spPr>
          <a:xfrm>
            <a:off x="1737360" y="2788920"/>
            <a:ext cx="137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64748B"/>
                </a:solidFill>
                <a:effectLst/>
                <a:uFillTx/>
                <a:latin typeface="Calibri"/>
                <a:ea typeface="Calibri"/>
              </a:rPr>
              <a:t>NEXT</a:t>
            </a:r>
            <a:endParaRPr lang="en-IN" sz="1300" b="0" u="none" strike="noStrike">
              <a:solidFill>
                <a:srgbClr val="000000"/>
              </a:solidFill>
              <a:effectLst/>
              <a:uFillTx/>
              <a:latin typeface="Arial"/>
            </a:endParaRPr>
          </a:p>
        </p:txBody>
      </p:sp>
      <p:sp>
        <p:nvSpPr>
          <p:cNvPr id="29" name="Text 11"/>
          <p:cNvSpPr/>
          <p:nvPr/>
        </p:nvSpPr>
        <p:spPr>
          <a:xfrm>
            <a:off x="3200400" y="2788920"/>
            <a:ext cx="83206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0" u="none" strike="noStrike">
                <a:solidFill>
                  <a:srgbClr val="64748B"/>
                </a:solidFill>
                <a:effectLst/>
                <a:uFillTx/>
                <a:latin typeface="Calibri"/>
                <a:ea typeface="Calibri"/>
              </a:rPr>
              <a:t>The same API done properly — full CRUD, real error handling</a:t>
            </a:r>
            <a:endParaRPr lang="en-IN" sz="1550" b="0" u="none" strike="noStrike">
              <a:solidFill>
                <a:srgbClr val="000000"/>
              </a:solidFill>
              <a:effectLst/>
              <a:uFillTx/>
              <a:latin typeface="Arial"/>
            </a:endParaRPr>
          </a:p>
        </p:txBody>
      </p:sp>
      <p:sp>
        <p:nvSpPr>
          <p:cNvPr id="30" name="Shape 12"/>
          <p:cNvSpPr/>
          <p:nvPr/>
        </p:nvSpPr>
        <p:spPr>
          <a:xfrm>
            <a:off x="548640" y="3749040"/>
            <a:ext cx="639720" cy="639720"/>
          </a:xfrm>
          <a:prstGeom prst="roundRect">
            <a:avLst>
              <a:gd name="adj" fmla="val 50000"/>
            </a:avLst>
          </a:prstGeom>
          <a:solidFill>
            <a:srgbClr val="CBD5E1"/>
          </a:solid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 name="Text 13"/>
          <p:cNvSpPr/>
          <p:nvPr/>
        </p:nvSpPr>
        <p:spPr>
          <a:xfrm>
            <a:off x="548640" y="3749040"/>
            <a:ext cx="63972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3</a:t>
            </a:r>
            <a:endParaRPr lang="en-IN" sz="1500" b="0" u="none" strike="noStrike">
              <a:solidFill>
                <a:srgbClr val="000000"/>
              </a:solidFill>
              <a:effectLst/>
              <a:uFillTx/>
              <a:latin typeface="Arial"/>
            </a:endParaRPr>
          </a:p>
        </p:txBody>
      </p:sp>
      <p:sp>
        <p:nvSpPr>
          <p:cNvPr id="32" name="Shape 14"/>
          <p:cNvSpPr/>
          <p:nvPr/>
        </p:nvSpPr>
        <p:spPr>
          <a:xfrm>
            <a:off x="1463040" y="3749040"/>
            <a:ext cx="10176840" cy="639720"/>
          </a:xfrm>
          <a:prstGeom prst="roundRect">
            <a:avLst>
              <a:gd name="adj" fmla="val 14286"/>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 name="Text 15"/>
          <p:cNvSpPr/>
          <p:nvPr/>
        </p:nvSpPr>
        <p:spPr>
          <a:xfrm>
            <a:off x="1737360" y="3749040"/>
            <a:ext cx="137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64748B"/>
                </a:solidFill>
                <a:effectLst/>
                <a:uFillTx/>
                <a:latin typeface="Calibri"/>
                <a:ea typeface="Calibri"/>
              </a:rPr>
              <a:t>THEN</a:t>
            </a:r>
            <a:endParaRPr lang="en-IN" sz="1300" b="0" u="none" strike="noStrike">
              <a:solidFill>
                <a:srgbClr val="000000"/>
              </a:solidFill>
              <a:effectLst/>
              <a:uFillTx/>
              <a:latin typeface="Arial"/>
            </a:endParaRPr>
          </a:p>
        </p:txBody>
      </p:sp>
      <p:sp>
        <p:nvSpPr>
          <p:cNvPr id="34" name="Text 16"/>
          <p:cNvSpPr/>
          <p:nvPr/>
        </p:nvSpPr>
        <p:spPr>
          <a:xfrm>
            <a:off x="3200400" y="3749040"/>
            <a:ext cx="83206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0" u="none" strike="noStrike">
                <a:solidFill>
                  <a:srgbClr val="64748B"/>
                </a:solidFill>
                <a:effectLst/>
                <a:uFillTx/>
                <a:latin typeface="Calibri"/>
                <a:ea typeface="Calibri"/>
              </a:rPr>
              <a:t>A real database, so the data survives a restart</a:t>
            </a:r>
            <a:endParaRPr lang="en-IN" sz="1550" b="0" u="none" strike="noStrike">
              <a:solidFill>
                <a:srgbClr val="000000"/>
              </a:solidFill>
              <a:effectLst/>
              <a:uFillTx/>
              <a:latin typeface="Arial"/>
            </a:endParaRPr>
          </a:p>
        </p:txBody>
      </p:sp>
      <p:sp>
        <p:nvSpPr>
          <p:cNvPr id="35" name="Shape 17"/>
          <p:cNvSpPr/>
          <p:nvPr/>
        </p:nvSpPr>
        <p:spPr>
          <a:xfrm>
            <a:off x="548640" y="4709160"/>
            <a:ext cx="639720" cy="639720"/>
          </a:xfrm>
          <a:prstGeom prst="roundRect">
            <a:avLst>
              <a:gd name="adj" fmla="val 50000"/>
            </a:avLst>
          </a:prstGeom>
          <a:solidFill>
            <a:srgbClr val="CBD5E1"/>
          </a:solid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6" name="Text 18"/>
          <p:cNvSpPr/>
          <p:nvPr/>
        </p:nvSpPr>
        <p:spPr>
          <a:xfrm>
            <a:off x="548640" y="4709160"/>
            <a:ext cx="63972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4</a:t>
            </a:r>
            <a:endParaRPr lang="en-IN" sz="1500" b="0" u="none" strike="noStrike">
              <a:solidFill>
                <a:srgbClr val="000000"/>
              </a:solidFill>
              <a:effectLst/>
              <a:uFillTx/>
              <a:latin typeface="Arial"/>
            </a:endParaRPr>
          </a:p>
        </p:txBody>
      </p:sp>
      <p:sp>
        <p:nvSpPr>
          <p:cNvPr id="37" name="Shape 19"/>
          <p:cNvSpPr/>
          <p:nvPr/>
        </p:nvSpPr>
        <p:spPr>
          <a:xfrm>
            <a:off x="1463040" y="4709160"/>
            <a:ext cx="10176840" cy="639720"/>
          </a:xfrm>
          <a:prstGeom prst="roundRect">
            <a:avLst>
              <a:gd name="adj" fmla="val 14286"/>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8" name="Text 20"/>
          <p:cNvSpPr/>
          <p:nvPr/>
        </p:nvSpPr>
        <p:spPr>
          <a:xfrm>
            <a:off x="1737360" y="4709160"/>
            <a:ext cx="137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64748B"/>
                </a:solidFill>
                <a:effectLst/>
                <a:uFillTx/>
                <a:latin typeface="Calibri"/>
                <a:ea typeface="Calibri"/>
              </a:rPr>
              <a:t>FINALLY</a:t>
            </a:r>
            <a:endParaRPr lang="en-IN" sz="1300" b="0" u="none" strike="noStrike">
              <a:solidFill>
                <a:srgbClr val="000000"/>
              </a:solidFill>
              <a:effectLst/>
              <a:uFillTx/>
              <a:latin typeface="Arial"/>
            </a:endParaRPr>
          </a:p>
        </p:txBody>
      </p:sp>
      <p:sp>
        <p:nvSpPr>
          <p:cNvPr id="39" name="Text 21"/>
          <p:cNvSpPr/>
          <p:nvPr/>
        </p:nvSpPr>
        <p:spPr>
          <a:xfrm>
            <a:off x="3200400" y="4709160"/>
            <a:ext cx="83206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0" u="none" strike="noStrike">
                <a:solidFill>
                  <a:srgbClr val="64748B"/>
                </a:solidFill>
                <a:effectLst/>
                <a:uFillTx/>
                <a:latin typeface="Calibri"/>
                <a:ea typeface="Calibri"/>
              </a:rPr>
              <a:t>Logins and roles, Docker, and shipping it</a:t>
            </a:r>
            <a:endParaRPr lang="en-IN" sz="1550" b="0" u="none" strike="noStrike">
              <a:solidFill>
                <a:srgbClr val="000000"/>
              </a:solidFill>
              <a:effectLst/>
              <a:uFillTx/>
              <a:latin typeface="Arial"/>
            </a:endParaRPr>
          </a:p>
        </p:txBody>
      </p:sp>
      <p:sp>
        <p:nvSpPr>
          <p:cNvPr id="40" name="Shape 22"/>
          <p:cNvSpPr/>
          <p:nvPr/>
        </p:nvSpPr>
        <p:spPr>
          <a:xfrm>
            <a:off x="548640" y="5760720"/>
            <a:ext cx="11091240" cy="731160"/>
          </a:xfrm>
          <a:prstGeom prst="roundRect">
            <a:avLst>
              <a:gd name="adj" fmla="val 12500"/>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 name="Text 23"/>
          <p:cNvSpPr/>
          <p:nvPr/>
        </p:nvSpPr>
        <p:spPr>
          <a:xfrm>
            <a:off x="868680" y="5760720"/>
            <a:ext cx="104238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Win condition for today:  </a:t>
            </a:r>
            <a:r>
              <a:rPr lang="en-US" sz="1500" b="0" u="none" strike="noStrike">
                <a:solidFill>
                  <a:srgbClr val="1E293B"/>
                </a:solidFill>
                <a:effectLst/>
                <a:uFillTx/>
                <a:latin typeface="Calibri"/>
                <a:ea typeface="Calibri"/>
              </a:rPr>
              <a:t>your own server running, and /docs open on your screen.</a:t>
            </a:r>
            <a:endParaRPr lang="en-IN" sz="1500" b="0" u="none" strike="noStrike">
              <a:solidFill>
                <a:srgbClr val="000000"/>
              </a:solidFill>
              <a:effectLst/>
              <a:uFillTx/>
              <a:latin typeface="Arial"/>
            </a:endParaRPr>
          </a:p>
        </p:txBody>
      </p:sp>
      <p:sp>
        <p:nvSpPr>
          <p:cNvPr id="42" name="Text 24"/>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43" name="Text 2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An API is a message in, a message out</a:t>
            </a:r>
            <a:endParaRPr lang="en-IN" sz="3000" b="0" u="none" strike="noStrike">
              <a:solidFill>
                <a:srgbClr val="000000"/>
              </a:solidFill>
              <a:effectLst/>
              <a:uFillTx/>
              <a:latin typeface="Arial"/>
            </a:endParaRPr>
          </a:p>
        </p:txBody>
      </p:sp>
      <p:sp>
        <p:nvSpPr>
          <p:cNvPr id="45" name="Text 1"/>
          <p:cNvSpPr/>
          <p:nvPr/>
        </p:nvSpPr>
        <p:spPr>
          <a:xfrm>
            <a:off x="548640" y="11887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Not a screen. Not a page. Data.</a:t>
            </a:r>
            <a:endParaRPr lang="en-IN" sz="1500" b="0" u="none" strike="noStrike">
              <a:solidFill>
                <a:srgbClr val="000000"/>
              </a:solidFill>
              <a:effectLst/>
              <a:uFillTx/>
              <a:latin typeface="Arial"/>
            </a:endParaRPr>
          </a:p>
        </p:txBody>
      </p:sp>
      <p:sp>
        <p:nvSpPr>
          <p:cNvPr id="46" name="Shape 2"/>
          <p:cNvSpPr/>
          <p:nvPr/>
        </p:nvSpPr>
        <p:spPr>
          <a:xfrm>
            <a:off x="548640" y="1828800"/>
            <a:ext cx="3017160" cy="2011320"/>
          </a:xfrm>
          <a:prstGeom prst="roundRect">
            <a:avLst>
              <a:gd name="adj" fmla="val 4545"/>
            </a:avLst>
          </a:prstGeom>
          <a:solidFill>
            <a:srgbClr val="F1F5F9"/>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7" name="Text 3"/>
          <p:cNvSpPr/>
          <p:nvPr/>
        </p:nvSpPr>
        <p:spPr>
          <a:xfrm>
            <a:off x="548640" y="2057400"/>
            <a:ext cx="301716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E293B"/>
                </a:solidFill>
                <a:effectLst/>
                <a:uFillTx/>
                <a:latin typeface="Calibri"/>
                <a:ea typeface="Calibri"/>
              </a:rPr>
              <a:t>YOU</a:t>
            </a:r>
            <a:endParaRPr lang="en-IN" sz="2000" b="0" u="none" strike="noStrike">
              <a:solidFill>
                <a:srgbClr val="000000"/>
              </a:solidFill>
              <a:effectLst/>
              <a:uFillTx/>
              <a:latin typeface="Arial"/>
            </a:endParaRPr>
          </a:p>
        </p:txBody>
      </p:sp>
      <p:sp>
        <p:nvSpPr>
          <p:cNvPr id="48" name="Text 4"/>
          <p:cNvSpPr/>
          <p:nvPr/>
        </p:nvSpPr>
        <p:spPr>
          <a:xfrm>
            <a:off x="548640" y="2560320"/>
            <a:ext cx="301716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64748B"/>
                </a:solidFill>
                <a:effectLst/>
                <a:uFillTx/>
                <a:latin typeface="Calibri"/>
                <a:ea typeface="Calibri"/>
              </a:rPr>
              <a:t>browser · phone app</a:t>
            </a:r>
            <a:endParaRPr lang="en-IN" sz="1300" b="0" u="none" strike="noStrike">
              <a:solidFill>
                <a:srgbClr val="000000"/>
              </a:solidFill>
              <a:effectLst/>
              <a:uFillTx/>
              <a:latin typeface="Arial"/>
            </a:endParaRPr>
          </a:p>
          <a:p>
            <a:pPr algn="ctr" defTabSz="914400">
              <a:lnSpc>
                <a:spcPct val="100000"/>
              </a:lnSpc>
              <a:tabLst>
                <a:tab pos="0" algn="l"/>
              </a:tabLst>
            </a:pPr>
            <a:r>
              <a:rPr lang="en-US" sz="1300" b="0" u="none" strike="noStrike">
                <a:solidFill>
                  <a:srgbClr val="64748B"/>
                </a:solidFill>
                <a:effectLst/>
                <a:uFillTx/>
                <a:latin typeface="Calibri"/>
                <a:ea typeface="Calibri"/>
              </a:rPr>
              <a:t>another program</a:t>
            </a:r>
            <a:endParaRPr lang="en-IN" sz="1300" b="0" u="none" strike="noStrike">
              <a:solidFill>
                <a:srgbClr val="000000"/>
              </a:solidFill>
              <a:effectLst/>
              <a:uFillTx/>
              <a:latin typeface="Arial"/>
            </a:endParaRPr>
          </a:p>
        </p:txBody>
      </p:sp>
      <p:sp>
        <p:nvSpPr>
          <p:cNvPr id="49" name="Shape 5"/>
          <p:cNvSpPr/>
          <p:nvPr/>
        </p:nvSpPr>
        <p:spPr>
          <a:xfrm>
            <a:off x="8622720" y="1828800"/>
            <a:ext cx="3017160" cy="2011320"/>
          </a:xfrm>
          <a:prstGeom prst="roundRect">
            <a:avLst>
              <a:gd name="adj" fmla="val 454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0" name="Text 6"/>
          <p:cNvSpPr/>
          <p:nvPr/>
        </p:nvSpPr>
        <p:spPr>
          <a:xfrm>
            <a:off x="8622720" y="2057400"/>
            <a:ext cx="301716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6366F1"/>
                </a:solidFill>
                <a:effectLst/>
                <a:uFillTx/>
                <a:latin typeface="Calibri"/>
                <a:ea typeface="Calibri"/>
              </a:rPr>
              <a:t>THE SERVER</a:t>
            </a:r>
            <a:endParaRPr lang="en-IN" sz="2000" b="0" u="none" strike="noStrike">
              <a:solidFill>
                <a:srgbClr val="000000"/>
              </a:solidFill>
              <a:effectLst/>
              <a:uFillTx/>
              <a:latin typeface="Arial"/>
            </a:endParaRPr>
          </a:p>
        </p:txBody>
      </p:sp>
      <p:sp>
        <p:nvSpPr>
          <p:cNvPr id="51" name="Text 7"/>
          <p:cNvSpPr/>
          <p:nvPr/>
        </p:nvSpPr>
        <p:spPr>
          <a:xfrm>
            <a:off x="8622720" y="2560320"/>
            <a:ext cx="301716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64748B"/>
                </a:solidFill>
                <a:effectLst/>
                <a:uFillTx/>
                <a:latin typeface="Calibri"/>
                <a:ea typeface="Calibri"/>
              </a:rPr>
              <a:t>your program,</a:t>
            </a:r>
            <a:endParaRPr lang="en-IN" sz="1300" b="0" u="none" strike="noStrike">
              <a:solidFill>
                <a:srgbClr val="000000"/>
              </a:solidFill>
              <a:effectLst/>
              <a:uFillTx/>
              <a:latin typeface="Arial"/>
            </a:endParaRPr>
          </a:p>
          <a:p>
            <a:pPr algn="ctr" defTabSz="914400">
              <a:lnSpc>
                <a:spcPct val="100000"/>
              </a:lnSpc>
              <a:tabLst>
                <a:tab pos="0" algn="l"/>
              </a:tabLst>
            </a:pPr>
            <a:r>
              <a:rPr lang="en-US" sz="1300" b="0" u="none" strike="noStrike">
                <a:solidFill>
                  <a:srgbClr val="64748B"/>
                </a:solidFill>
                <a:effectLst/>
                <a:uFillTx/>
                <a:latin typeface="Calibri"/>
                <a:ea typeface="Calibri"/>
              </a:rPr>
              <a:t>always running</a:t>
            </a:r>
            <a:endParaRPr lang="en-IN" sz="1300" b="0" u="none" strike="noStrike">
              <a:solidFill>
                <a:srgbClr val="000000"/>
              </a:solidFill>
              <a:effectLst/>
              <a:uFillTx/>
              <a:latin typeface="Arial"/>
            </a:endParaRPr>
          </a:p>
        </p:txBody>
      </p:sp>
      <p:sp>
        <p:nvSpPr>
          <p:cNvPr id="52" name="Text 8"/>
          <p:cNvSpPr/>
          <p:nvPr/>
        </p:nvSpPr>
        <p:spPr>
          <a:xfrm>
            <a:off x="3749040" y="1965960"/>
            <a:ext cx="466308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4748B"/>
                </a:solidFill>
                <a:effectLst/>
                <a:uFillTx/>
                <a:latin typeface="Calibri"/>
                <a:ea typeface="Calibri"/>
              </a:rPr>
              <a:t>request</a:t>
            </a:r>
            <a:endParaRPr lang="en-IN" sz="1300" b="0" u="none" strike="noStrike">
              <a:solidFill>
                <a:srgbClr val="000000"/>
              </a:solidFill>
              <a:effectLst/>
              <a:uFillTx/>
              <a:latin typeface="Arial"/>
            </a:endParaRPr>
          </a:p>
        </p:txBody>
      </p:sp>
      <p:sp>
        <p:nvSpPr>
          <p:cNvPr id="53" name="Shape 9"/>
          <p:cNvSpPr/>
          <p:nvPr/>
        </p:nvSpPr>
        <p:spPr>
          <a:xfrm>
            <a:off x="3749040" y="2331720"/>
            <a:ext cx="4690440" cy="456840"/>
          </a:xfrm>
          <a:prstGeom prst="roundRect">
            <a:avLst>
              <a:gd name="adj" fmla="val 12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4" name="Text 10"/>
          <p:cNvSpPr/>
          <p:nvPr/>
        </p:nvSpPr>
        <p:spPr>
          <a:xfrm>
            <a:off x="3749040" y="2331720"/>
            <a:ext cx="46904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u="none" strike="noStrike">
                <a:solidFill>
                  <a:srgbClr val="1E293B"/>
                </a:solidFill>
                <a:effectLst/>
                <a:uFillTx/>
                <a:latin typeface="Courier New"/>
                <a:ea typeface="Courier New"/>
              </a:rPr>
              <a:t>GET /students/1</a:t>
            </a:r>
            <a:endParaRPr lang="en-IN" sz="1400" b="0" u="none" strike="noStrike">
              <a:solidFill>
                <a:srgbClr val="000000"/>
              </a:solidFill>
              <a:effectLst/>
              <a:uFillTx/>
              <a:latin typeface="Arial"/>
            </a:endParaRPr>
          </a:p>
        </p:txBody>
      </p:sp>
      <p:sp>
        <p:nvSpPr>
          <p:cNvPr id="55" name="Text 11"/>
          <p:cNvSpPr/>
          <p:nvPr/>
        </p:nvSpPr>
        <p:spPr>
          <a:xfrm>
            <a:off x="3749040" y="2926080"/>
            <a:ext cx="466308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4748B"/>
                </a:solidFill>
                <a:effectLst/>
                <a:uFillTx/>
                <a:latin typeface="Calibri"/>
                <a:ea typeface="Calibri"/>
              </a:rPr>
              <a:t>response</a:t>
            </a:r>
            <a:endParaRPr lang="en-IN" sz="1300" b="0" u="none" strike="noStrike">
              <a:solidFill>
                <a:srgbClr val="000000"/>
              </a:solidFill>
              <a:effectLst/>
              <a:uFillTx/>
              <a:latin typeface="Arial"/>
            </a:endParaRPr>
          </a:p>
        </p:txBody>
      </p:sp>
      <p:sp>
        <p:nvSpPr>
          <p:cNvPr id="56" name="Shape 12"/>
          <p:cNvSpPr/>
          <p:nvPr/>
        </p:nvSpPr>
        <p:spPr>
          <a:xfrm>
            <a:off x="3749040" y="3291840"/>
            <a:ext cx="4690440" cy="456840"/>
          </a:xfrm>
          <a:prstGeom prst="roundRect">
            <a:avLst>
              <a:gd name="adj" fmla="val 12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7" name="Text 13"/>
          <p:cNvSpPr/>
          <p:nvPr/>
        </p:nvSpPr>
        <p:spPr>
          <a:xfrm>
            <a:off x="3749040" y="3291840"/>
            <a:ext cx="46904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u="none" strike="noStrike">
                <a:solidFill>
                  <a:srgbClr val="1E293B"/>
                </a:solidFill>
                <a:effectLst/>
                <a:uFillTx/>
                <a:latin typeface="Courier New"/>
                <a:ea typeface="Courier New"/>
              </a:rPr>
              <a:t>{"id": 1, "name": "Ada"}</a:t>
            </a:r>
            <a:endParaRPr lang="en-IN" sz="1400" b="0" u="none" strike="noStrike">
              <a:solidFill>
                <a:srgbClr val="000000"/>
              </a:solidFill>
              <a:effectLst/>
              <a:uFillTx/>
              <a:latin typeface="Arial"/>
            </a:endParaRPr>
          </a:p>
        </p:txBody>
      </p:sp>
      <p:sp>
        <p:nvSpPr>
          <p:cNvPr id="58" name="Text 14"/>
          <p:cNvSpPr/>
          <p:nvPr/>
        </p:nvSpPr>
        <p:spPr>
          <a:xfrm>
            <a:off x="548640" y="4114800"/>
            <a:ext cx="5394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6366F1"/>
                </a:solidFill>
                <a:effectLst/>
                <a:uFillTx/>
                <a:latin typeface="Calibri"/>
                <a:ea typeface="Calibri"/>
              </a:rPr>
              <a:t>The method is the verb</a:t>
            </a:r>
            <a:endParaRPr lang="en-IN" sz="1450" b="0" u="none" strike="noStrike">
              <a:solidFill>
                <a:srgbClr val="000000"/>
              </a:solidFill>
              <a:effectLst/>
              <a:uFillTx/>
              <a:latin typeface="Arial"/>
            </a:endParaRPr>
          </a:p>
        </p:txBody>
      </p:sp>
      <p:sp>
        <p:nvSpPr>
          <p:cNvPr id="59" name="Text 15"/>
          <p:cNvSpPr/>
          <p:nvPr/>
        </p:nvSpPr>
        <p:spPr>
          <a:xfrm>
            <a:off x="548640" y="4425840"/>
            <a:ext cx="5394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GET reads · POST creates</a:t>
            </a:r>
            <a:endParaRPr lang="en-IN" sz="1350" b="0" u="none" strike="noStrike">
              <a:solidFill>
                <a:srgbClr val="000000"/>
              </a:solidFill>
              <a:effectLst/>
              <a:uFillTx/>
              <a:latin typeface="Arial"/>
            </a:endParaRPr>
          </a:p>
        </p:txBody>
      </p:sp>
      <p:sp>
        <p:nvSpPr>
          <p:cNvPr id="60" name="Text 16"/>
          <p:cNvSpPr/>
          <p:nvPr/>
        </p:nvSpPr>
        <p:spPr>
          <a:xfrm>
            <a:off x="6126480" y="4114800"/>
            <a:ext cx="5394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6366F1"/>
                </a:solidFill>
                <a:effectLst/>
                <a:uFillTx/>
                <a:latin typeface="Calibri"/>
                <a:ea typeface="Calibri"/>
              </a:rPr>
              <a:t>The path is the noun</a:t>
            </a:r>
            <a:endParaRPr lang="en-IN" sz="1450" b="0" u="none" strike="noStrike">
              <a:solidFill>
                <a:srgbClr val="000000"/>
              </a:solidFill>
              <a:effectLst/>
              <a:uFillTx/>
              <a:latin typeface="Arial"/>
            </a:endParaRPr>
          </a:p>
        </p:txBody>
      </p:sp>
      <p:sp>
        <p:nvSpPr>
          <p:cNvPr id="61" name="Text 17"/>
          <p:cNvSpPr/>
          <p:nvPr/>
        </p:nvSpPr>
        <p:spPr>
          <a:xfrm>
            <a:off x="6126480" y="4425840"/>
            <a:ext cx="5394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/students — a thing, never an action</a:t>
            </a:r>
            <a:endParaRPr lang="en-IN" sz="1350" b="0" u="none" strike="noStrike">
              <a:solidFill>
                <a:srgbClr val="000000"/>
              </a:solidFill>
              <a:effectLst/>
              <a:uFillTx/>
              <a:latin typeface="Arial"/>
            </a:endParaRPr>
          </a:p>
        </p:txBody>
      </p:sp>
      <p:sp>
        <p:nvSpPr>
          <p:cNvPr id="62" name="Text 18"/>
          <p:cNvSpPr/>
          <p:nvPr/>
        </p:nvSpPr>
        <p:spPr>
          <a:xfrm>
            <a:off x="548640" y="4892040"/>
            <a:ext cx="5394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6366F1"/>
                </a:solidFill>
                <a:effectLst/>
                <a:uFillTx/>
                <a:latin typeface="Calibri"/>
                <a:ea typeface="Calibri"/>
              </a:rPr>
              <a:t>The answer is data</a:t>
            </a:r>
            <a:endParaRPr lang="en-IN" sz="1450" b="0" u="none" strike="noStrike">
              <a:solidFill>
                <a:srgbClr val="000000"/>
              </a:solidFill>
              <a:effectLst/>
              <a:uFillTx/>
              <a:latin typeface="Arial"/>
            </a:endParaRPr>
          </a:p>
        </p:txBody>
      </p:sp>
      <p:sp>
        <p:nvSpPr>
          <p:cNvPr id="63" name="Text 19"/>
          <p:cNvSpPr/>
          <p:nvPr/>
        </p:nvSpPr>
        <p:spPr>
          <a:xfrm>
            <a:off x="548640" y="5203080"/>
            <a:ext cx="5394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JSON: a dict with different punctuation</a:t>
            </a:r>
            <a:endParaRPr lang="en-IN" sz="1350" b="0" u="none" strike="noStrike">
              <a:solidFill>
                <a:srgbClr val="000000"/>
              </a:solidFill>
              <a:effectLst/>
              <a:uFillTx/>
              <a:latin typeface="Arial"/>
            </a:endParaRPr>
          </a:p>
        </p:txBody>
      </p:sp>
      <p:sp>
        <p:nvSpPr>
          <p:cNvPr id="64" name="Text 20"/>
          <p:cNvSpPr/>
          <p:nvPr/>
        </p:nvSpPr>
        <p:spPr>
          <a:xfrm>
            <a:off x="6126480" y="4892040"/>
            <a:ext cx="5394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6366F1"/>
                </a:solidFill>
                <a:effectLst/>
                <a:uFillTx/>
                <a:latin typeface="Calibri"/>
                <a:ea typeface="Calibri"/>
              </a:rPr>
              <a:t>Every answer has a number</a:t>
            </a:r>
            <a:endParaRPr lang="en-IN" sz="1450" b="0" u="none" strike="noStrike">
              <a:solidFill>
                <a:srgbClr val="000000"/>
              </a:solidFill>
              <a:effectLst/>
              <a:uFillTx/>
              <a:latin typeface="Arial"/>
            </a:endParaRPr>
          </a:p>
        </p:txBody>
      </p:sp>
      <p:sp>
        <p:nvSpPr>
          <p:cNvPr id="65" name="Text 21"/>
          <p:cNvSpPr/>
          <p:nvPr/>
        </p:nvSpPr>
        <p:spPr>
          <a:xfrm>
            <a:off x="6126480" y="5203080"/>
            <a:ext cx="5394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200 ok · 404 no such thing · 422 malformed</a:t>
            </a:r>
            <a:endParaRPr lang="en-IN" sz="1350" b="0" u="none" strike="noStrike">
              <a:solidFill>
                <a:srgbClr val="000000"/>
              </a:solidFill>
              <a:effectLst/>
              <a:uFillTx/>
              <a:latin typeface="Arial"/>
            </a:endParaRPr>
          </a:p>
        </p:txBody>
      </p:sp>
      <p:sp>
        <p:nvSpPr>
          <p:cNvPr id="66" name="Text 22"/>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67" name="Text 23"/>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4</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68"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01</a:t>
            </a:r>
            <a:endParaRPr lang="en-IN" sz="9600" b="0" u="none" strike="noStrike">
              <a:solidFill>
                <a:srgbClr val="000000"/>
              </a:solidFill>
              <a:effectLst/>
              <a:uFillTx/>
              <a:latin typeface="Arial"/>
            </a:endParaRPr>
          </a:p>
        </p:txBody>
      </p:sp>
      <p:sp>
        <p:nvSpPr>
          <p:cNvPr id="69"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Objects — the shape of a thing</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Delete Raj.</a:t>
            </a:r>
            <a:endParaRPr lang="en-IN" sz="3000" b="0" u="none" strike="noStrike">
              <a:solidFill>
                <a:srgbClr val="000000"/>
              </a:solidFill>
              <a:effectLst/>
              <a:uFillTx/>
              <a:latin typeface="Arial"/>
            </a:endParaRPr>
          </a:p>
        </p:txBody>
      </p:sp>
      <p:sp>
        <p:nvSpPr>
          <p:cNvPr id="71" name="Text 1"/>
          <p:cNvSpPr/>
          <p:nvPr/>
        </p:nvSpPr>
        <p:spPr>
          <a:xfrm>
            <a:off x="548640" y="11887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He has left the course. Go ahead.</a:t>
            </a:r>
            <a:endParaRPr lang="en-IN" sz="1500" b="0" u="none" strike="noStrike">
              <a:solidFill>
                <a:srgbClr val="000000"/>
              </a:solidFill>
              <a:effectLst/>
              <a:uFillTx/>
              <a:latin typeface="Arial"/>
            </a:endParaRPr>
          </a:p>
        </p:txBody>
      </p:sp>
      <p:sp>
        <p:nvSpPr>
          <p:cNvPr id="72" name="Shape 2"/>
          <p:cNvSpPr/>
          <p:nvPr/>
        </p:nvSpPr>
        <p:spPr>
          <a:xfrm>
            <a:off x="548640" y="1783080"/>
            <a:ext cx="11091240" cy="1371240"/>
          </a:xfrm>
          <a:prstGeom prst="roundRect">
            <a:avLst>
              <a:gd name="adj" fmla="val 4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3" name="Text 3"/>
          <p:cNvSpPr/>
          <p:nvPr/>
        </p:nvSpPr>
        <p:spPr>
          <a:xfrm>
            <a:off x="804600" y="1965960"/>
            <a:ext cx="10579320" cy="10054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1E293B"/>
                </a:solidFill>
                <a:effectLst/>
                <a:uFillTx/>
                <a:latin typeface="Courier New"/>
                <a:ea typeface="Courier New"/>
              </a:rPr>
              <a:t>names    = ["Ada", "Raj"]</a:t>
            </a:r>
            <a:endParaRPr lang="en-IN" sz="1500" b="0" u="none" strike="noStrike">
              <a:solidFill>
                <a:srgbClr val="000000"/>
              </a:solidFill>
              <a:effectLst/>
              <a:uFillTx/>
              <a:latin typeface="Arial"/>
            </a:endParaRPr>
          </a:p>
          <a:p>
            <a:pPr defTabSz="914400">
              <a:lnSpc>
                <a:spcPct val="115000"/>
              </a:lnSpc>
              <a:tabLst>
                <a:tab pos="0" algn="l"/>
              </a:tabLst>
            </a:pPr>
            <a:r>
              <a:rPr lang="en-US" sz="1500" b="0" u="none" strike="noStrike">
                <a:solidFill>
                  <a:srgbClr val="1E293B"/>
                </a:solidFill>
                <a:effectLst/>
                <a:uFillTx/>
                <a:latin typeface="Courier New"/>
                <a:ea typeface="Courier New"/>
              </a:rPr>
              <a:t>branches = ["CSE", "ECE"]</a:t>
            </a:r>
            <a:endParaRPr lang="en-IN" sz="1500" b="0" u="none" strike="noStrike">
              <a:solidFill>
                <a:srgbClr val="000000"/>
              </a:solidFill>
              <a:effectLst/>
              <a:uFillTx/>
              <a:latin typeface="Arial"/>
            </a:endParaRPr>
          </a:p>
          <a:p>
            <a:pPr defTabSz="914400">
              <a:lnSpc>
                <a:spcPct val="115000"/>
              </a:lnSpc>
              <a:tabLst>
                <a:tab pos="0" algn="l"/>
              </a:tabLst>
            </a:pPr>
            <a:r>
              <a:rPr lang="en-US" sz="1500" b="0" u="none" strike="noStrike">
                <a:solidFill>
                  <a:srgbClr val="1E293B"/>
                </a:solidFill>
                <a:effectLst/>
                <a:uFillTx/>
                <a:latin typeface="Courier New"/>
                <a:ea typeface="Courier New"/>
              </a:rPr>
              <a:t>ages     = [20, 21]</a:t>
            </a:r>
            <a:endParaRPr lang="en-IN" sz="1500" b="0" u="none" strike="noStrike">
              <a:solidFill>
                <a:srgbClr val="000000"/>
              </a:solidFill>
              <a:effectLst/>
              <a:uFillTx/>
              <a:latin typeface="Arial"/>
            </a:endParaRPr>
          </a:p>
        </p:txBody>
      </p:sp>
      <p:sp>
        <p:nvSpPr>
          <p:cNvPr id="74" name="Shape 4"/>
          <p:cNvSpPr/>
          <p:nvPr/>
        </p:nvSpPr>
        <p:spPr>
          <a:xfrm>
            <a:off x="548640" y="3429000"/>
            <a:ext cx="3565800" cy="1371240"/>
          </a:xfrm>
          <a:prstGeom prst="roundRect">
            <a:avLst>
              <a:gd name="adj" fmla="val 6667"/>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5" name="Text 5"/>
          <p:cNvSpPr/>
          <p:nvPr/>
        </p:nvSpPr>
        <p:spPr>
          <a:xfrm>
            <a:off x="804600" y="3611880"/>
            <a:ext cx="30628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91C1C"/>
                </a:solidFill>
                <a:effectLst/>
                <a:uFillTx/>
                <a:latin typeface="Calibri"/>
                <a:ea typeface="Calibri"/>
              </a:rPr>
              <a:t>Three deletes</a:t>
            </a:r>
            <a:endParaRPr lang="en-IN" sz="1600" b="0" u="none" strike="noStrike">
              <a:solidFill>
                <a:srgbClr val="000000"/>
              </a:solidFill>
              <a:effectLst/>
              <a:uFillTx/>
              <a:latin typeface="Arial"/>
            </a:endParaRPr>
          </a:p>
        </p:txBody>
      </p:sp>
      <p:sp>
        <p:nvSpPr>
          <p:cNvPr id="76" name="Text 6"/>
          <p:cNvSpPr/>
          <p:nvPr/>
        </p:nvSpPr>
        <p:spPr>
          <a:xfrm>
            <a:off x="804600" y="4023360"/>
            <a:ext cx="30628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in three different lists</a:t>
            </a:r>
            <a:endParaRPr lang="en-IN" sz="1400" b="0" u="none" strike="noStrike">
              <a:solidFill>
                <a:srgbClr val="000000"/>
              </a:solidFill>
              <a:effectLst/>
              <a:uFillTx/>
              <a:latin typeface="Arial"/>
            </a:endParaRPr>
          </a:p>
        </p:txBody>
      </p:sp>
      <p:sp>
        <p:nvSpPr>
          <p:cNvPr id="77" name="Shape 7"/>
          <p:cNvSpPr/>
          <p:nvPr/>
        </p:nvSpPr>
        <p:spPr>
          <a:xfrm>
            <a:off x="4316040" y="3429000"/>
            <a:ext cx="3565800" cy="1371240"/>
          </a:xfrm>
          <a:prstGeom prst="roundRect">
            <a:avLst>
              <a:gd name="adj" fmla="val 6667"/>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8" name="Text 8"/>
          <p:cNvSpPr/>
          <p:nvPr/>
        </p:nvSpPr>
        <p:spPr>
          <a:xfrm>
            <a:off x="4572000" y="3611880"/>
            <a:ext cx="30628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91C1C"/>
                </a:solidFill>
                <a:effectLst/>
                <a:uFillTx/>
                <a:latin typeface="Calibri"/>
                <a:ea typeface="Calibri"/>
              </a:rPr>
              <a:t>In the right order</a:t>
            </a:r>
            <a:endParaRPr lang="en-IN" sz="1600" b="0" u="none" strike="noStrike">
              <a:solidFill>
                <a:srgbClr val="000000"/>
              </a:solidFill>
              <a:effectLst/>
              <a:uFillTx/>
              <a:latin typeface="Arial"/>
            </a:endParaRPr>
          </a:p>
        </p:txBody>
      </p:sp>
      <p:sp>
        <p:nvSpPr>
          <p:cNvPr id="79" name="Text 9"/>
          <p:cNvSpPr/>
          <p:nvPr/>
        </p:nvSpPr>
        <p:spPr>
          <a:xfrm>
            <a:off x="4572000" y="4023360"/>
            <a:ext cx="30628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or index 1 means two different people</a:t>
            </a:r>
            <a:endParaRPr lang="en-IN" sz="1400" b="0" u="none" strike="noStrike">
              <a:solidFill>
                <a:srgbClr val="000000"/>
              </a:solidFill>
              <a:effectLst/>
              <a:uFillTx/>
              <a:latin typeface="Arial"/>
            </a:endParaRPr>
          </a:p>
        </p:txBody>
      </p:sp>
      <p:sp>
        <p:nvSpPr>
          <p:cNvPr id="80" name="Shape 10"/>
          <p:cNvSpPr/>
          <p:nvPr/>
        </p:nvSpPr>
        <p:spPr>
          <a:xfrm>
            <a:off x="8083440" y="3429000"/>
            <a:ext cx="3565800" cy="1371240"/>
          </a:xfrm>
          <a:prstGeom prst="roundRect">
            <a:avLst>
              <a:gd name="adj" fmla="val 6667"/>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1" name="Text 11"/>
          <p:cNvSpPr/>
          <p:nvPr/>
        </p:nvSpPr>
        <p:spPr>
          <a:xfrm>
            <a:off x="8339400" y="3611880"/>
            <a:ext cx="30628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91C1C"/>
                </a:solidFill>
                <a:effectLst/>
                <a:uFillTx/>
                <a:latin typeface="Calibri"/>
                <a:ea typeface="Calibri"/>
              </a:rPr>
              <a:t>Forget one</a:t>
            </a:r>
            <a:endParaRPr lang="en-IN" sz="1600" b="0" u="none" strike="noStrike">
              <a:solidFill>
                <a:srgbClr val="000000"/>
              </a:solidFill>
              <a:effectLst/>
              <a:uFillTx/>
              <a:latin typeface="Arial"/>
            </a:endParaRPr>
          </a:p>
        </p:txBody>
      </p:sp>
      <p:sp>
        <p:nvSpPr>
          <p:cNvPr id="82" name="Text 12"/>
          <p:cNvSpPr/>
          <p:nvPr/>
        </p:nvSpPr>
        <p:spPr>
          <a:xfrm>
            <a:off x="8339400" y="4023360"/>
            <a:ext cx="30628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and the data is silently wrong forever</a:t>
            </a:r>
            <a:endParaRPr lang="en-IN" sz="1400" b="0" u="none" strike="noStrike">
              <a:solidFill>
                <a:srgbClr val="000000"/>
              </a:solidFill>
              <a:effectLst/>
              <a:uFillTx/>
              <a:latin typeface="Arial"/>
            </a:endParaRPr>
          </a:p>
        </p:txBody>
      </p:sp>
      <p:sp>
        <p:nvSpPr>
          <p:cNvPr id="83" name="Shape 13"/>
          <p:cNvSpPr/>
          <p:nvPr/>
        </p:nvSpPr>
        <p:spPr>
          <a:xfrm>
            <a:off x="548640" y="5120640"/>
            <a:ext cx="11091240" cy="822600"/>
          </a:xfrm>
          <a:prstGeom prst="roundRect">
            <a:avLst>
              <a:gd name="adj" fmla="val 11111"/>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4" name="Text 14"/>
          <p:cNvSpPr/>
          <p:nvPr/>
        </p:nvSpPr>
        <p:spPr>
          <a:xfrm>
            <a:off x="868680" y="5120640"/>
            <a:ext cx="1042380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One student is one thing.  </a:t>
            </a:r>
            <a:r>
              <a:rPr lang="en-US" sz="1500" b="0" u="none" strike="noStrike">
                <a:solidFill>
                  <a:srgbClr val="1E293B"/>
                </a:solidFill>
                <a:effectLst/>
                <a:uFillTx/>
                <a:latin typeface="Calibri"/>
                <a:ea typeface="Calibri"/>
              </a:rPr>
              <a:t>It belongs in one place — with its data and its behaviour together. That is all an object is.</a:t>
            </a:r>
            <a:endParaRPr lang="en-IN" sz="1500" b="0" u="none" strike="noStrike">
              <a:solidFill>
                <a:srgbClr val="000000"/>
              </a:solidFill>
              <a:effectLst/>
              <a:uFillTx/>
              <a:latin typeface="Arial"/>
            </a:endParaRPr>
          </a:p>
        </p:txBody>
      </p:sp>
      <p:sp>
        <p:nvSpPr>
          <p:cNvPr id="85" name="Text 15"/>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86" name="Text 16"/>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Class = the form.  Object = a filled-in copy.</a:t>
            </a:r>
            <a:endParaRPr lang="en-IN" sz="3000" b="0" u="none" strike="noStrike">
              <a:solidFill>
                <a:srgbClr val="000000"/>
              </a:solidFill>
              <a:effectLst/>
              <a:uFillTx/>
              <a:latin typeface="Arial"/>
            </a:endParaRPr>
          </a:p>
        </p:txBody>
      </p:sp>
      <p:sp>
        <p:nvSpPr>
          <p:cNvPr id="88" name="Shape 1"/>
          <p:cNvSpPr/>
          <p:nvPr/>
        </p:nvSpPr>
        <p:spPr>
          <a:xfrm>
            <a:off x="548640" y="1463040"/>
            <a:ext cx="6583320" cy="2651400"/>
          </a:xfrm>
          <a:prstGeom prst="roundRect">
            <a:avLst>
              <a:gd name="adj" fmla="val 2069"/>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9" name="Text 2"/>
          <p:cNvSpPr/>
          <p:nvPr/>
        </p:nvSpPr>
        <p:spPr>
          <a:xfrm>
            <a:off x="804600" y="1645920"/>
            <a:ext cx="6071400" cy="22856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class Student:</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def __init__(self, id, name, branch="CSE"):</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self.id = id</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self.name = name</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self.branch = branch</a:t>
            </a:r>
            <a:endParaRPr lang="en-IN" sz="1250" b="0" u="none" strike="noStrike">
              <a:solidFill>
                <a:srgbClr val="000000"/>
              </a:solidFill>
              <a:effectLst/>
              <a:uFillTx/>
              <a:latin typeface="Arial"/>
            </a:endParaRPr>
          </a:p>
          <a:p>
            <a:pPr defTabSz="914400">
              <a:lnSpc>
                <a:spcPct val="115000"/>
              </a:lnSpc>
              <a:tabLst>
                <a:tab pos="0" algn="l"/>
              </a:tabLst>
            </a:pP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def label(self):</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return f"[{self.id}] {self.name} ({self.branch})"</a:t>
            </a:r>
            <a:endParaRPr lang="en-IN" sz="1250" b="0" u="none" strike="noStrike">
              <a:solidFill>
                <a:srgbClr val="000000"/>
              </a:solidFill>
              <a:effectLst/>
              <a:uFillTx/>
              <a:latin typeface="Arial"/>
            </a:endParaRPr>
          </a:p>
        </p:txBody>
      </p:sp>
      <p:sp>
        <p:nvSpPr>
          <p:cNvPr id="90" name="Shape 3"/>
          <p:cNvSpPr/>
          <p:nvPr/>
        </p:nvSpPr>
        <p:spPr>
          <a:xfrm>
            <a:off x="7406640" y="1463040"/>
            <a:ext cx="4233240" cy="2651400"/>
          </a:xfrm>
          <a:prstGeom prst="roundRect">
            <a:avLst>
              <a:gd name="adj" fmla="val 2069"/>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1" name="Text 4"/>
          <p:cNvSpPr/>
          <p:nvPr/>
        </p:nvSpPr>
        <p:spPr>
          <a:xfrm>
            <a:off x="7662600" y="1645920"/>
            <a:ext cx="3721320" cy="22856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ada = Student(1, "Ada")</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raj = Student(2, "Raj", "ECE")</a:t>
            </a:r>
            <a:endParaRPr lang="en-IN" sz="1250" b="0" u="none" strike="noStrike">
              <a:solidFill>
                <a:srgbClr val="000000"/>
              </a:solidFill>
              <a:effectLst/>
              <a:uFillTx/>
              <a:latin typeface="Arial"/>
            </a:endParaRPr>
          </a:p>
          <a:p>
            <a:pPr defTabSz="914400">
              <a:lnSpc>
                <a:spcPct val="115000"/>
              </a:lnSpc>
              <a:tabLst>
                <a:tab pos="0" algn="l"/>
              </a:tabLst>
            </a:pP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ada.label()</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[1] Ada (CSE)</a:t>
            </a:r>
            <a:endParaRPr lang="en-IN" sz="1250" b="0" u="none" strike="noStrike">
              <a:solidFill>
                <a:srgbClr val="000000"/>
              </a:solidFill>
              <a:effectLst/>
              <a:uFillTx/>
              <a:latin typeface="Arial"/>
            </a:endParaRPr>
          </a:p>
          <a:p>
            <a:pPr defTabSz="914400">
              <a:lnSpc>
                <a:spcPct val="115000"/>
              </a:lnSpc>
              <a:tabLst>
                <a:tab pos="0" algn="l"/>
              </a:tabLst>
            </a:pP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raj.label()</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[2] Raj (ECE)</a:t>
            </a:r>
            <a:endParaRPr lang="en-IN" sz="1250" b="0" u="none" strike="noStrike">
              <a:solidFill>
                <a:srgbClr val="000000"/>
              </a:solidFill>
              <a:effectLst/>
              <a:uFillTx/>
              <a:latin typeface="Arial"/>
            </a:endParaRPr>
          </a:p>
        </p:txBody>
      </p:sp>
      <p:sp>
        <p:nvSpPr>
          <p:cNvPr id="92" name="Shape 5"/>
          <p:cNvSpPr/>
          <p:nvPr/>
        </p:nvSpPr>
        <p:spPr>
          <a:xfrm>
            <a:off x="548640" y="4343400"/>
            <a:ext cx="11091240" cy="639720"/>
          </a:xfrm>
          <a:prstGeom prst="roundRect">
            <a:avLst>
              <a:gd name="adj" fmla="val 1428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3" name="Text 6"/>
          <p:cNvSpPr/>
          <p:nvPr/>
        </p:nvSpPr>
        <p:spPr>
          <a:xfrm>
            <a:off x="868680" y="43434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They share behaviour, not data.  </a:t>
            </a:r>
            <a:r>
              <a:rPr lang="en-US" sz="1500" b="0" u="none" strike="noStrike">
                <a:solidFill>
                  <a:srgbClr val="1E293B"/>
                </a:solidFill>
                <a:effectLst/>
                <a:uFillTx/>
                <a:latin typeface="Calibri"/>
                <a:ea typeface="Calibri"/>
              </a:rPr>
              <a:t>Both got .label() from the same class. Neither knows the other exists.</a:t>
            </a:r>
            <a:endParaRPr lang="en-IN" sz="1500" b="0" u="none" strike="noStrike">
              <a:solidFill>
                <a:srgbClr val="000000"/>
              </a:solidFill>
              <a:effectLst/>
              <a:uFillTx/>
              <a:latin typeface="Arial"/>
            </a:endParaRPr>
          </a:p>
        </p:txBody>
      </p:sp>
      <p:sp>
        <p:nvSpPr>
          <p:cNvPr id="94" name="Text 7"/>
          <p:cNvSpPr/>
          <p:nvPr/>
        </p:nvSpPr>
        <p:spPr>
          <a:xfrm>
            <a:off x="548640" y="5212080"/>
            <a:ext cx="21942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E293B"/>
                </a:solidFill>
                <a:effectLst/>
                <a:uFillTx/>
                <a:latin typeface="Calibri"/>
                <a:ea typeface="Calibri"/>
              </a:rPr>
              <a:t>And self ?</a:t>
            </a:r>
            <a:endParaRPr lang="en-IN" sz="1900" b="0" u="none" strike="noStrike">
              <a:solidFill>
                <a:srgbClr val="000000"/>
              </a:solidFill>
              <a:effectLst/>
              <a:uFillTx/>
              <a:latin typeface="Arial"/>
            </a:endParaRPr>
          </a:p>
        </p:txBody>
      </p:sp>
      <p:sp>
        <p:nvSpPr>
          <p:cNvPr id="95" name="Shape 8"/>
          <p:cNvSpPr/>
          <p:nvPr/>
        </p:nvSpPr>
        <p:spPr>
          <a:xfrm>
            <a:off x="2651760" y="5166360"/>
            <a:ext cx="8988120" cy="868320"/>
          </a:xfrm>
          <a:prstGeom prst="roundRect">
            <a:avLst>
              <a:gd name="adj" fmla="val 6316"/>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6" name="Text 9"/>
          <p:cNvSpPr/>
          <p:nvPr/>
        </p:nvSpPr>
        <p:spPr>
          <a:xfrm>
            <a:off x="2880360" y="5230440"/>
            <a:ext cx="859500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E293B"/>
                </a:solidFill>
                <a:effectLst/>
                <a:uFillTx/>
                <a:latin typeface="Courier New"/>
                <a:ea typeface="Courier New"/>
              </a:rPr>
              <a:t>ada.label()            # [1] Ada (CSE)</a:t>
            </a:r>
            <a:endParaRPr lang="en-IN"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1E293B"/>
                </a:solidFill>
                <a:effectLst/>
                <a:uFillTx/>
                <a:latin typeface="Courier New"/>
                <a:ea typeface="Courier New"/>
              </a:rPr>
              <a:t>Student.label(ada)     # [1] Ada (CSE)   &lt;- identical. self was ada all along.</a:t>
            </a:r>
            <a:endParaRPr lang="en-IN" sz="1200" b="0" u="none" strike="noStrike">
              <a:solidFill>
                <a:srgbClr val="000000"/>
              </a:solidFill>
              <a:effectLst/>
              <a:uFillTx/>
              <a:latin typeface="Arial"/>
            </a:endParaRPr>
          </a:p>
        </p:txBody>
      </p:sp>
      <p:sp>
        <p:nvSpPr>
          <p:cNvPr id="97" name="Text 10"/>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98" name="Text 11"/>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four pillars, in backend language</a:t>
            </a:r>
            <a:endParaRPr lang="en-IN" sz="3000" b="0" u="none" strike="noStrike">
              <a:solidFill>
                <a:srgbClr val="000000"/>
              </a:solidFill>
              <a:effectLst/>
              <a:uFillTx/>
              <a:latin typeface="Arial"/>
            </a:endParaRPr>
          </a:p>
        </p:txBody>
      </p:sp>
      <p:graphicFrame>
        <p:nvGraphicFramePr>
          <p:cNvPr id="100" name="Table 0"/>
          <p:cNvGraphicFramePr/>
          <p:nvPr/>
        </p:nvGraphicFramePr>
        <p:xfrm>
          <a:off x="548640" y="1645920"/>
          <a:ext cx="11091240" cy="3108600"/>
        </p:xfrm>
        <a:graphic>
          <a:graphicData uri="http://schemas.openxmlformats.org/drawingml/2006/table">
            <a:tbl>
              <a:tblPr/>
              <a:tblGrid>
                <a:gridCol w="2286000"/>
                <a:gridCol w="4023360"/>
                <a:gridCol w="4782240"/>
              </a:tblGrid>
              <a:tr h="62172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Pillar</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Plain meaning</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Where you meet it</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62172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Encapsulation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keep data with the rules that guard it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BankAccount.deposit() refuses a negative amount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2172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Inheritance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 child class reuses the parent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Admin(User) - same login, more power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2172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Polymorphism</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same method name, different behaviour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notifier.send() - email today, SMS tomorrow</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2172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Abstraction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show what, hide how</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db.save(student) - the caller never sees SQL</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101" name="Shape 1"/>
          <p:cNvSpPr/>
          <p:nvPr/>
        </p:nvSpPr>
        <p:spPr>
          <a:xfrm>
            <a:off x="548640" y="5120640"/>
            <a:ext cx="11091240" cy="731160"/>
          </a:xfrm>
          <a:prstGeom prst="roundRect">
            <a:avLst>
              <a:gd name="adj" fmla="val 12500"/>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02" name="Text 2"/>
          <p:cNvSpPr/>
          <p:nvPr/>
        </p:nvSpPr>
        <p:spPr>
          <a:xfrm>
            <a:off x="868680" y="5120640"/>
            <a:ext cx="104238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Four words students memorise and cannot use.  </a:t>
            </a:r>
            <a:r>
              <a:rPr lang="en-US" sz="1500" b="0" u="none" strike="noStrike">
                <a:solidFill>
                  <a:srgbClr val="1E293B"/>
                </a:solidFill>
                <a:effectLst/>
                <a:uFillTx/>
                <a:latin typeface="Calibri"/>
                <a:ea typeface="Calibri"/>
              </a:rPr>
              <a:t>Do not define them — show one running example of each and ask which pillar it was.</a:t>
            </a:r>
            <a:endParaRPr lang="en-IN" sz="1500" b="0" u="none" strike="noStrike">
              <a:solidFill>
                <a:srgbClr val="000000"/>
              </a:solidFill>
              <a:effectLst/>
              <a:uFillTx/>
              <a:latin typeface="Arial"/>
            </a:endParaRPr>
          </a:p>
        </p:txBody>
      </p:sp>
      <p:sp>
        <p:nvSpPr>
          <p:cNvPr id="103" name="Text 3"/>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104" name="Text 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Why not just set the value directly?</a:t>
            </a:r>
            <a:endParaRPr lang="en-IN" sz="3000" b="0" u="none" strike="noStrike">
              <a:solidFill>
                <a:srgbClr val="000000"/>
              </a:solidFill>
              <a:effectLst/>
              <a:uFillTx/>
              <a:latin typeface="Arial"/>
            </a:endParaRPr>
          </a:p>
        </p:txBody>
      </p:sp>
      <p:sp>
        <p:nvSpPr>
          <p:cNvPr id="106" name="Shape 1"/>
          <p:cNvSpPr/>
          <p:nvPr/>
        </p:nvSpPr>
        <p:spPr>
          <a:xfrm>
            <a:off x="548640" y="1463040"/>
            <a:ext cx="5851800" cy="2377080"/>
          </a:xfrm>
          <a:prstGeom prst="roundRect">
            <a:avLst>
              <a:gd name="adj" fmla="val 2308"/>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07" name="Text 2"/>
          <p:cNvSpPr/>
          <p:nvPr/>
        </p:nvSpPr>
        <p:spPr>
          <a:xfrm>
            <a:off x="804600" y="1645920"/>
            <a:ext cx="5339880" cy="20113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class BankAccount:</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def __init__(self):</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self._balance = 0</a:t>
            </a:r>
            <a:endParaRPr lang="en-IN" sz="1250" b="0" u="none" strike="noStrike">
              <a:solidFill>
                <a:srgbClr val="000000"/>
              </a:solidFill>
              <a:effectLst/>
              <a:uFillTx/>
              <a:latin typeface="Arial"/>
            </a:endParaRPr>
          </a:p>
          <a:p>
            <a:pPr defTabSz="914400">
              <a:lnSpc>
                <a:spcPct val="115000"/>
              </a:lnSpc>
              <a:tabLst>
                <a:tab pos="0" algn="l"/>
              </a:tabLst>
            </a:pP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def deposit(self, amount):</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if amount &lt;= 0:</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raise ValueError("must be positive")</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self._balance += amount</a:t>
            </a:r>
            <a:endParaRPr lang="en-IN" sz="1250" b="0" u="none" strike="noStrike">
              <a:solidFill>
                <a:srgbClr val="000000"/>
              </a:solidFill>
              <a:effectLst/>
              <a:uFillTx/>
              <a:latin typeface="Arial"/>
            </a:endParaRPr>
          </a:p>
        </p:txBody>
      </p:sp>
      <p:sp>
        <p:nvSpPr>
          <p:cNvPr id="108" name="Shape 3"/>
          <p:cNvSpPr/>
          <p:nvPr/>
        </p:nvSpPr>
        <p:spPr>
          <a:xfrm>
            <a:off x="6675120" y="1463040"/>
            <a:ext cx="4964760" cy="2377080"/>
          </a:xfrm>
          <a:prstGeom prst="roundRect">
            <a:avLst>
              <a:gd name="adj" fmla="val 3846"/>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09" name="Text 4"/>
          <p:cNvSpPr/>
          <p:nvPr/>
        </p:nvSpPr>
        <p:spPr>
          <a:xfrm>
            <a:off x="6949440" y="1691640"/>
            <a:ext cx="44802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ourier New"/>
                <a:ea typeface="Courier New"/>
              </a:rPr>
              <a:t>account.balance = -500</a:t>
            </a:r>
            <a:endParaRPr lang="en-IN" sz="1500" b="0" u="none" strike="noStrike">
              <a:solidFill>
                <a:srgbClr val="000000"/>
              </a:solidFill>
              <a:effectLst/>
              <a:uFillTx/>
              <a:latin typeface="Arial"/>
            </a:endParaRPr>
          </a:p>
        </p:txBody>
      </p:sp>
      <p:sp>
        <p:nvSpPr>
          <p:cNvPr id="110" name="Text 5"/>
          <p:cNvSpPr/>
          <p:nvPr/>
        </p:nvSpPr>
        <p:spPr>
          <a:xfrm>
            <a:off x="6949440" y="2194560"/>
            <a:ext cx="44802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E293B"/>
                </a:solidFill>
                <a:effectLst/>
                <a:uFillTx/>
                <a:latin typeface="Calibri"/>
                <a:ea typeface="Calibri"/>
              </a:rPr>
              <a:t>Why not?</a:t>
            </a:r>
            <a:endParaRPr lang="en-IN" sz="2000" b="0" u="none" strike="noStrike">
              <a:solidFill>
                <a:srgbClr val="000000"/>
              </a:solidFill>
              <a:effectLst/>
              <a:uFillTx/>
              <a:latin typeface="Arial"/>
            </a:endParaRPr>
          </a:p>
        </p:txBody>
      </p:sp>
      <p:sp>
        <p:nvSpPr>
          <p:cNvPr id="111" name="Text 6"/>
          <p:cNvSpPr/>
          <p:nvPr/>
        </p:nvSpPr>
        <p:spPr>
          <a:xfrm>
            <a:off x="6949440" y="2606040"/>
            <a:ext cx="448020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1E293B"/>
                </a:solidFill>
                <a:effectLst/>
                <a:uFillTx/>
                <a:latin typeface="Calibri"/>
                <a:ea typeface="Calibri"/>
              </a:rPr>
              <a:t>Because the rule “money cannot be negative” has to live somewhere.</a:t>
            </a:r>
            <a:endParaRPr lang="en-IN" sz="1450" b="0" u="none" strike="noStrike">
              <a:solidFill>
                <a:srgbClr val="000000"/>
              </a:solidFill>
              <a:effectLst/>
              <a:uFillTx/>
              <a:latin typeface="Arial"/>
            </a:endParaRPr>
          </a:p>
        </p:txBody>
      </p:sp>
      <p:sp>
        <p:nvSpPr>
          <p:cNvPr id="112" name="Shape 7"/>
          <p:cNvSpPr/>
          <p:nvPr/>
        </p:nvSpPr>
        <p:spPr>
          <a:xfrm>
            <a:off x="548640" y="4114800"/>
            <a:ext cx="11091240" cy="776880"/>
          </a:xfrm>
          <a:prstGeom prst="roundRect">
            <a:avLst>
              <a:gd name="adj" fmla="val 1176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3" name="Text 8"/>
          <p:cNvSpPr/>
          <p:nvPr/>
        </p:nvSpPr>
        <p:spPr>
          <a:xfrm>
            <a:off x="868680" y="4114800"/>
            <a:ext cx="1042380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If the rule is not inside the class,  </a:t>
            </a:r>
            <a:r>
              <a:rPr lang="en-US" sz="1500" b="0" u="none" strike="noStrike">
                <a:solidFill>
                  <a:srgbClr val="1E293B"/>
                </a:solidFill>
                <a:effectLst/>
                <a:uFillTx/>
                <a:latin typeface="Calibri"/>
                <a:ea typeface="Calibri"/>
              </a:rPr>
              <a:t>it must be re-written at every place that touches a balance — and one of them will forget.</a:t>
            </a:r>
            <a:endParaRPr lang="en-IN" sz="1500" b="0" u="none" strike="noStrike">
              <a:solidFill>
                <a:srgbClr val="000000"/>
              </a:solidFill>
              <a:effectLst/>
              <a:uFillTx/>
              <a:latin typeface="Arial"/>
            </a:endParaRPr>
          </a:p>
        </p:txBody>
      </p:sp>
      <p:sp>
        <p:nvSpPr>
          <p:cNvPr id="114" name="Text 9"/>
          <p:cNvSpPr/>
          <p:nvPr/>
        </p:nvSpPr>
        <p:spPr>
          <a:xfrm>
            <a:off x="548640" y="5166360"/>
            <a:ext cx="1109124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1E293B"/>
                </a:solidFill>
                <a:effectLst/>
                <a:uFillTx/>
                <a:latin typeface="Calibri"/>
                <a:ea typeface="Calibri"/>
              </a:rPr>
              <a:t>A backend's entire job is to be the one place the rules are enforced.</a:t>
            </a:r>
            <a:endParaRPr lang="en-IN" sz="2400" b="0" u="none" strike="noStrike">
              <a:solidFill>
                <a:srgbClr val="000000"/>
              </a:solidFill>
              <a:effectLst/>
              <a:uFillTx/>
              <a:latin typeface="Arial"/>
            </a:endParaRPr>
          </a:p>
        </p:txBody>
      </p:sp>
      <p:sp>
        <p:nvSpPr>
          <p:cNvPr id="115" name="Text 10"/>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116" name="Text 11"/>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Inherit, then change one thing</a:t>
            </a:r>
            <a:endParaRPr lang="en-IN" sz="3000" b="0" u="none" strike="noStrike">
              <a:solidFill>
                <a:srgbClr val="000000"/>
              </a:solidFill>
              <a:effectLst/>
              <a:uFillTx/>
              <a:latin typeface="Arial"/>
            </a:endParaRPr>
          </a:p>
        </p:txBody>
      </p:sp>
      <p:sp>
        <p:nvSpPr>
          <p:cNvPr id="118" name="Shape 1"/>
          <p:cNvSpPr/>
          <p:nvPr/>
        </p:nvSpPr>
        <p:spPr>
          <a:xfrm>
            <a:off x="548640" y="1417320"/>
            <a:ext cx="5943240" cy="2834280"/>
          </a:xfrm>
          <a:prstGeom prst="roundRect">
            <a:avLst>
              <a:gd name="adj" fmla="val 1935"/>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9" name="Text 2"/>
          <p:cNvSpPr/>
          <p:nvPr/>
        </p:nvSpPr>
        <p:spPr>
          <a:xfrm>
            <a:off x="804600" y="1600200"/>
            <a:ext cx="5431320" cy="24685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class User:</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def __init__(self, name):</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self.name = name</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def role(self):</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return "user"</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def describe(self):</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return f"{self.name} -&gt; role: {self.role()}"</a:t>
            </a:r>
            <a:endParaRPr lang="en-IN" sz="1200" b="0" u="none" strike="noStrike">
              <a:solidFill>
                <a:srgbClr val="000000"/>
              </a:solidFill>
              <a:effectLst/>
              <a:uFillTx/>
              <a:latin typeface="Arial"/>
            </a:endParaRPr>
          </a:p>
          <a:p>
            <a:pPr defTabSz="914400">
              <a:lnSpc>
                <a:spcPct val="115000"/>
              </a:lnSpc>
              <a:tabLst>
                <a:tab pos="0" algn="l"/>
              </a:tabLst>
            </a:pP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class Admin(User):</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def role(self):</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return "admin"</a:t>
            </a:r>
            <a:endParaRPr lang="en-IN" sz="1200" b="0" u="none" strike="noStrike">
              <a:solidFill>
                <a:srgbClr val="000000"/>
              </a:solidFill>
              <a:effectLst/>
              <a:uFillTx/>
              <a:latin typeface="Arial"/>
            </a:endParaRPr>
          </a:p>
        </p:txBody>
      </p:sp>
      <p:sp>
        <p:nvSpPr>
          <p:cNvPr id="120" name="Shape 3"/>
          <p:cNvSpPr/>
          <p:nvPr/>
        </p:nvSpPr>
        <p:spPr>
          <a:xfrm>
            <a:off x="6766560" y="1417320"/>
            <a:ext cx="4873320" cy="2834280"/>
          </a:xfrm>
          <a:prstGeom prst="roundRect">
            <a:avLst>
              <a:gd name="adj" fmla="val 3226"/>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1" name="Text 4"/>
          <p:cNvSpPr/>
          <p:nvPr/>
        </p:nvSpPr>
        <p:spPr>
          <a:xfrm>
            <a:off x="7040880" y="1645920"/>
            <a:ext cx="43887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Admin never defines describe()</a:t>
            </a:r>
            <a:endParaRPr lang="en-IN" sz="1500" b="0" u="none" strike="noStrike">
              <a:solidFill>
                <a:srgbClr val="000000"/>
              </a:solidFill>
              <a:effectLst/>
              <a:uFillTx/>
              <a:latin typeface="Arial"/>
            </a:endParaRPr>
          </a:p>
        </p:txBody>
      </p:sp>
      <p:sp>
        <p:nvSpPr>
          <p:cNvPr id="122" name="Shape 5"/>
          <p:cNvSpPr/>
          <p:nvPr/>
        </p:nvSpPr>
        <p:spPr>
          <a:xfrm>
            <a:off x="7040880" y="2103120"/>
            <a:ext cx="4343040" cy="914040"/>
          </a:xfrm>
          <a:prstGeom prst="roundRect">
            <a:avLst>
              <a:gd name="adj" fmla="val 6000"/>
            </a:avLst>
          </a:prstGeom>
          <a:solidFill>
            <a:srgbClr val="FFFFFF"/>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3" name="Text 6"/>
          <p:cNvSpPr/>
          <p:nvPr/>
        </p:nvSpPr>
        <p:spPr>
          <a:xfrm>
            <a:off x="7223760" y="2176200"/>
            <a:ext cx="402300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1E293B"/>
                </a:solidFill>
                <a:effectLst/>
                <a:uFillTx/>
                <a:latin typeface="Courier New"/>
                <a:ea typeface="Courier New"/>
              </a:rPr>
              <a:t>User("Ada").describe()</a:t>
            </a:r>
            <a:endParaRPr lang="en-IN" sz="10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1E293B"/>
                </a:solidFill>
                <a:effectLst/>
                <a:uFillTx/>
                <a:latin typeface="Courier New"/>
                <a:ea typeface="Courier New"/>
              </a:rPr>
              <a:t># Ada -&gt; role: user</a:t>
            </a:r>
            <a:endParaRPr lang="en-IN" sz="1050" b="0" u="none" strike="noStrike">
              <a:solidFill>
                <a:srgbClr val="000000"/>
              </a:solidFill>
              <a:effectLst/>
              <a:uFillTx/>
              <a:latin typeface="Arial"/>
            </a:endParaRPr>
          </a:p>
          <a:p>
            <a:pPr defTabSz="914400">
              <a:lnSpc>
                <a:spcPct val="100000"/>
              </a:lnSpc>
              <a:tabLst>
                <a:tab pos="0" algn="l"/>
              </a:tabLst>
            </a:pPr>
            <a:endParaRPr lang="en-IN" sz="10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1E293B"/>
                </a:solidFill>
                <a:effectLst/>
                <a:uFillTx/>
                <a:latin typeface="Courier New"/>
                <a:ea typeface="Courier New"/>
              </a:rPr>
              <a:t>Admin("Raj", 2).describe()</a:t>
            </a:r>
            <a:endParaRPr lang="en-IN" sz="10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1E293B"/>
                </a:solidFill>
                <a:effectLst/>
                <a:uFillTx/>
                <a:latin typeface="Courier New"/>
                <a:ea typeface="Courier New"/>
              </a:rPr>
              <a:t># Raj -&gt; role: admin</a:t>
            </a:r>
            <a:endParaRPr lang="en-IN" sz="1050" b="0" u="none" strike="noStrike">
              <a:solidFill>
                <a:srgbClr val="000000"/>
              </a:solidFill>
              <a:effectLst/>
              <a:uFillTx/>
              <a:latin typeface="Arial"/>
            </a:endParaRPr>
          </a:p>
        </p:txBody>
      </p:sp>
      <p:sp>
        <p:nvSpPr>
          <p:cNvPr id="124" name="Text 7"/>
          <p:cNvSpPr/>
          <p:nvPr/>
        </p:nvSpPr>
        <p:spPr>
          <a:xfrm>
            <a:off x="7040880" y="3154680"/>
            <a:ext cx="438876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It came from User — and it called the CHILD's role(). That second half is polymorphism.</a:t>
            </a:r>
            <a:endParaRPr lang="en-IN" sz="1350" b="0" u="none" strike="noStrike">
              <a:solidFill>
                <a:srgbClr val="000000"/>
              </a:solidFill>
              <a:effectLst/>
              <a:uFillTx/>
              <a:latin typeface="Arial"/>
            </a:endParaRPr>
          </a:p>
        </p:txBody>
      </p:sp>
      <p:sp>
        <p:nvSpPr>
          <p:cNvPr id="125" name="Text 8"/>
          <p:cNvSpPr/>
          <p:nvPr/>
        </p:nvSpPr>
        <p:spPr>
          <a:xfrm>
            <a:off x="548640" y="4480560"/>
            <a:ext cx="4205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ourier New"/>
                <a:ea typeface="Courier New"/>
              </a:rPr>
              <a:t>super().__init__(name)</a:t>
            </a:r>
            <a:endParaRPr lang="en-IN" sz="1500" b="0" u="none" strike="noStrike">
              <a:solidFill>
                <a:srgbClr val="000000"/>
              </a:solidFill>
              <a:effectLst/>
              <a:uFillTx/>
              <a:latin typeface="Arial"/>
            </a:endParaRPr>
          </a:p>
        </p:txBody>
      </p:sp>
      <p:sp>
        <p:nvSpPr>
          <p:cNvPr id="126" name="Text 9"/>
          <p:cNvSpPr/>
          <p:nvPr/>
        </p:nvSpPr>
        <p:spPr>
          <a:xfrm>
            <a:off x="4846320" y="4480560"/>
            <a:ext cx="67662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“run the parent's version first, then add what is new”</a:t>
            </a:r>
            <a:endParaRPr lang="en-IN" sz="1500" b="0" u="none" strike="noStrike">
              <a:solidFill>
                <a:srgbClr val="000000"/>
              </a:solidFill>
              <a:effectLst/>
              <a:uFillTx/>
              <a:latin typeface="Arial"/>
            </a:endParaRPr>
          </a:p>
        </p:txBody>
      </p:sp>
      <p:sp>
        <p:nvSpPr>
          <p:cNvPr id="127" name="Shape 10"/>
          <p:cNvSpPr/>
          <p:nvPr/>
        </p:nvSpPr>
        <p:spPr>
          <a:xfrm>
            <a:off x="548640" y="5120640"/>
            <a:ext cx="11091240" cy="822600"/>
          </a:xfrm>
          <a:prstGeom prst="roundRect">
            <a:avLst>
              <a:gd name="adj" fmla="val 11111"/>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8" name="Text 11"/>
          <p:cNvSpPr/>
          <p:nvPr/>
        </p:nvSpPr>
        <p:spPr>
          <a:xfrm>
            <a:off x="868680" y="5120640"/>
            <a:ext cx="1042380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Polymorphism, in one line:  </a:t>
            </a:r>
            <a:r>
              <a:rPr lang="en-US" sz="1500" b="0" u="none" strike="noStrike">
                <a:solidFill>
                  <a:srgbClr val="1E293B"/>
                </a:solidFill>
                <a:effectLst/>
                <a:uFillTx/>
                <a:latin typeface="Calibri"/>
                <a:ea typeface="Calibri"/>
              </a:rPr>
              <a:t>swap EmailNotifier() for SMSNotifier() and the calling code never changes. One line, in a 50,000-line system.</a:t>
            </a:r>
            <a:endParaRPr lang="en-IN" sz="1500" b="0" u="none" strike="noStrike">
              <a:solidFill>
                <a:srgbClr val="000000"/>
              </a:solidFill>
              <a:effectLst/>
              <a:uFillTx/>
              <a:latin typeface="Arial"/>
            </a:endParaRPr>
          </a:p>
        </p:txBody>
      </p:sp>
      <p:sp>
        <p:nvSpPr>
          <p:cNvPr id="129" name="Text 12"/>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130" name="Text 13"/>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10</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Ask this before every class you write</a:t>
            </a:r>
            <a:endParaRPr lang="en-IN" sz="3000" b="0" u="none" strike="noStrike">
              <a:solidFill>
                <a:srgbClr val="000000"/>
              </a:solidFill>
              <a:effectLst/>
              <a:uFillTx/>
              <a:latin typeface="Arial"/>
            </a:endParaRPr>
          </a:p>
        </p:txBody>
      </p:sp>
      <p:sp>
        <p:nvSpPr>
          <p:cNvPr id="132" name="Shape 1"/>
          <p:cNvSpPr/>
          <p:nvPr/>
        </p:nvSpPr>
        <p:spPr>
          <a:xfrm>
            <a:off x="548640" y="1554480"/>
            <a:ext cx="5394600" cy="2285640"/>
          </a:xfrm>
          <a:prstGeom prst="roundRect">
            <a:avLst>
              <a:gd name="adj" fmla="val 4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3" name="Text 2"/>
          <p:cNvSpPr/>
          <p:nvPr/>
        </p:nvSpPr>
        <p:spPr>
          <a:xfrm>
            <a:off x="822960" y="1737360"/>
            <a:ext cx="48459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6366F1"/>
                </a:solidFill>
                <a:effectLst/>
                <a:uFillTx/>
                <a:latin typeface="Calibri"/>
                <a:ea typeface="Calibri"/>
              </a:rPr>
              <a:t>IS-A</a:t>
            </a:r>
            <a:endParaRPr lang="en-IN" sz="2600" b="0" u="none" strike="noStrike">
              <a:solidFill>
                <a:srgbClr val="000000"/>
              </a:solidFill>
              <a:effectLst/>
              <a:uFillTx/>
              <a:latin typeface="Arial"/>
            </a:endParaRPr>
          </a:p>
        </p:txBody>
      </p:sp>
      <p:sp>
        <p:nvSpPr>
          <p:cNvPr id="134" name="Text 3"/>
          <p:cNvSpPr/>
          <p:nvPr/>
        </p:nvSpPr>
        <p:spPr>
          <a:xfrm>
            <a:off x="822960" y="219456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inheritance</a:t>
            </a:r>
            <a:endParaRPr lang="en-IN" sz="1400" b="0" u="none" strike="noStrike">
              <a:solidFill>
                <a:srgbClr val="000000"/>
              </a:solidFill>
              <a:effectLst/>
              <a:uFillTx/>
              <a:latin typeface="Arial"/>
            </a:endParaRPr>
          </a:p>
        </p:txBody>
      </p:sp>
      <p:sp>
        <p:nvSpPr>
          <p:cNvPr id="135" name="Text 4"/>
          <p:cNvSpPr/>
          <p:nvPr/>
        </p:nvSpPr>
        <p:spPr>
          <a:xfrm>
            <a:off x="822960" y="260604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An Admin IS A User.</a:t>
            </a:r>
            <a:endParaRPr lang="en-IN" sz="1700" b="0" u="none" strike="noStrike">
              <a:solidFill>
                <a:srgbClr val="000000"/>
              </a:solidFill>
              <a:effectLst/>
              <a:uFillTx/>
              <a:latin typeface="Arial"/>
            </a:endParaRPr>
          </a:p>
        </p:txBody>
      </p:sp>
      <p:sp>
        <p:nvSpPr>
          <p:cNvPr id="136" name="Text 5"/>
          <p:cNvSpPr/>
          <p:nvPr/>
        </p:nvSpPr>
        <p:spPr>
          <a:xfrm>
            <a:off x="822960" y="306324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366F1"/>
                </a:solidFill>
                <a:effectLst/>
                <a:uFillTx/>
                <a:latin typeface="Courier New"/>
                <a:ea typeface="Courier New"/>
              </a:rPr>
              <a:t>class Admin(User):</a:t>
            </a:r>
            <a:endParaRPr lang="en-IN" sz="1400" b="0" u="none" strike="noStrike">
              <a:solidFill>
                <a:srgbClr val="000000"/>
              </a:solidFill>
              <a:effectLst/>
              <a:uFillTx/>
              <a:latin typeface="Arial"/>
            </a:endParaRPr>
          </a:p>
        </p:txBody>
      </p:sp>
      <p:sp>
        <p:nvSpPr>
          <p:cNvPr id="137" name="Shape 6"/>
          <p:cNvSpPr/>
          <p:nvPr/>
        </p:nvSpPr>
        <p:spPr>
          <a:xfrm>
            <a:off x="6245280" y="1554480"/>
            <a:ext cx="5394600" cy="2285640"/>
          </a:xfrm>
          <a:prstGeom prst="roundRect">
            <a:avLst>
              <a:gd name="adj" fmla="val 4000"/>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8" name="Text 7"/>
          <p:cNvSpPr/>
          <p:nvPr/>
        </p:nvSpPr>
        <p:spPr>
          <a:xfrm>
            <a:off x="6519600" y="1737360"/>
            <a:ext cx="48459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803D"/>
                </a:solidFill>
                <a:effectLst/>
                <a:uFillTx/>
                <a:latin typeface="Calibri"/>
                <a:ea typeface="Calibri"/>
              </a:rPr>
              <a:t>HAS-A</a:t>
            </a:r>
            <a:endParaRPr lang="en-IN" sz="2600" b="0" u="none" strike="noStrike">
              <a:solidFill>
                <a:srgbClr val="000000"/>
              </a:solidFill>
              <a:effectLst/>
              <a:uFillTx/>
              <a:latin typeface="Arial"/>
            </a:endParaRPr>
          </a:p>
        </p:txBody>
      </p:sp>
      <p:sp>
        <p:nvSpPr>
          <p:cNvPr id="139" name="Text 8"/>
          <p:cNvSpPr/>
          <p:nvPr/>
        </p:nvSpPr>
        <p:spPr>
          <a:xfrm>
            <a:off x="6519600" y="219456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composition</a:t>
            </a:r>
            <a:endParaRPr lang="en-IN" sz="1400" b="0" u="none" strike="noStrike">
              <a:solidFill>
                <a:srgbClr val="000000"/>
              </a:solidFill>
              <a:effectLst/>
              <a:uFillTx/>
              <a:latin typeface="Arial"/>
            </a:endParaRPr>
          </a:p>
        </p:txBody>
      </p:sp>
      <p:sp>
        <p:nvSpPr>
          <p:cNvPr id="140" name="Text 9"/>
          <p:cNvSpPr/>
          <p:nvPr/>
        </p:nvSpPr>
        <p:spPr>
          <a:xfrm>
            <a:off x="6519600" y="260604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A Student HAS courses.</a:t>
            </a:r>
            <a:endParaRPr lang="en-IN" sz="1700" b="0" u="none" strike="noStrike">
              <a:solidFill>
                <a:srgbClr val="000000"/>
              </a:solidFill>
              <a:effectLst/>
              <a:uFillTx/>
              <a:latin typeface="Arial"/>
            </a:endParaRPr>
          </a:p>
        </p:txBody>
      </p:sp>
      <p:sp>
        <p:nvSpPr>
          <p:cNvPr id="141" name="Text 10"/>
          <p:cNvSpPr/>
          <p:nvPr/>
        </p:nvSpPr>
        <p:spPr>
          <a:xfrm>
            <a:off x="6519600" y="306324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5803D"/>
                </a:solidFill>
                <a:effectLst/>
                <a:uFillTx/>
                <a:latin typeface="Courier New"/>
                <a:ea typeface="Courier New"/>
              </a:rPr>
              <a:t>self.courses = []</a:t>
            </a:r>
            <a:endParaRPr lang="en-IN" sz="1400" b="0" u="none" strike="noStrike">
              <a:solidFill>
                <a:srgbClr val="000000"/>
              </a:solidFill>
              <a:effectLst/>
              <a:uFillTx/>
              <a:latin typeface="Arial"/>
            </a:endParaRPr>
          </a:p>
        </p:txBody>
      </p:sp>
      <p:sp>
        <p:nvSpPr>
          <p:cNvPr id="142" name="Shape 11"/>
          <p:cNvSpPr/>
          <p:nvPr/>
        </p:nvSpPr>
        <p:spPr>
          <a:xfrm>
            <a:off x="548640" y="4114800"/>
            <a:ext cx="11091240" cy="822600"/>
          </a:xfrm>
          <a:prstGeom prst="roundRect">
            <a:avLst>
              <a:gd name="adj" fmla="val 11111"/>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43" name="Text 12"/>
          <p:cNvSpPr/>
          <p:nvPr/>
        </p:nvSpPr>
        <p:spPr>
          <a:xfrm>
            <a:off x="868680" y="4114800"/>
            <a:ext cx="1042380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A Student is not a kind of Course.  </a:t>
            </a:r>
            <a:r>
              <a:rPr lang="en-US" sz="1500" b="0" u="none" strike="noStrike">
                <a:solidFill>
                  <a:srgbClr val="1E293B"/>
                </a:solidFill>
                <a:effectLst/>
                <a:uFillTx/>
                <a:latin typeface="Calibri"/>
                <a:ea typeface="Calibri"/>
              </a:rPr>
              <a:t>Inheriting would be wrong. Most real-world modelling is has-a, not is-a — and beginners reach for inheritance far too often.</a:t>
            </a:r>
            <a:endParaRPr lang="en-IN" sz="1500" b="0" u="none" strike="noStrike">
              <a:solidFill>
                <a:srgbClr val="000000"/>
              </a:solidFill>
              <a:effectLst/>
              <a:uFillTx/>
              <a:latin typeface="Arial"/>
            </a:endParaRPr>
          </a:p>
        </p:txBody>
      </p:sp>
      <p:sp>
        <p:nvSpPr>
          <p:cNvPr id="144" name="Text 13"/>
          <p:cNvSpPr/>
          <p:nvPr/>
        </p:nvSpPr>
        <p:spPr>
          <a:xfrm>
            <a:off x="548640" y="5212080"/>
            <a:ext cx="110912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6366F1"/>
                </a:solidFill>
                <a:effectLst/>
                <a:uFillTx/>
                <a:latin typeface="Calibri"/>
                <a:ea typeface="Calibri"/>
              </a:rPr>
              <a:t>Remember this shape. A database calls it a RELATIONSHIP — and we build it in module 3.</a:t>
            </a:r>
            <a:endParaRPr lang="en-IN" sz="1800" b="0" u="none" strike="noStrike">
              <a:solidFill>
                <a:srgbClr val="000000"/>
              </a:solidFill>
              <a:effectLst/>
              <a:uFillTx/>
              <a:latin typeface="Arial"/>
            </a:endParaRPr>
          </a:p>
        </p:txBody>
      </p:sp>
      <p:sp>
        <p:nvSpPr>
          <p:cNvPr id="145" name="Text 14"/>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146"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11</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Python calls these for you</a:t>
            </a:r>
            <a:endParaRPr lang="en-IN" sz="3000" b="0" u="none" strike="noStrike">
              <a:solidFill>
                <a:srgbClr val="000000"/>
              </a:solidFill>
              <a:effectLst/>
              <a:uFillTx/>
              <a:latin typeface="Arial"/>
            </a:endParaRPr>
          </a:p>
        </p:txBody>
      </p:sp>
      <p:graphicFrame>
        <p:nvGraphicFramePr>
          <p:cNvPr id="148" name="Table 0"/>
          <p:cNvGraphicFramePr/>
          <p:nvPr/>
        </p:nvGraphicFramePr>
        <p:xfrm>
          <a:off x="548640" y="1463040"/>
          <a:ext cx="11091240" cy="2514600"/>
        </p:xfrm>
        <a:graphic>
          <a:graphicData uri="http://schemas.openxmlformats.org/drawingml/2006/table">
            <a:tbl>
              <a:tblPr/>
              <a:tblGrid>
                <a:gridCol w="2103120"/>
                <a:gridCol w="4206240"/>
                <a:gridCol w="4782240"/>
              </a:tblGrid>
              <a:tr h="50292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Dunder</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Python calls it when...</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Without it you get</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__init__</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you create the object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no way to set values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__str__</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you print() it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ourier New"/>
                          <a:ea typeface="Courier New"/>
                        </a:rPr>
                        <a:t>&lt;__main__.Plain object at 0x10080f830&gt;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__repr__</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it appears in a list or debugger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the same unreadable thing</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__eq__</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you use ==</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False, even for identical values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149" name="Shape 1"/>
          <p:cNvSpPr/>
          <p:nvPr/>
        </p:nvSpPr>
        <p:spPr>
          <a:xfrm>
            <a:off x="548640" y="4206240"/>
            <a:ext cx="5760360" cy="1462680"/>
          </a:xfrm>
          <a:prstGeom prst="roundRect">
            <a:avLst>
              <a:gd name="adj" fmla="val 375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0" name="Text 2"/>
          <p:cNvSpPr/>
          <p:nvPr/>
        </p:nvSpPr>
        <p:spPr>
          <a:xfrm>
            <a:off x="804600" y="4389120"/>
            <a:ext cx="5248440" cy="10969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@dataclass</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class Student:</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id: int</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name: str</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branch: str = "CSE"</a:t>
            </a:r>
            <a:endParaRPr lang="en-IN" sz="1200" b="0" u="none" strike="noStrike">
              <a:solidFill>
                <a:srgbClr val="000000"/>
              </a:solidFill>
              <a:effectLst/>
              <a:uFillTx/>
              <a:latin typeface="Arial"/>
            </a:endParaRPr>
          </a:p>
        </p:txBody>
      </p:sp>
      <p:sp>
        <p:nvSpPr>
          <p:cNvPr id="151" name="Shape 3"/>
          <p:cNvSpPr/>
          <p:nvPr/>
        </p:nvSpPr>
        <p:spPr>
          <a:xfrm>
            <a:off x="6583680" y="4206240"/>
            <a:ext cx="5056200" cy="1462680"/>
          </a:xfrm>
          <a:prstGeom prst="roundRect">
            <a:avLst>
              <a:gd name="adj" fmla="val 6250"/>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2" name="Text 4"/>
          <p:cNvSpPr/>
          <p:nvPr/>
        </p:nvSpPr>
        <p:spPr>
          <a:xfrm>
            <a:off x="6858000" y="4389120"/>
            <a:ext cx="45716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5803D"/>
                </a:solidFill>
                <a:effectLst/>
                <a:uFillTx/>
                <a:latin typeface="Calibri"/>
                <a:ea typeface="Calibri"/>
              </a:rPr>
              <a:t>Writes __init__, __repr__ and __eq__ for you.</a:t>
            </a:r>
            <a:endParaRPr lang="en-IN" sz="1450" b="0" u="none" strike="noStrike">
              <a:solidFill>
                <a:srgbClr val="000000"/>
              </a:solidFill>
              <a:effectLst/>
              <a:uFillTx/>
              <a:latin typeface="Arial"/>
            </a:endParaRPr>
          </a:p>
        </p:txBody>
      </p:sp>
      <p:sp>
        <p:nvSpPr>
          <p:cNvPr id="153" name="Text 5"/>
          <p:cNvSpPr/>
          <p:nvPr/>
        </p:nvSpPr>
        <p:spPr>
          <a:xfrm>
            <a:off x="6858000" y="4827960"/>
            <a:ext cx="45716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Now you know exactly what it wrote — so it is shorthand, not magic.</a:t>
            </a:r>
            <a:endParaRPr lang="en-IN" sz="1300" b="0" u="none" strike="noStrike">
              <a:solidFill>
                <a:srgbClr val="000000"/>
              </a:solidFill>
              <a:effectLst/>
              <a:uFillTx/>
              <a:latin typeface="Arial"/>
            </a:endParaRPr>
          </a:p>
        </p:txBody>
      </p:sp>
      <p:sp>
        <p:nvSpPr>
          <p:cNvPr id="154" name="Shape 6"/>
          <p:cNvSpPr/>
          <p:nvPr/>
        </p:nvSpPr>
        <p:spPr>
          <a:xfrm>
            <a:off x="548640" y="5806440"/>
            <a:ext cx="11091240" cy="502560"/>
          </a:xfrm>
          <a:prstGeom prst="roundRect">
            <a:avLst>
              <a:gd name="adj" fmla="val 18182"/>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5" name="Text 7"/>
          <p:cNvSpPr/>
          <p:nvPr/>
        </p:nvSpPr>
        <p:spPr>
          <a:xfrm>
            <a:off x="868680" y="5806440"/>
            <a:ext cx="104238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Remember this shape.  </a:t>
            </a:r>
            <a:r>
              <a:rPr lang="en-US" sz="1500" b="0" u="none" strike="noStrike">
                <a:solidFill>
                  <a:srgbClr val="1E293B"/>
                </a:solidFill>
                <a:effectLst/>
                <a:uFillTx/>
                <a:latin typeface="Calibri"/>
                <a:ea typeface="Calibri"/>
              </a:rPr>
              <a:t>In an hour you write class StudentIn(BaseModel) — and it will validate itself.</a:t>
            </a:r>
            <a:endParaRPr lang="en-IN" sz="1500" b="0" u="none" strike="noStrike">
              <a:solidFill>
                <a:srgbClr val="000000"/>
              </a:solidFill>
              <a:effectLst/>
              <a:uFillTx/>
              <a:latin typeface="Arial"/>
            </a:endParaRPr>
          </a:p>
        </p:txBody>
      </p:sp>
      <p:sp>
        <p:nvSpPr>
          <p:cNvPr id="156" name="Text 8"/>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157" name="Text 9"/>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159" name="Text 1"/>
          <p:cNvSpPr/>
          <p:nvPr/>
        </p:nvSpPr>
        <p:spPr>
          <a:xfrm>
            <a:off x="548640" y="1051560"/>
            <a:ext cx="11091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A Student holds a list of Course objects. Which is it?</a:t>
            </a:r>
            <a:endParaRPr lang="en-IN" sz="2500" b="0" u="none" strike="noStrike">
              <a:solidFill>
                <a:srgbClr val="000000"/>
              </a:solidFill>
              <a:effectLst/>
              <a:uFillTx/>
              <a:latin typeface="Arial"/>
            </a:endParaRPr>
          </a:p>
        </p:txBody>
      </p:sp>
      <p:sp>
        <p:nvSpPr>
          <p:cNvPr id="160" name="Shape 2"/>
          <p:cNvSpPr/>
          <p:nvPr/>
        </p:nvSpPr>
        <p:spPr>
          <a:xfrm>
            <a:off x="548640" y="26060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61" name="Text 3"/>
          <p:cNvSpPr/>
          <p:nvPr/>
        </p:nvSpPr>
        <p:spPr>
          <a:xfrm>
            <a:off x="548640" y="26060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162" name="Text 4"/>
          <p:cNvSpPr/>
          <p:nvPr/>
        </p:nvSpPr>
        <p:spPr>
          <a:xfrm>
            <a:off x="1325880" y="26060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Inheritance — Student(Course)</a:t>
            </a:r>
            <a:endParaRPr lang="en-IN" sz="1700" b="0" u="none" strike="noStrike">
              <a:solidFill>
                <a:srgbClr val="000000"/>
              </a:solidFill>
              <a:effectLst/>
              <a:uFillTx/>
              <a:latin typeface="Arial"/>
            </a:endParaRPr>
          </a:p>
        </p:txBody>
      </p:sp>
      <p:sp>
        <p:nvSpPr>
          <p:cNvPr id="163" name="Shape 5"/>
          <p:cNvSpPr/>
          <p:nvPr/>
        </p:nvSpPr>
        <p:spPr>
          <a:xfrm>
            <a:off x="548640" y="34747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64" name="Text 6"/>
          <p:cNvSpPr/>
          <p:nvPr/>
        </p:nvSpPr>
        <p:spPr>
          <a:xfrm>
            <a:off x="548640" y="34747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165" name="Text 7"/>
          <p:cNvSpPr/>
          <p:nvPr/>
        </p:nvSpPr>
        <p:spPr>
          <a:xfrm>
            <a:off x="1325880" y="34747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Composition — a Student has courses</a:t>
            </a:r>
            <a:endParaRPr lang="en-IN" sz="1700" b="0" u="none" strike="noStrike">
              <a:solidFill>
                <a:srgbClr val="000000"/>
              </a:solidFill>
              <a:effectLst/>
              <a:uFillTx/>
              <a:latin typeface="Arial"/>
            </a:endParaRPr>
          </a:p>
        </p:txBody>
      </p:sp>
      <p:sp>
        <p:nvSpPr>
          <p:cNvPr id="166" name="Shape 8"/>
          <p:cNvSpPr/>
          <p:nvPr/>
        </p:nvSpPr>
        <p:spPr>
          <a:xfrm>
            <a:off x="548640" y="434340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67" name="Text 9"/>
          <p:cNvSpPr/>
          <p:nvPr/>
        </p:nvSpPr>
        <p:spPr>
          <a:xfrm>
            <a:off x="548640" y="43434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168" name="Text 10"/>
          <p:cNvSpPr/>
          <p:nvPr/>
        </p:nvSpPr>
        <p:spPr>
          <a:xfrm>
            <a:off x="1325880" y="434340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Polymorphism</a:t>
            </a:r>
            <a:endParaRPr lang="en-IN" sz="1700" b="0" u="none" strike="noStrike">
              <a:solidFill>
                <a:srgbClr val="000000"/>
              </a:solidFill>
              <a:effectLst/>
              <a:uFillTx/>
              <a:latin typeface="Arial"/>
            </a:endParaRPr>
          </a:p>
        </p:txBody>
      </p:sp>
      <p:sp>
        <p:nvSpPr>
          <p:cNvPr id="169" name="Shape 11"/>
          <p:cNvSpPr/>
          <p:nvPr/>
        </p:nvSpPr>
        <p:spPr>
          <a:xfrm>
            <a:off x="548640" y="52120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70" name="Text 12"/>
          <p:cNvSpPr/>
          <p:nvPr/>
        </p:nvSpPr>
        <p:spPr>
          <a:xfrm>
            <a:off x="548640" y="52120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171" name="Text 13"/>
          <p:cNvSpPr/>
          <p:nvPr/>
        </p:nvSpPr>
        <p:spPr>
          <a:xfrm>
            <a:off x="1325880" y="52120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Encapsulation</a:t>
            </a:r>
            <a:endParaRPr lang="en-IN" sz="1700" b="0" u="none" strike="noStrike">
              <a:solidFill>
                <a:srgbClr val="000000"/>
              </a:solidFill>
              <a:effectLst/>
              <a:uFillTx/>
              <a:latin typeface="Arial"/>
            </a:endParaRPr>
          </a:p>
        </p:txBody>
      </p:sp>
      <p:sp>
        <p:nvSpPr>
          <p:cNvPr id="172" name="Text 14"/>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173"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174"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02</a:t>
            </a:r>
            <a:endParaRPr lang="en-IN" sz="9600" b="0" u="none" strike="noStrike">
              <a:solidFill>
                <a:srgbClr val="000000"/>
              </a:solidFill>
              <a:effectLst/>
              <a:uFillTx/>
              <a:latin typeface="Arial"/>
            </a:endParaRPr>
          </a:p>
        </p:txBody>
      </p:sp>
      <p:sp>
        <p:nvSpPr>
          <p:cNvPr id="175"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The toolchain — pip, venv, uv</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Five words, so nothing is a black box</a:t>
            </a:r>
            <a:endParaRPr lang="en-IN" sz="3000" b="0" u="none" strike="noStrike">
              <a:solidFill>
                <a:srgbClr val="000000"/>
              </a:solidFill>
              <a:effectLst/>
              <a:uFillTx/>
              <a:latin typeface="Arial"/>
            </a:endParaRPr>
          </a:p>
        </p:txBody>
      </p:sp>
      <p:sp>
        <p:nvSpPr>
          <p:cNvPr id="177" name="Shape 1"/>
          <p:cNvSpPr/>
          <p:nvPr/>
        </p:nvSpPr>
        <p:spPr>
          <a:xfrm>
            <a:off x="548640" y="1600200"/>
            <a:ext cx="11091240" cy="712800"/>
          </a:xfrm>
          <a:prstGeom prst="roundRect">
            <a:avLst>
              <a:gd name="adj" fmla="val 1282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8" name="Text 2"/>
          <p:cNvSpPr/>
          <p:nvPr/>
        </p:nvSpPr>
        <p:spPr>
          <a:xfrm>
            <a:off x="868680" y="1600200"/>
            <a:ext cx="173700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6366F1"/>
                </a:solidFill>
                <a:effectLst/>
                <a:uFillTx/>
                <a:latin typeface="Courier New"/>
                <a:ea typeface="Courier New"/>
              </a:rPr>
              <a:t>Package</a:t>
            </a:r>
            <a:endParaRPr lang="en-IN" sz="1700" b="0" u="none" strike="noStrike">
              <a:solidFill>
                <a:srgbClr val="000000"/>
              </a:solidFill>
              <a:effectLst/>
              <a:uFillTx/>
              <a:latin typeface="Arial"/>
            </a:endParaRPr>
          </a:p>
        </p:txBody>
      </p:sp>
      <p:sp>
        <p:nvSpPr>
          <p:cNvPr id="179" name="Text 3"/>
          <p:cNvSpPr/>
          <p:nvPr/>
        </p:nvSpPr>
        <p:spPr>
          <a:xfrm>
            <a:off x="2743200" y="1600200"/>
            <a:ext cx="868644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Someone else's code you can install and import. FastAPI is a package.</a:t>
            </a:r>
            <a:endParaRPr lang="en-IN" sz="1500" b="0" u="none" strike="noStrike">
              <a:solidFill>
                <a:srgbClr val="000000"/>
              </a:solidFill>
              <a:effectLst/>
              <a:uFillTx/>
              <a:latin typeface="Arial"/>
            </a:endParaRPr>
          </a:p>
        </p:txBody>
      </p:sp>
      <p:sp>
        <p:nvSpPr>
          <p:cNvPr id="180" name="Shape 4"/>
          <p:cNvSpPr/>
          <p:nvPr/>
        </p:nvSpPr>
        <p:spPr>
          <a:xfrm>
            <a:off x="548640" y="2441520"/>
            <a:ext cx="11091240" cy="712800"/>
          </a:xfrm>
          <a:prstGeom prst="roundRect">
            <a:avLst>
              <a:gd name="adj" fmla="val 1282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81" name="Text 5"/>
          <p:cNvSpPr/>
          <p:nvPr/>
        </p:nvSpPr>
        <p:spPr>
          <a:xfrm>
            <a:off x="868680" y="2441520"/>
            <a:ext cx="173700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6366F1"/>
                </a:solidFill>
                <a:effectLst/>
                <a:uFillTx/>
                <a:latin typeface="Courier New"/>
                <a:ea typeface="Courier New"/>
              </a:rPr>
              <a:t>PyPI</a:t>
            </a:r>
            <a:endParaRPr lang="en-IN" sz="1700" b="0" u="none" strike="noStrike">
              <a:solidFill>
                <a:srgbClr val="000000"/>
              </a:solidFill>
              <a:effectLst/>
              <a:uFillTx/>
              <a:latin typeface="Arial"/>
            </a:endParaRPr>
          </a:p>
        </p:txBody>
      </p:sp>
      <p:sp>
        <p:nvSpPr>
          <p:cNvPr id="182" name="Text 6"/>
          <p:cNvSpPr/>
          <p:nvPr/>
        </p:nvSpPr>
        <p:spPr>
          <a:xfrm>
            <a:off x="2743200" y="2441520"/>
            <a:ext cx="868644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The public shelf every package sits on — pypi.org. install downloads from there.</a:t>
            </a:r>
            <a:endParaRPr lang="en-IN" sz="1500" b="0" u="none" strike="noStrike">
              <a:solidFill>
                <a:srgbClr val="000000"/>
              </a:solidFill>
              <a:effectLst/>
              <a:uFillTx/>
              <a:latin typeface="Arial"/>
            </a:endParaRPr>
          </a:p>
        </p:txBody>
      </p:sp>
      <p:sp>
        <p:nvSpPr>
          <p:cNvPr id="183" name="Shape 7"/>
          <p:cNvSpPr/>
          <p:nvPr/>
        </p:nvSpPr>
        <p:spPr>
          <a:xfrm>
            <a:off x="548640" y="3282840"/>
            <a:ext cx="11091240" cy="712800"/>
          </a:xfrm>
          <a:prstGeom prst="roundRect">
            <a:avLst>
              <a:gd name="adj" fmla="val 1282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84" name="Text 8"/>
          <p:cNvSpPr/>
          <p:nvPr/>
        </p:nvSpPr>
        <p:spPr>
          <a:xfrm>
            <a:off x="868680" y="3282840"/>
            <a:ext cx="173700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0891B2"/>
                </a:solidFill>
                <a:effectLst/>
                <a:uFillTx/>
                <a:latin typeface="Courier New"/>
                <a:ea typeface="Courier New"/>
              </a:rPr>
              <a:t>pip</a:t>
            </a:r>
            <a:endParaRPr lang="en-IN" sz="1700" b="0" u="none" strike="noStrike">
              <a:solidFill>
                <a:srgbClr val="000000"/>
              </a:solidFill>
              <a:effectLst/>
              <a:uFillTx/>
              <a:latin typeface="Arial"/>
            </a:endParaRPr>
          </a:p>
        </p:txBody>
      </p:sp>
      <p:sp>
        <p:nvSpPr>
          <p:cNvPr id="185" name="Text 9"/>
          <p:cNvSpPr/>
          <p:nvPr/>
        </p:nvSpPr>
        <p:spPr>
          <a:xfrm>
            <a:off x="2743200" y="3282840"/>
            <a:ext cx="868644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The classic installer. pip install fastapi fetches it and puts it in your Python.</a:t>
            </a:r>
            <a:endParaRPr lang="en-IN" sz="1500" b="0" u="none" strike="noStrike">
              <a:solidFill>
                <a:srgbClr val="000000"/>
              </a:solidFill>
              <a:effectLst/>
              <a:uFillTx/>
              <a:latin typeface="Arial"/>
            </a:endParaRPr>
          </a:p>
        </p:txBody>
      </p:sp>
      <p:sp>
        <p:nvSpPr>
          <p:cNvPr id="186" name="Shape 10"/>
          <p:cNvSpPr/>
          <p:nvPr/>
        </p:nvSpPr>
        <p:spPr>
          <a:xfrm>
            <a:off x="548640" y="4123800"/>
            <a:ext cx="11091240" cy="712800"/>
          </a:xfrm>
          <a:prstGeom prst="roundRect">
            <a:avLst>
              <a:gd name="adj" fmla="val 1282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87" name="Text 11"/>
          <p:cNvSpPr/>
          <p:nvPr/>
        </p:nvSpPr>
        <p:spPr>
          <a:xfrm>
            <a:off x="868680" y="4123800"/>
            <a:ext cx="173700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0891B2"/>
                </a:solidFill>
                <a:effectLst/>
                <a:uFillTx/>
                <a:latin typeface="Courier New"/>
                <a:ea typeface="Courier New"/>
              </a:rPr>
              <a:t>venv</a:t>
            </a:r>
            <a:endParaRPr lang="en-IN" sz="1700" b="0" u="none" strike="noStrike">
              <a:solidFill>
                <a:srgbClr val="000000"/>
              </a:solidFill>
              <a:effectLst/>
              <a:uFillTx/>
              <a:latin typeface="Arial"/>
            </a:endParaRPr>
          </a:p>
        </p:txBody>
      </p:sp>
      <p:sp>
        <p:nvSpPr>
          <p:cNvPr id="188" name="Text 12"/>
          <p:cNvSpPr/>
          <p:nvPr/>
        </p:nvSpPr>
        <p:spPr>
          <a:xfrm>
            <a:off x="2743200" y="4123800"/>
            <a:ext cx="868644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A private box of packages for ONE project, so projects do not fight.</a:t>
            </a:r>
            <a:endParaRPr lang="en-IN" sz="1500" b="0" u="none" strike="noStrike">
              <a:solidFill>
                <a:srgbClr val="000000"/>
              </a:solidFill>
              <a:effectLst/>
              <a:uFillTx/>
              <a:latin typeface="Arial"/>
            </a:endParaRPr>
          </a:p>
        </p:txBody>
      </p:sp>
      <p:sp>
        <p:nvSpPr>
          <p:cNvPr id="189" name="Shape 13"/>
          <p:cNvSpPr/>
          <p:nvPr/>
        </p:nvSpPr>
        <p:spPr>
          <a:xfrm>
            <a:off x="548640" y="4965120"/>
            <a:ext cx="11091240" cy="712800"/>
          </a:xfrm>
          <a:prstGeom prst="roundRect">
            <a:avLst>
              <a:gd name="adj" fmla="val 12821"/>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0" name="Text 14"/>
          <p:cNvSpPr/>
          <p:nvPr/>
        </p:nvSpPr>
        <p:spPr>
          <a:xfrm>
            <a:off x="868680" y="4965120"/>
            <a:ext cx="173700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5803D"/>
                </a:solidFill>
                <a:effectLst/>
                <a:uFillTx/>
                <a:latin typeface="Courier New"/>
                <a:ea typeface="Courier New"/>
              </a:rPr>
              <a:t>uv</a:t>
            </a:r>
            <a:endParaRPr lang="en-IN" sz="1700" b="0" u="none" strike="noStrike">
              <a:solidFill>
                <a:srgbClr val="000000"/>
              </a:solidFill>
              <a:effectLst/>
              <a:uFillTx/>
              <a:latin typeface="Arial"/>
            </a:endParaRPr>
          </a:p>
        </p:txBody>
      </p:sp>
      <p:sp>
        <p:nvSpPr>
          <p:cNvPr id="191" name="Text 15"/>
          <p:cNvSpPr/>
          <p:nvPr/>
        </p:nvSpPr>
        <p:spPr>
          <a:xfrm>
            <a:off x="2743200" y="4965120"/>
            <a:ext cx="868644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2026's replacement for all of the above in one tool — and it installs Python itself.</a:t>
            </a:r>
            <a:endParaRPr lang="en-IN" sz="1500" b="0" u="none" strike="noStrike">
              <a:solidFill>
                <a:srgbClr val="000000"/>
              </a:solidFill>
              <a:effectLst/>
              <a:uFillTx/>
              <a:latin typeface="Arial"/>
            </a:endParaRPr>
          </a:p>
        </p:txBody>
      </p:sp>
      <p:sp>
        <p:nvSpPr>
          <p:cNvPr id="192" name="Shape 16"/>
          <p:cNvSpPr/>
          <p:nvPr/>
        </p:nvSpPr>
        <p:spPr>
          <a:xfrm>
            <a:off x="548640" y="5852160"/>
            <a:ext cx="11091240" cy="548280"/>
          </a:xfrm>
          <a:prstGeom prst="roundRect">
            <a:avLst>
              <a:gd name="adj" fmla="val 16667"/>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3" name="Text 17"/>
          <p:cNvSpPr/>
          <p:nvPr/>
        </p:nvSpPr>
        <p:spPr>
          <a:xfrm>
            <a:off x="868680" y="5852160"/>
            <a:ext cx="10423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Why venv exists:  </a:t>
            </a:r>
            <a:r>
              <a:rPr lang="en-US" sz="1500" b="0" u="none" strike="noStrike">
                <a:solidFill>
                  <a:srgbClr val="1E293B"/>
                </a:solidFill>
                <a:effectLst/>
                <a:uFillTx/>
                <a:latin typeface="Calibri"/>
                <a:ea typeface="Calibri"/>
              </a:rPr>
              <a:t>Project A needs FastAPI 0.90. Project B needs 0.140. Install globally and the second install breaks the first.</a:t>
            </a:r>
            <a:endParaRPr lang="en-IN" sz="1500" b="0" u="none" strike="noStrike">
              <a:solidFill>
                <a:srgbClr val="000000"/>
              </a:solidFill>
              <a:effectLst/>
              <a:uFillTx/>
              <a:latin typeface="Arial"/>
            </a:endParaRPr>
          </a:p>
        </p:txBody>
      </p:sp>
      <p:sp>
        <p:nvSpPr>
          <p:cNvPr id="194" name="Text 18"/>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195" name="Text 19"/>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same job, two eras</a:t>
            </a:r>
            <a:endParaRPr lang="en-IN" sz="3000" b="0" u="none" strike="noStrike">
              <a:solidFill>
                <a:srgbClr val="000000"/>
              </a:solidFill>
              <a:effectLst/>
              <a:uFillTx/>
              <a:latin typeface="Arial"/>
            </a:endParaRPr>
          </a:p>
        </p:txBody>
      </p:sp>
      <p:graphicFrame>
        <p:nvGraphicFramePr>
          <p:cNvPr id="197" name="Table 0"/>
          <p:cNvGraphicFramePr/>
          <p:nvPr/>
        </p:nvGraphicFramePr>
        <p:xfrm>
          <a:off x="548640" y="1463040"/>
          <a:ext cx="11091240" cy="3730320"/>
        </p:xfrm>
        <a:graphic>
          <a:graphicData uri="http://schemas.openxmlformats.org/drawingml/2006/table">
            <a:tbl>
              <a:tblPr/>
              <a:tblGrid>
                <a:gridCol w="2926080"/>
                <a:gridCol w="4297680"/>
                <a:gridCol w="3867840"/>
              </a:tblGrid>
              <a:tr h="466200">
                <a:tc>
                  <a:txBody>
                    <a:bodyPr lIns="101520" tIns="37800" rIns="101520" bIns="37800" anchor="ctr">
                      <a:noAutofit/>
                    </a:bodyPr>
                    <a:p>
                      <a:endParaRPr lang="en-US" sz="1300" b="0" u="none" strike="noStrike">
                        <a:solidFill>
                          <a:schemeClr val="dk1"/>
                        </a:solidFill>
                        <a:effectLst/>
                        <a:uFillTx/>
                        <a:latin typeface="Calibri"/>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pip + venv</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uv</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466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Make the box</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python -m venv .venv</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automatic</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66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Switch it on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source .venv/bin/activate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no activate step</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66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Install</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pip install fastapi</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uv add fastapi</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66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Record what is needed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pip freeze &gt; requirements.txt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pyproject.toml, written for you</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66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Exact versions locked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not really</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uv.lock</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66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Install Python itself</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no</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uv python install 3.14</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662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Speed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seconds to minutes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10-100x faster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198" name="Shape 1"/>
          <p:cNvSpPr/>
          <p:nvPr/>
        </p:nvSpPr>
        <p:spPr>
          <a:xfrm>
            <a:off x="548640" y="5349240"/>
            <a:ext cx="11091240" cy="776880"/>
          </a:xfrm>
          <a:prstGeom prst="roundRect">
            <a:avLst>
              <a:gd name="adj" fmla="val 1176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9" name="Text 2"/>
          <p:cNvSpPr/>
          <p:nvPr/>
        </p:nvSpPr>
        <p:spPr>
          <a:xfrm>
            <a:off x="868680" y="5349240"/>
            <a:ext cx="1042380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requirements.txt says “fastapi”.  </a:t>
            </a:r>
            <a:r>
              <a:rPr lang="en-US" sz="1500" b="0" u="none" strike="noStrike">
                <a:solidFill>
                  <a:srgbClr val="1E293B"/>
                </a:solidFill>
                <a:effectLst/>
                <a:uFillTx/>
                <a:latin typeface="Calibri"/>
                <a:ea typeface="Calibri"/>
              </a:rPr>
              <a:t>Your teammate installs today, you installed in January. Same version? No — and that is the bug that eats an evening.</a:t>
            </a:r>
            <a:endParaRPr lang="en-IN" sz="1500" b="0" u="none" strike="noStrike">
              <a:solidFill>
                <a:srgbClr val="000000"/>
              </a:solidFill>
              <a:effectLst/>
              <a:uFillTx/>
              <a:latin typeface="Arial"/>
            </a:endParaRPr>
          </a:p>
        </p:txBody>
      </p:sp>
      <p:sp>
        <p:nvSpPr>
          <p:cNvPr id="200" name="Text 3"/>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201" name="Text 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One file works to about 200 lines</a:t>
            </a:r>
            <a:endParaRPr lang="en-IN" sz="3000" b="0" u="none" strike="noStrike">
              <a:solidFill>
                <a:srgbClr val="000000"/>
              </a:solidFill>
              <a:effectLst/>
              <a:uFillTx/>
              <a:latin typeface="Arial"/>
            </a:endParaRPr>
          </a:p>
        </p:txBody>
      </p:sp>
      <p:sp>
        <p:nvSpPr>
          <p:cNvPr id="203" name="Shape 1"/>
          <p:cNvSpPr/>
          <p:nvPr/>
        </p:nvSpPr>
        <p:spPr>
          <a:xfrm>
            <a:off x="548640" y="1463040"/>
            <a:ext cx="5668920" cy="2605680"/>
          </a:xfrm>
          <a:prstGeom prst="roundRect">
            <a:avLst>
              <a:gd name="adj" fmla="val 2105"/>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04" name="Text 2"/>
          <p:cNvSpPr/>
          <p:nvPr/>
        </p:nvSpPr>
        <p:spPr>
          <a:xfrm>
            <a:off x="804600" y="1645920"/>
            <a:ext cx="5157000" cy="22399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50" b="0" u="none" strike="noStrike">
                <a:solidFill>
                  <a:srgbClr val="1E293B"/>
                </a:solidFill>
                <a:effectLst/>
                <a:uFillTx/>
                <a:latin typeface="Courier New"/>
                <a:ea typeface="Courier New"/>
              </a:rPr>
              <a:t>d8_structured_app/</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main.py        &lt;- the app + wiring, nothing else</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schemas.py     &lt;- the SHAPES of data</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routers/</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 __init__.py &lt;- makes routers importable</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 students.py &lt;- everything about students</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 health.py   &lt;- everything about health</a:t>
            </a:r>
            <a:endParaRPr lang="en-IN" sz="1150" b="0" u="none" strike="noStrike">
              <a:solidFill>
                <a:srgbClr val="000000"/>
              </a:solidFill>
              <a:effectLst/>
              <a:uFillTx/>
              <a:latin typeface="Arial"/>
            </a:endParaRPr>
          </a:p>
        </p:txBody>
      </p:sp>
      <p:sp>
        <p:nvSpPr>
          <p:cNvPr id="205" name="Shape 3"/>
          <p:cNvSpPr/>
          <p:nvPr/>
        </p:nvSpPr>
        <p:spPr>
          <a:xfrm>
            <a:off x="6537960" y="1463040"/>
            <a:ext cx="5101920" cy="2605680"/>
          </a:xfrm>
          <a:prstGeom prst="roundRect">
            <a:avLst>
              <a:gd name="adj" fmla="val 3509"/>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06" name="Text 4"/>
          <p:cNvSpPr/>
          <p:nvPr/>
        </p:nvSpPr>
        <p:spPr>
          <a:xfrm>
            <a:off x="6812280" y="1645920"/>
            <a:ext cx="45716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4748B"/>
                </a:solidFill>
                <a:effectLst/>
                <a:uFillTx/>
                <a:latin typeface="Calibri"/>
                <a:ea typeface="Calibri"/>
              </a:rPr>
              <a:t>Bigger projects add</a:t>
            </a:r>
            <a:endParaRPr lang="en-IN" sz="1300" b="0" u="none" strike="noStrike">
              <a:solidFill>
                <a:srgbClr val="000000"/>
              </a:solidFill>
              <a:effectLst/>
              <a:uFillTx/>
              <a:latin typeface="Arial"/>
            </a:endParaRPr>
          </a:p>
        </p:txBody>
      </p:sp>
      <p:sp>
        <p:nvSpPr>
          <p:cNvPr id="207" name="Text 5"/>
          <p:cNvSpPr/>
          <p:nvPr/>
        </p:nvSpPr>
        <p:spPr>
          <a:xfrm>
            <a:off x="6812280" y="2057400"/>
            <a:ext cx="14626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6366F1"/>
                </a:solidFill>
                <a:effectLst/>
                <a:uFillTx/>
                <a:latin typeface="Courier New"/>
                <a:ea typeface="Courier New"/>
              </a:rPr>
              <a:t>models/</a:t>
            </a:r>
            <a:endParaRPr lang="en-IN" sz="1400" b="0" u="none" strike="noStrike">
              <a:solidFill>
                <a:srgbClr val="000000"/>
              </a:solidFill>
              <a:effectLst/>
              <a:uFillTx/>
              <a:latin typeface="Arial"/>
            </a:endParaRPr>
          </a:p>
        </p:txBody>
      </p:sp>
      <p:sp>
        <p:nvSpPr>
          <p:cNvPr id="208" name="Text 6"/>
          <p:cNvSpPr/>
          <p:nvPr/>
        </p:nvSpPr>
        <p:spPr>
          <a:xfrm>
            <a:off x="8229600" y="2057400"/>
            <a:ext cx="3200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database tables — module 3</a:t>
            </a:r>
            <a:endParaRPr lang="en-IN" sz="1250" b="0" u="none" strike="noStrike">
              <a:solidFill>
                <a:srgbClr val="000000"/>
              </a:solidFill>
              <a:effectLst/>
              <a:uFillTx/>
              <a:latin typeface="Arial"/>
            </a:endParaRPr>
          </a:p>
        </p:txBody>
      </p:sp>
      <p:sp>
        <p:nvSpPr>
          <p:cNvPr id="209" name="Text 7"/>
          <p:cNvSpPr/>
          <p:nvPr/>
        </p:nvSpPr>
        <p:spPr>
          <a:xfrm>
            <a:off x="6812280" y="2679120"/>
            <a:ext cx="14626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6366F1"/>
                </a:solidFill>
                <a:effectLst/>
                <a:uFillTx/>
                <a:latin typeface="Courier New"/>
                <a:ea typeface="Courier New"/>
              </a:rPr>
              <a:t>schemas/</a:t>
            </a:r>
            <a:endParaRPr lang="en-IN" sz="1400" b="0" u="none" strike="noStrike">
              <a:solidFill>
                <a:srgbClr val="000000"/>
              </a:solidFill>
              <a:effectLst/>
              <a:uFillTx/>
              <a:latin typeface="Arial"/>
            </a:endParaRPr>
          </a:p>
        </p:txBody>
      </p:sp>
      <p:sp>
        <p:nvSpPr>
          <p:cNvPr id="210" name="Text 8"/>
          <p:cNvSpPr/>
          <p:nvPr/>
        </p:nvSpPr>
        <p:spPr>
          <a:xfrm>
            <a:off x="8229600" y="2679120"/>
            <a:ext cx="3200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API shapes — in and out</a:t>
            </a:r>
            <a:endParaRPr lang="en-IN" sz="1250" b="0" u="none" strike="noStrike">
              <a:solidFill>
                <a:srgbClr val="000000"/>
              </a:solidFill>
              <a:effectLst/>
              <a:uFillTx/>
              <a:latin typeface="Arial"/>
            </a:endParaRPr>
          </a:p>
        </p:txBody>
      </p:sp>
      <p:sp>
        <p:nvSpPr>
          <p:cNvPr id="211" name="Text 9"/>
          <p:cNvSpPr/>
          <p:nvPr/>
        </p:nvSpPr>
        <p:spPr>
          <a:xfrm>
            <a:off x="6812280" y="3300840"/>
            <a:ext cx="14626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6366F1"/>
                </a:solidFill>
                <a:effectLst/>
                <a:uFillTx/>
                <a:latin typeface="Courier New"/>
                <a:ea typeface="Courier New"/>
              </a:rPr>
              <a:t>services/</a:t>
            </a:r>
            <a:endParaRPr lang="en-IN" sz="1400" b="0" u="none" strike="noStrike">
              <a:solidFill>
                <a:srgbClr val="000000"/>
              </a:solidFill>
              <a:effectLst/>
              <a:uFillTx/>
              <a:latin typeface="Arial"/>
            </a:endParaRPr>
          </a:p>
        </p:txBody>
      </p:sp>
      <p:sp>
        <p:nvSpPr>
          <p:cNvPr id="212" name="Text 10"/>
          <p:cNvSpPr/>
          <p:nvPr/>
        </p:nvSpPr>
        <p:spPr>
          <a:xfrm>
            <a:off x="8229600" y="3300840"/>
            <a:ext cx="3200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logic that is not about HTTP at all</a:t>
            </a:r>
            <a:endParaRPr lang="en-IN" sz="1250" b="0" u="none" strike="noStrike">
              <a:solidFill>
                <a:srgbClr val="000000"/>
              </a:solidFill>
              <a:effectLst/>
              <a:uFillTx/>
              <a:latin typeface="Arial"/>
            </a:endParaRPr>
          </a:p>
        </p:txBody>
      </p:sp>
      <p:sp>
        <p:nvSpPr>
          <p:cNvPr id="213" name="Shape 11"/>
          <p:cNvSpPr/>
          <p:nvPr/>
        </p:nvSpPr>
        <p:spPr>
          <a:xfrm>
            <a:off x="548640" y="4343400"/>
            <a:ext cx="11091240" cy="868320"/>
          </a:xfrm>
          <a:prstGeom prst="roundRect">
            <a:avLst>
              <a:gd name="adj" fmla="val 10526"/>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4" name="Text 12"/>
          <p:cNvSpPr/>
          <p:nvPr/>
        </p:nvSpPr>
        <p:spPr>
          <a:xfrm>
            <a:off x="868680" y="4343400"/>
            <a:ext cx="1042380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Why would models/ and schemas/ both exist?  </a:t>
            </a:r>
            <a:r>
              <a:rPr lang="en-US" sz="1500" b="0" u="none" strike="noStrike">
                <a:solidFill>
                  <a:srgbClr val="1E293B"/>
                </a:solidFill>
                <a:effectLst/>
                <a:uFillTx/>
                <a:latin typeface="Calibri"/>
                <a:ea typeface="Calibri"/>
              </a:rPr>
              <a:t>The database row has a password hash, an internal id, a created_at. The API response must not. Same idea, two shapes, on purpose.</a:t>
            </a:r>
            <a:endParaRPr lang="en-IN" sz="1500" b="0" u="none" strike="noStrike">
              <a:solidFill>
                <a:srgbClr val="000000"/>
              </a:solidFill>
              <a:effectLst/>
              <a:uFillTx/>
              <a:latin typeface="Arial"/>
            </a:endParaRPr>
          </a:p>
        </p:txBody>
      </p:sp>
      <p:sp>
        <p:nvSpPr>
          <p:cNvPr id="215" name="Text 13"/>
          <p:cNvSpPr/>
          <p:nvPr/>
        </p:nvSpPr>
        <p:spPr>
          <a:xfrm>
            <a:off x="548640" y="5440680"/>
            <a:ext cx="110912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1" u="none" strike="noStrike">
                <a:solidFill>
                  <a:srgbClr val="6366F1"/>
                </a:solidFill>
                <a:effectLst/>
                <a:uFillTx/>
                <a:latin typeface="Calibri"/>
                <a:ea typeface="Calibri"/>
              </a:rPr>
              <a:t>Rule of thumb:  a new area of the product = a new file in routers/</a:t>
            </a:r>
            <a:endParaRPr lang="en-IN" sz="1900" b="0" u="none" strike="noStrike">
              <a:solidFill>
                <a:srgbClr val="000000"/>
              </a:solidFill>
              <a:effectLst/>
              <a:uFillTx/>
              <a:latin typeface="Arial"/>
            </a:endParaRPr>
          </a:p>
        </p:txBody>
      </p:sp>
      <p:sp>
        <p:nvSpPr>
          <p:cNvPr id="216" name="Text 14"/>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217"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219" name="Text 1"/>
          <p:cNvSpPr/>
          <p:nvPr/>
        </p:nvSpPr>
        <p:spPr>
          <a:xfrm>
            <a:off x="548640" y="1051560"/>
            <a:ext cx="11091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Your teammate runs pip install -r requirements.txt and gets a different version than you. What fixes it?</a:t>
            </a:r>
            <a:endParaRPr lang="en-IN" sz="2500" b="0" u="none" strike="noStrike">
              <a:solidFill>
                <a:srgbClr val="000000"/>
              </a:solidFill>
              <a:effectLst/>
              <a:uFillTx/>
              <a:latin typeface="Arial"/>
            </a:endParaRPr>
          </a:p>
        </p:txBody>
      </p:sp>
      <p:sp>
        <p:nvSpPr>
          <p:cNvPr id="220" name="Shape 2"/>
          <p:cNvSpPr/>
          <p:nvPr/>
        </p:nvSpPr>
        <p:spPr>
          <a:xfrm>
            <a:off x="548640" y="26060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21" name="Text 3"/>
          <p:cNvSpPr/>
          <p:nvPr/>
        </p:nvSpPr>
        <p:spPr>
          <a:xfrm>
            <a:off x="548640" y="26060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222" name="Text 4"/>
          <p:cNvSpPr/>
          <p:nvPr/>
        </p:nvSpPr>
        <p:spPr>
          <a:xfrm>
            <a:off x="1325880" y="26060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Reinstalling Python</a:t>
            </a:r>
            <a:endParaRPr lang="en-IN" sz="1700" b="0" u="none" strike="noStrike">
              <a:solidFill>
                <a:srgbClr val="000000"/>
              </a:solidFill>
              <a:effectLst/>
              <a:uFillTx/>
              <a:latin typeface="Arial"/>
            </a:endParaRPr>
          </a:p>
        </p:txBody>
      </p:sp>
      <p:sp>
        <p:nvSpPr>
          <p:cNvPr id="223" name="Shape 5"/>
          <p:cNvSpPr/>
          <p:nvPr/>
        </p:nvSpPr>
        <p:spPr>
          <a:xfrm>
            <a:off x="548640" y="34747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24" name="Text 6"/>
          <p:cNvSpPr/>
          <p:nvPr/>
        </p:nvSpPr>
        <p:spPr>
          <a:xfrm>
            <a:off x="548640" y="34747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225" name="Text 7"/>
          <p:cNvSpPr/>
          <p:nvPr/>
        </p:nvSpPr>
        <p:spPr>
          <a:xfrm>
            <a:off x="1325880" y="34747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A lock file that pins exact versions</a:t>
            </a:r>
            <a:endParaRPr lang="en-IN" sz="1700" b="0" u="none" strike="noStrike">
              <a:solidFill>
                <a:srgbClr val="000000"/>
              </a:solidFill>
              <a:effectLst/>
              <a:uFillTx/>
              <a:latin typeface="Arial"/>
            </a:endParaRPr>
          </a:p>
        </p:txBody>
      </p:sp>
      <p:sp>
        <p:nvSpPr>
          <p:cNvPr id="226" name="Shape 8"/>
          <p:cNvSpPr/>
          <p:nvPr/>
        </p:nvSpPr>
        <p:spPr>
          <a:xfrm>
            <a:off x="548640" y="434340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27" name="Text 9"/>
          <p:cNvSpPr/>
          <p:nvPr/>
        </p:nvSpPr>
        <p:spPr>
          <a:xfrm>
            <a:off x="548640" y="43434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228" name="Text 10"/>
          <p:cNvSpPr/>
          <p:nvPr/>
        </p:nvSpPr>
        <p:spPr>
          <a:xfrm>
            <a:off x="1325880" y="434340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Using a virtual environment</a:t>
            </a:r>
            <a:endParaRPr lang="en-IN" sz="1700" b="0" u="none" strike="noStrike">
              <a:solidFill>
                <a:srgbClr val="000000"/>
              </a:solidFill>
              <a:effectLst/>
              <a:uFillTx/>
              <a:latin typeface="Arial"/>
            </a:endParaRPr>
          </a:p>
        </p:txBody>
      </p:sp>
      <p:sp>
        <p:nvSpPr>
          <p:cNvPr id="229" name="Shape 11"/>
          <p:cNvSpPr/>
          <p:nvPr/>
        </p:nvSpPr>
        <p:spPr>
          <a:xfrm>
            <a:off x="548640" y="52120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30" name="Text 12"/>
          <p:cNvSpPr/>
          <p:nvPr/>
        </p:nvSpPr>
        <p:spPr>
          <a:xfrm>
            <a:off x="548640" y="52120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231" name="Text 13"/>
          <p:cNvSpPr/>
          <p:nvPr/>
        </p:nvSpPr>
        <p:spPr>
          <a:xfrm>
            <a:off x="1325880" y="52120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Running pip install twice</a:t>
            </a:r>
            <a:endParaRPr lang="en-IN" sz="1700" b="0" u="none" strike="noStrike">
              <a:solidFill>
                <a:srgbClr val="000000"/>
              </a:solidFill>
              <a:effectLst/>
              <a:uFillTx/>
              <a:latin typeface="Arial"/>
            </a:endParaRPr>
          </a:p>
        </p:txBody>
      </p:sp>
      <p:sp>
        <p:nvSpPr>
          <p:cNvPr id="232" name="Text 14"/>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233"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234"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03</a:t>
            </a:r>
            <a:endParaRPr lang="en-IN" sz="9600" b="0" u="none" strike="noStrike">
              <a:solidFill>
                <a:srgbClr val="000000"/>
              </a:solidFill>
              <a:effectLst/>
              <a:uFillTx/>
              <a:latin typeface="Arial"/>
            </a:endParaRPr>
          </a:p>
        </p:txBody>
      </p:sp>
      <p:sp>
        <p:nvSpPr>
          <p:cNvPr id="235"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FastAPI — giving the shape a job</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Eight lines. A documented, testable API.</a:t>
            </a:r>
            <a:endParaRPr lang="en-IN" sz="3000" b="0" u="none" strike="noStrike">
              <a:solidFill>
                <a:srgbClr val="000000"/>
              </a:solidFill>
              <a:effectLst/>
              <a:uFillTx/>
              <a:latin typeface="Arial"/>
            </a:endParaRPr>
          </a:p>
        </p:txBody>
      </p:sp>
      <p:sp>
        <p:nvSpPr>
          <p:cNvPr id="237" name="Shape 1"/>
          <p:cNvSpPr/>
          <p:nvPr/>
        </p:nvSpPr>
        <p:spPr>
          <a:xfrm>
            <a:off x="548640" y="1417320"/>
            <a:ext cx="5943240" cy="2102760"/>
          </a:xfrm>
          <a:prstGeom prst="roundRect">
            <a:avLst>
              <a:gd name="adj" fmla="val 2609"/>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8" name="Text 2"/>
          <p:cNvSpPr/>
          <p:nvPr/>
        </p:nvSpPr>
        <p:spPr>
          <a:xfrm>
            <a:off x="804600" y="1600200"/>
            <a:ext cx="5431320" cy="17370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from fastapi import FastAPI</a:t>
            </a:r>
            <a:endParaRPr lang="en-IN" sz="1300" b="0" u="none" strike="noStrike">
              <a:solidFill>
                <a:srgbClr val="000000"/>
              </a:solidFill>
              <a:effectLst/>
              <a:uFillTx/>
              <a:latin typeface="Arial"/>
            </a:endParaRPr>
          </a:p>
          <a:p>
            <a:pPr defTabSz="914400">
              <a:lnSpc>
                <a:spcPct val="115000"/>
              </a:lnSpc>
              <a:tabLst>
                <a:tab pos="0" algn="l"/>
              </a:tabLst>
            </a:pP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app = FastAPI(title="Hello API")</a:t>
            </a:r>
            <a:endParaRPr lang="en-IN" sz="1300" b="0" u="none" strike="noStrike">
              <a:solidFill>
                <a:srgbClr val="000000"/>
              </a:solidFill>
              <a:effectLst/>
              <a:uFillTx/>
              <a:latin typeface="Arial"/>
            </a:endParaRPr>
          </a:p>
          <a:p>
            <a:pPr defTabSz="914400">
              <a:lnSpc>
                <a:spcPct val="115000"/>
              </a:lnSpc>
              <a:tabLst>
                <a:tab pos="0" algn="l"/>
              </a:tabLst>
            </a:pP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@app.get("/")</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def home():</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return {"message": "Backend is live"}</a:t>
            </a:r>
            <a:endParaRPr lang="en-IN" sz="1300" b="0" u="none" strike="noStrike">
              <a:solidFill>
                <a:srgbClr val="000000"/>
              </a:solidFill>
              <a:effectLst/>
              <a:uFillTx/>
              <a:latin typeface="Arial"/>
            </a:endParaRPr>
          </a:p>
        </p:txBody>
      </p:sp>
      <p:sp>
        <p:nvSpPr>
          <p:cNvPr id="239" name="Shape 3"/>
          <p:cNvSpPr/>
          <p:nvPr/>
        </p:nvSpPr>
        <p:spPr>
          <a:xfrm>
            <a:off x="6766560" y="1417320"/>
            <a:ext cx="4873320" cy="2102760"/>
          </a:xfrm>
          <a:prstGeom prst="roundRect">
            <a:avLst>
              <a:gd name="adj" fmla="val 4348"/>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40" name="Text 4"/>
          <p:cNvSpPr/>
          <p:nvPr/>
        </p:nvSpPr>
        <p:spPr>
          <a:xfrm>
            <a:off x="7040880" y="1627560"/>
            <a:ext cx="43887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6366F1"/>
                </a:solidFill>
                <a:effectLst/>
                <a:uFillTx/>
                <a:latin typeface="Courier New"/>
                <a:ea typeface="Courier New"/>
              </a:rPr>
              <a:t>@app.get("/")</a:t>
            </a:r>
            <a:endParaRPr lang="en-IN" sz="1300" b="0" u="none" strike="noStrike">
              <a:solidFill>
                <a:srgbClr val="000000"/>
              </a:solidFill>
              <a:effectLst/>
              <a:uFillTx/>
              <a:latin typeface="Arial"/>
            </a:endParaRPr>
          </a:p>
        </p:txBody>
      </p:sp>
      <p:sp>
        <p:nvSpPr>
          <p:cNvPr id="241" name="Text 5"/>
          <p:cNvSpPr/>
          <p:nvPr/>
        </p:nvSpPr>
        <p:spPr>
          <a:xfrm>
            <a:off x="7040880" y="1901880"/>
            <a:ext cx="4388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when someone sends a GET here...</a:t>
            </a:r>
            <a:endParaRPr lang="en-IN" sz="1300" b="0" u="none" strike="noStrike">
              <a:solidFill>
                <a:srgbClr val="000000"/>
              </a:solidFill>
              <a:effectLst/>
              <a:uFillTx/>
              <a:latin typeface="Arial"/>
            </a:endParaRPr>
          </a:p>
        </p:txBody>
      </p:sp>
      <p:sp>
        <p:nvSpPr>
          <p:cNvPr id="242" name="Text 6"/>
          <p:cNvSpPr/>
          <p:nvPr/>
        </p:nvSpPr>
        <p:spPr>
          <a:xfrm>
            <a:off x="7040880" y="2286000"/>
            <a:ext cx="43887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6366F1"/>
                </a:solidFill>
                <a:effectLst/>
                <a:uFillTx/>
                <a:latin typeface="Courier New"/>
                <a:ea typeface="Courier New"/>
              </a:rPr>
              <a:t>def home()</a:t>
            </a:r>
            <a:endParaRPr lang="en-IN" sz="1300" b="0" u="none" strike="noStrike">
              <a:solidFill>
                <a:srgbClr val="000000"/>
              </a:solidFill>
              <a:effectLst/>
              <a:uFillTx/>
              <a:latin typeface="Arial"/>
            </a:endParaRPr>
          </a:p>
        </p:txBody>
      </p:sp>
      <p:sp>
        <p:nvSpPr>
          <p:cNvPr id="243" name="Text 7"/>
          <p:cNvSpPr/>
          <p:nvPr/>
        </p:nvSpPr>
        <p:spPr>
          <a:xfrm>
            <a:off x="7040880" y="2560320"/>
            <a:ext cx="4388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...run this function</a:t>
            </a:r>
            <a:endParaRPr lang="en-IN" sz="1300" b="0" u="none" strike="noStrike">
              <a:solidFill>
                <a:srgbClr val="000000"/>
              </a:solidFill>
              <a:effectLst/>
              <a:uFillTx/>
              <a:latin typeface="Arial"/>
            </a:endParaRPr>
          </a:p>
        </p:txBody>
      </p:sp>
      <p:sp>
        <p:nvSpPr>
          <p:cNvPr id="244" name="Text 8"/>
          <p:cNvSpPr/>
          <p:nvPr/>
        </p:nvSpPr>
        <p:spPr>
          <a:xfrm>
            <a:off x="7040880" y="2944440"/>
            <a:ext cx="43887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6366F1"/>
                </a:solidFill>
                <a:effectLst/>
                <a:uFillTx/>
                <a:latin typeface="Courier New"/>
                <a:ea typeface="Courier New"/>
              </a:rPr>
              <a:t>return {...}</a:t>
            </a:r>
            <a:endParaRPr lang="en-IN" sz="1300" b="0" u="none" strike="noStrike">
              <a:solidFill>
                <a:srgbClr val="000000"/>
              </a:solidFill>
              <a:effectLst/>
              <a:uFillTx/>
              <a:latin typeface="Arial"/>
            </a:endParaRPr>
          </a:p>
        </p:txBody>
      </p:sp>
      <p:sp>
        <p:nvSpPr>
          <p:cNvPr id="245" name="Text 9"/>
          <p:cNvSpPr/>
          <p:nvPr/>
        </p:nvSpPr>
        <p:spPr>
          <a:xfrm>
            <a:off x="7040880" y="3218760"/>
            <a:ext cx="4388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...and send this dict back as JSON</a:t>
            </a:r>
            <a:endParaRPr lang="en-IN" sz="1300" b="0" u="none" strike="noStrike">
              <a:solidFill>
                <a:srgbClr val="000000"/>
              </a:solidFill>
              <a:effectLst/>
              <a:uFillTx/>
              <a:latin typeface="Arial"/>
            </a:endParaRPr>
          </a:p>
        </p:txBody>
      </p:sp>
      <p:sp>
        <p:nvSpPr>
          <p:cNvPr id="246" name="Shape 10"/>
          <p:cNvSpPr/>
          <p:nvPr/>
        </p:nvSpPr>
        <p:spPr>
          <a:xfrm>
            <a:off x="548640" y="3703320"/>
            <a:ext cx="11091240" cy="502560"/>
          </a:xfrm>
          <a:prstGeom prst="roundRect">
            <a:avLst>
              <a:gd name="adj" fmla="val 10909"/>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47" name="Text 11"/>
          <p:cNvSpPr/>
          <p:nvPr/>
        </p:nvSpPr>
        <p:spPr>
          <a:xfrm>
            <a:off x="822960" y="3703320"/>
            <a:ext cx="1051524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ourier New"/>
                <a:ea typeface="Courier New"/>
              </a:rPr>
              <a:t>uv run fastapi dev 01_foundations/d1_hello_api.py</a:t>
            </a:r>
            <a:endParaRPr lang="en-IN" sz="1400" b="0" u="none" strike="noStrike">
              <a:solidFill>
                <a:srgbClr val="000000"/>
              </a:solidFill>
              <a:effectLst/>
              <a:uFillTx/>
              <a:latin typeface="Arial"/>
            </a:endParaRPr>
          </a:p>
        </p:txBody>
      </p:sp>
      <p:sp>
        <p:nvSpPr>
          <p:cNvPr id="248" name="Shape 12"/>
          <p:cNvSpPr/>
          <p:nvPr/>
        </p:nvSpPr>
        <p:spPr>
          <a:xfrm>
            <a:off x="548640" y="4434840"/>
            <a:ext cx="3565800" cy="868320"/>
          </a:xfrm>
          <a:prstGeom prst="roundRect">
            <a:avLst>
              <a:gd name="adj" fmla="val 10526"/>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49" name="Text 13"/>
          <p:cNvSpPr/>
          <p:nvPr/>
        </p:nvSpPr>
        <p:spPr>
          <a:xfrm>
            <a:off x="804600" y="4526280"/>
            <a:ext cx="30628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ourier New"/>
                <a:ea typeface="Courier New"/>
              </a:rPr>
              <a:t>/docs</a:t>
            </a:r>
            <a:endParaRPr lang="en-IN" sz="1500" b="0" u="none" strike="noStrike">
              <a:solidFill>
                <a:srgbClr val="000000"/>
              </a:solidFill>
              <a:effectLst/>
              <a:uFillTx/>
              <a:latin typeface="Arial"/>
            </a:endParaRPr>
          </a:p>
        </p:txBody>
      </p:sp>
      <p:sp>
        <p:nvSpPr>
          <p:cNvPr id="250" name="Text 14"/>
          <p:cNvSpPr/>
          <p:nvPr/>
        </p:nvSpPr>
        <p:spPr>
          <a:xfrm>
            <a:off x="804600" y="4846320"/>
            <a:ext cx="30628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interactive — click Try it out</a:t>
            </a:r>
            <a:endParaRPr lang="en-IN" sz="1250" b="0" u="none" strike="noStrike">
              <a:solidFill>
                <a:srgbClr val="000000"/>
              </a:solidFill>
              <a:effectLst/>
              <a:uFillTx/>
              <a:latin typeface="Arial"/>
            </a:endParaRPr>
          </a:p>
        </p:txBody>
      </p:sp>
      <p:sp>
        <p:nvSpPr>
          <p:cNvPr id="251" name="Shape 15"/>
          <p:cNvSpPr/>
          <p:nvPr/>
        </p:nvSpPr>
        <p:spPr>
          <a:xfrm>
            <a:off x="4316040" y="4434840"/>
            <a:ext cx="3565800" cy="868320"/>
          </a:xfrm>
          <a:prstGeom prst="roundRect">
            <a:avLst>
              <a:gd name="adj" fmla="val 10526"/>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2" name="Text 16"/>
          <p:cNvSpPr/>
          <p:nvPr/>
        </p:nvSpPr>
        <p:spPr>
          <a:xfrm>
            <a:off x="4572000" y="4526280"/>
            <a:ext cx="30628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891B2"/>
                </a:solidFill>
                <a:effectLst/>
                <a:uFillTx/>
                <a:latin typeface="Courier New"/>
                <a:ea typeface="Courier New"/>
              </a:rPr>
              <a:t>/redoc</a:t>
            </a:r>
            <a:endParaRPr lang="en-IN" sz="1500" b="0" u="none" strike="noStrike">
              <a:solidFill>
                <a:srgbClr val="000000"/>
              </a:solidFill>
              <a:effectLst/>
              <a:uFillTx/>
              <a:latin typeface="Arial"/>
            </a:endParaRPr>
          </a:p>
        </p:txBody>
      </p:sp>
      <p:sp>
        <p:nvSpPr>
          <p:cNvPr id="253" name="Text 17"/>
          <p:cNvSpPr/>
          <p:nvPr/>
        </p:nvSpPr>
        <p:spPr>
          <a:xfrm>
            <a:off x="4572000" y="4846320"/>
            <a:ext cx="30628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the same, laid out for reading</a:t>
            </a:r>
            <a:endParaRPr lang="en-IN" sz="1250" b="0" u="none" strike="noStrike">
              <a:solidFill>
                <a:srgbClr val="000000"/>
              </a:solidFill>
              <a:effectLst/>
              <a:uFillTx/>
              <a:latin typeface="Arial"/>
            </a:endParaRPr>
          </a:p>
        </p:txBody>
      </p:sp>
      <p:sp>
        <p:nvSpPr>
          <p:cNvPr id="254" name="Shape 18"/>
          <p:cNvSpPr/>
          <p:nvPr/>
        </p:nvSpPr>
        <p:spPr>
          <a:xfrm>
            <a:off x="8083440" y="4434840"/>
            <a:ext cx="3565800" cy="868320"/>
          </a:xfrm>
          <a:prstGeom prst="roundRect">
            <a:avLst>
              <a:gd name="adj" fmla="val 10526"/>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5" name="Text 19"/>
          <p:cNvSpPr/>
          <p:nvPr/>
        </p:nvSpPr>
        <p:spPr>
          <a:xfrm>
            <a:off x="8339400" y="4526280"/>
            <a:ext cx="30628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4748B"/>
                </a:solidFill>
                <a:effectLst/>
                <a:uFillTx/>
                <a:latin typeface="Courier New"/>
                <a:ea typeface="Courier New"/>
              </a:rPr>
              <a:t>/openapi.json</a:t>
            </a:r>
            <a:endParaRPr lang="en-IN" sz="1500" b="0" u="none" strike="noStrike">
              <a:solidFill>
                <a:srgbClr val="000000"/>
              </a:solidFill>
              <a:effectLst/>
              <a:uFillTx/>
              <a:latin typeface="Arial"/>
            </a:endParaRPr>
          </a:p>
        </p:txBody>
      </p:sp>
      <p:sp>
        <p:nvSpPr>
          <p:cNvPr id="256" name="Text 20"/>
          <p:cNvSpPr/>
          <p:nvPr/>
        </p:nvSpPr>
        <p:spPr>
          <a:xfrm>
            <a:off x="8339400" y="4846320"/>
            <a:ext cx="30628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the machine-readable source of both</a:t>
            </a:r>
            <a:endParaRPr lang="en-IN" sz="1250" b="0" u="none" strike="noStrike">
              <a:solidFill>
                <a:srgbClr val="000000"/>
              </a:solidFill>
              <a:effectLst/>
              <a:uFillTx/>
              <a:latin typeface="Arial"/>
            </a:endParaRPr>
          </a:p>
        </p:txBody>
      </p:sp>
      <p:sp>
        <p:nvSpPr>
          <p:cNvPr id="257" name="Shape 21"/>
          <p:cNvSpPr/>
          <p:nvPr/>
        </p:nvSpPr>
        <p:spPr>
          <a:xfrm>
            <a:off x="548640" y="5486400"/>
            <a:ext cx="11091240" cy="685440"/>
          </a:xfrm>
          <a:prstGeom prst="roundRect">
            <a:avLst>
              <a:gd name="adj" fmla="val 13333"/>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8" name="Text 22"/>
          <p:cNvSpPr/>
          <p:nvPr/>
        </p:nvSpPr>
        <p:spPr>
          <a:xfrm>
            <a:off x="868680" y="5486400"/>
            <a:ext cx="104238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You wrote eight lines.  </a:t>
            </a:r>
            <a:r>
              <a:rPr lang="en-US" sz="1500" b="0" u="none" strike="noStrike">
                <a:solidFill>
                  <a:srgbClr val="1E293B"/>
                </a:solidFill>
                <a:effectLst/>
                <a:uFillTx/>
                <a:latin typeface="Calibri"/>
                <a:ea typeface="Calibri"/>
              </a:rPr>
              <a:t>FastAPI handed you a documented, clickable, testable console — and it can never go stale, because it is generated from your code.</a:t>
            </a:r>
            <a:endParaRPr lang="en-IN" sz="1500" b="0" u="none" strike="noStrike">
              <a:solidFill>
                <a:srgbClr val="000000"/>
              </a:solidFill>
              <a:effectLst/>
              <a:uFillTx/>
              <a:latin typeface="Arial"/>
            </a:endParaRPr>
          </a:p>
        </p:txBody>
      </p:sp>
      <p:sp>
        <p:nvSpPr>
          <p:cNvPr id="259" name="Text 23"/>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260" name="Text 2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20</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verb is the method. The noun is the path.</a:t>
            </a:r>
            <a:endParaRPr lang="en-IN" sz="3000" b="0" u="none" strike="noStrike">
              <a:solidFill>
                <a:srgbClr val="000000"/>
              </a:solidFill>
              <a:effectLst/>
              <a:uFillTx/>
              <a:latin typeface="Arial"/>
            </a:endParaRPr>
          </a:p>
        </p:txBody>
      </p:sp>
      <p:graphicFrame>
        <p:nvGraphicFramePr>
          <p:cNvPr id="262" name="Table 0"/>
          <p:cNvGraphicFramePr/>
          <p:nvPr/>
        </p:nvGraphicFramePr>
        <p:xfrm>
          <a:off x="548640" y="1554480"/>
          <a:ext cx="11091240" cy="3291840"/>
        </p:xfrm>
        <a:graphic>
          <a:graphicData uri="http://schemas.openxmlformats.org/drawingml/2006/table">
            <a:tbl>
              <a:tblPr/>
              <a:tblGrid>
                <a:gridCol w="1828800"/>
                <a:gridCol w="3840480"/>
                <a:gridCol w="3566160"/>
                <a:gridCol w="1856160"/>
              </a:tblGrid>
              <a:tr h="54864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Method</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Means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Example</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Today?</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548640">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GET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read something</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GET /students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yes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48640">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POST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create something new</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POST /students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yes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48640">
                <a:tc>
                  <a:txBody>
                    <a:bodyPr lIns="101520" tIns="37800" rIns="101520" bIns="37800" anchor="ctr">
                      <a:noAutofit/>
                    </a:bodyPr>
                    <a:p>
                      <a:pPr defTabSz="914400">
                        <a:lnSpc>
                          <a:spcPct val="100000"/>
                        </a:lnSpc>
                        <a:tabLst>
                          <a:tab pos="0" algn="l"/>
                        </a:tabLst>
                      </a:pPr>
                      <a:r>
                        <a:rPr lang="en-US" sz="1250" b="0" u="none" strike="noStrike">
                          <a:solidFill>
                            <a:srgbClr val="64748B"/>
                          </a:solidFill>
                          <a:effectLst/>
                          <a:uFillTx/>
                          <a:latin typeface="Courier New"/>
                          <a:ea typeface="Courier New"/>
                        </a:rPr>
                        <a:t>PUT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replace it entirely</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PUT /students/1</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4748B"/>
                          </a:solidFill>
                          <a:effectLst/>
                          <a:uFillTx/>
                          <a:latin typeface="Calibri"/>
                          <a:ea typeface="Calibri"/>
                        </a:rPr>
                        <a:t>module 2</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48640">
                <a:tc>
                  <a:txBody>
                    <a:bodyPr lIns="101520" tIns="37800" rIns="101520" bIns="37800" anchor="ctr">
                      <a:noAutofit/>
                    </a:bodyPr>
                    <a:p>
                      <a:pPr defTabSz="914400">
                        <a:lnSpc>
                          <a:spcPct val="100000"/>
                        </a:lnSpc>
                        <a:tabLst>
                          <a:tab pos="0" algn="l"/>
                        </a:tabLst>
                      </a:pPr>
                      <a:r>
                        <a:rPr lang="en-US" sz="1250" b="0" u="none" strike="noStrike">
                          <a:solidFill>
                            <a:srgbClr val="64748B"/>
                          </a:solidFill>
                          <a:effectLst/>
                          <a:uFillTx/>
                          <a:latin typeface="Courier New"/>
                          <a:ea typeface="Courier New"/>
                        </a:rPr>
                        <a:t>PATCH</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change part of it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PATCH /students/1</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4748B"/>
                          </a:solidFill>
                          <a:effectLst/>
                          <a:uFillTx/>
                          <a:latin typeface="Calibri"/>
                          <a:ea typeface="Calibri"/>
                        </a:rPr>
                        <a:t>module 2</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48640">
                <a:tc>
                  <a:txBody>
                    <a:bodyPr lIns="101520" tIns="37800" rIns="101520" bIns="37800" anchor="ctr">
                      <a:noAutofit/>
                    </a:bodyPr>
                    <a:p>
                      <a:pPr defTabSz="914400">
                        <a:lnSpc>
                          <a:spcPct val="100000"/>
                        </a:lnSpc>
                        <a:tabLst>
                          <a:tab pos="0" algn="l"/>
                        </a:tabLst>
                      </a:pPr>
                      <a:r>
                        <a:rPr lang="en-US" sz="1250" b="0" u="none" strike="noStrike">
                          <a:solidFill>
                            <a:srgbClr val="64748B"/>
                          </a:solidFill>
                          <a:effectLst/>
                          <a:uFillTx/>
                          <a:latin typeface="Courier New"/>
                          <a:ea typeface="Courier New"/>
                        </a:rPr>
                        <a:t>DELETE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remove it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DELETE /students/1</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4748B"/>
                          </a:solidFill>
                          <a:effectLst/>
                          <a:uFillTx/>
                          <a:latin typeface="Calibri"/>
                          <a:ea typeface="Calibri"/>
                        </a:rPr>
                        <a:t>module 2</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263" name="Shape 1"/>
          <p:cNvSpPr/>
          <p:nvPr/>
        </p:nvSpPr>
        <p:spPr>
          <a:xfrm>
            <a:off x="548640" y="5212080"/>
            <a:ext cx="11091240" cy="731160"/>
          </a:xfrm>
          <a:prstGeom prst="roundRect">
            <a:avLst>
              <a:gd name="adj" fmla="val 12500"/>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64" name="Text 2"/>
          <p:cNvSpPr/>
          <p:nvPr/>
        </p:nvSpPr>
        <p:spPr>
          <a:xfrm>
            <a:off x="868680" y="5212080"/>
            <a:ext cx="104238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GET /deleteStudent is wrong twice over.  </a:t>
            </a:r>
            <a:r>
              <a:rPr lang="en-US" sz="1500" b="0" u="none" strike="noStrike">
                <a:solidFill>
                  <a:srgbClr val="1E293B"/>
                </a:solidFill>
                <a:effectLst/>
                <a:uFillTx/>
                <a:latin typeface="Calibri"/>
                <a:ea typeface="Calibri"/>
              </a:rPr>
              <a:t>The path names a THING, never an action — the action is already in the method.</a:t>
            </a:r>
            <a:endParaRPr lang="en-IN" sz="1500" b="0" u="none" strike="noStrike">
              <a:solidFill>
                <a:srgbClr val="000000"/>
              </a:solidFill>
              <a:effectLst/>
              <a:uFillTx/>
              <a:latin typeface="Arial"/>
            </a:endParaRPr>
          </a:p>
        </p:txBody>
      </p:sp>
      <p:sp>
        <p:nvSpPr>
          <p:cNvPr id="265" name="Text 3"/>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266" name="Text 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21</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Two ways to send data in a URL</a:t>
            </a:r>
            <a:endParaRPr lang="en-IN" sz="3000" b="0" u="none" strike="noStrike">
              <a:solidFill>
                <a:srgbClr val="000000"/>
              </a:solidFill>
              <a:effectLst/>
              <a:uFillTx/>
              <a:latin typeface="Arial"/>
            </a:endParaRPr>
          </a:p>
        </p:txBody>
      </p:sp>
      <p:sp>
        <p:nvSpPr>
          <p:cNvPr id="268" name="Shape 1"/>
          <p:cNvSpPr/>
          <p:nvPr/>
        </p:nvSpPr>
        <p:spPr>
          <a:xfrm>
            <a:off x="548640" y="1554480"/>
            <a:ext cx="5394600" cy="2102760"/>
          </a:xfrm>
          <a:prstGeom prst="roundRect">
            <a:avLst>
              <a:gd name="adj" fmla="val 4348"/>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69" name="Text 2"/>
          <p:cNvSpPr/>
          <p:nvPr/>
        </p:nvSpPr>
        <p:spPr>
          <a:xfrm>
            <a:off x="822960" y="173736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6366F1"/>
                </a:solidFill>
                <a:effectLst/>
                <a:uFillTx/>
                <a:latin typeface="Calibri"/>
                <a:ea typeface="Calibri"/>
              </a:rPr>
              <a:t>PATH param</a:t>
            </a:r>
            <a:endParaRPr lang="en-IN" sz="2000" b="0" u="none" strike="noStrike">
              <a:solidFill>
                <a:srgbClr val="000000"/>
              </a:solidFill>
              <a:effectLst/>
              <a:uFillTx/>
              <a:latin typeface="Arial"/>
            </a:endParaRPr>
          </a:p>
        </p:txBody>
      </p:sp>
      <p:sp>
        <p:nvSpPr>
          <p:cNvPr id="270" name="Text 3"/>
          <p:cNvSpPr/>
          <p:nvPr/>
        </p:nvSpPr>
        <p:spPr>
          <a:xfrm>
            <a:off x="822960" y="214884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1E293B"/>
                </a:solidFill>
                <a:effectLst/>
                <a:uFillTx/>
                <a:latin typeface="Courier New"/>
                <a:ea typeface="Courier New"/>
              </a:rPr>
              <a:t>/students/7</a:t>
            </a:r>
            <a:endParaRPr lang="en-IN" sz="1600" b="0" u="none" strike="noStrike">
              <a:solidFill>
                <a:srgbClr val="000000"/>
              </a:solidFill>
              <a:effectLst/>
              <a:uFillTx/>
              <a:latin typeface="Arial"/>
            </a:endParaRPr>
          </a:p>
        </p:txBody>
      </p:sp>
      <p:sp>
        <p:nvSpPr>
          <p:cNvPr id="271" name="Text 4"/>
          <p:cNvSpPr/>
          <p:nvPr/>
        </p:nvSpPr>
        <p:spPr>
          <a:xfrm>
            <a:off x="822960" y="256032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E293B"/>
                </a:solidFill>
                <a:effectLst/>
                <a:uFillTx/>
                <a:latin typeface="Calibri"/>
                <a:ea typeface="Calibri"/>
              </a:rPr>
              <a:t>Answers: WHICH one?</a:t>
            </a:r>
            <a:endParaRPr lang="en-IN" sz="1500" b="0" u="none" strike="noStrike">
              <a:solidFill>
                <a:srgbClr val="000000"/>
              </a:solidFill>
              <a:effectLst/>
              <a:uFillTx/>
              <a:latin typeface="Arial"/>
            </a:endParaRPr>
          </a:p>
        </p:txBody>
      </p:sp>
      <p:sp>
        <p:nvSpPr>
          <p:cNvPr id="272" name="Text 5"/>
          <p:cNvSpPr/>
          <p:nvPr/>
        </p:nvSpPr>
        <p:spPr>
          <a:xfrm>
            <a:off x="822960" y="292608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64748B"/>
                </a:solidFill>
                <a:effectLst/>
                <a:uFillTx/>
                <a:latin typeface="Calibri"/>
                <a:ea typeface="Calibri"/>
              </a:rPr>
              <a:t>Identifies one specific thing.</a:t>
            </a:r>
            <a:endParaRPr lang="en-IN" sz="1350" b="0" u="none" strike="noStrike">
              <a:solidFill>
                <a:srgbClr val="000000"/>
              </a:solidFill>
              <a:effectLst/>
              <a:uFillTx/>
              <a:latin typeface="Arial"/>
            </a:endParaRPr>
          </a:p>
        </p:txBody>
      </p:sp>
      <p:sp>
        <p:nvSpPr>
          <p:cNvPr id="273" name="Shape 6"/>
          <p:cNvSpPr/>
          <p:nvPr/>
        </p:nvSpPr>
        <p:spPr>
          <a:xfrm>
            <a:off x="6245280" y="1554480"/>
            <a:ext cx="5394600" cy="2102760"/>
          </a:xfrm>
          <a:prstGeom prst="roundRect">
            <a:avLst>
              <a:gd name="adj" fmla="val 4348"/>
            </a:avLst>
          </a:prstGeom>
          <a:solidFill>
            <a:srgbClr val="F8FAFC"/>
          </a:solidFill>
          <a:ln w="12700">
            <a:solidFill>
              <a:srgbClr val="0891B2"/>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4" name="Text 7"/>
          <p:cNvSpPr/>
          <p:nvPr/>
        </p:nvSpPr>
        <p:spPr>
          <a:xfrm>
            <a:off x="6519600" y="173736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0891B2"/>
                </a:solidFill>
                <a:effectLst/>
                <a:uFillTx/>
                <a:latin typeface="Calibri"/>
                <a:ea typeface="Calibri"/>
              </a:rPr>
              <a:t>QUERY param</a:t>
            </a:r>
            <a:endParaRPr lang="en-IN" sz="2000" b="0" u="none" strike="noStrike">
              <a:solidFill>
                <a:srgbClr val="000000"/>
              </a:solidFill>
              <a:effectLst/>
              <a:uFillTx/>
              <a:latin typeface="Arial"/>
            </a:endParaRPr>
          </a:p>
        </p:txBody>
      </p:sp>
      <p:sp>
        <p:nvSpPr>
          <p:cNvPr id="275" name="Text 8"/>
          <p:cNvSpPr/>
          <p:nvPr/>
        </p:nvSpPr>
        <p:spPr>
          <a:xfrm>
            <a:off x="6519600" y="214884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ourier New"/>
                <a:ea typeface="Courier New"/>
              </a:rPr>
              <a:t>/students?branch=CSE&amp;limit=5</a:t>
            </a:r>
            <a:endParaRPr lang="en-IN" sz="1300" b="0" u="none" strike="noStrike">
              <a:solidFill>
                <a:srgbClr val="000000"/>
              </a:solidFill>
              <a:effectLst/>
              <a:uFillTx/>
              <a:latin typeface="Arial"/>
            </a:endParaRPr>
          </a:p>
        </p:txBody>
      </p:sp>
      <p:sp>
        <p:nvSpPr>
          <p:cNvPr id="276" name="Text 9"/>
          <p:cNvSpPr/>
          <p:nvPr/>
        </p:nvSpPr>
        <p:spPr>
          <a:xfrm>
            <a:off x="6519600" y="256032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E293B"/>
                </a:solidFill>
                <a:effectLst/>
                <a:uFillTx/>
                <a:latin typeface="Calibri"/>
                <a:ea typeface="Calibri"/>
              </a:rPr>
              <a:t>Answers: HOW do you want it?</a:t>
            </a:r>
            <a:endParaRPr lang="en-IN" sz="1500" b="0" u="none" strike="noStrike">
              <a:solidFill>
                <a:srgbClr val="000000"/>
              </a:solidFill>
              <a:effectLst/>
              <a:uFillTx/>
              <a:latin typeface="Arial"/>
            </a:endParaRPr>
          </a:p>
        </p:txBody>
      </p:sp>
      <p:sp>
        <p:nvSpPr>
          <p:cNvPr id="277" name="Text 10"/>
          <p:cNvSpPr/>
          <p:nvPr/>
        </p:nvSpPr>
        <p:spPr>
          <a:xfrm>
            <a:off x="6519600" y="292608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64748B"/>
                </a:solidFill>
                <a:effectLst/>
                <a:uFillTx/>
                <a:latin typeface="Calibri"/>
                <a:ea typeface="Calibri"/>
              </a:rPr>
              <a:t>Filtering, sorting, paging. Always optional.</a:t>
            </a:r>
            <a:endParaRPr lang="en-IN" sz="1350" b="0" u="none" strike="noStrike">
              <a:solidFill>
                <a:srgbClr val="000000"/>
              </a:solidFill>
              <a:effectLst/>
              <a:uFillTx/>
              <a:latin typeface="Arial"/>
            </a:endParaRPr>
          </a:p>
        </p:txBody>
      </p:sp>
      <p:sp>
        <p:nvSpPr>
          <p:cNvPr id="278" name="Shape 11"/>
          <p:cNvSpPr/>
          <p:nvPr/>
        </p:nvSpPr>
        <p:spPr>
          <a:xfrm>
            <a:off x="548640" y="3886200"/>
            <a:ext cx="11091240" cy="1371240"/>
          </a:xfrm>
          <a:prstGeom prst="roundRect">
            <a:avLst>
              <a:gd name="adj" fmla="val 4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9" name="Text 12"/>
          <p:cNvSpPr/>
          <p:nvPr/>
        </p:nvSpPr>
        <p:spPr>
          <a:xfrm>
            <a:off x="804600" y="4069080"/>
            <a:ext cx="10579320" cy="10054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@app.get("/students/{student_id}")</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def get_student(student_id: int):                                    # in the path  -&gt; path param</a:t>
            </a:r>
            <a:endParaRPr lang="en-IN" sz="1200" b="0" u="none" strike="noStrike">
              <a:solidFill>
                <a:srgbClr val="000000"/>
              </a:solidFill>
              <a:effectLst/>
              <a:uFillTx/>
              <a:latin typeface="Arial"/>
            </a:endParaRPr>
          </a:p>
          <a:p>
            <a:pPr defTabSz="914400">
              <a:lnSpc>
                <a:spcPct val="115000"/>
              </a:lnSpc>
              <a:tabLst>
                <a:tab pos="0" algn="l"/>
              </a:tabLst>
            </a:pP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@app.get("/students")</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def list_students(branch: str | None = None, limit: int = 10):       # not in the path -&gt; query params</a:t>
            </a:r>
            <a:endParaRPr lang="en-IN" sz="1200" b="0" u="none" strike="noStrike">
              <a:solidFill>
                <a:srgbClr val="000000"/>
              </a:solidFill>
              <a:effectLst/>
              <a:uFillTx/>
              <a:latin typeface="Arial"/>
            </a:endParaRPr>
          </a:p>
        </p:txBody>
      </p:sp>
      <p:sp>
        <p:nvSpPr>
          <p:cNvPr id="280" name="Shape 13"/>
          <p:cNvSpPr/>
          <p:nvPr/>
        </p:nvSpPr>
        <p:spPr>
          <a:xfrm>
            <a:off x="548640" y="5440680"/>
            <a:ext cx="11091240" cy="548280"/>
          </a:xfrm>
          <a:prstGeom prst="roundRect">
            <a:avLst>
              <a:gd name="adj" fmla="val 16667"/>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1" name="Text 14"/>
          <p:cNvSpPr/>
          <p:nvPr/>
        </p:nvSpPr>
        <p:spPr>
          <a:xfrm>
            <a:off x="868680" y="5440680"/>
            <a:ext cx="10423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You configured nothing.  </a:t>
            </a:r>
            <a:r>
              <a:rPr lang="en-US" sz="1500" b="0" u="none" strike="noStrike">
                <a:solidFill>
                  <a:srgbClr val="1E293B"/>
                </a:solidFill>
                <a:effectLst/>
                <a:uFillTx/>
                <a:latin typeface="Calibri"/>
                <a:ea typeface="Calibri"/>
              </a:rPr>
              <a:t>FastAPI worked out which is which by looking at whether the name appears in the path.</a:t>
            </a:r>
            <a:endParaRPr lang="en-IN" sz="1500" b="0" u="none" strike="noStrike">
              <a:solidFill>
                <a:srgbClr val="000000"/>
              </a:solidFill>
              <a:effectLst/>
              <a:uFillTx/>
              <a:latin typeface="Arial"/>
            </a:endParaRPr>
          </a:p>
        </p:txBody>
      </p:sp>
      <p:sp>
        <p:nvSpPr>
          <p:cNvPr id="282" name="Text 15"/>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283" name="Text 16"/>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One word did all of this</a:t>
            </a:r>
            <a:endParaRPr lang="en-IN" sz="3000" b="0" u="none" strike="noStrike">
              <a:solidFill>
                <a:srgbClr val="000000"/>
              </a:solidFill>
              <a:effectLst/>
              <a:uFillTx/>
              <a:latin typeface="Arial"/>
            </a:endParaRPr>
          </a:p>
        </p:txBody>
      </p:sp>
      <p:sp>
        <p:nvSpPr>
          <p:cNvPr id="285" name="Text 1"/>
          <p:cNvSpPr/>
          <p:nvPr/>
        </p:nvSpPr>
        <p:spPr>
          <a:xfrm>
            <a:off x="548640" y="120708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ourier New"/>
                <a:ea typeface="Courier New"/>
              </a:rPr>
              <a:t>Open  /students/abc</a:t>
            </a:r>
            <a:endParaRPr lang="en-IN" sz="1600" b="0" u="none" strike="noStrike">
              <a:solidFill>
                <a:srgbClr val="000000"/>
              </a:solidFill>
              <a:effectLst/>
              <a:uFillTx/>
              <a:latin typeface="Arial"/>
            </a:endParaRPr>
          </a:p>
        </p:txBody>
      </p:sp>
      <p:sp>
        <p:nvSpPr>
          <p:cNvPr id="286" name="Shape 2"/>
          <p:cNvSpPr/>
          <p:nvPr/>
        </p:nvSpPr>
        <p:spPr>
          <a:xfrm>
            <a:off x="548640" y="1691640"/>
            <a:ext cx="11091240" cy="1416960"/>
          </a:xfrm>
          <a:prstGeom prst="roundRect">
            <a:avLst>
              <a:gd name="adj" fmla="val 3871"/>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7" name="Text 3"/>
          <p:cNvSpPr/>
          <p:nvPr/>
        </p:nvSpPr>
        <p:spPr>
          <a:xfrm>
            <a:off x="804600" y="1874520"/>
            <a:ext cx="10579320" cy="10512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{"detail":[{"type":"int_parsing",</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"loc":["path","student_id"],</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"msg":"Input should be a valid integer, unable to parse string as an integer",</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"input":"abc"}]}</a:t>
            </a:r>
            <a:endParaRPr lang="en-IN" sz="1200" b="0" u="none" strike="noStrike">
              <a:solidFill>
                <a:srgbClr val="000000"/>
              </a:solidFill>
              <a:effectLst/>
              <a:uFillTx/>
              <a:latin typeface="Arial"/>
            </a:endParaRPr>
          </a:p>
        </p:txBody>
      </p:sp>
      <p:sp>
        <p:nvSpPr>
          <p:cNvPr id="288" name="Shape 4"/>
          <p:cNvSpPr/>
          <p:nvPr/>
        </p:nvSpPr>
        <p:spPr>
          <a:xfrm>
            <a:off x="548640" y="3337560"/>
            <a:ext cx="2651400" cy="1051200"/>
          </a:xfrm>
          <a:prstGeom prst="roundRect">
            <a:avLst>
              <a:gd name="adj" fmla="val 869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9" name="Text 5"/>
          <p:cNvSpPr/>
          <p:nvPr/>
        </p:nvSpPr>
        <p:spPr>
          <a:xfrm>
            <a:off x="731520" y="3493080"/>
            <a:ext cx="22856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6366F1"/>
                </a:solidFill>
                <a:effectLst/>
                <a:uFillTx/>
                <a:latin typeface="Calibri"/>
                <a:ea typeface="Calibri"/>
              </a:rPr>
              <a:t>422</a:t>
            </a:r>
            <a:endParaRPr lang="en-IN" sz="1900" b="0" u="none" strike="noStrike">
              <a:solidFill>
                <a:srgbClr val="000000"/>
              </a:solidFill>
              <a:effectLst/>
              <a:uFillTx/>
              <a:latin typeface="Arial"/>
            </a:endParaRPr>
          </a:p>
        </p:txBody>
      </p:sp>
      <p:sp>
        <p:nvSpPr>
          <p:cNvPr id="290" name="Text 6"/>
          <p:cNvSpPr/>
          <p:nvPr/>
        </p:nvSpPr>
        <p:spPr>
          <a:xfrm>
            <a:off x="731520" y="3913560"/>
            <a:ext cx="22856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the status code</a:t>
            </a:r>
            <a:endParaRPr lang="en-IN" sz="1250" b="0" u="none" strike="noStrike">
              <a:solidFill>
                <a:srgbClr val="000000"/>
              </a:solidFill>
              <a:effectLst/>
              <a:uFillTx/>
              <a:latin typeface="Arial"/>
            </a:endParaRPr>
          </a:p>
        </p:txBody>
      </p:sp>
      <p:sp>
        <p:nvSpPr>
          <p:cNvPr id="291" name="Shape 7"/>
          <p:cNvSpPr/>
          <p:nvPr/>
        </p:nvSpPr>
        <p:spPr>
          <a:xfrm>
            <a:off x="3374280" y="3337560"/>
            <a:ext cx="2651400" cy="1051200"/>
          </a:xfrm>
          <a:prstGeom prst="roundRect">
            <a:avLst>
              <a:gd name="adj" fmla="val 869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2" name="Text 8"/>
          <p:cNvSpPr/>
          <p:nvPr/>
        </p:nvSpPr>
        <p:spPr>
          <a:xfrm>
            <a:off x="3557160" y="3493080"/>
            <a:ext cx="22856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6366F1"/>
                </a:solidFill>
                <a:effectLst/>
                <a:uFillTx/>
                <a:latin typeface="Calibri"/>
                <a:ea typeface="Calibri"/>
              </a:rPr>
              <a:t>the exact field</a:t>
            </a:r>
            <a:endParaRPr lang="en-IN" sz="1900" b="0" u="none" strike="noStrike">
              <a:solidFill>
                <a:srgbClr val="000000"/>
              </a:solidFill>
              <a:effectLst/>
              <a:uFillTx/>
              <a:latin typeface="Arial"/>
            </a:endParaRPr>
          </a:p>
        </p:txBody>
      </p:sp>
      <p:sp>
        <p:nvSpPr>
          <p:cNvPr id="293" name="Text 9"/>
          <p:cNvSpPr/>
          <p:nvPr/>
        </p:nvSpPr>
        <p:spPr>
          <a:xfrm>
            <a:off x="3557160" y="3913560"/>
            <a:ext cx="22856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loc tells you where</a:t>
            </a:r>
            <a:endParaRPr lang="en-IN" sz="1250" b="0" u="none" strike="noStrike">
              <a:solidFill>
                <a:srgbClr val="000000"/>
              </a:solidFill>
              <a:effectLst/>
              <a:uFillTx/>
              <a:latin typeface="Arial"/>
            </a:endParaRPr>
          </a:p>
        </p:txBody>
      </p:sp>
      <p:sp>
        <p:nvSpPr>
          <p:cNvPr id="294" name="Shape 10"/>
          <p:cNvSpPr/>
          <p:nvPr/>
        </p:nvSpPr>
        <p:spPr>
          <a:xfrm>
            <a:off x="6199560" y="3337560"/>
            <a:ext cx="2651400" cy="1051200"/>
          </a:xfrm>
          <a:prstGeom prst="roundRect">
            <a:avLst>
              <a:gd name="adj" fmla="val 869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5" name="Text 11"/>
          <p:cNvSpPr/>
          <p:nvPr/>
        </p:nvSpPr>
        <p:spPr>
          <a:xfrm>
            <a:off x="6382440" y="3493080"/>
            <a:ext cx="22856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6366F1"/>
                </a:solidFill>
                <a:effectLst/>
                <a:uFillTx/>
                <a:latin typeface="Calibri"/>
                <a:ea typeface="Calibri"/>
              </a:rPr>
              <a:t>the exact reason</a:t>
            </a:r>
            <a:endParaRPr lang="en-IN" sz="1900" b="0" u="none" strike="noStrike">
              <a:solidFill>
                <a:srgbClr val="000000"/>
              </a:solidFill>
              <a:effectLst/>
              <a:uFillTx/>
              <a:latin typeface="Arial"/>
            </a:endParaRPr>
          </a:p>
        </p:txBody>
      </p:sp>
      <p:sp>
        <p:nvSpPr>
          <p:cNvPr id="296" name="Text 12"/>
          <p:cNvSpPr/>
          <p:nvPr/>
        </p:nvSpPr>
        <p:spPr>
          <a:xfrm>
            <a:off x="6382440" y="3913560"/>
            <a:ext cx="22856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msg tells you why</a:t>
            </a:r>
            <a:endParaRPr lang="en-IN" sz="1250" b="0" u="none" strike="noStrike">
              <a:solidFill>
                <a:srgbClr val="000000"/>
              </a:solidFill>
              <a:effectLst/>
              <a:uFillTx/>
              <a:latin typeface="Arial"/>
            </a:endParaRPr>
          </a:p>
        </p:txBody>
      </p:sp>
      <p:sp>
        <p:nvSpPr>
          <p:cNvPr id="297" name="Shape 13"/>
          <p:cNvSpPr/>
          <p:nvPr/>
        </p:nvSpPr>
        <p:spPr>
          <a:xfrm>
            <a:off x="9025200" y="3337560"/>
            <a:ext cx="2651400" cy="1051200"/>
          </a:xfrm>
          <a:prstGeom prst="roundRect">
            <a:avLst>
              <a:gd name="adj" fmla="val 8696"/>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8" name="Text 14"/>
          <p:cNvSpPr/>
          <p:nvPr/>
        </p:nvSpPr>
        <p:spPr>
          <a:xfrm>
            <a:off x="9208080" y="3493080"/>
            <a:ext cx="22856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5803D"/>
                </a:solidFill>
                <a:effectLst/>
                <a:uFillTx/>
                <a:latin typeface="Calibri"/>
                <a:ea typeface="Calibri"/>
              </a:rPr>
              <a:t>0 lines</a:t>
            </a:r>
            <a:endParaRPr lang="en-IN" sz="1900" b="0" u="none" strike="noStrike">
              <a:solidFill>
                <a:srgbClr val="000000"/>
              </a:solidFill>
              <a:effectLst/>
              <a:uFillTx/>
              <a:latin typeface="Arial"/>
            </a:endParaRPr>
          </a:p>
        </p:txBody>
      </p:sp>
      <p:sp>
        <p:nvSpPr>
          <p:cNvPr id="299" name="Text 15"/>
          <p:cNvSpPr/>
          <p:nvPr/>
        </p:nvSpPr>
        <p:spPr>
          <a:xfrm>
            <a:off x="9208080" y="3913560"/>
            <a:ext cx="22856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of validation you wrote</a:t>
            </a:r>
            <a:endParaRPr lang="en-IN" sz="1250" b="0" u="none" strike="noStrike">
              <a:solidFill>
                <a:srgbClr val="000000"/>
              </a:solidFill>
              <a:effectLst/>
              <a:uFillTx/>
              <a:latin typeface="Arial"/>
            </a:endParaRPr>
          </a:p>
        </p:txBody>
      </p:sp>
      <p:sp>
        <p:nvSpPr>
          <p:cNvPr id="300" name="Shape 16"/>
          <p:cNvSpPr/>
          <p:nvPr/>
        </p:nvSpPr>
        <p:spPr>
          <a:xfrm>
            <a:off x="548640" y="4617720"/>
            <a:ext cx="11091240" cy="685440"/>
          </a:xfrm>
          <a:prstGeom prst="roundRect">
            <a:avLst>
              <a:gd name="adj" fmla="val 8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01" name="Text 17"/>
          <p:cNvSpPr/>
          <p:nvPr/>
        </p:nvSpPr>
        <p:spPr>
          <a:xfrm>
            <a:off x="804600" y="4800600"/>
            <a:ext cx="10579320" cy="3196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1E293B"/>
                </a:solidFill>
                <a:effectLst/>
                <a:uFillTx/>
                <a:latin typeface="Courier New"/>
                <a:ea typeface="Courier New"/>
              </a:rPr>
              <a:t>def get_student(student_id: int):        #  &lt;- this. just this.</a:t>
            </a:r>
            <a:endParaRPr lang="en-IN" sz="1500" b="0" u="none" strike="noStrike">
              <a:solidFill>
                <a:srgbClr val="000000"/>
              </a:solidFill>
              <a:effectLst/>
              <a:uFillTx/>
              <a:latin typeface="Arial"/>
            </a:endParaRPr>
          </a:p>
        </p:txBody>
      </p:sp>
      <p:sp>
        <p:nvSpPr>
          <p:cNvPr id="302" name="Shape 18"/>
          <p:cNvSpPr/>
          <p:nvPr/>
        </p:nvSpPr>
        <p:spPr>
          <a:xfrm>
            <a:off x="548640" y="5486400"/>
            <a:ext cx="11091240" cy="639720"/>
          </a:xfrm>
          <a:prstGeom prst="roundRect">
            <a:avLst>
              <a:gd name="adj" fmla="val 1428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03" name="Text 19"/>
          <p:cNvSpPr/>
          <p:nvPr/>
        </p:nvSpPr>
        <p:spPr>
          <a:xfrm>
            <a:off x="868680" y="548640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Now picture writing that by hand.  </a:t>
            </a:r>
            <a:r>
              <a:rPr lang="en-US" sz="1500" b="0" u="none" strike="noStrike">
                <a:solidFill>
                  <a:srgbClr val="1E293B"/>
                </a:solidFill>
                <a:effectLst/>
                <a:uFillTx/>
                <a:latin typeface="Calibri"/>
                <a:ea typeface="Calibri"/>
              </a:rPr>
              <a:t>For forty fields. In every endpoint. And keeping the error messages consistent.</a:t>
            </a:r>
            <a:endParaRPr lang="en-IN" sz="1500" b="0" u="none" strike="noStrike">
              <a:solidFill>
                <a:srgbClr val="000000"/>
              </a:solidFill>
              <a:effectLst/>
              <a:uFillTx/>
              <a:latin typeface="Arial"/>
            </a:endParaRPr>
          </a:p>
        </p:txBody>
      </p:sp>
      <p:sp>
        <p:nvSpPr>
          <p:cNvPr id="304" name="Text 20"/>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305" name="Text 21"/>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Rules, and their documentation, are the same line</a:t>
            </a:r>
            <a:endParaRPr lang="en-IN" sz="3000" b="0" u="none" strike="noStrike">
              <a:solidFill>
                <a:srgbClr val="000000"/>
              </a:solidFill>
              <a:effectLst/>
              <a:uFillTx/>
              <a:latin typeface="Arial"/>
            </a:endParaRPr>
          </a:p>
        </p:txBody>
      </p:sp>
      <p:sp>
        <p:nvSpPr>
          <p:cNvPr id="307" name="Shape 1"/>
          <p:cNvSpPr/>
          <p:nvPr/>
        </p:nvSpPr>
        <p:spPr>
          <a:xfrm>
            <a:off x="548640" y="1463040"/>
            <a:ext cx="11091240" cy="1691280"/>
          </a:xfrm>
          <a:prstGeom prst="roundRect">
            <a:avLst>
              <a:gd name="adj" fmla="val 3243"/>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08" name="Text 2"/>
          <p:cNvSpPr/>
          <p:nvPr/>
        </p:nvSpPr>
        <p:spPr>
          <a:xfrm>
            <a:off x="804600" y="1645920"/>
            <a:ext cx="10579320" cy="13255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@app.get("/courses/{course_id}")</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def get_course(</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course_id: int  = Path(ge=1, description="Course id, 1 or higher"),</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search: str|None = Query(default=None, min_length=3, max_length=20),</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limit: int      = Query(default=10, ge=1, le=100),</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a:t>
            </a:r>
            <a:endParaRPr lang="en-IN" sz="1250" b="0" u="none" strike="noStrike">
              <a:solidFill>
                <a:srgbClr val="000000"/>
              </a:solidFill>
              <a:effectLst/>
              <a:uFillTx/>
              <a:latin typeface="Arial"/>
            </a:endParaRPr>
          </a:p>
        </p:txBody>
      </p:sp>
      <p:graphicFrame>
        <p:nvGraphicFramePr>
          <p:cNvPr id="309" name="Table 0"/>
          <p:cNvGraphicFramePr/>
          <p:nvPr/>
        </p:nvGraphicFramePr>
        <p:xfrm>
          <a:off x="548640" y="3337560"/>
          <a:ext cx="11091240" cy="2057400"/>
        </p:xfrm>
        <a:graphic>
          <a:graphicData uri="http://schemas.openxmlformats.org/drawingml/2006/table">
            <a:tbl>
              <a:tblPr/>
              <a:tblGrid>
                <a:gridCol w="4114800"/>
                <a:gridCol w="2194560"/>
                <a:gridCol w="4782240"/>
              </a:tblGrid>
              <a:tr h="41148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You send</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You get back</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Because</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41148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/courses/0</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422</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ge=1</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1148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/courses/5?search=a</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422</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min_length=3</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1148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/courses/5?limit=999</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422</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le=100</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1148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/courses/5?search=abc</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200</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everything satisfied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310" name="Shape 3"/>
          <p:cNvSpPr/>
          <p:nvPr/>
        </p:nvSpPr>
        <p:spPr>
          <a:xfrm>
            <a:off x="548640" y="5623560"/>
            <a:ext cx="11091240" cy="594000"/>
          </a:xfrm>
          <a:prstGeom prst="roundRect">
            <a:avLst>
              <a:gd name="adj" fmla="val 15385"/>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1" name="Text 4"/>
          <p:cNvSpPr/>
          <p:nvPr/>
        </p:nvSpPr>
        <p:spPr>
          <a:xfrm>
            <a:off x="868680" y="5623560"/>
            <a:ext cx="104238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Every rule above appears in /docs automatically.  </a:t>
            </a:r>
            <a:r>
              <a:rPr lang="en-US" sz="1500" b="0" u="none" strike="noStrike">
                <a:solidFill>
                  <a:srgbClr val="1E293B"/>
                </a:solidFill>
                <a:effectLst/>
                <a:uFillTx/>
                <a:latin typeface="Calibri"/>
                <a:ea typeface="Calibri"/>
              </a:rPr>
              <a:t>The rule and its documentation are the same line of code — so they can never drift apart.</a:t>
            </a:r>
            <a:endParaRPr lang="en-IN" sz="1500" b="0" u="none" strike="noStrike">
              <a:solidFill>
                <a:srgbClr val="000000"/>
              </a:solidFill>
              <a:effectLst/>
              <a:uFillTx/>
              <a:latin typeface="Arial"/>
            </a:endParaRPr>
          </a:p>
        </p:txBody>
      </p:sp>
      <p:sp>
        <p:nvSpPr>
          <p:cNvPr id="312" name="Text 5"/>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313" name="Text 6"/>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24</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Decide what comes back — not just what goes in</a:t>
            </a:r>
            <a:endParaRPr lang="en-IN" sz="3000" b="0" u="none" strike="noStrike">
              <a:solidFill>
                <a:srgbClr val="000000"/>
              </a:solidFill>
              <a:effectLst/>
              <a:uFillTx/>
              <a:latin typeface="Arial"/>
            </a:endParaRPr>
          </a:p>
        </p:txBody>
      </p:sp>
      <p:sp>
        <p:nvSpPr>
          <p:cNvPr id="315" name="Shape 1"/>
          <p:cNvSpPr/>
          <p:nvPr/>
        </p:nvSpPr>
        <p:spPr>
          <a:xfrm>
            <a:off x="548640" y="1371600"/>
            <a:ext cx="5760360" cy="2285640"/>
          </a:xfrm>
          <a:prstGeom prst="roundRect">
            <a:avLst>
              <a:gd name="adj" fmla="val 24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6" name="Text 2"/>
          <p:cNvSpPr/>
          <p:nvPr/>
        </p:nvSpPr>
        <p:spPr>
          <a:xfrm>
            <a:off x="804600" y="1554480"/>
            <a:ext cx="5248440" cy="1919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class StudentIn(BaseModel):    # accept</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name: str</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age: int</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password: str</a:t>
            </a:r>
            <a:endParaRPr lang="en-IN" sz="1250" b="0" u="none" strike="noStrike">
              <a:solidFill>
                <a:srgbClr val="000000"/>
              </a:solidFill>
              <a:effectLst/>
              <a:uFillTx/>
              <a:latin typeface="Arial"/>
            </a:endParaRPr>
          </a:p>
          <a:p>
            <a:pPr defTabSz="914400">
              <a:lnSpc>
                <a:spcPct val="115000"/>
              </a:lnSpc>
              <a:tabLst>
                <a:tab pos="0" algn="l"/>
              </a:tabLst>
            </a:pP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class StudentOut(BaseModel):   # return</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id: int</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name: str</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branch: str</a:t>
            </a:r>
            <a:endParaRPr lang="en-IN" sz="1250" b="0" u="none" strike="noStrike">
              <a:solidFill>
                <a:srgbClr val="000000"/>
              </a:solidFill>
              <a:effectLst/>
              <a:uFillTx/>
              <a:latin typeface="Arial"/>
            </a:endParaRPr>
          </a:p>
        </p:txBody>
      </p:sp>
      <p:sp>
        <p:nvSpPr>
          <p:cNvPr id="317" name="Shape 3"/>
          <p:cNvSpPr/>
          <p:nvPr/>
        </p:nvSpPr>
        <p:spPr>
          <a:xfrm>
            <a:off x="6583680" y="1371600"/>
            <a:ext cx="5056200" cy="2285640"/>
          </a:xfrm>
          <a:prstGeom prst="roundRect">
            <a:avLst>
              <a:gd name="adj" fmla="val 24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8" name="Text 4"/>
          <p:cNvSpPr/>
          <p:nvPr/>
        </p:nvSpPr>
        <p:spPr>
          <a:xfrm>
            <a:off x="6839640" y="1554480"/>
            <a:ext cx="4544280" cy="1919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@app.post("/students",</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status_code=201,</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response_model=StudentOut)</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def create_student(s: StudentIn):</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return student   # has a password</a:t>
            </a:r>
            <a:endParaRPr lang="en-IN" sz="1200" b="0" u="none" strike="noStrike">
              <a:solidFill>
                <a:srgbClr val="000000"/>
              </a:solidFill>
              <a:effectLst/>
              <a:uFillTx/>
              <a:latin typeface="Arial"/>
            </a:endParaRPr>
          </a:p>
        </p:txBody>
      </p:sp>
      <p:sp>
        <p:nvSpPr>
          <p:cNvPr id="319" name="Text 5"/>
          <p:cNvSpPr/>
          <p:nvPr/>
        </p:nvSpPr>
        <p:spPr>
          <a:xfrm>
            <a:off x="548640" y="379476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The function returns a dict with a password in it. The response is:</a:t>
            </a:r>
            <a:endParaRPr lang="en-IN" sz="1500" b="0" u="none" strike="noStrike">
              <a:solidFill>
                <a:srgbClr val="000000"/>
              </a:solidFill>
              <a:effectLst/>
              <a:uFillTx/>
              <a:latin typeface="Arial"/>
            </a:endParaRPr>
          </a:p>
        </p:txBody>
      </p:sp>
      <p:sp>
        <p:nvSpPr>
          <p:cNvPr id="320" name="Shape 6"/>
          <p:cNvSpPr/>
          <p:nvPr/>
        </p:nvSpPr>
        <p:spPr>
          <a:xfrm>
            <a:off x="548640" y="4206240"/>
            <a:ext cx="11091240" cy="548280"/>
          </a:xfrm>
          <a:prstGeom prst="roundRect">
            <a:avLst>
              <a:gd name="adj" fmla="val 10000"/>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21" name="Text 7"/>
          <p:cNvSpPr/>
          <p:nvPr/>
        </p:nvSpPr>
        <p:spPr>
          <a:xfrm>
            <a:off x="822960" y="4206240"/>
            <a:ext cx="10515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5803D"/>
                </a:solidFill>
                <a:effectLst/>
                <a:uFillTx/>
                <a:latin typeface="Courier New"/>
                <a:ea typeface="Courier New"/>
              </a:rPr>
              <a:t>{"id": 2, "name": "Raj", "branch": "CSE"}</a:t>
            </a:r>
            <a:endParaRPr lang="en-IN" sz="1600" b="0" u="none" strike="noStrike">
              <a:solidFill>
                <a:srgbClr val="000000"/>
              </a:solidFill>
              <a:effectLst/>
              <a:uFillTx/>
              <a:latin typeface="Arial"/>
            </a:endParaRPr>
          </a:p>
        </p:txBody>
      </p:sp>
      <p:sp>
        <p:nvSpPr>
          <p:cNvPr id="322" name="Shape 8"/>
          <p:cNvSpPr/>
          <p:nvPr/>
        </p:nvSpPr>
        <p:spPr>
          <a:xfrm>
            <a:off x="548640" y="4983480"/>
            <a:ext cx="11091240" cy="685440"/>
          </a:xfrm>
          <a:prstGeom prst="roundRect">
            <a:avLst>
              <a:gd name="adj" fmla="val 13333"/>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23" name="Text 9"/>
          <p:cNvSpPr/>
          <p:nvPr/>
        </p:nvSpPr>
        <p:spPr>
          <a:xfrm>
            <a:off x="868680" y="4983480"/>
            <a:ext cx="104238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Leaking a password field is a real bug that has ended real jobs.  </a:t>
            </a:r>
            <a:r>
              <a:rPr lang="en-US" sz="1500" b="0" u="none" strike="noStrike">
                <a:solidFill>
                  <a:srgbClr val="1E293B"/>
                </a:solidFill>
                <a:effectLst/>
                <a:uFillTx/>
                <a:latin typeface="Calibri"/>
                <a:ea typeface="Calibri"/>
              </a:rPr>
              <a:t>One line prevents it. The shape of your answer becomes a rule, not a hope.</a:t>
            </a:r>
            <a:endParaRPr lang="en-IN" sz="1500" b="0" u="none" strike="noStrike">
              <a:solidFill>
                <a:srgbClr val="000000"/>
              </a:solidFill>
              <a:effectLst/>
              <a:uFillTx/>
              <a:latin typeface="Arial"/>
            </a:endParaRPr>
          </a:p>
        </p:txBody>
      </p:sp>
      <p:sp>
        <p:nvSpPr>
          <p:cNvPr id="324" name="Text 10"/>
          <p:cNvSpPr/>
          <p:nvPr/>
        </p:nvSpPr>
        <p:spPr>
          <a:xfrm>
            <a:off x="548640" y="5806440"/>
            <a:ext cx="1109124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6366F1"/>
                </a:solidFill>
                <a:effectLst/>
                <a:uFillTx/>
                <a:latin typeface="Calibri"/>
                <a:ea typeface="Calibri"/>
              </a:rPr>
              <a:t>200 here you go   ·   201 created   ·   404 no such thing   ·   422 malformed request</a:t>
            </a:r>
            <a:endParaRPr lang="en-IN" sz="1500" b="0" u="none" strike="noStrike">
              <a:solidFill>
                <a:srgbClr val="000000"/>
              </a:solidFill>
              <a:effectLst/>
              <a:uFillTx/>
              <a:latin typeface="Arial"/>
            </a:endParaRPr>
          </a:p>
        </p:txBody>
      </p:sp>
      <p:sp>
        <p:nvSpPr>
          <p:cNvPr id="325" name="Text 11"/>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326" name="Text 12"/>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raise. Do not return.</a:t>
            </a:r>
            <a:endParaRPr lang="en-IN" sz="3000" b="0" u="none" strike="noStrike">
              <a:solidFill>
                <a:srgbClr val="000000"/>
              </a:solidFill>
              <a:effectLst/>
              <a:uFillTx/>
              <a:latin typeface="Arial"/>
            </a:endParaRPr>
          </a:p>
        </p:txBody>
      </p:sp>
      <p:graphicFrame>
        <p:nvGraphicFramePr>
          <p:cNvPr id="328" name="Table 0"/>
          <p:cNvGraphicFramePr/>
          <p:nvPr/>
        </p:nvGraphicFramePr>
        <p:xfrm>
          <a:off x="548640" y="1645920"/>
          <a:ext cx="11091240" cy="2139480"/>
        </p:xfrm>
        <a:graphic>
          <a:graphicData uri="http://schemas.openxmlformats.org/drawingml/2006/table">
            <a:tbl>
              <a:tblPr/>
              <a:tblGrid>
                <a:gridCol w="4023360"/>
                <a:gridCol w="4206240"/>
                <a:gridCol w="1463040"/>
                <a:gridCol w="1398960"/>
              </a:tblGrid>
              <a:tr h="71316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Your code</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Body the caller sees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Status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endParaRPr lang="en-US" sz="1300" b="0" u="none" strike="noStrike">
                        <a:solidFill>
                          <a:schemeClr val="dk1"/>
                        </a:solidFill>
                        <a:effectLst/>
                        <a:uFillTx/>
                        <a:latin typeface="Calibri"/>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713160">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raise HTTPException(404, ...)</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{"detail":"No student with id 99"}</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404</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correct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71316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ourier New"/>
                          <a:ea typeface="Courier New"/>
                        </a:rPr>
                        <a:t>return {"error": "not found"}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{"error":"not found"}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200</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a bug</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329" name="Shape 1"/>
          <p:cNvSpPr/>
          <p:nvPr/>
        </p:nvSpPr>
        <p:spPr>
          <a:xfrm>
            <a:off x="548640" y="4069080"/>
            <a:ext cx="11091240" cy="914040"/>
          </a:xfrm>
          <a:prstGeom prst="roundRect">
            <a:avLst>
              <a:gd name="adj" fmla="val 10000"/>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0" name="Text 2"/>
          <p:cNvSpPr/>
          <p:nvPr/>
        </p:nvSpPr>
        <p:spPr>
          <a:xfrm>
            <a:off x="868680" y="4069080"/>
            <a:ext cx="1042380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Both say “not found”. Why is the second one a bug?  </a:t>
            </a:r>
            <a:r>
              <a:rPr lang="en-US" sz="1500" b="0" u="none" strike="noStrike">
                <a:solidFill>
                  <a:srgbClr val="1E293B"/>
                </a:solidFill>
                <a:effectLst/>
                <a:uFillTx/>
                <a:latin typeface="Calibri"/>
                <a:ea typeface="Calibri"/>
              </a:rPr>
              <a:t>Because the caller's code does not read English. It checks the number. 200 means success — so a mobile app cheerfully carries on with nonsense.</a:t>
            </a:r>
            <a:endParaRPr lang="en-IN" sz="1500" b="0" u="none" strike="noStrike">
              <a:solidFill>
                <a:srgbClr val="000000"/>
              </a:solidFill>
              <a:effectLst/>
              <a:uFillTx/>
              <a:latin typeface="Arial"/>
            </a:endParaRPr>
          </a:p>
        </p:txBody>
      </p:sp>
      <p:sp>
        <p:nvSpPr>
          <p:cNvPr id="331" name="Shape 3"/>
          <p:cNvSpPr/>
          <p:nvPr/>
        </p:nvSpPr>
        <p:spPr>
          <a:xfrm>
            <a:off x="548640" y="5074920"/>
            <a:ext cx="11091240" cy="868320"/>
          </a:xfrm>
          <a:prstGeom prst="roundRect">
            <a:avLst>
              <a:gd name="adj" fmla="val 6316"/>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2" name="Text 4"/>
          <p:cNvSpPr/>
          <p:nvPr/>
        </p:nvSpPr>
        <p:spPr>
          <a:xfrm>
            <a:off x="804600" y="5257800"/>
            <a:ext cx="10579320" cy="5025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raise HTTPException(status_code=404, detail=f"No student with id {student_id}")</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put the id IN the message - future you will thank you</a:t>
            </a:r>
            <a:endParaRPr lang="en-IN" sz="1300" b="0" u="none" strike="noStrike">
              <a:solidFill>
                <a:srgbClr val="000000"/>
              </a:solidFill>
              <a:effectLst/>
              <a:uFillTx/>
              <a:latin typeface="Arial"/>
            </a:endParaRPr>
          </a:p>
        </p:txBody>
      </p:sp>
      <p:sp>
        <p:nvSpPr>
          <p:cNvPr id="333" name="Text 5"/>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334" name="Text 6"/>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async def vs def — measured, not hand-waved</a:t>
            </a:r>
            <a:endParaRPr lang="en-IN" sz="3000" b="0" u="none" strike="noStrike">
              <a:solidFill>
                <a:srgbClr val="000000"/>
              </a:solidFill>
              <a:effectLst/>
              <a:uFillTx/>
              <a:latin typeface="Arial"/>
            </a:endParaRPr>
          </a:p>
        </p:txBody>
      </p:sp>
      <p:sp>
        <p:nvSpPr>
          <p:cNvPr id="336" name="Shape 1"/>
          <p:cNvSpPr/>
          <p:nvPr/>
        </p:nvSpPr>
        <p:spPr>
          <a:xfrm>
            <a:off x="548640" y="1371600"/>
            <a:ext cx="5760360" cy="2331360"/>
          </a:xfrm>
          <a:prstGeom prst="roundRect">
            <a:avLst>
              <a:gd name="adj" fmla="val 2353"/>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7" name="Text 2"/>
          <p:cNvSpPr/>
          <p:nvPr/>
        </p:nvSpPr>
        <p:spPr>
          <a:xfrm>
            <a:off x="804600" y="1554480"/>
            <a:ext cx="5248440" cy="19656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@app.get("/sync")</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def slow_sync():</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time.sleep(2)          # separate thread</a:t>
            </a:r>
            <a:endParaRPr lang="en-IN" sz="1200" b="0" u="none" strike="noStrike">
              <a:solidFill>
                <a:srgbClr val="000000"/>
              </a:solidFill>
              <a:effectLst/>
              <a:uFillTx/>
              <a:latin typeface="Arial"/>
            </a:endParaRPr>
          </a:p>
          <a:p>
            <a:pPr defTabSz="914400">
              <a:lnSpc>
                <a:spcPct val="115000"/>
              </a:lnSpc>
              <a:tabLst>
                <a:tab pos="0" algn="l"/>
              </a:tabLst>
            </a:pP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@app.get("/broken")</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async def broken():</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time.sleep(2)          # WRONG - blocks</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 everything</a:t>
            </a:r>
            <a:endParaRPr lang="en-IN" sz="1200" b="0" u="none" strike="noStrike">
              <a:solidFill>
                <a:srgbClr val="000000"/>
              </a:solidFill>
              <a:effectLst/>
              <a:uFillTx/>
              <a:latin typeface="Arial"/>
            </a:endParaRPr>
          </a:p>
        </p:txBody>
      </p:sp>
      <p:graphicFrame>
        <p:nvGraphicFramePr>
          <p:cNvPr id="338" name="Table 0"/>
          <p:cNvGraphicFramePr/>
          <p:nvPr/>
        </p:nvGraphicFramePr>
        <p:xfrm>
          <a:off x="6583680" y="1371600"/>
          <a:ext cx="5056200" cy="2248920"/>
        </p:xfrm>
        <a:graphic>
          <a:graphicData uri="http://schemas.openxmlformats.org/drawingml/2006/table">
            <a:tbl>
              <a:tblPr/>
              <a:tblGrid>
                <a:gridCol w="2011680"/>
                <a:gridCol w="731520"/>
                <a:gridCol w="2313360"/>
              </a:tblGrid>
              <a:tr h="749520">
                <a:tc>
                  <a:txBody>
                    <a:bodyPr lIns="75960" tIns="37800" rIns="7596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Two requests at once</a:t>
                      </a:r>
                      <a:endParaRPr lang="en-IN" sz="1300" b="0" u="none" strike="noStrike">
                        <a:solidFill>
                          <a:srgbClr val="FFFFFF"/>
                        </a:solidFill>
                        <a:effectLst/>
                        <a:uFillTx/>
                        <a:latin typeface="Arial"/>
                      </a:endParaRPr>
                    </a:p>
                  </a:txBody>
                  <a:tcPr anchor="ctr" marL="75960" marR="7596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75960" tIns="37800" rIns="7596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Clock</a:t>
                      </a:r>
                      <a:endParaRPr lang="en-IN" sz="1300" b="0" u="none" strike="noStrike">
                        <a:solidFill>
                          <a:srgbClr val="FFFFFF"/>
                        </a:solidFill>
                        <a:effectLst/>
                        <a:uFillTx/>
                        <a:latin typeface="Arial"/>
                      </a:endParaRPr>
                    </a:p>
                  </a:txBody>
                  <a:tcPr anchor="ctr" marL="75960" marR="7596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75960" tIns="37800" rIns="7596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Why</a:t>
                      </a:r>
                      <a:endParaRPr lang="en-IN" sz="1300" b="0" u="none" strike="noStrike">
                        <a:solidFill>
                          <a:srgbClr val="FFFFFF"/>
                        </a:solidFill>
                        <a:effectLst/>
                        <a:uFillTx/>
                        <a:latin typeface="Arial"/>
                      </a:endParaRPr>
                    </a:p>
                  </a:txBody>
                  <a:tcPr anchor="ctr" marL="75960" marR="7596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749520">
                <a:tc>
                  <a:txBody>
                    <a:bodyPr lIns="75960" tIns="37800" rIns="7596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plain def</a:t>
                      </a:r>
                      <a:endParaRPr lang="en-IN" sz="1250" b="0" u="none" strike="noStrike">
                        <a:solidFill>
                          <a:srgbClr val="000000"/>
                        </a:solidFill>
                        <a:effectLst/>
                        <a:uFillTx/>
                        <a:latin typeface="Arial"/>
                      </a:endParaRPr>
                    </a:p>
                  </a:txBody>
                  <a:tcPr anchor="ctr" marL="75960" marR="7596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75960" tIns="37800" rIns="7596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2s</a:t>
                      </a:r>
                      <a:endParaRPr lang="en-IN" sz="1250" b="0" u="none" strike="noStrike">
                        <a:solidFill>
                          <a:srgbClr val="000000"/>
                        </a:solidFill>
                        <a:effectLst/>
                        <a:uFillTx/>
                        <a:latin typeface="Arial"/>
                      </a:endParaRPr>
                    </a:p>
                  </a:txBody>
                  <a:tcPr anchor="ctr" marL="75960" marR="7596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75960" tIns="37800" rIns="7596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run in separate threads</a:t>
                      </a:r>
                      <a:endParaRPr lang="en-IN" sz="1250" b="0" u="none" strike="noStrike">
                        <a:solidFill>
                          <a:srgbClr val="000000"/>
                        </a:solidFill>
                        <a:effectLst/>
                        <a:uFillTx/>
                        <a:latin typeface="Arial"/>
                      </a:endParaRPr>
                    </a:p>
                  </a:txBody>
                  <a:tcPr anchor="ctr" marL="75960" marR="7596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749520">
                <a:tc>
                  <a:txBody>
                    <a:bodyPr lIns="75960" tIns="37800" rIns="75960" bIns="37800" anchor="ctr">
                      <a:noAutofit/>
                    </a:bodyPr>
                    <a:p>
                      <a:pPr defTabSz="914400">
                        <a:lnSpc>
                          <a:spcPct val="100000"/>
                        </a:lnSpc>
                        <a:tabLst>
                          <a:tab pos="0" algn="l"/>
                        </a:tabLst>
                      </a:pPr>
                      <a:r>
                        <a:rPr lang="en-US" sz="1250" b="0" u="none" strike="noStrike">
                          <a:solidFill>
                            <a:srgbClr val="B91C1C"/>
                          </a:solidFill>
                          <a:effectLst/>
                          <a:uFillTx/>
                          <a:latin typeface="Courier New"/>
                          <a:ea typeface="Courier New"/>
                        </a:rPr>
                        <a:t>blocking call in async def</a:t>
                      </a:r>
                      <a:endParaRPr lang="en-IN" sz="1250" b="0" u="none" strike="noStrike">
                        <a:solidFill>
                          <a:srgbClr val="000000"/>
                        </a:solidFill>
                        <a:effectLst/>
                        <a:uFillTx/>
                        <a:latin typeface="Arial"/>
                      </a:endParaRPr>
                    </a:p>
                  </a:txBody>
                  <a:tcPr anchor="ctr" marL="75960" marR="7596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75960" tIns="37800" rIns="7596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4s</a:t>
                      </a:r>
                      <a:endParaRPr lang="en-IN" sz="1250" b="0" u="none" strike="noStrike">
                        <a:solidFill>
                          <a:srgbClr val="000000"/>
                        </a:solidFill>
                        <a:effectLst/>
                        <a:uFillTx/>
                        <a:latin typeface="Arial"/>
                      </a:endParaRPr>
                    </a:p>
                  </a:txBody>
                  <a:tcPr anchor="ctr" marL="75960" marR="7596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75960" tIns="37800" rIns="7596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one froze the server; the second queued</a:t>
                      </a:r>
                      <a:endParaRPr lang="en-IN" sz="1250" b="0" u="none" strike="noStrike">
                        <a:solidFill>
                          <a:srgbClr val="000000"/>
                        </a:solidFill>
                        <a:effectLst/>
                        <a:uFillTx/>
                        <a:latin typeface="Arial"/>
                      </a:endParaRPr>
                    </a:p>
                  </a:txBody>
                  <a:tcPr anchor="ctr" marL="75960" marR="7596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339" name="Shape 3"/>
          <p:cNvSpPr/>
          <p:nvPr/>
        </p:nvSpPr>
        <p:spPr>
          <a:xfrm>
            <a:off x="548640" y="3931920"/>
            <a:ext cx="11091240" cy="639720"/>
          </a:xfrm>
          <a:prstGeom prst="roundRect">
            <a:avLst>
              <a:gd name="adj" fmla="val 1428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40" name="Text 4"/>
          <p:cNvSpPr/>
          <p:nvPr/>
        </p:nvSpPr>
        <p:spPr>
          <a:xfrm>
            <a:off x="868680" y="393192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Plain def was the safe one.  </a:t>
            </a:r>
            <a:r>
              <a:rPr lang="en-US" sz="1500" b="0" u="none" strike="noStrike">
                <a:solidFill>
                  <a:srgbClr val="1E293B"/>
                </a:solidFill>
                <a:effectLst/>
                <a:uFillTx/>
                <a:latin typeface="Calibri"/>
                <a:ea typeface="Calibri"/>
              </a:rPr>
              <a:t>The async def was dangerous — because the code inside it lied about waiting.</a:t>
            </a:r>
            <a:endParaRPr lang="en-IN" sz="1500" b="0" u="none" strike="noStrike">
              <a:solidFill>
                <a:srgbClr val="000000"/>
              </a:solidFill>
              <a:effectLst/>
              <a:uFillTx/>
              <a:latin typeface="Arial"/>
            </a:endParaRPr>
          </a:p>
        </p:txBody>
      </p:sp>
      <p:sp>
        <p:nvSpPr>
          <p:cNvPr id="341" name="Text 5"/>
          <p:cNvSpPr/>
          <p:nvPr/>
        </p:nvSpPr>
        <p:spPr>
          <a:xfrm>
            <a:off x="548640" y="4754880"/>
            <a:ext cx="31086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Not sure?</a:t>
            </a:r>
            <a:endParaRPr lang="en-IN" sz="1500" b="0" u="none" strike="noStrike">
              <a:solidFill>
                <a:srgbClr val="000000"/>
              </a:solidFill>
              <a:effectLst/>
              <a:uFillTx/>
              <a:latin typeface="Arial"/>
            </a:endParaRPr>
          </a:p>
        </p:txBody>
      </p:sp>
      <p:sp>
        <p:nvSpPr>
          <p:cNvPr id="342" name="Text 6"/>
          <p:cNvSpPr/>
          <p:nvPr/>
        </p:nvSpPr>
        <p:spPr>
          <a:xfrm>
            <a:off x="3749040" y="4754880"/>
            <a:ext cx="78634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Use plain def. FastAPI handles it safely.</a:t>
            </a:r>
            <a:endParaRPr lang="en-IN" sz="1500" b="0" u="none" strike="noStrike">
              <a:solidFill>
                <a:srgbClr val="000000"/>
              </a:solidFill>
              <a:effectLst/>
              <a:uFillTx/>
              <a:latin typeface="Arial"/>
            </a:endParaRPr>
          </a:p>
        </p:txBody>
      </p:sp>
      <p:sp>
        <p:nvSpPr>
          <p:cNvPr id="343" name="Text 7"/>
          <p:cNvSpPr/>
          <p:nvPr/>
        </p:nvSpPr>
        <p:spPr>
          <a:xfrm>
            <a:off x="548640" y="5212080"/>
            <a:ext cx="31086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Using an async library?</a:t>
            </a:r>
            <a:endParaRPr lang="en-IN" sz="1500" b="0" u="none" strike="noStrike">
              <a:solidFill>
                <a:srgbClr val="000000"/>
              </a:solidFill>
              <a:effectLst/>
              <a:uFillTx/>
              <a:latin typeface="Arial"/>
            </a:endParaRPr>
          </a:p>
        </p:txBody>
      </p:sp>
      <p:sp>
        <p:nvSpPr>
          <p:cNvPr id="344" name="Text 8"/>
          <p:cNvSpPr/>
          <p:nvPr/>
        </p:nvSpPr>
        <p:spPr>
          <a:xfrm>
            <a:off x="3749040" y="5212080"/>
            <a:ext cx="78634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Use async def and await it.</a:t>
            </a:r>
            <a:endParaRPr lang="en-IN" sz="1500" b="0" u="none" strike="noStrike">
              <a:solidFill>
                <a:srgbClr val="000000"/>
              </a:solidFill>
              <a:effectLst/>
              <a:uFillTx/>
              <a:latin typeface="Arial"/>
            </a:endParaRPr>
          </a:p>
        </p:txBody>
      </p:sp>
      <p:sp>
        <p:nvSpPr>
          <p:cNvPr id="345" name="Text 9"/>
          <p:cNvSpPr/>
          <p:nvPr/>
        </p:nvSpPr>
        <p:spPr>
          <a:xfrm>
            <a:off x="548640" y="5669280"/>
            <a:ext cx="31086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Never</a:t>
            </a:r>
            <a:endParaRPr lang="en-IN" sz="1500" b="0" u="none" strike="noStrike">
              <a:solidFill>
                <a:srgbClr val="000000"/>
              </a:solidFill>
              <a:effectLst/>
              <a:uFillTx/>
              <a:latin typeface="Arial"/>
            </a:endParaRPr>
          </a:p>
        </p:txBody>
      </p:sp>
      <p:sp>
        <p:nvSpPr>
          <p:cNvPr id="346" name="Text 10"/>
          <p:cNvSpPr/>
          <p:nvPr/>
        </p:nvSpPr>
        <p:spPr>
          <a:xfrm>
            <a:off x="3749040" y="5669280"/>
            <a:ext cx="78634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put a blocking call inside async def.</a:t>
            </a:r>
            <a:endParaRPr lang="en-IN" sz="1500" b="0" u="none" strike="noStrike">
              <a:solidFill>
                <a:srgbClr val="000000"/>
              </a:solidFill>
              <a:effectLst/>
              <a:uFillTx/>
              <a:latin typeface="Arial"/>
            </a:endParaRPr>
          </a:p>
        </p:txBody>
      </p:sp>
      <p:sp>
        <p:nvSpPr>
          <p:cNvPr id="347" name="Text 11"/>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348" name="Text 12"/>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Three FastAPI features worth knowing exist</a:t>
            </a:r>
            <a:endParaRPr lang="en-IN" sz="3000" b="0" u="none" strike="noStrike">
              <a:solidFill>
                <a:srgbClr val="000000"/>
              </a:solidFill>
              <a:effectLst/>
              <a:uFillTx/>
              <a:latin typeface="Arial"/>
            </a:endParaRPr>
          </a:p>
        </p:txBody>
      </p:sp>
      <p:sp>
        <p:nvSpPr>
          <p:cNvPr id="350" name="Text 1"/>
          <p:cNvSpPr/>
          <p:nvPr/>
        </p:nvSpPr>
        <p:spPr>
          <a:xfrm>
            <a:off x="548640" y="1371600"/>
            <a:ext cx="23770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ourier New"/>
                <a:ea typeface="Courier New"/>
              </a:rPr>
              <a:t>Depends</a:t>
            </a:r>
            <a:endParaRPr lang="en-IN" sz="1600" b="0" u="none" strike="noStrike">
              <a:solidFill>
                <a:srgbClr val="000000"/>
              </a:solidFill>
              <a:effectLst/>
              <a:uFillTx/>
              <a:latin typeface="Arial"/>
            </a:endParaRPr>
          </a:p>
        </p:txBody>
      </p:sp>
      <p:sp>
        <p:nvSpPr>
          <p:cNvPr id="351" name="Text 2"/>
          <p:cNvSpPr/>
          <p:nvPr/>
        </p:nvSpPr>
        <p:spPr>
          <a:xfrm>
            <a:off x="548640" y="1737360"/>
            <a:ext cx="23770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i="1" u="none" strike="noStrike">
                <a:solidFill>
                  <a:srgbClr val="64748B"/>
                </a:solidFill>
                <a:effectLst/>
                <a:uFillTx/>
                <a:latin typeface="Calibri"/>
                <a:ea typeface="Calibri"/>
              </a:rPr>
              <a:t>write a check once, reuse it everywhere</a:t>
            </a:r>
            <a:endParaRPr lang="en-IN" sz="1250" b="0" u="none" strike="noStrike">
              <a:solidFill>
                <a:srgbClr val="000000"/>
              </a:solidFill>
              <a:effectLst/>
              <a:uFillTx/>
              <a:latin typeface="Arial"/>
            </a:endParaRPr>
          </a:p>
        </p:txBody>
      </p:sp>
      <p:sp>
        <p:nvSpPr>
          <p:cNvPr id="352" name="Shape 3"/>
          <p:cNvSpPr/>
          <p:nvPr/>
        </p:nvSpPr>
        <p:spPr>
          <a:xfrm>
            <a:off x="3017520" y="1371600"/>
            <a:ext cx="4663080" cy="1416960"/>
          </a:xfrm>
          <a:prstGeom prst="roundRect">
            <a:avLst>
              <a:gd name="adj" fmla="val 3871"/>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3" name="Text 4"/>
          <p:cNvSpPr/>
          <p:nvPr/>
        </p:nvSpPr>
        <p:spPr>
          <a:xfrm>
            <a:off x="3200400" y="1463040"/>
            <a:ext cx="4388760" cy="1234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50" b="0" u="none" strike="noStrike">
                <a:solidFill>
                  <a:srgbClr val="1E293B"/>
                </a:solidFill>
                <a:effectLst/>
                <a:uFillTx/>
                <a:latin typeface="Courier New"/>
                <a:ea typeface="Courier New"/>
              </a:rPr>
              <a:t>def verify_token(x_token = Header(...)):</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    if x_token != SECRET:</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        raise HTTPException(401)</a:t>
            </a:r>
            <a:endParaRPr lang="en-IN" sz="950" b="0" u="none" strike="noStrike">
              <a:solidFill>
                <a:srgbClr val="000000"/>
              </a:solidFill>
              <a:effectLst/>
              <a:uFillTx/>
              <a:latin typeface="Arial"/>
            </a:endParaRPr>
          </a:p>
          <a:p>
            <a:pPr defTabSz="914400">
              <a:lnSpc>
                <a:spcPct val="100000"/>
              </a:lnSpc>
              <a:tabLst>
                <a:tab pos="0" algn="l"/>
              </a:tabLst>
            </a:pP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@app.get("/admin")</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def admin(t = Depends(verify_token)):</a:t>
            </a:r>
            <a:endParaRPr lang="en-IN" sz="950" b="0" u="none" strike="noStrike">
              <a:solidFill>
                <a:srgbClr val="000000"/>
              </a:solidFill>
              <a:effectLst/>
              <a:uFillTx/>
              <a:latin typeface="Arial"/>
            </a:endParaRPr>
          </a:p>
        </p:txBody>
      </p:sp>
      <p:sp>
        <p:nvSpPr>
          <p:cNvPr id="354" name="Shape 5"/>
          <p:cNvSpPr/>
          <p:nvPr/>
        </p:nvSpPr>
        <p:spPr>
          <a:xfrm>
            <a:off x="7909560" y="1371600"/>
            <a:ext cx="3730320" cy="1416960"/>
          </a:xfrm>
          <a:prstGeom prst="roundRect">
            <a:avLst>
              <a:gd name="adj" fmla="val 6452"/>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5" name="Text 6"/>
          <p:cNvSpPr/>
          <p:nvPr/>
        </p:nvSpPr>
        <p:spPr>
          <a:xfrm>
            <a:off x="8138160" y="1463040"/>
            <a:ext cx="3291480" cy="1234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E293B"/>
                </a:solidFill>
                <a:effectLst/>
                <a:uFillTx/>
                <a:latin typeface="Calibri"/>
                <a:ea typeface="Calibri"/>
              </a:rPr>
              <a:t>The endpoint has NO checking code. The dependency ran first — and when it raised, the endpoint never ran. This is how logins work in module 4.</a:t>
            </a:r>
            <a:endParaRPr lang="en-IN" sz="1200" b="0" u="none" strike="noStrike">
              <a:solidFill>
                <a:srgbClr val="000000"/>
              </a:solidFill>
              <a:effectLst/>
              <a:uFillTx/>
              <a:latin typeface="Arial"/>
            </a:endParaRPr>
          </a:p>
        </p:txBody>
      </p:sp>
      <p:sp>
        <p:nvSpPr>
          <p:cNvPr id="356" name="Text 7"/>
          <p:cNvSpPr/>
          <p:nvPr/>
        </p:nvSpPr>
        <p:spPr>
          <a:xfrm>
            <a:off x="548640" y="2971800"/>
            <a:ext cx="23770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891B2"/>
                </a:solidFill>
                <a:effectLst/>
                <a:uFillTx/>
                <a:latin typeface="Courier New"/>
                <a:ea typeface="Courier New"/>
              </a:rPr>
              <a:t>Middleware</a:t>
            </a:r>
            <a:endParaRPr lang="en-IN" sz="1600" b="0" u="none" strike="noStrike">
              <a:solidFill>
                <a:srgbClr val="000000"/>
              </a:solidFill>
              <a:effectLst/>
              <a:uFillTx/>
              <a:latin typeface="Arial"/>
            </a:endParaRPr>
          </a:p>
        </p:txBody>
      </p:sp>
      <p:sp>
        <p:nvSpPr>
          <p:cNvPr id="357" name="Text 8"/>
          <p:cNvSpPr/>
          <p:nvPr/>
        </p:nvSpPr>
        <p:spPr>
          <a:xfrm>
            <a:off x="548640" y="3337560"/>
            <a:ext cx="23770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i="1" u="none" strike="noStrike">
                <a:solidFill>
                  <a:srgbClr val="64748B"/>
                </a:solidFill>
                <a:effectLst/>
                <a:uFillTx/>
                <a:latin typeface="Calibri"/>
                <a:ea typeface="Calibri"/>
              </a:rPr>
              <a:t>runs on every single request</a:t>
            </a:r>
            <a:endParaRPr lang="en-IN" sz="1250" b="0" u="none" strike="noStrike">
              <a:solidFill>
                <a:srgbClr val="000000"/>
              </a:solidFill>
              <a:effectLst/>
              <a:uFillTx/>
              <a:latin typeface="Arial"/>
            </a:endParaRPr>
          </a:p>
        </p:txBody>
      </p:sp>
      <p:sp>
        <p:nvSpPr>
          <p:cNvPr id="358" name="Shape 9"/>
          <p:cNvSpPr/>
          <p:nvPr/>
        </p:nvSpPr>
        <p:spPr>
          <a:xfrm>
            <a:off x="3017520" y="2971800"/>
            <a:ext cx="4663080" cy="1416960"/>
          </a:xfrm>
          <a:prstGeom prst="roundRect">
            <a:avLst>
              <a:gd name="adj" fmla="val 3871"/>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9" name="Text 10"/>
          <p:cNvSpPr/>
          <p:nvPr/>
        </p:nvSpPr>
        <p:spPr>
          <a:xfrm>
            <a:off x="3200400" y="3063240"/>
            <a:ext cx="4388760" cy="1234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50" b="0" u="none" strike="noStrike">
                <a:solidFill>
                  <a:srgbClr val="1E293B"/>
                </a:solidFill>
                <a:effectLst/>
                <a:uFillTx/>
                <a:latin typeface="Courier New"/>
                <a:ea typeface="Courier New"/>
              </a:rPr>
              <a:t>@app.middleware("http")</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async def timing(request, call_next):</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    ...</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    resp.headers["X-Process-Time"] = ...</a:t>
            </a:r>
            <a:endParaRPr lang="en-IN" sz="950" b="0" u="none" strike="noStrike">
              <a:solidFill>
                <a:srgbClr val="000000"/>
              </a:solidFill>
              <a:effectLst/>
              <a:uFillTx/>
              <a:latin typeface="Arial"/>
            </a:endParaRPr>
          </a:p>
        </p:txBody>
      </p:sp>
      <p:sp>
        <p:nvSpPr>
          <p:cNvPr id="360" name="Shape 11"/>
          <p:cNvSpPr/>
          <p:nvPr/>
        </p:nvSpPr>
        <p:spPr>
          <a:xfrm>
            <a:off x="7909560" y="2971800"/>
            <a:ext cx="3730320" cy="1416960"/>
          </a:xfrm>
          <a:prstGeom prst="roundRect">
            <a:avLst>
              <a:gd name="adj" fmla="val 6452"/>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61" name="Text 12"/>
          <p:cNvSpPr/>
          <p:nvPr/>
        </p:nvSpPr>
        <p:spPr>
          <a:xfrm>
            <a:off x="8138160" y="3063240"/>
            <a:ext cx="3291480" cy="1234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E293B"/>
                </a:solidFill>
                <a:effectLst/>
                <a:uFillTx/>
                <a:latin typeface="Calibri"/>
                <a:ea typeface="Calibri"/>
              </a:rPr>
              <a:t>Every response now carries a timing header — for endpoints you never edited. CORSMiddleware is the one your React app will need.</a:t>
            </a:r>
            <a:endParaRPr lang="en-IN" sz="1200" b="0" u="none" strike="noStrike">
              <a:solidFill>
                <a:srgbClr val="000000"/>
              </a:solidFill>
              <a:effectLst/>
              <a:uFillTx/>
              <a:latin typeface="Arial"/>
            </a:endParaRPr>
          </a:p>
        </p:txBody>
      </p:sp>
      <p:sp>
        <p:nvSpPr>
          <p:cNvPr id="362" name="Text 13"/>
          <p:cNvSpPr/>
          <p:nvPr/>
        </p:nvSpPr>
        <p:spPr>
          <a:xfrm>
            <a:off x="548640" y="4572000"/>
            <a:ext cx="23770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5803D"/>
                </a:solidFill>
                <a:effectLst/>
                <a:uFillTx/>
                <a:latin typeface="Courier New"/>
                <a:ea typeface="Courier New"/>
              </a:rPr>
              <a:t>BackgroundTasks</a:t>
            </a:r>
            <a:endParaRPr lang="en-IN" sz="1600" b="0" u="none" strike="noStrike">
              <a:solidFill>
                <a:srgbClr val="000000"/>
              </a:solidFill>
              <a:effectLst/>
              <a:uFillTx/>
              <a:latin typeface="Arial"/>
            </a:endParaRPr>
          </a:p>
        </p:txBody>
      </p:sp>
      <p:sp>
        <p:nvSpPr>
          <p:cNvPr id="363" name="Text 14"/>
          <p:cNvSpPr/>
          <p:nvPr/>
        </p:nvSpPr>
        <p:spPr>
          <a:xfrm>
            <a:off x="548640" y="4937760"/>
            <a:ext cx="23770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i="1" u="none" strike="noStrike">
                <a:solidFill>
                  <a:srgbClr val="64748B"/>
                </a:solidFill>
                <a:effectLst/>
                <a:uFillTx/>
                <a:latin typeface="Calibri"/>
                <a:ea typeface="Calibri"/>
              </a:rPr>
              <a:t>answer now, do the slow bit after</a:t>
            </a:r>
            <a:endParaRPr lang="en-IN" sz="1250" b="0" u="none" strike="noStrike">
              <a:solidFill>
                <a:srgbClr val="000000"/>
              </a:solidFill>
              <a:effectLst/>
              <a:uFillTx/>
              <a:latin typeface="Arial"/>
            </a:endParaRPr>
          </a:p>
        </p:txBody>
      </p:sp>
      <p:sp>
        <p:nvSpPr>
          <p:cNvPr id="364" name="Shape 15"/>
          <p:cNvSpPr/>
          <p:nvPr/>
        </p:nvSpPr>
        <p:spPr>
          <a:xfrm>
            <a:off x="3017520" y="4572000"/>
            <a:ext cx="4663080" cy="1416960"/>
          </a:xfrm>
          <a:prstGeom prst="roundRect">
            <a:avLst>
              <a:gd name="adj" fmla="val 3871"/>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65" name="Text 16"/>
          <p:cNvSpPr/>
          <p:nvPr/>
        </p:nvSpPr>
        <p:spPr>
          <a:xfrm>
            <a:off x="3200400" y="4663440"/>
            <a:ext cx="4388760" cy="1234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50" b="0" u="none" strike="noStrike">
                <a:solidFill>
                  <a:srgbClr val="1E293B"/>
                </a:solidFill>
                <a:effectLst/>
                <a:uFillTx/>
                <a:latin typeface="Courier New"/>
                <a:ea typeface="Courier New"/>
              </a:rPr>
              <a:t>@app.post("/signup")</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def signup(email, background_tasks):</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    background_tasks.add_task(send_email, email)</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    return {"message": "signed up"}</a:t>
            </a:r>
            <a:endParaRPr lang="en-IN" sz="950" b="0" u="none" strike="noStrike">
              <a:solidFill>
                <a:srgbClr val="000000"/>
              </a:solidFill>
              <a:effectLst/>
              <a:uFillTx/>
              <a:latin typeface="Arial"/>
            </a:endParaRPr>
          </a:p>
        </p:txBody>
      </p:sp>
      <p:sp>
        <p:nvSpPr>
          <p:cNvPr id="366" name="Shape 17"/>
          <p:cNvSpPr/>
          <p:nvPr/>
        </p:nvSpPr>
        <p:spPr>
          <a:xfrm>
            <a:off x="7909560" y="4572000"/>
            <a:ext cx="3730320" cy="1416960"/>
          </a:xfrm>
          <a:prstGeom prst="roundRect">
            <a:avLst>
              <a:gd name="adj" fmla="val 6452"/>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67" name="Text 18"/>
          <p:cNvSpPr/>
          <p:nvPr/>
        </p:nvSpPr>
        <p:spPr>
          <a:xfrm>
            <a:off x="8138160" y="4663440"/>
            <a:ext cx="3291480" cy="1234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E293B"/>
                </a:solidFill>
                <a:effectLst/>
                <a:uFillTx/>
                <a:latin typeface="Calibri"/>
                <a:ea typeface="Calibri"/>
              </a:rPr>
              <a:t>The response returns instantly; the email is sent two seconds later. The user was never waiting for it.</a:t>
            </a:r>
            <a:endParaRPr lang="en-IN" sz="1200" b="0" u="none" strike="noStrike">
              <a:solidFill>
                <a:srgbClr val="000000"/>
              </a:solidFill>
              <a:effectLst/>
              <a:uFillTx/>
              <a:latin typeface="Arial"/>
            </a:endParaRPr>
          </a:p>
        </p:txBody>
      </p:sp>
      <p:sp>
        <p:nvSpPr>
          <p:cNvPr id="368" name="Text 19"/>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369" name="Text 20"/>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371" name="Text 1"/>
          <p:cNvSpPr/>
          <p:nvPr/>
        </p:nvSpPr>
        <p:spPr>
          <a:xfrm>
            <a:off x="548640" y="1051560"/>
            <a:ext cx="11091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Your endpoint returns a dict containing a password field, but response_model=StudentOut has no password. What does the caller get?</a:t>
            </a:r>
            <a:endParaRPr lang="en-IN" sz="2500" b="0" u="none" strike="noStrike">
              <a:solidFill>
                <a:srgbClr val="000000"/>
              </a:solidFill>
              <a:effectLst/>
              <a:uFillTx/>
              <a:latin typeface="Arial"/>
            </a:endParaRPr>
          </a:p>
        </p:txBody>
      </p:sp>
      <p:sp>
        <p:nvSpPr>
          <p:cNvPr id="372" name="Shape 2"/>
          <p:cNvSpPr/>
          <p:nvPr/>
        </p:nvSpPr>
        <p:spPr>
          <a:xfrm>
            <a:off x="548640" y="26060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73" name="Text 3"/>
          <p:cNvSpPr/>
          <p:nvPr/>
        </p:nvSpPr>
        <p:spPr>
          <a:xfrm>
            <a:off x="548640" y="26060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374" name="Text 4"/>
          <p:cNvSpPr/>
          <p:nvPr/>
        </p:nvSpPr>
        <p:spPr>
          <a:xfrm>
            <a:off x="1325880" y="26060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password, response_model only affects /docs</a:t>
            </a:r>
            <a:endParaRPr lang="en-IN" sz="1700" b="0" u="none" strike="noStrike">
              <a:solidFill>
                <a:srgbClr val="000000"/>
              </a:solidFill>
              <a:effectLst/>
              <a:uFillTx/>
              <a:latin typeface="Arial"/>
            </a:endParaRPr>
          </a:p>
        </p:txBody>
      </p:sp>
      <p:sp>
        <p:nvSpPr>
          <p:cNvPr id="375" name="Shape 5"/>
          <p:cNvSpPr/>
          <p:nvPr/>
        </p:nvSpPr>
        <p:spPr>
          <a:xfrm>
            <a:off x="548640" y="34747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76" name="Text 6"/>
          <p:cNvSpPr/>
          <p:nvPr/>
        </p:nvSpPr>
        <p:spPr>
          <a:xfrm>
            <a:off x="548640" y="34747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377" name="Text 7"/>
          <p:cNvSpPr/>
          <p:nvPr/>
        </p:nvSpPr>
        <p:spPr>
          <a:xfrm>
            <a:off x="1325880" y="34747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An error, because the shapes do not match</a:t>
            </a:r>
            <a:endParaRPr lang="en-IN" sz="1700" b="0" u="none" strike="noStrike">
              <a:solidFill>
                <a:srgbClr val="000000"/>
              </a:solidFill>
              <a:effectLst/>
              <a:uFillTx/>
              <a:latin typeface="Arial"/>
            </a:endParaRPr>
          </a:p>
        </p:txBody>
      </p:sp>
      <p:sp>
        <p:nvSpPr>
          <p:cNvPr id="378" name="Shape 8"/>
          <p:cNvSpPr/>
          <p:nvPr/>
        </p:nvSpPr>
        <p:spPr>
          <a:xfrm>
            <a:off x="548640" y="434340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79" name="Text 9"/>
          <p:cNvSpPr/>
          <p:nvPr/>
        </p:nvSpPr>
        <p:spPr>
          <a:xfrm>
            <a:off x="548640" y="43434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380" name="Text 10"/>
          <p:cNvSpPr/>
          <p:nvPr/>
        </p:nvSpPr>
        <p:spPr>
          <a:xfrm>
            <a:off x="1325880" y="434340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response without the password</a:t>
            </a:r>
            <a:endParaRPr lang="en-IN" sz="1700" b="0" u="none" strike="noStrike">
              <a:solidFill>
                <a:srgbClr val="000000"/>
              </a:solidFill>
              <a:effectLst/>
              <a:uFillTx/>
              <a:latin typeface="Arial"/>
            </a:endParaRPr>
          </a:p>
        </p:txBody>
      </p:sp>
      <p:sp>
        <p:nvSpPr>
          <p:cNvPr id="381" name="Shape 11"/>
          <p:cNvSpPr/>
          <p:nvPr/>
        </p:nvSpPr>
        <p:spPr>
          <a:xfrm>
            <a:off x="548640" y="52120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82" name="Text 12"/>
          <p:cNvSpPr/>
          <p:nvPr/>
        </p:nvSpPr>
        <p:spPr>
          <a:xfrm>
            <a:off x="548640" y="52120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383" name="Text 13"/>
          <p:cNvSpPr/>
          <p:nvPr/>
        </p:nvSpPr>
        <p:spPr>
          <a:xfrm>
            <a:off x="1325880" y="52120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An empty response</a:t>
            </a:r>
            <a:endParaRPr lang="en-IN" sz="1700" b="0" u="none" strike="noStrike">
              <a:solidFill>
                <a:srgbClr val="000000"/>
              </a:solidFill>
              <a:effectLst/>
              <a:uFillTx/>
              <a:latin typeface="Arial"/>
            </a:endParaRPr>
          </a:p>
        </p:txBody>
      </p:sp>
      <p:sp>
        <p:nvSpPr>
          <p:cNvPr id="384" name="Text 14"/>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385"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386"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04</a:t>
            </a:r>
            <a:endParaRPr lang="en-IN" sz="9600" b="0" u="none" strike="noStrike">
              <a:solidFill>
                <a:srgbClr val="000000"/>
              </a:solidFill>
              <a:effectLst/>
              <a:uFillTx/>
              <a:latin typeface="Arial"/>
            </a:endParaRPr>
          </a:p>
        </p:txBody>
      </p:sp>
      <p:sp>
        <p:nvSpPr>
          <p:cNvPr id="387"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Pydantic — data that checks itself</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It converts what it safely can. It refuses the rest.</a:t>
            </a:r>
            <a:endParaRPr lang="en-IN" sz="3000" b="0" u="none" strike="noStrike">
              <a:solidFill>
                <a:srgbClr val="000000"/>
              </a:solidFill>
              <a:effectLst/>
              <a:uFillTx/>
              <a:latin typeface="Arial"/>
            </a:endParaRPr>
          </a:p>
        </p:txBody>
      </p:sp>
      <p:sp>
        <p:nvSpPr>
          <p:cNvPr id="389" name="Shape 1"/>
          <p:cNvSpPr/>
          <p:nvPr/>
        </p:nvSpPr>
        <p:spPr>
          <a:xfrm>
            <a:off x="548640" y="1417320"/>
            <a:ext cx="5211720" cy="1645560"/>
          </a:xfrm>
          <a:prstGeom prst="roundRect">
            <a:avLst>
              <a:gd name="adj" fmla="val 3333"/>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0" name="Text 2"/>
          <p:cNvSpPr/>
          <p:nvPr/>
        </p:nvSpPr>
        <p:spPr>
          <a:xfrm>
            <a:off x="804600" y="1600200"/>
            <a:ext cx="4699800" cy="12798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class Student(BaseModel):</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name: str</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age: int</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branch: str = "CSE"</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email: str | None = None</a:t>
            </a:r>
            <a:endParaRPr lang="en-IN" sz="1300" b="0" u="none" strike="noStrike">
              <a:solidFill>
                <a:srgbClr val="000000"/>
              </a:solidFill>
              <a:effectLst/>
              <a:uFillTx/>
              <a:latin typeface="Arial"/>
            </a:endParaRPr>
          </a:p>
        </p:txBody>
      </p:sp>
      <p:sp>
        <p:nvSpPr>
          <p:cNvPr id="391" name="Shape 3"/>
          <p:cNvSpPr/>
          <p:nvPr/>
        </p:nvSpPr>
        <p:spPr>
          <a:xfrm>
            <a:off x="6035040" y="1417320"/>
            <a:ext cx="5604840" cy="776880"/>
          </a:xfrm>
          <a:prstGeom prst="roundRect">
            <a:avLst>
              <a:gd name="adj" fmla="val 11765"/>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2" name="Text 4"/>
          <p:cNvSpPr/>
          <p:nvPr/>
        </p:nvSpPr>
        <p:spPr>
          <a:xfrm>
            <a:off x="6263640" y="1463040"/>
            <a:ext cx="52117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93B"/>
                </a:solidFill>
                <a:effectLst/>
                <a:uFillTx/>
                <a:latin typeface="Courier New"/>
                <a:ea typeface="Courier New"/>
              </a:rPr>
              <a:t>Student(name="Raj", age="21")</a:t>
            </a:r>
            <a:endParaRPr lang="en-IN" sz="1150" b="0" u="none" strike="noStrike">
              <a:solidFill>
                <a:srgbClr val="000000"/>
              </a:solidFill>
              <a:effectLst/>
              <a:uFillTx/>
              <a:latin typeface="Arial"/>
            </a:endParaRPr>
          </a:p>
        </p:txBody>
      </p:sp>
      <p:sp>
        <p:nvSpPr>
          <p:cNvPr id="393" name="Text 5"/>
          <p:cNvSpPr/>
          <p:nvPr/>
        </p:nvSpPr>
        <p:spPr>
          <a:xfrm>
            <a:off x="6263640" y="1801440"/>
            <a:ext cx="52117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5803D"/>
                </a:solidFill>
                <a:effectLst/>
                <a:uFillTx/>
                <a:latin typeface="Calibri"/>
                <a:ea typeface="Calibri"/>
              </a:rPr>
              <a:t>age is 21, an int   </a:t>
            </a:r>
            <a:r>
              <a:rPr lang="en-US" sz="1250" b="0" u="none" strike="noStrike">
                <a:solidFill>
                  <a:srgbClr val="64748B"/>
                </a:solidFill>
                <a:effectLst/>
                <a:uFillTx/>
                <a:latin typeface="Calibri"/>
                <a:ea typeface="Calibri"/>
              </a:rPr>
              <a:t>converted safely</a:t>
            </a:r>
            <a:endParaRPr lang="en-IN" sz="1250" b="0" u="none" strike="noStrike">
              <a:solidFill>
                <a:srgbClr val="000000"/>
              </a:solidFill>
              <a:effectLst/>
              <a:uFillTx/>
              <a:latin typeface="Arial"/>
            </a:endParaRPr>
          </a:p>
        </p:txBody>
      </p:sp>
      <p:sp>
        <p:nvSpPr>
          <p:cNvPr id="394" name="Shape 6"/>
          <p:cNvSpPr/>
          <p:nvPr/>
        </p:nvSpPr>
        <p:spPr>
          <a:xfrm>
            <a:off x="6035040" y="2286000"/>
            <a:ext cx="5604840" cy="776880"/>
          </a:xfrm>
          <a:prstGeom prst="roundRect">
            <a:avLst>
              <a:gd name="adj" fmla="val 11765"/>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5" name="Text 7"/>
          <p:cNvSpPr/>
          <p:nvPr/>
        </p:nvSpPr>
        <p:spPr>
          <a:xfrm>
            <a:off x="6263640" y="2331720"/>
            <a:ext cx="52117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93B"/>
                </a:solidFill>
                <a:effectLst/>
                <a:uFillTx/>
                <a:latin typeface="Courier New"/>
                <a:ea typeface="Courier New"/>
              </a:rPr>
              <a:t>Student(name="M", age="hello")</a:t>
            </a:r>
            <a:endParaRPr lang="en-IN" sz="1150" b="0" u="none" strike="noStrike">
              <a:solidFill>
                <a:srgbClr val="000000"/>
              </a:solidFill>
              <a:effectLst/>
              <a:uFillTx/>
              <a:latin typeface="Arial"/>
            </a:endParaRPr>
          </a:p>
        </p:txBody>
      </p:sp>
      <p:sp>
        <p:nvSpPr>
          <p:cNvPr id="396" name="Text 8"/>
          <p:cNvSpPr/>
          <p:nvPr/>
        </p:nvSpPr>
        <p:spPr>
          <a:xfrm>
            <a:off x="6263640" y="2670120"/>
            <a:ext cx="52117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B91C1C"/>
                </a:solidFill>
                <a:effectLst/>
                <a:uFillTx/>
                <a:latin typeface="Calibri"/>
                <a:ea typeface="Calibri"/>
              </a:rPr>
              <a:t>ValidationError   </a:t>
            </a:r>
            <a:r>
              <a:rPr lang="en-US" sz="1250" b="0" u="none" strike="noStrike">
                <a:solidFill>
                  <a:srgbClr val="64748B"/>
                </a:solidFill>
                <a:effectLst/>
                <a:uFillTx/>
                <a:latin typeface="Calibri"/>
                <a:ea typeface="Calibri"/>
              </a:rPr>
              <a:t>cannot convert</a:t>
            </a:r>
            <a:endParaRPr lang="en-IN" sz="1250" b="0" u="none" strike="noStrike">
              <a:solidFill>
                <a:srgbClr val="000000"/>
              </a:solidFill>
              <a:effectLst/>
              <a:uFillTx/>
              <a:latin typeface="Arial"/>
            </a:endParaRPr>
          </a:p>
        </p:txBody>
      </p:sp>
      <p:sp>
        <p:nvSpPr>
          <p:cNvPr id="397" name="Text 9"/>
          <p:cNvSpPr/>
          <p:nvPr/>
        </p:nvSpPr>
        <p:spPr>
          <a:xfrm>
            <a:off x="548640" y="329184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The error is data, not a sentence:</a:t>
            </a:r>
            <a:endParaRPr lang="en-IN" sz="1500" b="0" u="none" strike="noStrike">
              <a:solidFill>
                <a:srgbClr val="000000"/>
              </a:solidFill>
              <a:effectLst/>
              <a:uFillTx/>
              <a:latin typeface="Arial"/>
            </a:endParaRPr>
          </a:p>
        </p:txBody>
      </p:sp>
      <p:sp>
        <p:nvSpPr>
          <p:cNvPr id="398" name="Shape 10"/>
          <p:cNvSpPr/>
          <p:nvPr/>
        </p:nvSpPr>
        <p:spPr>
          <a:xfrm>
            <a:off x="548640" y="3703320"/>
            <a:ext cx="11091240" cy="1234080"/>
          </a:xfrm>
          <a:prstGeom prst="roundRect">
            <a:avLst>
              <a:gd name="adj" fmla="val 4444"/>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9" name="Text 11"/>
          <p:cNvSpPr/>
          <p:nvPr/>
        </p:nvSpPr>
        <p:spPr>
          <a:xfrm>
            <a:off x="804600" y="3886200"/>
            <a:ext cx="10579320" cy="8683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for problem in error.errors():</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print(problem["loc"], "-&gt;", problem["msg"])</a:t>
            </a:r>
            <a:endParaRPr lang="en-IN" sz="1200" b="0" u="none" strike="noStrike">
              <a:solidFill>
                <a:srgbClr val="000000"/>
              </a:solidFill>
              <a:effectLst/>
              <a:uFillTx/>
              <a:latin typeface="Arial"/>
            </a:endParaRPr>
          </a:p>
          <a:p>
            <a:pPr defTabSz="914400">
              <a:lnSpc>
                <a:spcPct val="115000"/>
              </a:lnSpc>
              <a:tabLst>
                <a:tab pos="0" algn="l"/>
              </a:tabLst>
            </a:pP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('name',) -&gt; Field required</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('age',)  -&gt; Input should be a valid integer, unable to parse string as an integer</a:t>
            </a:r>
            <a:endParaRPr lang="en-IN" sz="1200" b="0" u="none" strike="noStrike">
              <a:solidFill>
                <a:srgbClr val="000000"/>
              </a:solidFill>
              <a:effectLst/>
              <a:uFillTx/>
              <a:latin typeface="Arial"/>
            </a:endParaRPr>
          </a:p>
        </p:txBody>
      </p:sp>
      <p:sp>
        <p:nvSpPr>
          <p:cNvPr id="400" name="Shape 12"/>
          <p:cNvSpPr/>
          <p:nvPr/>
        </p:nvSpPr>
        <p:spPr>
          <a:xfrm>
            <a:off x="548640" y="5120640"/>
            <a:ext cx="11091240" cy="776880"/>
          </a:xfrm>
          <a:prstGeom prst="roundRect">
            <a:avLst>
              <a:gd name="adj" fmla="val 1176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01" name="Text 13"/>
          <p:cNvSpPr/>
          <p:nvPr/>
        </p:nvSpPr>
        <p:spPr>
          <a:xfrm>
            <a:off x="868680" y="5120640"/>
            <a:ext cx="1042380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You have seen that shape before.  </a:t>
            </a:r>
            <a:r>
              <a:rPr lang="en-US" sz="1500" b="0" u="none" strike="noStrike">
                <a:solidFill>
                  <a:srgbClr val="1E293B"/>
                </a:solidFill>
                <a:effectLst/>
                <a:uFillTx/>
                <a:latin typeface="Calibri"/>
                <a:ea typeface="Calibri"/>
              </a:rPr>
              <a:t>It is exactly what your API sent back as a 422 forty minutes ago. Two things you thought were unrelated are the same thing.</a:t>
            </a:r>
            <a:endParaRPr lang="en-IN" sz="1500" b="0" u="none" strike="noStrike">
              <a:solidFill>
                <a:srgbClr val="000000"/>
              </a:solidFill>
              <a:effectLst/>
              <a:uFillTx/>
              <a:latin typeface="Arial"/>
            </a:endParaRPr>
          </a:p>
        </p:txBody>
      </p:sp>
      <p:sp>
        <p:nvSpPr>
          <p:cNvPr id="402" name="Text 14"/>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403"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31</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Rules you declare instead of code you write</a:t>
            </a:r>
            <a:endParaRPr lang="en-IN" sz="3000" b="0" u="none" strike="noStrike">
              <a:solidFill>
                <a:srgbClr val="000000"/>
              </a:solidFill>
              <a:effectLst/>
              <a:uFillTx/>
              <a:latin typeface="Arial"/>
            </a:endParaRPr>
          </a:p>
        </p:txBody>
      </p:sp>
      <p:sp>
        <p:nvSpPr>
          <p:cNvPr id="405" name="Shape 1"/>
          <p:cNvSpPr/>
          <p:nvPr/>
        </p:nvSpPr>
        <p:spPr>
          <a:xfrm>
            <a:off x="548640" y="1371600"/>
            <a:ext cx="6309000" cy="1919880"/>
          </a:xfrm>
          <a:prstGeom prst="roundRect">
            <a:avLst>
              <a:gd name="adj" fmla="val 2857"/>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06" name="Text 2"/>
          <p:cNvSpPr/>
          <p:nvPr/>
        </p:nvSpPr>
        <p:spPr>
          <a:xfrm>
            <a:off x="804600" y="1554480"/>
            <a:ext cx="5797080" cy="1554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class Student(BaseModel):</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name: str  = Field(min_length=2, max_length=50)</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age: int   = Field(ge=16, le=100)</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cgpa: float = Field(gt=0, lt=10)</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roll_no: str = Field(pattern=r"^\d{8}$")</a:t>
            </a:r>
            <a:endParaRPr lang="en-IN" sz="1200" b="0" u="none" strike="noStrike">
              <a:solidFill>
                <a:srgbClr val="000000"/>
              </a:solidFill>
              <a:effectLst/>
              <a:uFillTx/>
              <a:latin typeface="Arial"/>
            </a:endParaRPr>
          </a:p>
        </p:txBody>
      </p:sp>
      <p:graphicFrame>
        <p:nvGraphicFramePr>
          <p:cNvPr id="407" name="Table 0"/>
          <p:cNvGraphicFramePr/>
          <p:nvPr/>
        </p:nvGraphicFramePr>
        <p:xfrm>
          <a:off x="7132320" y="1371600"/>
          <a:ext cx="4507560" cy="1919880"/>
        </p:xfrm>
        <a:graphic>
          <a:graphicData uri="http://schemas.openxmlformats.org/drawingml/2006/table">
            <a:tbl>
              <a:tblPr/>
              <a:tblGrid>
                <a:gridCol w="1463040"/>
                <a:gridCol w="3044880"/>
              </a:tblGrid>
              <a:tr h="383760">
                <a:tc>
                  <a:txBody>
                    <a:bodyPr lIns="75960" tIns="25200" rIns="75960" bIns="25200" anchor="ctr">
                      <a:noAutofit/>
                    </a:bodyPr>
                    <a:p>
                      <a:endParaRPr lang="en-US" sz="1300" b="0" u="none" strike="noStrike">
                        <a:solidFill>
                          <a:schemeClr val="dk1"/>
                        </a:solidFill>
                        <a:effectLst/>
                        <a:uFillTx/>
                        <a:latin typeface="Calibri"/>
                      </a:endParaRPr>
                    </a:p>
                  </a:txBody>
                  <a:tcPr anchor="ctr" marL="75960" marR="75960" marT="25200" marB="252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75960" tIns="25200" rIns="75960" bIns="252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Means</a:t>
                      </a:r>
                      <a:endParaRPr lang="en-IN" sz="1300" b="0" u="none" strike="noStrike">
                        <a:solidFill>
                          <a:srgbClr val="FFFFFF"/>
                        </a:solidFill>
                        <a:effectLst/>
                        <a:uFillTx/>
                        <a:latin typeface="Arial"/>
                      </a:endParaRPr>
                    </a:p>
                  </a:txBody>
                  <a:tcPr anchor="ctr" marL="75960" marR="75960" marT="25200" marB="252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383760">
                <a:tc>
                  <a:txBody>
                    <a:bodyPr lIns="75960" tIns="25200" rIns="75960" bIns="252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gt  lt</a:t>
                      </a:r>
                      <a:endParaRPr lang="en-IN" sz="1250" b="0" u="none" strike="noStrike">
                        <a:solidFill>
                          <a:srgbClr val="000000"/>
                        </a:solidFill>
                        <a:effectLst/>
                        <a:uFillTx/>
                        <a:latin typeface="Arial"/>
                      </a:endParaRPr>
                    </a:p>
                  </a:txBody>
                  <a:tcPr anchor="ctr" marL="75960" marR="75960" marT="25200" marB="252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75960" tIns="25200" rIns="75960" bIns="252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greater / less than (strictly)</a:t>
                      </a:r>
                      <a:endParaRPr lang="en-IN" sz="1250" b="0" u="none" strike="noStrike">
                        <a:solidFill>
                          <a:srgbClr val="000000"/>
                        </a:solidFill>
                        <a:effectLst/>
                        <a:uFillTx/>
                        <a:latin typeface="Arial"/>
                      </a:endParaRPr>
                    </a:p>
                  </a:txBody>
                  <a:tcPr anchor="ctr" marL="75960" marR="75960" marT="25200" marB="252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383760">
                <a:tc>
                  <a:txBody>
                    <a:bodyPr lIns="75960" tIns="25200" rIns="75960" bIns="252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ge  le</a:t>
                      </a:r>
                      <a:endParaRPr lang="en-IN" sz="1250" b="0" u="none" strike="noStrike">
                        <a:solidFill>
                          <a:srgbClr val="000000"/>
                        </a:solidFill>
                        <a:effectLst/>
                        <a:uFillTx/>
                        <a:latin typeface="Arial"/>
                      </a:endParaRPr>
                    </a:p>
                  </a:txBody>
                  <a:tcPr anchor="ctr" marL="75960" marR="75960" marT="25200" marB="252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75960" tIns="25200" rIns="75960" bIns="252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greater / less than or equal</a:t>
                      </a:r>
                      <a:endParaRPr lang="en-IN" sz="1250" b="0" u="none" strike="noStrike">
                        <a:solidFill>
                          <a:srgbClr val="000000"/>
                        </a:solidFill>
                        <a:effectLst/>
                        <a:uFillTx/>
                        <a:latin typeface="Arial"/>
                      </a:endParaRPr>
                    </a:p>
                  </a:txBody>
                  <a:tcPr anchor="ctr" marL="75960" marR="75960" marT="25200" marB="252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383760">
                <a:tc>
                  <a:txBody>
                    <a:bodyPr lIns="75960" tIns="25200" rIns="75960" bIns="252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min_length</a:t>
                      </a:r>
                      <a:endParaRPr lang="en-IN" sz="1250" b="0" u="none" strike="noStrike">
                        <a:solidFill>
                          <a:srgbClr val="000000"/>
                        </a:solidFill>
                        <a:effectLst/>
                        <a:uFillTx/>
                        <a:latin typeface="Arial"/>
                      </a:endParaRPr>
                    </a:p>
                  </a:txBody>
                  <a:tcPr anchor="ctr" marL="75960" marR="75960" marT="25200" marB="252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75960" tIns="25200" rIns="75960" bIns="252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strings and lists</a:t>
                      </a:r>
                      <a:endParaRPr lang="en-IN" sz="1250" b="0" u="none" strike="noStrike">
                        <a:solidFill>
                          <a:srgbClr val="000000"/>
                        </a:solidFill>
                        <a:effectLst/>
                        <a:uFillTx/>
                        <a:latin typeface="Arial"/>
                      </a:endParaRPr>
                    </a:p>
                  </a:txBody>
                  <a:tcPr anchor="ctr" marL="75960" marR="75960" marT="25200" marB="252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383760">
                <a:tc>
                  <a:txBody>
                    <a:bodyPr lIns="75960" tIns="25200" rIns="75960" bIns="252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pattern</a:t>
                      </a:r>
                      <a:endParaRPr lang="en-IN" sz="1250" b="0" u="none" strike="noStrike">
                        <a:solidFill>
                          <a:srgbClr val="000000"/>
                        </a:solidFill>
                        <a:effectLst/>
                        <a:uFillTx/>
                        <a:latin typeface="Arial"/>
                      </a:endParaRPr>
                    </a:p>
                  </a:txBody>
                  <a:tcPr anchor="ctr" marL="75960" marR="75960" marT="25200" marB="252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75960" tIns="25200" rIns="75960" bIns="252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 regex it must match</a:t>
                      </a:r>
                      <a:endParaRPr lang="en-IN" sz="1250" b="0" u="none" strike="noStrike">
                        <a:solidFill>
                          <a:srgbClr val="000000"/>
                        </a:solidFill>
                        <a:effectLst/>
                        <a:uFillTx/>
                        <a:latin typeface="Arial"/>
                      </a:endParaRPr>
                    </a:p>
                  </a:txBody>
                  <a:tcPr anchor="ctr" marL="75960" marR="75960" marT="25200" marB="252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408" name="Shape 3"/>
          <p:cNvSpPr/>
          <p:nvPr/>
        </p:nvSpPr>
        <p:spPr>
          <a:xfrm>
            <a:off x="548640" y="3520440"/>
            <a:ext cx="11091240" cy="1371240"/>
          </a:xfrm>
          <a:prstGeom prst="roundRect">
            <a:avLst>
              <a:gd name="adj" fmla="val 4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09" name="Text 4"/>
          <p:cNvSpPr/>
          <p:nvPr/>
        </p:nvSpPr>
        <p:spPr>
          <a:xfrm>
            <a:off x="804600" y="3703320"/>
            <a:ext cx="10579320" cy="10054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name    -&gt; String should have at least 2 characters</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age     -&gt; Input should be greater than or equal to 16</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cgpa    -&gt; Input should be less than 10</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roll_no -&gt; String should match pattern '^\d{8}$'</a:t>
            </a:r>
            <a:endParaRPr lang="en-IN" sz="1300" b="0" u="none" strike="noStrike">
              <a:solidFill>
                <a:srgbClr val="000000"/>
              </a:solidFill>
              <a:effectLst/>
              <a:uFillTx/>
              <a:latin typeface="Arial"/>
            </a:endParaRPr>
          </a:p>
        </p:txBody>
      </p:sp>
      <p:sp>
        <p:nvSpPr>
          <p:cNvPr id="410" name="Shape 5"/>
          <p:cNvSpPr/>
          <p:nvPr/>
        </p:nvSpPr>
        <p:spPr>
          <a:xfrm>
            <a:off x="548640" y="5074920"/>
            <a:ext cx="11091240" cy="594000"/>
          </a:xfrm>
          <a:prstGeom prst="roundRect">
            <a:avLst>
              <a:gd name="adj" fmla="val 15385"/>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1" name="Text 6"/>
          <p:cNvSpPr/>
          <p:nvPr/>
        </p:nvSpPr>
        <p:spPr>
          <a:xfrm>
            <a:off x="868680" y="5074920"/>
            <a:ext cx="104238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They never wrote a single if.  </a:t>
            </a:r>
            <a:r>
              <a:rPr lang="en-US" sz="1500" b="0" u="none" strike="noStrike">
                <a:solidFill>
                  <a:srgbClr val="1E293B"/>
                </a:solidFill>
                <a:effectLst/>
                <a:uFillTx/>
                <a:latin typeface="Calibri"/>
                <a:ea typeface="Calibri"/>
              </a:rPr>
              <a:t>Every message above was generated — and every rule now appears in /docs.</a:t>
            </a:r>
            <a:endParaRPr lang="en-IN" sz="1500" b="0" u="none" strike="noStrike">
              <a:solidFill>
                <a:srgbClr val="000000"/>
              </a:solidFill>
              <a:effectLst/>
              <a:uFillTx/>
              <a:latin typeface="Arial"/>
            </a:endParaRPr>
          </a:p>
        </p:txBody>
      </p:sp>
      <p:sp>
        <p:nvSpPr>
          <p:cNvPr id="412" name="Text 7"/>
          <p:cNvSpPr/>
          <p:nvPr/>
        </p:nvSpPr>
        <p:spPr>
          <a:xfrm>
            <a:off x="548640" y="5806440"/>
            <a:ext cx="1109124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rgbClr val="64748B"/>
                </a:solidFill>
                <a:effectLst/>
                <a:uFillTx/>
                <a:latin typeface="Calibri"/>
                <a:ea typeface="Calibri"/>
              </a:rPr>
              <a:t>description= and examples= are not validation — they are there to make /docs readable.</a:t>
            </a:r>
            <a:endParaRPr lang="en-IN" sz="1400" b="0" u="none" strike="noStrike">
              <a:solidFill>
                <a:srgbClr val="000000"/>
              </a:solidFill>
              <a:effectLst/>
              <a:uFillTx/>
              <a:latin typeface="Arial"/>
            </a:endParaRPr>
          </a:p>
        </p:txBody>
      </p:sp>
      <p:sp>
        <p:nvSpPr>
          <p:cNvPr id="413" name="Text 8"/>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414" name="Text 9"/>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When Field() cannot say it, write it</a:t>
            </a:r>
            <a:endParaRPr lang="en-IN" sz="3000" b="0" u="none" strike="noStrike">
              <a:solidFill>
                <a:srgbClr val="000000"/>
              </a:solidFill>
              <a:effectLst/>
              <a:uFillTx/>
              <a:latin typeface="Arial"/>
            </a:endParaRPr>
          </a:p>
        </p:txBody>
      </p:sp>
      <p:sp>
        <p:nvSpPr>
          <p:cNvPr id="416" name="Shape 1"/>
          <p:cNvSpPr/>
          <p:nvPr/>
        </p:nvSpPr>
        <p:spPr>
          <a:xfrm>
            <a:off x="548640" y="1371600"/>
            <a:ext cx="5394600" cy="2239920"/>
          </a:xfrm>
          <a:prstGeom prst="roundRect">
            <a:avLst>
              <a:gd name="adj" fmla="val 4082"/>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7" name="Text 2"/>
          <p:cNvSpPr/>
          <p:nvPr/>
        </p:nvSpPr>
        <p:spPr>
          <a:xfrm>
            <a:off x="822960" y="150876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ourier New"/>
                <a:ea typeface="Courier New"/>
              </a:rPr>
              <a:t>@field_validator</a:t>
            </a:r>
            <a:endParaRPr lang="en-IN" sz="1600" b="0" u="none" strike="noStrike">
              <a:solidFill>
                <a:srgbClr val="000000"/>
              </a:solidFill>
              <a:effectLst/>
              <a:uFillTx/>
              <a:latin typeface="Arial"/>
            </a:endParaRPr>
          </a:p>
        </p:txBody>
      </p:sp>
      <p:sp>
        <p:nvSpPr>
          <p:cNvPr id="418" name="Text 3"/>
          <p:cNvSpPr/>
          <p:nvPr/>
        </p:nvSpPr>
        <p:spPr>
          <a:xfrm>
            <a:off x="822960" y="187452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sees ONE field</a:t>
            </a:r>
            <a:endParaRPr lang="en-IN" sz="1400" b="0" u="none" strike="noStrike">
              <a:solidFill>
                <a:srgbClr val="000000"/>
              </a:solidFill>
              <a:effectLst/>
              <a:uFillTx/>
              <a:latin typeface="Arial"/>
            </a:endParaRPr>
          </a:p>
        </p:txBody>
      </p:sp>
      <p:sp>
        <p:nvSpPr>
          <p:cNvPr id="419" name="Shape 4"/>
          <p:cNvSpPr/>
          <p:nvPr/>
        </p:nvSpPr>
        <p:spPr>
          <a:xfrm>
            <a:off x="822960" y="2240280"/>
            <a:ext cx="4845960" cy="1188360"/>
          </a:xfrm>
          <a:prstGeom prst="roundRect">
            <a:avLst>
              <a:gd name="adj" fmla="val 4615"/>
            </a:avLst>
          </a:prstGeom>
          <a:solidFill>
            <a:srgbClr val="FFFF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20" name="Text 5"/>
          <p:cNvSpPr/>
          <p:nvPr/>
        </p:nvSpPr>
        <p:spPr>
          <a:xfrm>
            <a:off x="1005840" y="2304360"/>
            <a:ext cx="448020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1E293B"/>
                </a:solidFill>
                <a:effectLst/>
                <a:uFillTx/>
                <a:latin typeface="Courier New"/>
                <a:ea typeface="Courier New"/>
              </a:rPr>
              <a:t>@field_validator("username")</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@classmethod</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def lowercase(cls, value):</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    if not value.islower():</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        raise ValueError("must be lowercase")</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    return value</a:t>
            </a:r>
            <a:endParaRPr lang="en-IN" sz="950" b="0" u="none" strike="noStrike">
              <a:solidFill>
                <a:srgbClr val="000000"/>
              </a:solidFill>
              <a:effectLst/>
              <a:uFillTx/>
              <a:latin typeface="Arial"/>
            </a:endParaRPr>
          </a:p>
        </p:txBody>
      </p:sp>
      <p:sp>
        <p:nvSpPr>
          <p:cNvPr id="421" name="Shape 6"/>
          <p:cNvSpPr/>
          <p:nvPr/>
        </p:nvSpPr>
        <p:spPr>
          <a:xfrm>
            <a:off x="6245280" y="1371600"/>
            <a:ext cx="5394600" cy="2239920"/>
          </a:xfrm>
          <a:prstGeom prst="roundRect">
            <a:avLst>
              <a:gd name="adj" fmla="val 4082"/>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22" name="Text 7"/>
          <p:cNvSpPr/>
          <p:nvPr/>
        </p:nvSpPr>
        <p:spPr>
          <a:xfrm>
            <a:off x="6519600" y="150876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5803D"/>
                </a:solidFill>
                <a:effectLst/>
                <a:uFillTx/>
                <a:latin typeface="Courier New"/>
                <a:ea typeface="Courier New"/>
              </a:rPr>
              <a:t>@model_validator</a:t>
            </a:r>
            <a:endParaRPr lang="en-IN" sz="1600" b="0" u="none" strike="noStrike">
              <a:solidFill>
                <a:srgbClr val="000000"/>
              </a:solidFill>
              <a:effectLst/>
              <a:uFillTx/>
              <a:latin typeface="Arial"/>
            </a:endParaRPr>
          </a:p>
        </p:txBody>
      </p:sp>
      <p:sp>
        <p:nvSpPr>
          <p:cNvPr id="423" name="Text 8"/>
          <p:cNvSpPr/>
          <p:nvPr/>
        </p:nvSpPr>
        <p:spPr>
          <a:xfrm>
            <a:off x="6519600" y="187452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sees the WHOLE object</a:t>
            </a:r>
            <a:endParaRPr lang="en-IN" sz="1400" b="0" u="none" strike="noStrike">
              <a:solidFill>
                <a:srgbClr val="000000"/>
              </a:solidFill>
              <a:effectLst/>
              <a:uFillTx/>
              <a:latin typeface="Arial"/>
            </a:endParaRPr>
          </a:p>
        </p:txBody>
      </p:sp>
      <p:sp>
        <p:nvSpPr>
          <p:cNvPr id="424" name="Shape 9"/>
          <p:cNvSpPr/>
          <p:nvPr/>
        </p:nvSpPr>
        <p:spPr>
          <a:xfrm>
            <a:off x="6519600" y="2240280"/>
            <a:ext cx="4845960" cy="1188360"/>
          </a:xfrm>
          <a:prstGeom prst="roundRect">
            <a:avLst>
              <a:gd name="adj" fmla="val 4615"/>
            </a:avLst>
          </a:prstGeom>
          <a:solidFill>
            <a:srgbClr val="FFFFFF"/>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25" name="Text 10"/>
          <p:cNvSpPr/>
          <p:nvPr/>
        </p:nvSpPr>
        <p:spPr>
          <a:xfrm>
            <a:off x="6702480" y="2304360"/>
            <a:ext cx="448020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1E293B"/>
                </a:solidFill>
                <a:effectLst/>
                <a:uFillTx/>
                <a:latin typeface="Courier New"/>
                <a:ea typeface="Courier New"/>
              </a:rPr>
              <a:t>@model_validator(mode="after")</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def passwords_match(self):</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    if self.password != self.confirm:</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        raise ValueError("do not match")</a:t>
            </a:r>
            <a:endParaRPr lang="en-IN" sz="950" b="0" u="none" strike="noStrike">
              <a:solidFill>
                <a:srgbClr val="000000"/>
              </a:solidFill>
              <a:effectLst/>
              <a:uFillTx/>
              <a:latin typeface="Arial"/>
            </a:endParaRPr>
          </a:p>
          <a:p>
            <a:pPr defTabSz="914400">
              <a:lnSpc>
                <a:spcPct val="100000"/>
              </a:lnSpc>
              <a:tabLst>
                <a:tab pos="0" algn="l"/>
              </a:tabLst>
            </a:pPr>
            <a:r>
              <a:rPr lang="en-US" sz="950" b="0" u="none" strike="noStrike">
                <a:solidFill>
                  <a:srgbClr val="1E293B"/>
                </a:solidFill>
                <a:effectLst/>
                <a:uFillTx/>
                <a:latin typeface="Courier New"/>
                <a:ea typeface="Courier New"/>
              </a:rPr>
              <a:t>    return self</a:t>
            </a:r>
            <a:endParaRPr lang="en-IN" sz="950" b="0" u="none" strike="noStrike">
              <a:solidFill>
                <a:srgbClr val="000000"/>
              </a:solidFill>
              <a:effectLst/>
              <a:uFillTx/>
              <a:latin typeface="Arial"/>
            </a:endParaRPr>
          </a:p>
        </p:txBody>
      </p:sp>
      <p:sp>
        <p:nvSpPr>
          <p:cNvPr id="426" name="Shape 11"/>
          <p:cNvSpPr/>
          <p:nvPr/>
        </p:nvSpPr>
        <p:spPr>
          <a:xfrm>
            <a:off x="548640" y="3794760"/>
            <a:ext cx="11091240" cy="776880"/>
          </a:xfrm>
          <a:prstGeom prst="roundRect">
            <a:avLst>
              <a:gd name="adj" fmla="val 11765"/>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27" name="Text 12"/>
          <p:cNvSpPr/>
          <p:nvPr/>
        </p:nvSpPr>
        <p:spPr>
          <a:xfrm>
            <a:off x="868680" y="3794760"/>
            <a:ext cx="1042380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Why can't “passwords must match” be a field validator?  </a:t>
            </a:r>
            <a:r>
              <a:rPr lang="en-US" sz="1500" b="0" u="none" strike="noStrike">
                <a:solidFill>
                  <a:srgbClr val="1E293B"/>
                </a:solidFill>
                <a:effectLst/>
                <a:uFillTx/>
                <a:latin typeface="Calibri"/>
                <a:ea typeface="Calibri"/>
              </a:rPr>
              <a:t>Because a field validator only sees its own field. “Do these two agree?” is a question about the whole object.</a:t>
            </a:r>
            <a:endParaRPr lang="en-IN" sz="1500" b="0" u="none" strike="noStrike">
              <a:solidFill>
                <a:srgbClr val="000000"/>
              </a:solidFill>
              <a:effectLst/>
              <a:uFillTx/>
              <a:latin typeface="Arial"/>
            </a:endParaRPr>
          </a:p>
        </p:txBody>
      </p:sp>
      <p:sp>
        <p:nvSpPr>
          <p:cNvPr id="428" name="Shape 13"/>
          <p:cNvSpPr/>
          <p:nvPr/>
        </p:nvSpPr>
        <p:spPr>
          <a:xfrm>
            <a:off x="548640" y="4754880"/>
            <a:ext cx="11091240" cy="1051200"/>
          </a:xfrm>
          <a:prstGeom prst="roundRect">
            <a:avLst>
              <a:gd name="adj" fmla="val 5217"/>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29" name="Text 14"/>
          <p:cNvSpPr/>
          <p:nvPr/>
        </p:nvSpPr>
        <p:spPr>
          <a:xfrm>
            <a:off x="804600" y="4937760"/>
            <a:ext cx="10579320" cy="6854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('username',) -&gt; Value error, username must be lowercase</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-&gt; Value error, passwords do not match          &lt;- empty loc: it belongs to no single field</a:t>
            </a:r>
            <a:endParaRPr lang="en-IN" sz="1200" b="0" u="none" strike="noStrike">
              <a:solidFill>
                <a:srgbClr val="000000"/>
              </a:solidFill>
              <a:effectLst/>
              <a:uFillTx/>
              <a:latin typeface="Arial"/>
            </a:endParaRPr>
          </a:p>
        </p:txBody>
      </p:sp>
      <p:sp>
        <p:nvSpPr>
          <p:cNvPr id="430" name="Text 15"/>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431" name="Text 16"/>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433" name="Text 1"/>
          <p:cNvSpPr/>
          <p:nvPr/>
        </p:nvSpPr>
        <p:spPr>
          <a:xfrm>
            <a:off x="548640" y="1051560"/>
            <a:ext cx="11091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Which validator can check that price x quantity stays under a limit?</a:t>
            </a:r>
            <a:endParaRPr lang="en-IN" sz="2500" b="0" u="none" strike="noStrike">
              <a:solidFill>
                <a:srgbClr val="000000"/>
              </a:solidFill>
              <a:effectLst/>
              <a:uFillTx/>
              <a:latin typeface="Arial"/>
            </a:endParaRPr>
          </a:p>
        </p:txBody>
      </p:sp>
      <p:sp>
        <p:nvSpPr>
          <p:cNvPr id="434" name="Shape 2"/>
          <p:cNvSpPr/>
          <p:nvPr/>
        </p:nvSpPr>
        <p:spPr>
          <a:xfrm>
            <a:off x="548640" y="26060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35" name="Text 3"/>
          <p:cNvSpPr/>
          <p:nvPr/>
        </p:nvSpPr>
        <p:spPr>
          <a:xfrm>
            <a:off x="548640" y="26060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436" name="Text 4"/>
          <p:cNvSpPr/>
          <p:nvPr/>
        </p:nvSpPr>
        <p:spPr>
          <a:xfrm>
            <a:off x="1325880" y="26060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@field_validator("price")</a:t>
            </a:r>
            <a:endParaRPr lang="en-IN" sz="1700" b="0" u="none" strike="noStrike">
              <a:solidFill>
                <a:srgbClr val="000000"/>
              </a:solidFill>
              <a:effectLst/>
              <a:uFillTx/>
              <a:latin typeface="Arial"/>
            </a:endParaRPr>
          </a:p>
        </p:txBody>
      </p:sp>
      <p:sp>
        <p:nvSpPr>
          <p:cNvPr id="437" name="Shape 5"/>
          <p:cNvSpPr/>
          <p:nvPr/>
        </p:nvSpPr>
        <p:spPr>
          <a:xfrm>
            <a:off x="548640" y="34747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38" name="Text 6"/>
          <p:cNvSpPr/>
          <p:nvPr/>
        </p:nvSpPr>
        <p:spPr>
          <a:xfrm>
            <a:off x="548640" y="34747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439" name="Text 7"/>
          <p:cNvSpPr/>
          <p:nvPr/>
        </p:nvSpPr>
        <p:spPr>
          <a:xfrm>
            <a:off x="1325880" y="34747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@field_validator("quantity")</a:t>
            </a:r>
            <a:endParaRPr lang="en-IN" sz="1700" b="0" u="none" strike="noStrike">
              <a:solidFill>
                <a:srgbClr val="000000"/>
              </a:solidFill>
              <a:effectLst/>
              <a:uFillTx/>
              <a:latin typeface="Arial"/>
            </a:endParaRPr>
          </a:p>
        </p:txBody>
      </p:sp>
      <p:sp>
        <p:nvSpPr>
          <p:cNvPr id="440" name="Shape 8"/>
          <p:cNvSpPr/>
          <p:nvPr/>
        </p:nvSpPr>
        <p:spPr>
          <a:xfrm>
            <a:off x="548640" y="434340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41" name="Text 9"/>
          <p:cNvSpPr/>
          <p:nvPr/>
        </p:nvSpPr>
        <p:spPr>
          <a:xfrm>
            <a:off x="548640" y="43434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442" name="Text 10"/>
          <p:cNvSpPr/>
          <p:nvPr/>
        </p:nvSpPr>
        <p:spPr>
          <a:xfrm>
            <a:off x="1325880" y="434340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@model_validator</a:t>
            </a:r>
            <a:endParaRPr lang="en-IN" sz="1700" b="0" u="none" strike="noStrike">
              <a:solidFill>
                <a:srgbClr val="000000"/>
              </a:solidFill>
              <a:effectLst/>
              <a:uFillTx/>
              <a:latin typeface="Arial"/>
            </a:endParaRPr>
          </a:p>
        </p:txBody>
      </p:sp>
      <p:sp>
        <p:nvSpPr>
          <p:cNvPr id="443" name="Shape 11"/>
          <p:cNvSpPr/>
          <p:nvPr/>
        </p:nvSpPr>
        <p:spPr>
          <a:xfrm>
            <a:off x="548640" y="52120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44" name="Text 12"/>
          <p:cNvSpPr/>
          <p:nvPr/>
        </p:nvSpPr>
        <p:spPr>
          <a:xfrm>
            <a:off x="548640" y="52120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445" name="Text 13"/>
          <p:cNvSpPr/>
          <p:nvPr/>
        </p:nvSpPr>
        <p:spPr>
          <a:xfrm>
            <a:off x="1325880" y="52120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Field(le=...)</a:t>
            </a:r>
            <a:endParaRPr lang="en-IN" sz="1700" b="0" u="none" strike="noStrike">
              <a:solidFill>
                <a:srgbClr val="000000"/>
              </a:solidFill>
              <a:effectLst/>
              <a:uFillTx/>
              <a:latin typeface="Arial"/>
            </a:endParaRPr>
          </a:p>
        </p:txBody>
      </p:sp>
      <p:sp>
        <p:nvSpPr>
          <p:cNvPr id="446" name="Text 14"/>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447"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34</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What you can do now that you could not this morning</a:t>
            </a:r>
            <a:endParaRPr lang="en-IN" sz="3000" b="0" u="none" strike="noStrike">
              <a:solidFill>
                <a:srgbClr val="000000"/>
              </a:solidFill>
              <a:effectLst/>
              <a:uFillTx/>
              <a:latin typeface="Arial"/>
            </a:endParaRPr>
          </a:p>
        </p:txBody>
      </p:sp>
      <p:sp>
        <p:nvSpPr>
          <p:cNvPr id="449" name="Shape 1"/>
          <p:cNvSpPr/>
          <p:nvPr/>
        </p:nvSpPr>
        <p:spPr>
          <a:xfrm>
            <a:off x="548640" y="1463040"/>
            <a:ext cx="594000" cy="59400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50" name="Text 2"/>
          <p:cNvSpPr/>
          <p:nvPr/>
        </p:nvSpPr>
        <p:spPr>
          <a:xfrm>
            <a:off x="548640" y="1463040"/>
            <a:ext cx="594000" cy="594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1</a:t>
            </a:r>
            <a:endParaRPr lang="en-IN" sz="1500" b="0" u="none" strike="noStrike">
              <a:solidFill>
                <a:srgbClr val="000000"/>
              </a:solidFill>
              <a:effectLst/>
              <a:uFillTx/>
              <a:latin typeface="Arial"/>
            </a:endParaRPr>
          </a:p>
        </p:txBody>
      </p:sp>
      <p:sp>
        <p:nvSpPr>
          <p:cNvPr id="451" name="Text 3"/>
          <p:cNvSpPr/>
          <p:nvPr/>
        </p:nvSpPr>
        <p:spPr>
          <a:xfrm>
            <a:off x="1417320" y="1463040"/>
            <a:ext cx="30171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6366F1"/>
                </a:solidFill>
                <a:effectLst/>
                <a:uFillTx/>
                <a:latin typeface="Calibri"/>
                <a:ea typeface="Calibri"/>
              </a:rPr>
              <a:t>Model a thing</a:t>
            </a:r>
            <a:endParaRPr lang="en-IN" sz="1700" b="0" u="none" strike="noStrike">
              <a:solidFill>
                <a:srgbClr val="000000"/>
              </a:solidFill>
              <a:effectLst/>
              <a:uFillTx/>
              <a:latin typeface="Arial"/>
            </a:endParaRPr>
          </a:p>
        </p:txBody>
      </p:sp>
      <p:sp>
        <p:nvSpPr>
          <p:cNvPr id="452" name="Text 4"/>
          <p:cNvSpPr/>
          <p:nvPr/>
        </p:nvSpPr>
        <p:spPr>
          <a:xfrm>
            <a:off x="4480560" y="1463040"/>
            <a:ext cx="75891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1E293B"/>
                </a:solidFill>
                <a:effectLst/>
                <a:uFillTx/>
                <a:latin typeface="Calibri"/>
                <a:ea typeface="Calibri"/>
              </a:rPr>
              <a:t>class, object, self, the four pillars, is-a vs has-a, @dataclass</a:t>
            </a:r>
            <a:endParaRPr lang="en-IN" sz="1450" b="0" u="none" strike="noStrike">
              <a:solidFill>
                <a:srgbClr val="000000"/>
              </a:solidFill>
              <a:effectLst/>
              <a:uFillTx/>
              <a:latin typeface="Arial"/>
            </a:endParaRPr>
          </a:p>
        </p:txBody>
      </p:sp>
      <p:sp>
        <p:nvSpPr>
          <p:cNvPr id="453" name="Shape 5"/>
          <p:cNvSpPr/>
          <p:nvPr/>
        </p:nvSpPr>
        <p:spPr>
          <a:xfrm>
            <a:off x="548640" y="2359080"/>
            <a:ext cx="594000" cy="59400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54" name="Text 6"/>
          <p:cNvSpPr/>
          <p:nvPr/>
        </p:nvSpPr>
        <p:spPr>
          <a:xfrm>
            <a:off x="548640" y="2359080"/>
            <a:ext cx="594000" cy="594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2</a:t>
            </a:r>
            <a:endParaRPr lang="en-IN" sz="1500" b="0" u="none" strike="noStrike">
              <a:solidFill>
                <a:srgbClr val="000000"/>
              </a:solidFill>
              <a:effectLst/>
              <a:uFillTx/>
              <a:latin typeface="Arial"/>
            </a:endParaRPr>
          </a:p>
        </p:txBody>
      </p:sp>
      <p:sp>
        <p:nvSpPr>
          <p:cNvPr id="455" name="Text 7"/>
          <p:cNvSpPr/>
          <p:nvPr/>
        </p:nvSpPr>
        <p:spPr>
          <a:xfrm>
            <a:off x="1417320" y="2359080"/>
            <a:ext cx="30171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6366F1"/>
                </a:solidFill>
                <a:effectLst/>
                <a:uFillTx/>
                <a:latin typeface="Calibri"/>
                <a:ea typeface="Calibri"/>
              </a:rPr>
              <a:t>Set up a project</a:t>
            </a:r>
            <a:endParaRPr lang="en-IN" sz="1700" b="0" u="none" strike="noStrike">
              <a:solidFill>
                <a:srgbClr val="000000"/>
              </a:solidFill>
              <a:effectLst/>
              <a:uFillTx/>
              <a:latin typeface="Arial"/>
            </a:endParaRPr>
          </a:p>
        </p:txBody>
      </p:sp>
      <p:sp>
        <p:nvSpPr>
          <p:cNvPr id="456" name="Text 8"/>
          <p:cNvSpPr/>
          <p:nvPr/>
        </p:nvSpPr>
        <p:spPr>
          <a:xfrm>
            <a:off x="4480560" y="2359080"/>
            <a:ext cx="75891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1E293B"/>
                </a:solidFill>
                <a:effectLst/>
                <a:uFillTx/>
                <a:latin typeface="Calibri"/>
                <a:ea typeface="Calibri"/>
              </a:rPr>
              <a:t>pip vs venv vs uv, pyproject.toml, a lock file, where files go</a:t>
            </a:r>
            <a:endParaRPr lang="en-IN" sz="1450" b="0" u="none" strike="noStrike">
              <a:solidFill>
                <a:srgbClr val="000000"/>
              </a:solidFill>
              <a:effectLst/>
              <a:uFillTx/>
              <a:latin typeface="Arial"/>
            </a:endParaRPr>
          </a:p>
        </p:txBody>
      </p:sp>
      <p:sp>
        <p:nvSpPr>
          <p:cNvPr id="457" name="Shape 9"/>
          <p:cNvSpPr/>
          <p:nvPr/>
        </p:nvSpPr>
        <p:spPr>
          <a:xfrm>
            <a:off x="548640" y="3255120"/>
            <a:ext cx="594000" cy="594000"/>
          </a:xfrm>
          <a:prstGeom prst="roundRect">
            <a:avLst>
              <a:gd name="adj" fmla="val 50000"/>
            </a:avLst>
          </a:prstGeom>
          <a:solidFill>
            <a:srgbClr val="0891B2"/>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58" name="Text 10"/>
          <p:cNvSpPr/>
          <p:nvPr/>
        </p:nvSpPr>
        <p:spPr>
          <a:xfrm>
            <a:off x="548640" y="3255120"/>
            <a:ext cx="594000" cy="594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3</a:t>
            </a:r>
            <a:endParaRPr lang="en-IN" sz="1500" b="0" u="none" strike="noStrike">
              <a:solidFill>
                <a:srgbClr val="000000"/>
              </a:solidFill>
              <a:effectLst/>
              <a:uFillTx/>
              <a:latin typeface="Arial"/>
            </a:endParaRPr>
          </a:p>
        </p:txBody>
      </p:sp>
      <p:sp>
        <p:nvSpPr>
          <p:cNvPr id="459" name="Text 11"/>
          <p:cNvSpPr/>
          <p:nvPr/>
        </p:nvSpPr>
        <p:spPr>
          <a:xfrm>
            <a:off x="1417320" y="3255120"/>
            <a:ext cx="30171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0891B2"/>
                </a:solidFill>
                <a:effectLst/>
                <a:uFillTx/>
                <a:latin typeface="Calibri"/>
                <a:ea typeface="Calibri"/>
              </a:rPr>
              <a:t>Run a real API</a:t>
            </a:r>
            <a:endParaRPr lang="en-IN" sz="1700" b="0" u="none" strike="noStrike">
              <a:solidFill>
                <a:srgbClr val="000000"/>
              </a:solidFill>
              <a:effectLst/>
              <a:uFillTx/>
              <a:latin typeface="Arial"/>
            </a:endParaRPr>
          </a:p>
        </p:txBody>
      </p:sp>
      <p:sp>
        <p:nvSpPr>
          <p:cNvPr id="460" name="Text 12"/>
          <p:cNvSpPr/>
          <p:nvPr/>
        </p:nvSpPr>
        <p:spPr>
          <a:xfrm>
            <a:off x="4480560" y="3255120"/>
            <a:ext cx="75891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1E293B"/>
                </a:solidFill>
                <a:effectLst/>
                <a:uFillTx/>
                <a:latin typeface="Calibri"/>
                <a:ea typeface="Calibri"/>
              </a:rPr>
              <a:t>endpoints, path and query params, request bodies, status codes, errors</a:t>
            </a:r>
            <a:endParaRPr lang="en-IN" sz="1450" b="0" u="none" strike="noStrike">
              <a:solidFill>
                <a:srgbClr val="000000"/>
              </a:solidFill>
              <a:effectLst/>
              <a:uFillTx/>
              <a:latin typeface="Arial"/>
            </a:endParaRPr>
          </a:p>
        </p:txBody>
      </p:sp>
      <p:sp>
        <p:nvSpPr>
          <p:cNvPr id="461" name="Shape 13"/>
          <p:cNvSpPr/>
          <p:nvPr/>
        </p:nvSpPr>
        <p:spPr>
          <a:xfrm>
            <a:off x="548640" y="4151520"/>
            <a:ext cx="594000" cy="594000"/>
          </a:xfrm>
          <a:prstGeom prst="roundRect">
            <a:avLst>
              <a:gd name="adj" fmla="val 50000"/>
            </a:avLst>
          </a:prstGeom>
          <a:solidFill>
            <a:srgbClr val="15803D"/>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62" name="Text 14"/>
          <p:cNvSpPr/>
          <p:nvPr/>
        </p:nvSpPr>
        <p:spPr>
          <a:xfrm>
            <a:off x="548640" y="4151520"/>
            <a:ext cx="594000" cy="594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4</a:t>
            </a:r>
            <a:endParaRPr lang="en-IN" sz="1500" b="0" u="none" strike="noStrike">
              <a:solidFill>
                <a:srgbClr val="000000"/>
              </a:solidFill>
              <a:effectLst/>
              <a:uFillTx/>
              <a:latin typeface="Arial"/>
            </a:endParaRPr>
          </a:p>
        </p:txBody>
      </p:sp>
      <p:sp>
        <p:nvSpPr>
          <p:cNvPr id="463" name="Text 15"/>
          <p:cNvSpPr/>
          <p:nvPr/>
        </p:nvSpPr>
        <p:spPr>
          <a:xfrm>
            <a:off x="1417320" y="4151520"/>
            <a:ext cx="30171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5803D"/>
                </a:solidFill>
                <a:effectLst/>
                <a:uFillTx/>
                <a:latin typeface="Calibri"/>
                <a:ea typeface="Calibri"/>
              </a:rPr>
              <a:t>Make data enforce itself</a:t>
            </a:r>
            <a:endParaRPr lang="en-IN" sz="1700" b="0" u="none" strike="noStrike">
              <a:solidFill>
                <a:srgbClr val="000000"/>
              </a:solidFill>
              <a:effectLst/>
              <a:uFillTx/>
              <a:latin typeface="Arial"/>
            </a:endParaRPr>
          </a:p>
        </p:txBody>
      </p:sp>
      <p:sp>
        <p:nvSpPr>
          <p:cNvPr id="464" name="Text 16"/>
          <p:cNvSpPr/>
          <p:nvPr/>
        </p:nvSpPr>
        <p:spPr>
          <a:xfrm>
            <a:off x="4480560" y="4151520"/>
            <a:ext cx="75891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1E293B"/>
                </a:solidFill>
                <a:effectLst/>
                <a:uFillTx/>
                <a:latin typeface="Calibri"/>
                <a:ea typeface="Calibri"/>
              </a:rPr>
              <a:t>Field rules, custom validators, In vs Out models</a:t>
            </a:r>
            <a:endParaRPr lang="en-IN" sz="1450" b="0" u="none" strike="noStrike">
              <a:solidFill>
                <a:srgbClr val="000000"/>
              </a:solidFill>
              <a:effectLst/>
              <a:uFillTx/>
              <a:latin typeface="Arial"/>
            </a:endParaRPr>
          </a:p>
        </p:txBody>
      </p:sp>
      <p:sp>
        <p:nvSpPr>
          <p:cNvPr id="465" name="Shape 17"/>
          <p:cNvSpPr/>
          <p:nvPr/>
        </p:nvSpPr>
        <p:spPr>
          <a:xfrm>
            <a:off x="548640" y="5212080"/>
            <a:ext cx="11091240" cy="776880"/>
          </a:xfrm>
          <a:prstGeom prst="roundRect">
            <a:avLst>
              <a:gd name="adj" fmla="val 11765"/>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66" name="Text 18"/>
          <p:cNvSpPr/>
          <p:nvPr/>
        </p:nvSpPr>
        <p:spPr>
          <a:xfrm>
            <a:off x="868680" y="5212080"/>
            <a:ext cx="1042380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And you did not write one line of validation code.  </a:t>
            </a:r>
            <a:r>
              <a:rPr lang="en-US" sz="1500" b="0" u="none" strike="noStrike">
                <a:solidFill>
                  <a:srgbClr val="1E293B"/>
                </a:solidFill>
                <a:effectLst/>
                <a:uFillTx/>
                <a:latin typeface="Calibri"/>
                <a:ea typeface="Calibri"/>
              </a:rPr>
              <a:t>You declared what you wanted, and it was enforced. That idea runs through everything we build next.</a:t>
            </a:r>
            <a:endParaRPr lang="en-IN" sz="1500" b="0" u="none" strike="noStrike">
              <a:solidFill>
                <a:srgbClr val="000000"/>
              </a:solidFill>
              <a:effectLst/>
              <a:uFillTx/>
              <a:latin typeface="Arial"/>
            </a:endParaRPr>
          </a:p>
        </p:txBody>
      </p:sp>
      <p:sp>
        <p:nvSpPr>
          <p:cNvPr id="467" name="Text 19"/>
          <p:cNvSpPr/>
          <p:nvPr/>
        </p:nvSpPr>
        <p:spPr>
          <a:xfrm>
            <a:off x="548640" y="6172200"/>
            <a:ext cx="1109124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0" i="1" u="none" strike="noStrike">
                <a:solidFill>
                  <a:srgbClr val="64748B"/>
                </a:solidFill>
                <a:effectLst/>
                <a:uFillTx/>
                <a:latin typeface="Calibri"/>
                <a:ea typeface="Calibri"/>
              </a:rPr>
              <a:t>Next:  full CRUD  ·  real error handling  ·  code that is not one long file</a:t>
            </a:r>
            <a:endParaRPr lang="en-IN" sz="1500" b="0" u="none" strike="noStrike">
              <a:solidFill>
                <a:srgbClr val="000000"/>
              </a:solidFill>
              <a:effectLst/>
              <a:uFillTx/>
              <a:latin typeface="Arial"/>
            </a:endParaRPr>
          </a:p>
        </p:txBody>
      </p:sp>
      <p:sp>
        <p:nvSpPr>
          <p:cNvPr id="468" name="Text 20"/>
          <p:cNvSpPr/>
          <p:nvPr/>
        </p:nvSpPr>
        <p:spPr>
          <a:xfrm>
            <a:off x="548640" y="6473880"/>
            <a:ext cx="64004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Backend Foundations  ·  Python &amp; OOP  ·  FastAPI  ·  Pydantic</a:t>
            </a:r>
            <a:endParaRPr lang="en-IN" sz="900" b="0" u="none" strike="noStrike">
              <a:solidFill>
                <a:srgbClr val="000000"/>
              </a:solidFill>
              <a:effectLst/>
              <a:uFillTx/>
              <a:latin typeface="Arial"/>
            </a:endParaRPr>
          </a:p>
        </p:txBody>
      </p:sp>
      <p:sp>
        <p:nvSpPr>
          <p:cNvPr id="469" name="Text 21"/>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LibreOffice/26.2.5.2$MacOSX_X86_64 LibreOffice_project/cd7284b4cbbfeb507e630c1aac019f4157393acb</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2026-08-03T04:30:02Z</dcterms:created>
  <dc:creator>Bhupendra Dahal</dc:creator>
  <dc:description/>
  <dc:language>en-IN</dc:language>
  <cp:lastModifiedBy>Bhupendra Dahal</cp:lastModifiedBy>
  <dcterms:modified xsi:type="dcterms:W3CDTF">2026-08-03T04:30:02Z</dcterms:modified>
  <cp:revision>1</cp:revision>
  <dc:subject>PptxGenJS Presentation</dc:subject>
  <dc:title>Backend Foundations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35</vt:r8>
  </property>
  <property fmtid="{D5CDD505-2E9C-101B-9397-08002B2CF9AE}" pid="3" name="PresentationFormat">
    <vt:lpwstr>On-screen Show (16:9)</vt:lpwstr>
  </property>
  <property fmtid="{D5CDD505-2E9C-101B-9397-08002B2CF9AE}" pid="4" name="Slides">
    <vt:r8>35</vt:r8>
  </property>
</Properties>
</file>