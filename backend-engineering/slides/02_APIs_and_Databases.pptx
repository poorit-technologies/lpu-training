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37.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35.xml" ContentType="application/vnd.openxmlformats-officedocument.presentationml.slide+xml"/>
  <Override PartName="/ppt/slides/slide27.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3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0.xml" ContentType="application/vnd.openxmlformats-officedocument.presentationml.notesSlide+xml"/>
  <Override PartName="/ppt/notesSlides/notesSlide3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30.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1419C2D3-5F37-4EA6-BB8C-3A1A040FC7E7}"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685800" y="1143000"/>
            <a:ext cx="5486040" cy="3085920"/>
          </a:xfrm>
          <a:prstGeom prst="rect">
            <a:avLst/>
          </a:prstGeom>
          <a:ln w="0">
            <a:noFill/>
          </a:ln>
        </p:spPr>
      </p:sp>
      <p:sp>
        <p:nvSpPr>
          <p:cNvPr id="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BEFORE YOU SAY A WORD: run docker compose up -d. The image is ~400MB and a room of laptops on one wifi is the slow part - it must be pulling while you talk. Then set the arc: the app grows up twice today. First it becomes a PROPER API - every verb, every error, one shape for failure. Then it gets a real database. The hinge between the two halves is Depends. Say the italic line out loud; it is the promise you pay off at minute 160.</a:t>
            </a:r>
            <a:endParaRPr lang="en-IN" sz="2000" b="0" u="none" strike="noStrike">
              <a:solidFill>
                <a:srgbClr val="000000"/>
              </a:solidFill>
              <a:effectLst/>
              <a:uFillTx/>
              <a:latin typeface="Arial"/>
            </a:endParaRPr>
          </a:p>
        </p:txBody>
      </p:sp>
      <p:sp>
        <p:nvSpPr>
          <p:cNvPr id="44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789BBE-7089-4AE9-8273-BFE47024F56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685800" y="1143000"/>
            <a:ext cx="5486040" cy="3085920"/>
          </a:xfrm>
          <a:prstGeom prst="rect">
            <a:avLst/>
          </a:prstGeom>
          <a:ln w="0">
            <a:noFill/>
          </a:ln>
        </p:spPr>
      </p:sp>
      <p:sp>
        <p:nvSpPr>
          <p:cNvPr id="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Let the silence sit. Someone will say 'gone'. Push once more: WHERE did they go? Land it - the list lived in RAM, and RAM is rented. Say the sentence plainly: EVERYTHING YOU BUILT YESTERDAY FORGETS. Today it stops forgetting. Do not explain databases yet; the whole first hour is deliberately still in memory, because you change one thing at a time.</a:t>
            </a:r>
            <a:endParaRPr lang="en-IN" sz="2000" b="0" u="none" strike="noStrike">
              <a:solidFill>
                <a:srgbClr val="000000"/>
              </a:solidFill>
              <a:effectLst/>
              <a:uFillTx/>
              <a:latin typeface="Arial"/>
            </a:endParaRPr>
          </a:p>
        </p:txBody>
      </p:sp>
      <p:sp>
        <p:nvSpPr>
          <p:cNvPr id="446"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E5368E-9D5F-4B48-B572-2E14D8D2071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685800" y="1143000"/>
            <a:ext cx="5486040" cy="3085920"/>
          </a:xfrm>
          <a:prstGeom prst="rect">
            <a:avLst/>
          </a:prstGeom>
          <a:ln w="0">
            <a:noFill/>
          </a:ln>
        </p:spPr>
      </p:sp>
      <p:sp>
        <p:nvSpPr>
          <p:cNvPr id="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Draw this on the whiteboard too and leave it up all session - you will point at it when someone gets lost. The key message is 'one thing at a time': the first hour is STILL an in-memory list on purpose. Students who understand that the storage did not change in hour one stop conflating 'REST' with 'database', which is the single most common muddle in this material.</a:t>
            </a:r>
            <a:endParaRPr lang="en-IN" sz="2000" b="0" u="none" strike="noStrike">
              <a:solidFill>
                <a:srgbClr val="000000"/>
              </a:solidFill>
              <a:effectLst/>
              <a:uFillTx/>
              <a:latin typeface="Arial"/>
            </a:endParaRPr>
          </a:p>
        </p:txBody>
      </p:sp>
      <p:sp>
        <p:nvSpPr>
          <p:cNvPr id="449"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7BB1A7A-9224-43FC-B16B-1927531066E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685800" y="1143000"/>
            <a:ext cx="5486040" cy="3085920"/>
          </a:xfrm>
          <a:prstGeom prst="rect">
            <a:avLst/>
          </a:prstGeom>
          <a:ln w="0">
            <a:noFill/>
          </a:ln>
        </p:spPr>
      </p:sp>
      <p:sp>
        <p:nvSpPr>
          <p:cNvPr id="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Fifteen minutes, and it is mostly one idea repeated. Do not let it run long: the payoff is in Part 02 when they build it. If the class is strong, this can be ten minutes.</a:t>
            </a:r>
            <a:endParaRPr lang="en-IN" sz="2000" b="0" u="none" strike="noStrike">
              <a:solidFill>
                <a:srgbClr val="000000"/>
              </a:solidFill>
              <a:effectLst/>
              <a:uFillTx/>
              <a:latin typeface="Arial"/>
            </a:endParaRPr>
          </a:p>
        </p:txBody>
      </p:sp>
      <p:sp>
        <p:nvSpPr>
          <p:cNvPr id="45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5A3F04-30D8-4C27-865A-7A3E9857832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685800" y="1143000"/>
            <a:ext cx="5486040" cy="3085920"/>
          </a:xfrm>
          <a:prstGeom prst="rect">
            <a:avLst/>
          </a:prstGeom>
          <a:ln w="0">
            <a:noFill/>
          </a:ln>
        </p:spPr>
      </p:sp>
      <p:sp>
        <p:nvSpPr>
          <p:cNvPr id="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Make them fix the wrong ones out loud rather than reading the right column to them - it takes 60 seconds and it sticks. The deleteStudent row is worth dwelling on because it is wrong in TWO ways, and students usually only spot one. If someone argues that their favourite API does /api/v1/getUser: agree that plenty of real APIs are badly designed, and that is exactly why the rule is worth knowing.</a:t>
            </a:r>
            <a:endParaRPr lang="en-IN" sz="2000" b="0" u="none" strike="noStrike">
              <a:solidFill>
                <a:srgbClr val="000000"/>
              </a:solidFill>
              <a:effectLst/>
              <a:uFillTx/>
              <a:latin typeface="Arial"/>
            </a:endParaRPr>
          </a:p>
        </p:txBody>
      </p:sp>
      <p:sp>
        <p:nvSpPr>
          <p:cNvPr id="45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6B8434-7309-4717-807C-F46A46AD3C8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685800" y="1143000"/>
            <a:ext cx="5486040" cy="3085920"/>
          </a:xfrm>
          <a:prstGeom prst="rect">
            <a:avLst/>
          </a:prstGeom>
          <a:ln w="0">
            <a:noFill/>
          </a:ln>
        </p:spPr>
      </p:sp>
      <p:sp>
        <p:nvSpPr>
          <p:cNvPr id="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Idempotency is the one genuinely new idea in this section, so give it the tunnel story rather than the definition - it is what they will remember. A good question to throw back: 'is DELETE idempotent even though the second call 404s?' Yes - idempotency is about the STATE OF THE SERVER, not the status code you get back. After one delete and after five, the student is equally gone.</a:t>
            </a:r>
            <a:endParaRPr lang="en-IN" sz="2000" b="0" u="none" strike="noStrike">
              <a:solidFill>
                <a:srgbClr val="000000"/>
              </a:solidFill>
              <a:effectLst/>
              <a:uFillTx/>
              <a:latin typeface="Arial"/>
            </a:endParaRPr>
          </a:p>
        </p:txBody>
      </p:sp>
      <p:sp>
        <p:nvSpPr>
          <p:cNvPr id="458"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155A8BA-C86E-4F68-98A8-E238E4EF598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685800" y="1143000"/>
            <a:ext cx="5486040" cy="3085920"/>
          </a:xfrm>
          <a:prstGeom prst="rect">
            <a:avLst/>
          </a:prstGeom>
          <a:ln w="0">
            <a:noFill/>
          </a:ln>
        </p:spPr>
      </p:sp>
      <p:sp>
        <p:nvSpPr>
          <p:cNvPr id="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one students argue about in interviews, so give them the one-line version for the board and move on. If someone asks 'when should I use which' - PATCH for anything a user edits in a form field, PUT when the client genuinely holds the whole object. Do not let this run past three minutes; the real understanding arrives in ten minutes when they see exclude_unset break things.</a:t>
            </a:r>
            <a:endParaRPr lang="en-IN" sz="2000" b="0" u="none" strike="noStrike">
              <a:solidFill>
                <a:srgbClr val="000000"/>
              </a:solidFill>
              <a:effectLst/>
              <a:uFillTx/>
              <a:latin typeface="Arial"/>
            </a:endParaRPr>
          </a:p>
        </p:txBody>
      </p:sp>
      <p:sp>
        <p:nvSpPr>
          <p:cNvPr id="46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E08712-C999-42B6-BF3A-76F6DFA0D60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685800" y="1143000"/>
            <a:ext cx="5486040" cy="3085920"/>
          </a:xfrm>
          <a:prstGeom prst="rect">
            <a:avLst/>
          </a:prstGeom>
          <a:ln w="0">
            <a:noFill/>
          </a:ln>
        </p:spPr>
      </p:sp>
      <p:sp>
        <p:nvSpPr>
          <p:cNvPr id="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Thirty seconds on the 4-vs-5 rule is the highest-value part of this slide, because it reframes every number they will ever see. Point out that 422 is the one they already met without choosing it - Pydantic sends it before their function is even called. Park 409 for now; it lands properly in the CRUD section when they build the duplicate-email check.</a:t>
            </a:r>
            <a:endParaRPr lang="en-IN" sz="2000" b="0" u="none" strike="noStrike">
              <a:solidFill>
                <a:srgbClr val="000000"/>
              </a:solidFill>
              <a:effectLst/>
              <a:uFillTx/>
              <a:latin typeface="Arial"/>
            </a:endParaRPr>
          </a:p>
        </p:txBody>
      </p:sp>
      <p:sp>
        <p:nvSpPr>
          <p:cNvPr id="46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E3E03A-6EFE-4493-AFCE-4B0ABF475BC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685800" y="1143000"/>
            <a:ext cx="5486040" cy="3085920"/>
          </a:xfrm>
          <a:prstGeom prst="rect">
            <a:avLst/>
          </a:prstGeom>
          <a:ln w="0">
            <a:noFill/>
          </a:ln>
        </p:spPr>
      </p:sp>
      <p:sp>
        <p:nvSpPr>
          <p:cNvPr id="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PUT is idempotent, so sending it five times leaves the student in the same state. POST is not: each one creates a new student, so a blind retry can duplicate the record (A). C is wrong because retrying is exactly what phones and job queues do all day - the point is knowing WHICH requests survive it. D is the misconception this question exists to break. Discussion prompt: 'which button in an app you use would you be nervous to double-tap?' Payments, orders, 'send message' - all POSTs.</a:t>
            </a:r>
            <a:endParaRPr lang="en-IN" sz="2000" b="0" u="none" strike="noStrike">
              <a:solidFill>
                <a:srgbClr val="000000"/>
              </a:solidFill>
              <a:effectLst/>
              <a:uFillTx/>
              <a:latin typeface="Arial"/>
            </a:endParaRPr>
          </a:p>
        </p:txBody>
      </p:sp>
      <p:sp>
        <p:nvSpPr>
          <p:cNvPr id="46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8F33FF-95BF-4350-9EC8-3F89E868353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685800" y="1143000"/>
            <a:ext cx="5486040" cy="3085920"/>
          </a:xfrm>
          <a:prstGeom prst="rect">
            <a:avLst/>
          </a:prstGeom>
          <a:ln w="0">
            <a:noFill/>
          </a:ln>
        </p:spPr>
      </p:sp>
      <p:sp>
        <p:nvSpPr>
          <p:cNvPr id="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Thirty minutes, hands on keyboards. This is the block where they type the most. Storage is still an in-memory list - say that out loud so nobody thinks PUT requires a database.</a:t>
            </a:r>
            <a:endParaRPr lang="en-IN" sz="2000" b="0" u="none" strike="noStrike">
              <a:solidFill>
                <a:srgbClr val="000000"/>
              </a:solidFill>
              <a:effectLst/>
              <a:uFillTx/>
              <a:latin typeface="Arial"/>
            </a:endParaRPr>
          </a:p>
        </p:txBody>
      </p:sp>
      <p:sp>
        <p:nvSpPr>
          <p:cNvPr id="47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D854ADA-85F1-439B-BBCD-AFA71124BF8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685800" y="1143000"/>
            <a:ext cx="5486040" cy="3085920"/>
          </a:xfrm>
          <a:prstGeom prst="rect">
            <a:avLst/>
          </a:prstGeom>
          <a:ln w="0">
            <a:noFill/>
          </a:ln>
        </p:spPr>
      </p:sp>
      <p:sp>
        <p:nvSpPr>
          <p:cNvPr id="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moment of the first hour. Ask the question, take a vote, THEN run it without exclude_unset and let them watch the name become null. Then add the flag and run it again. Nothing you say lands as hard as that two-second before/after. The deeper idea, worth one sentence: 'None because they sent null' and 'None because they said nothing' are different facts, and exclude_unset is how you tell them apart.</a:t>
            </a:r>
            <a:endParaRPr lang="en-IN" sz="2000" b="0" u="none" strike="noStrike">
              <a:solidFill>
                <a:srgbClr val="000000"/>
              </a:solidFill>
              <a:effectLst/>
              <a:uFillTx/>
              <a:latin typeface="Arial"/>
            </a:endParaRPr>
          </a:p>
        </p:txBody>
      </p:sp>
      <p:sp>
        <p:nvSpPr>
          <p:cNvPr id="473"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A70D4AE-B682-4302-9BD1-EC77CEAE486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685800" y="1143000"/>
            <a:ext cx="5486040" cy="3085920"/>
          </a:xfrm>
          <a:prstGeom prst="rect">
            <a:avLst/>
          </a:prstGeom>
          <a:ln w="0">
            <a:noFill/>
          </a:ln>
        </p:spPr>
      </p:sp>
      <p:sp>
        <p:nvSpPr>
          <p:cNvPr id="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the 204 in /docs - the response body area is genuinely empty and that surprises people. If someone asks why not return {'deleted': true} with a 200: you can, plenty of APIs do, but 204 already MEANS 'done, nothing to show'; repeating it in a body is noise. The three-way failure table is the bit to photograph - 409 is the one nobody teaches and the one their capstone will need for duplicate signups.</a:t>
            </a:r>
            <a:endParaRPr lang="en-IN" sz="2000" b="0" u="none" strike="noStrike">
              <a:solidFill>
                <a:srgbClr val="000000"/>
              </a:solidFill>
              <a:effectLst/>
              <a:uFillTx/>
              <a:latin typeface="Arial"/>
            </a:endParaRPr>
          </a:p>
        </p:txBody>
      </p:sp>
      <p:sp>
        <p:nvSpPr>
          <p:cNvPr id="476"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DDCF16-E55C-4715-89A9-A511173B8E1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685800" y="1143000"/>
            <a:ext cx="5486040" cy="3085920"/>
          </a:xfrm>
          <a:prstGeom prst="rect">
            <a:avLst/>
          </a:prstGeom>
          <a:ln w="0">
            <a:noFill/>
          </a:ln>
        </p:spPr>
      </p:sp>
      <p:sp>
        <p:nvSpPr>
          <p:cNvPr id="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every field the caller did not send is still present in the dump, set to None, so the update erases name and age. That is the whole reason exclude_unset=True exists (A is what they WANTED, and what the flag gives them). Not 422 (C): the body was perfectly valid - each field is Optional. Not 'nothing' (D): the update definitely runs. Discussion prompt: 'so how would you notice this bug in production?' - you would not, until a user complains their name vanished when they changed their branch.</a:t>
            </a:r>
            <a:endParaRPr lang="en-IN" sz="2000" b="0" u="none" strike="noStrike">
              <a:solidFill>
                <a:srgbClr val="000000"/>
              </a:solidFill>
              <a:effectLst/>
              <a:uFillTx/>
              <a:latin typeface="Arial"/>
            </a:endParaRPr>
          </a:p>
        </p:txBody>
      </p:sp>
      <p:sp>
        <p:nvSpPr>
          <p:cNvPr id="479"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24687F-E2AA-438A-A1EA-DD84FF475FC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685800" y="1143000"/>
            <a:ext cx="5486040" cy="3085920"/>
          </a:xfrm>
          <a:prstGeom prst="rect">
            <a:avLst/>
          </a:prstGeom>
          <a:ln w="0">
            <a:noFill/>
          </a:ln>
        </p:spPr>
      </p:sp>
      <p:sp>
        <p:nvSpPr>
          <p:cNvPr id="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Fifteen minutes. The envelope idea is the keeper; the custom handlers are the demo. If you are behind, teach the idea and show the code without typing it.</a:t>
            </a:r>
            <a:endParaRPr lang="en-IN" sz="2000" b="0" u="none" strike="noStrike">
              <a:solidFill>
                <a:srgbClr val="000000"/>
              </a:solidFill>
              <a:effectLst/>
              <a:uFillTx/>
              <a:latin typeface="Arial"/>
            </a:endParaRPr>
          </a:p>
        </p:txBody>
      </p:sp>
      <p:sp>
        <p:nvSpPr>
          <p:cNvPr id="482"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8C2117-2571-4DDC-AD1F-4143A4D20AF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685800" y="1143000"/>
            <a:ext cx="5486040" cy="3085920"/>
          </a:xfrm>
          <a:prstGeom prst="rect">
            <a:avLst/>
          </a:prstGeom>
          <a:ln w="0">
            <a:noFill/>
          </a:ln>
        </p:spPr>
      </p:sp>
      <p:sp>
        <p:nvSpPr>
          <p:cNvPr id="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line that lands: never make a caller regex your English. A mobile app needs to decide between 'show try again' and 'send them to the login screen' - it cannot do that from a sentence, but it can from a code. Ask the class what happens when you later translate your error messages to Hindi: every caller who was string-matching breaks. The code field is what survives translation.</a:t>
            </a:r>
            <a:endParaRPr lang="en-IN" sz="2000" b="0" u="none" strike="noStrike">
              <a:solidFill>
                <a:srgbClr val="000000"/>
              </a:solidFill>
              <a:effectLst/>
              <a:uFillTx/>
              <a:latin typeface="Arial"/>
            </a:endParaRPr>
          </a:p>
        </p:txBody>
      </p:sp>
      <p:sp>
        <p:nvSpPr>
          <p:cNvPr id="485"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27EFEF-ADD2-4149-9C61-69F659510D7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685800" y="1143000"/>
            <a:ext cx="5486040" cy="3085920"/>
          </a:xfrm>
          <a:prstGeom prst="rect">
            <a:avLst/>
          </a:prstGeom>
          <a:ln w="0">
            <a:noFill/>
          </a:ln>
        </p:spPr>
      </p:sp>
      <p:sp>
        <p:nvSpPr>
          <p:cNvPr id="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h1_errors_envelope.py and hit /boom live - the terminal shows the full ZeroDivisionError, the browser shows four bland words. That gap IS the lesson, and it is a 20-second demo. Point out that the Exception handler is the one that catches bugs they have not written yet, which is exactly why it must be boring on the outside. If asked about logging properly: name structured logging and move on, it is a Module 3 topic.</a:t>
            </a:r>
            <a:endParaRPr lang="en-IN" sz="2000" b="0" u="none" strike="noStrike">
              <a:solidFill>
                <a:srgbClr val="000000"/>
              </a:solidFill>
              <a:effectLst/>
              <a:uFillTx/>
              <a:latin typeface="Arial"/>
            </a:endParaRPr>
          </a:p>
        </p:txBody>
      </p:sp>
      <p:sp>
        <p:nvSpPr>
          <p:cNvPr id="488"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13383D-0E1F-4A1A-A223-AEC466380E8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6040" cy="3085920"/>
          </a:xfrm>
          <a:prstGeom prst="rect">
            <a:avLst/>
          </a:prstGeom>
          <a:ln w="0">
            <a:noFill/>
          </a:ln>
        </p:spPr>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the calling app has to DECIDE something: retry, re-login, or show a form error. It cannot reliably do that by string-matching a sentence, and the moment you reword or translate the message every caller that did breaks. A is cosmetic. C is false - FastAPI has no opinion here, this is a design choice you make. D is wrong, it is slightly bigger. Discussion prompt: 'what happens to a caller matching on "not found" when you translate your API to Hindi?'</a:t>
            </a:r>
            <a:endParaRPr lang="en-IN" sz="2000" b="0" u="none" strike="noStrike">
              <a:solidFill>
                <a:srgbClr val="000000"/>
              </a:solidFill>
              <a:effectLst/>
              <a:uFillTx/>
              <a:latin typeface="Arial"/>
            </a:endParaRPr>
          </a:p>
        </p:txBody>
      </p:sp>
      <p:sp>
        <p:nvSpPr>
          <p:cNvPr id="491"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0250E4-E6B9-4BB2-AFB4-96FA9E4C628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6040" cy="3085920"/>
          </a:xfrm>
          <a:prstGeom prst="rect">
            <a:avLst/>
          </a:prstGeom>
          <a:ln w="0">
            <a:noFill/>
          </a:ln>
        </p:spPr>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Fifteen minutes, taught COLD even if you demoed Depends in Module 1. Everything after the break rides on this - the database session IS a dependency. Do not skip it to save time.</a:t>
            </a:r>
            <a:endParaRPr lang="en-IN" sz="2000" b="0" u="none" strike="noStrike">
              <a:solidFill>
                <a:srgbClr val="000000"/>
              </a:solidFill>
              <a:effectLst/>
              <a:uFillTx/>
              <a:latin typeface="Arial"/>
            </a:endParaRPr>
          </a:p>
        </p:txBody>
      </p:sp>
      <p:sp>
        <p:nvSpPr>
          <p:cNvPr id="494"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B932734-AC5B-47CF-81CA-A755BD298AD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6040" cy="3085920"/>
          </a:xfrm>
          <a:prstGeom prst="rect">
            <a:avLst/>
          </a:prstGeom>
          <a:ln w="0">
            <a:noFill/>
          </a:ln>
        </p:spPr>
      </p:sp>
      <p:sp>
        <p:nvSpPr>
          <p:cNvPr id="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Teach this cold. Even the students who saw it in Module 1 saw it as an optional extra at the end of a long day. The three numbered facts are the whole lesson - say each one while pointing at the code. Fact 2 surprises people: the query parameters were declared on the DEPENDENCY, not on the endpoint, and they still appear in /docs. Show that in /docs, it takes ten seconds.</a:t>
            </a:r>
            <a:endParaRPr lang="en-IN" sz="2000" b="0" u="none" strike="noStrike">
              <a:solidFill>
                <a:srgbClr val="000000"/>
              </a:solidFill>
              <a:effectLst/>
              <a:uFillTx/>
              <a:latin typeface="Arial"/>
            </a:endParaRPr>
          </a:p>
        </p:txBody>
      </p:sp>
      <p:sp>
        <p:nvSpPr>
          <p:cNvPr id="497"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80784F-A10C-4DD9-AB86-2772AC184DD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6040" cy="3085920"/>
          </a:xfrm>
          <a:prstGeom prst="rect">
            <a:avLst/>
          </a:prstGeom>
          <a:ln w="0">
            <a:noFill/>
          </a:ln>
        </p:spPr>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Park the yield shape deliberately: 'remember this, you will see it again in forty minutes'. When get_db appears in the SQLAlchemy block, point back at this slide - the recognition is worth more than the explanation. The models/schemas question is the same lesson as Module 1's response_model, one level up: same idea, two shapes, on purpose.</a:t>
            </a:r>
            <a:endParaRPr lang="en-IN" sz="2000" b="0" u="none" strike="noStrike">
              <a:solidFill>
                <a:srgbClr val="000000"/>
              </a:solidFill>
              <a:effectLst/>
              <a:uFillTx/>
              <a:latin typeface="Arial"/>
            </a:endParaRPr>
          </a:p>
        </p:txBody>
      </p:sp>
      <p:sp>
        <p:nvSpPr>
          <p:cNvPr id="500"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8D2E8D1-BD72-437E-9A73-950D64A6D79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6040" cy="3085920"/>
          </a:xfrm>
          <a:prstGeom prst="rect">
            <a:avLst/>
          </a:prstGeom>
          <a:ln w="0">
            <a:noFill/>
          </a:ln>
        </p:spPr>
      </p:sp>
      <p:sp>
        <p:nvSpPr>
          <p:cNvPr id="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the code after yield sits in a finally block, so it runs whether the endpoint returned or raised. That guarantee is the entire reason to use a yield dependency instead of opening a session inside each endpoint. A is the bug you get if you write cleanup after the endpoint call by hand and forget try/finally. C is invented. D is wrong - the exception still propagates to the client as a 404. Discussion prompt: 'what happens to a server that leaks one connection per failed request?' It dies slowly, at 3am, under load.</a:t>
            </a:r>
            <a:endParaRPr lang="en-IN" sz="2000" b="0" u="none" strike="noStrike">
              <a:solidFill>
                <a:srgbClr val="000000"/>
              </a:solidFill>
              <a:effectLst/>
              <a:uFillTx/>
              <a:latin typeface="Arial"/>
            </a:endParaRPr>
          </a:p>
        </p:txBody>
      </p:sp>
      <p:sp>
        <p:nvSpPr>
          <p:cNvPr id="503"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87088C-A4D5-4915-A584-AF43C8ABD81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6040" cy="3085920"/>
          </a:xfrm>
          <a:prstGeom prst="rect">
            <a:avLst/>
          </a:prstGeom>
          <a:ln w="0">
            <a:noFill/>
          </a:ln>
        </p:spPr>
      </p:sp>
      <p:sp>
        <p:nvSpPr>
          <p:cNvPr id="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Twenty-five minutes, and THEY drive. Students open 02_SQL_Basics.ipynb; you run the same cells on the projector. Nothing to install, so a broken laptop cannot block this. Check the Postgres pull is finished before you leave this section.</a:t>
            </a:r>
            <a:endParaRPr lang="en-IN" sz="2000" b="0" u="none" strike="noStrike">
              <a:solidFill>
                <a:srgbClr val="000000"/>
              </a:solidFill>
              <a:effectLst/>
              <a:uFillTx/>
              <a:latin typeface="Arial"/>
            </a:endParaRPr>
          </a:p>
        </p:txBody>
      </p:sp>
      <p:sp>
        <p:nvSpPr>
          <p:cNvPr id="506"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BC49B6-B8E7-4C67-9053-D5BBFF752C4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6040" cy="308592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Genuinely ask first and let three answers land before you show the table - students who have written a JSON-file 'database' feel this immediately. The last row is the most important because it introduces the idea that the DATABASE enforces rules, not your API. That matters later: their Pydantic rules can be bypassed by anything that talks to the database directly; a UNIQUE constraint cannot.</a:t>
            </a:r>
            <a:endParaRPr lang="en-IN" sz="2000" b="0" u="none" strike="noStrike">
              <a:solidFill>
                <a:srgbClr val="000000"/>
              </a:solidFill>
              <a:effectLst/>
              <a:uFillTx/>
              <a:latin typeface="Arial"/>
            </a:endParaRPr>
          </a:p>
        </p:txBody>
      </p:sp>
      <p:sp>
        <p:nvSpPr>
          <p:cNvPr id="509"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D17760-6286-44E6-AB90-71A0011C697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6040" cy="308592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mapping is why OOP was taught first, and it is worth saying that out loud - it retroactively justifies Module 1's biggest block. Run the UNIQUE refusal live in the notebook: insert Ada's email twice and read the IntegrityError together. Students who have only ever validated in Python find it genuinely surprising that the storage layer has opinions.</a:t>
            </a:r>
            <a:endParaRPr lang="en-IN" sz="2000" b="0" u="none" strike="noStrike">
              <a:solidFill>
                <a:srgbClr val="000000"/>
              </a:solidFill>
              <a:effectLst/>
              <a:uFillTx/>
              <a:latin typeface="Arial"/>
            </a:endParaRPr>
          </a:p>
        </p:txBody>
      </p:sp>
      <p:sp>
        <p:nvSpPr>
          <p:cNvPr id="512"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0AB397-4BE5-4967-9F5D-E6615B5E4CB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6040" cy="308592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Shout the red box. Everyone in the room will eventually run a WHERE-less update on something that matters, and the habit is the only protection that survives panic. Make them repeat 'WHERE first' out loud - it feels silly and it works. The case-sensitivity demo takes five seconds in the notebook and saves an hour of confusion when their filter mysteriously returns nothing.</a:t>
            </a:r>
            <a:endParaRPr lang="en-IN" sz="2000" b="0" u="none" strike="noStrike">
              <a:solidFill>
                <a:srgbClr val="000000"/>
              </a:solidFill>
              <a:effectLst/>
              <a:uFillTx/>
              <a:latin typeface="Arial"/>
            </a:endParaRPr>
          </a:p>
        </p:txBody>
      </p:sp>
      <p:sp>
        <p:nvSpPr>
          <p:cNvPr id="515"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BD549D-6625-4187-AF2D-561A4C6620D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6040" cy="308592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Put the Module-1 is-a/has-a slide back up for ten seconds - this is the payoff you promised two sessions ago, and calling back to it makes the whole course feel designed rather than assembled. Students who can narrate a JOIN in English can write one, so make two or three of them narrate it out loud before anyone types. The FK refusal demo is in the notebook and is worth running live.</a:t>
            </a:r>
            <a:endParaRPr lang="en-IN" sz="2000" b="0" u="none" strike="noStrike">
              <a:solidFill>
                <a:srgbClr val="000000"/>
              </a:solidFill>
              <a:effectLst/>
              <a:uFillTx/>
              <a:latin typeface="Arial"/>
            </a:endParaRPr>
          </a:p>
        </p:txBody>
      </p:sp>
      <p:sp>
        <p:nvSpPr>
          <p:cNvPr id="518"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6F8138-8E25-46DF-9CC5-2B12330546B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a missing WHERE is not an error, it means 'all rows'. It runs happily, reports how many rows it changed, and there is no undo. Not A: the statement is perfectly valid SQL. Not B: SQL has no concept of 'the first row' here. Not D: the database will not save you, which is the entire point. Discussion prompt: 'you just did this on the real student table. What is your next move?' - restore from backup, which means: does your project have one?</a:t>
            </a:r>
            <a:endParaRPr lang="en-IN" sz="2000" b="0" u="none" strike="noStrike">
              <a:solidFill>
                <a:srgbClr val="000000"/>
              </a:solidFill>
              <a:effectLst/>
              <a:uFillTx/>
              <a:latin typeface="Arial"/>
            </a:endParaRPr>
          </a:p>
        </p:txBody>
      </p:sp>
      <p:sp>
        <p:nvSpPr>
          <p:cNvPr id="521"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7DCDEBB-0B74-4BBF-8C55-B593BEFF62A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biggest block, 50 minutes. By now the Postgres image MUST be downloaded - check before you start. Keep echo=True on the whole way through so they can watch the SQL being generated.</a:t>
            </a:r>
            <a:endParaRPr lang="en-IN" sz="2000" b="0" u="none" strike="noStrike">
              <a:solidFill>
                <a:srgbClr val="000000"/>
              </a:solidFill>
              <a:effectLst/>
              <a:uFillTx/>
              <a:latin typeface="Arial"/>
            </a:endParaRPr>
          </a:p>
        </p:txBody>
      </p:sp>
      <p:sp>
        <p:nvSpPr>
          <p:cNvPr id="524"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09AE07-FC13-4466-8351-AEBC87AF689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red box is a real trap and it is new, so check your own compose file before class. Every tutorial written before late 2025 mounts /var/lib/postgresql/data; on 18 that writes your data OUTSIDE the volume and nothing errors - the only clue is initdb running on every start. Also demo docker compose exec db psql -U lpu -d lpudb and run one of the notebook queries there: same SQL, different engine, and that continuity is the point of teaching SQLite first.</a:t>
            </a:r>
            <a:endParaRPr lang="en-IN" sz="2000" b="0" u="none" strike="noStrike">
              <a:solidFill>
                <a:srgbClr val="000000"/>
              </a:solidFill>
              <a:effectLst/>
              <a:uFillTx/>
              <a:latin typeface="Arial"/>
            </a:endParaRPr>
          </a:p>
        </p:txBody>
      </p:sp>
      <p:sp>
        <p:nvSpPr>
          <p:cNvPr id="527"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600781-45E2-4C6B-AD6E-2C2B6712CC6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Point physically back at the yield slide when you say the last line - the recognition is the teaching moment, and it is why Depends had to be taught cold before the break. Leave echo=True on for the whole afternoon: every endpoint they hit prints the SQL it generated, and students who watch that terminal panel stop believing the ORM is magic. They can literally see it writing the SELECT they wrote by hand in Colab an hour ago.</a:t>
            </a:r>
            <a:endParaRPr lang="en-IN" sz="2000" b="0" u="none" strike="noStrike">
              <a:solidFill>
                <a:srgbClr val="000000"/>
              </a:solidFill>
              <a:effectLst/>
              <a:uFillTx/>
              <a:latin typeface="Arial"/>
            </a:endParaRPr>
          </a:p>
        </p:txBody>
      </p:sp>
      <p:sp>
        <p:nvSpPr>
          <p:cNvPr id="530"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2754148-0518-490B-B114-A6159F795D9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demos worth the time. First: delete db.refresh() and show id coming back as null - the database generated that id, not Python, and refresh is how the object learns it. Second: comment out db.commit() and show the student vanishing on the next request. Both take a minute and both answer a question students would otherwise carry for weeks. The create_all warning WILL bite someone today when they add a column, so say it before it happens.</a:t>
            </a:r>
            <a:endParaRPr lang="en-IN" sz="2000" b="0" u="none" strike="noStrike">
              <a:solidFill>
                <a:srgbClr val="000000"/>
              </a:solidFill>
              <a:effectLst/>
              <a:uFillTx/>
              <a:latin typeface="Arial"/>
            </a:endParaRPr>
          </a:p>
        </p:txBody>
      </p:sp>
      <p:sp>
        <p:nvSpPr>
          <p:cNvPr id="533"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571922-9391-4660-BDE6-F5E5ECB2952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win condition of the whole session - do not rush past it and do not talk over it. Make EVERY student do it on their own machine before you say another word, and walk the room. Then pause. The hook at the start of the day was 'where did your data go?' and this is the answer, ninety minutes later. Let one of them say 'oh' out loud; that is the moment the session was built around.</a:t>
            </a:r>
            <a:endParaRPr lang="en-IN" sz="2000" b="0" u="none" strike="noStrike">
              <a:solidFill>
                <a:srgbClr val="000000"/>
              </a:solidFill>
              <a:effectLst/>
              <a:uFillTx/>
              <a:latin typeface="Arial"/>
            </a:endParaRPr>
          </a:p>
        </p:txBody>
      </p:sp>
      <p:sp>
        <p:nvSpPr>
          <p:cNvPr id="536"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C1C497-68C6-4FA8-B0D0-69E347FCB8F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6040" cy="3085920"/>
          </a:xfrm>
          <a:prstGeom prst="rect">
            <a:avLst/>
          </a:prstGeom>
          <a:ln w="0">
            <a:noFill/>
          </a:ln>
        </p:spPr>
      </p:sp>
      <p:sp>
        <p:nvSpPr>
          <p:cNvPr id="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the database generates the id, so the Python object does not know it until you refresh from the database. Not A: without add, nothing would be saved at all and you would get an error, not a null id. B is close and worth discussing - without commit the row is never written, so refresh would have nothing to read; commit is necessary but not sufficient. Not D: response_model filters fields, it does not fetch values. Discussion prompt: 'who decided that id was 1 - your code, or the database?'</a:t>
            </a:r>
            <a:endParaRPr lang="en-IN" sz="2000" b="0" u="none" strike="noStrike">
              <a:solidFill>
                <a:srgbClr val="000000"/>
              </a:solidFill>
              <a:effectLst/>
              <a:uFillTx/>
              <a:latin typeface="Arial"/>
            </a:endParaRPr>
          </a:p>
        </p:txBody>
      </p:sp>
      <p:sp>
        <p:nvSpPr>
          <p:cNvPr id="539"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990F35-51D4-418B-8A6F-5A670BB0013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6040" cy="3085920"/>
          </a:xfrm>
          <a:prstGeom prst="rect">
            <a:avLst/>
          </a:prstGeom>
          <a:ln w="0">
            <a:noFill/>
          </a:ln>
        </p:spPr>
      </p:sp>
      <p:sp>
        <p:nvSpPr>
          <p:cNvPr id="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Twelve minutes, then straight into the build. This is the promise from Module 1 being paid off, so make the callback explicit.</a:t>
            </a:r>
            <a:endParaRPr lang="en-IN" sz="2000" b="0" u="none" strike="noStrike">
              <a:solidFill>
                <a:srgbClr val="000000"/>
              </a:solidFill>
              <a:effectLst/>
              <a:uFillTx/>
              <a:latin typeface="Arial"/>
            </a:endParaRPr>
          </a:p>
        </p:txBody>
      </p:sp>
      <p:sp>
        <p:nvSpPr>
          <p:cNvPr id="542"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5C20C2-6D4F-4FA4-BA7F-D1E241FD6CA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85800" y="1143000"/>
            <a:ext cx="5486040" cy="3085920"/>
          </a:xfrm>
          <a:prstGeom prst="rect">
            <a:avLst/>
          </a:prstGeom>
          <a:ln w="0">
            <a:noFill/>
          </a:ln>
        </p:spPr>
      </p:sp>
      <p:sp>
        <p:nvSpPr>
          <p:cNvPr id="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two cards are the entire slide - students conflate these constantly and then cannot debug either. Say it twice: ForeignKey is storage, relationship is convenience. Then run m1_relationships.py and show it working in both directions, plus the IntegrityError when you point at a course that does not exist. Name many-to-many out loud as the honest real-world model - a student taking several courses needs a third table - so nobody thinks one-to-many is all there is.</a:t>
            </a:r>
            <a:endParaRPr lang="en-IN" sz="2000" b="0" u="none" strike="noStrike">
              <a:solidFill>
                <a:srgbClr val="000000"/>
              </a:solidFill>
              <a:effectLst/>
              <a:uFillTx/>
              <a:latin typeface="Arial"/>
            </a:endParaRPr>
          </a:p>
        </p:txBody>
      </p:sp>
      <p:sp>
        <p:nvSpPr>
          <p:cNvPr id="545"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114F63-120E-4E5D-95F9-259D6000F24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685800" y="1143000"/>
            <a:ext cx="5486040" cy="3085920"/>
          </a:xfrm>
          <a:prstGeom prst="rect">
            <a:avLst/>
          </a:prstGeom>
          <a:ln w="0">
            <a:noFill/>
          </a:ln>
        </p:spPr>
      </p:sp>
      <p:sp>
        <p:nvSpPr>
          <p:cNvPr id="5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not show the reference implementation until they have genuinely tried - the struggle is where the learning is. Walk the room and expect three recurring problems: forgetting from_attributes on the Out models, forgetting db.commit(), and 500s from returning a SQLAlchemy object where a Pydantic schema was declared. Twelve minutes is tight; the run book has the finish-at-home framing if you are short.</a:t>
            </a:r>
            <a:endParaRPr lang="en-IN" sz="2000" b="0" u="none" strike="noStrike">
              <a:solidFill>
                <a:srgbClr val="000000"/>
              </a:solidFill>
              <a:effectLst/>
              <a:uFillTx/>
              <a:latin typeface="Arial"/>
            </a:endParaRPr>
          </a:p>
        </p:txBody>
      </p:sp>
      <p:sp>
        <p:nvSpPr>
          <p:cNvPr id="548"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8AEDC9-F5B7-4F26-A778-4D3F6EFBCD7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685800" y="1143000"/>
            <a:ext cx="5486040" cy="3085920"/>
          </a:xfrm>
          <a:prstGeom prst="rect">
            <a:avLst/>
          </a:prstGeom>
          <a:ln w="0">
            <a:noFill/>
          </a:ln>
        </p:spPr>
      </p:sp>
      <p:sp>
        <p:nvSpPr>
          <p:cNvPr id="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the list out loud as a checklist - naming what they can now do is what makes a dense session feel like progress rather than a blur. Then end on the closing question and do not answer it. That question IS Module 3: hashing and JWT, get_current_user (which is get_db with a different body), roles, Docker, and a public URL on their own phone. Leave them wanting it.</a:t>
            </a:r>
            <a:endParaRPr lang="en-IN" sz="2000" b="0" u="none" strike="noStrike">
              <a:solidFill>
                <a:srgbClr val="000000"/>
              </a:solidFill>
              <a:effectLst/>
              <a:uFillTx/>
              <a:latin typeface="Arial"/>
            </a:endParaRPr>
          </a:p>
        </p:txBody>
      </p:sp>
      <p:sp>
        <p:nvSpPr>
          <p:cNvPr id="551"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2ABBAF-5620-40AB-AC1C-56CBE5C575E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Text 0"/>
          <p:cNvSpPr/>
          <p:nvPr/>
        </p:nvSpPr>
        <p:spPr>
          <a:xfrm>
            <a:off x="548640" y="2194560"/>
            <a:ext cx="1097244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rgbClr val="1E293B"/>
                </a:solidFill>
                <a:effectLst/>
                <a:uFillTx/>
                <a:latin typeface="Calibri"/>
                <a:ea typeface="Calibri"/>
              </a:rPr>
              <a:t>APIs &amp; Databases</a:t>
            </a:r>
            <a:endParaRPr lang="en-IN" sz="5400" b="0" u="none" strike="noStrike">
              <a:solidFill>
                <a:srgbClr val="000000"/>
              </a:solidFill>
              <a:effectLst/>
              <a:uFillTx/>
              <a:latin typeface="Arial"/>
            </a:endParaRPr>
          </a:p>
        </p:txBody>
      </p:sp>
      <p:sp>
        <p:nvSpPr>
          <p:cNvPr id="11" name="Text 1"/>
          <p:cNvSpPr/>
          <p:nvPr/>
        </p:nvSpPr>
        <p:spPr>
          <a:xfrm>
            <a:off x="548640" y="338328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6366F1"/>
                </a:solidFill>
                <a:effectLst/>
                <a:uFillTx/>
                <a:latin typeface="Calibri"/>
                <a:ea typeface="Calibri"/>
              </a:rPr>
              <a:t>REST   ·   full CRUD   ·   SQL   ·   PostgreSQL   ·   SQLAlchemy</a:t>
            </a:r>
            <a:endParaRPr lang="en-IN" sz="2200" b="0" u="none" strike="noStrike">
              <a:solidFill>
                <a:srgbClr val="000000"/>
              </a:solidFill>
              <a:effectLst/>
              <a:uFillTx/>
              <a:latin typeface="Arial"/>
            </a:endParaRPr>
          </a:p>
        </p:txBody>
      </p:sp>
      <p:sp>
        <p:nvSpPr>
          <p:cNvPr id="12" name="Text 2"/>
          <p:cNvSpPr/>
          <p:nvPr/>
        </p:nvSpPr>
        <p:spPr>
          <a:xfrm>
            <a:off x="548640" y="4023360"/>
            <a:ext cx="10972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By the end of today your API will still remember everything — after you turn it off.</a:t>
            </a:r>
            <a:endParaRPr lang="en-IN" sz="1500" b="0" u="none" strike="noStrike">
              <a:solidFill>
                <a:srgbClr val="000000"/>
              </a:solidFill>
              <a:effectLst/>
              <a:uFillTx/>
              <a:latin typeface="Arial"/>
            </a:endParaRPr>
          </a:p>
        </p:txBody>
      </p:sp>
      <p:sp>
        <p:nvSpPr>
          <p:cNvPr id="13" name="Text 3"/>
          <p:cNvSpPr/>
          <p:nvPr/>
        </p:nvSpPr>
        <p:spPr>
          <a:xfrm>
            <a:off x="548640" y="58521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Lovely Professional University</a:t>
            </a:r>
            <a:r>
              <a:rPr lang="en-US" sz="1300" b="0" u="none" strike="noStrike">
                <a:solidFill>
                  <a:srgbClr val="64748B"/>
                </a:solidFill>
                <a:effectLst/>
                <a:uFillTx/>
                <a:latin typeface="Calibri"/>
                <a:ea typeface="Calibri"/>
              </a:rPr>
              <a:t>    ·    Backend &amp; Generative AI    ·    Poorit Technologies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Text 0"/>
          <p:cNvSpPr/>
          <p:nvPr/>
        </p:nvSpPr>
        <p:spPr>
          <a:xfrm>
            <a:off x="914400" y="2011680"/>
            <a:ext cx="103597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i="1" u="none" strike="noStrike">
                <a:solidFill>
                  <a:srgbClr val="64748B"/>
                </a:solidFill>
                <a:effectLst/>
                <a:uFillTx/>
                <a:latin typeface="Calibri"/>
                <a:ea typeface="Calibri"/>
              </a:rPr>
              <a:t>You added five students yesterday.</a:t>
            </a:r>
            <a:endParaRPr lang="en-IN" sz="2200" b="0" u="none" strike="noStrike">
              <a:solidFill>
                <a:srgbClr val="000000"/>
              </a:solidFill>
              <a:effectLst/>
              <a:uFillTx/>
              <a:latin typeface="Arial"/>
            </a:endParaRPr>
          </a:p>
        </p:txBody>
      </p:sp>
      <p:sp>
        <p:nvSpPr>
          <p:cNvPr id="15" name="Text 1"/>
          <p:cNvSpPr/>
          <p:nvPr/>
        </p:nvSpPr>
        <p:spPr>
          <a:xfrm>
            <a:off x="914400" y="2606040"/>
            <a:ext cx="103597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1E293B"/>
                </a:solidFill>
                <a:effectLst/>
                <a:uFillTx/>
                <a:latin typeface="Calibri"/>
                <a:ea typeface="Calibri"/>
              </a:rPr>
              <a:t>Then you pressed Ctrl+C.</a:t>
            </a:r>
            <a:endParaRPr lang="en-IN" sz="4000" b="0" u="none" strike="noStrike">
              <a:solidFill>
                <a:srgbClr val="000000"/>
              </a:solidFill>
              <a:effectLst/>
              <a:uFillTx/>
              <a:latin typeface="Arial"/>
            </a:endParaRPr>
          </a:p>
        </p:txBody>
      </p:sp>
      <p:sp>
        <p:nvSpPr>
          <p:cNvPr id="16" name="Text 2"/>
          <p:cNvSpPr/>
          <p:nvPr/>
        </p:nvSpPr>
        <p:spPr>
          <a:xfrm>
            <a:off x="914400" y="3840480"/>
            <a:ext cx="103597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6366F1"/>
                </a:solidFill>
                <a:effectLst/>
                <a:uFillTx/>
                <a:latin typeface="Calibri"/>
                <a:ea typeface="Calibri"/>
              </a:rPr>
              <a:t>Where are they now?</a:t>
            </a:r>
            <a:endParaRPr lang="en-IN"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same app, twice more grown-up</a:t>
            </a:r>
            <a:endParaRPr lang="en-IN" sz="3000" b="0" u="none" strike="noStrike">
              <a:solidFill>
                <a:srgbClr val="000000"/>
              </a:solidFill>
              <a:effectLst/>
              <a:uFillTx/>
              <a:latin typeface="Arial"/>
            </a:endParaRPr>
          </a:p>
        </p:txBody>
      </p:sp>
      <p:sp>
        <p:nvSpPr>
          <p:cNvPr id="18"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One thing changes at a time. First the API. Then the storage.</a:t>
            </a:r>
            <a:endParaRPr lang="en-IN" sz="1500" b="0" u="none" strike="noStrike">
              <a:solidFill>
                <a:srgbClr val="000000"/>
              </a:solidFill>
              <a:effectLst/>
              <a:uFillTx/>
              <a:latin typeface="Arial"/>
            </a:endParaRPr>
          </a:p>
        </p:txBody>
      </p:sp>
      <p:sp>
        <p:nvSpPr>
          <p:cNvPr id="19" name="Shape 2"/>
          <p:cNvSpPr/>
          <p:nvPr/>
        </p:nvSpPr>
        <p:spPr>
          <a:xfrm>
            <a:off x="548640" y="2011680"/>
            <a:ext cx="639720" cy="639720"/>
          </a:xfrm>
          <a:prstGeom prst="roundRect">
            <a:avLst>
              <a:gd name="adj" fmla="val 50000"/>
            </a:avLst>
          </a:prstGeom>
          <a:solidFill>
            <a:srgbClr val="CBD5E1"/>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 name="Text 3"/>
          <p:cNvSpPr/>
          <p:nvPr/>
        </p:nvSpPr>
        <p:spPr>
          <a:xfrm>
            <a:off x="548640" y="201168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21" name="Shape 4"/>
          <p:cNvSpPr/>
          <p:nvPr/>
        </p:nvSpPr>
        <p:spPr>
          <a:xfrm>
            <a:off x="1463040" y="1828800"/>
            <a:ext cx="10176840" cy="1005480"/>
          </a:xfrm>
          <a:prstGeom prst="roundRect">
            <a:avLst>
              <a:gd name="adj" fmla="val 909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 name="Text 5"/>
          <p:cNvSpPr/>
          <p:nvPr/>
        </p:nvSpPr>
        <p:spPr>
          <a:xfrm>
            <a:off x="1737360" y="1828800"/>
            <a:ext cx="173700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64748B"/>
                </a:solidFill>
                <a:effectLst/>
                <a:uFillTx/>
                <a:latin typeface="Calibri"/>
                <a:ea typeface="Calibri"/>
              </a:rPr>
              <a:t>MODULE 1</a:t>
            </a:r>
            <a:endParaRPr lang="en-IN" sz="1200" b="0" u="none" strike="noStrike">
              <a:solidFill>
                <a:srgbClr val="000000"/>
              </a:solidFill>
              <a:effectLst/>
              <a:uFillTx/>
              <a:latin typeface="Arial"/>
            </a:endParaRPr>
          </a:p>
        </p:txBody>
      </p:sp>
      <p:sp>
        <p:nvSpPr>
          <p:cNvPr id="23" name="Text 6"/>
          <p:cNvSpPr/>
          <p:nvPr/>
        </p:nvSpPr>
        <p:spPr>
          <a:xfrm>
            <a:off x="3566160" y="1947600"/>
            <a:ext cx="7863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64748B"/>
                </a:solidFill>
                <a:effectLst/>
                <a:uFillTx/>
                <a:latin typeface="Calibri"/>
                <a:ea typeface="Calibri"/>
              </a:rPr>
              <a:t>in memory</a:t>
            </a:r>
            <a:endParaRPr lang="en-IN" sz="1800" b="0" u="none" strike="noStrike">
              <a:solidFill>
                <a:srgbClr val="000000"/>
              </a:solidFill>
              <a:effectLst/>
              <a:uFillTx/>
              <a:latin typeface="Arial"/>
            </a:endParaRPr>
          </a:p>
        </p:txBody>
      </p:sp>
      <p:sp>
        <p:nvSpPr>
          <p:cNvPr id="24" name="Text 7"/>
          <p:cNvSpPr/>
          <p:nvPr/>
        </p:nvSpPr>
        <p:spPr>
          <a:xfrm>
            <a:off x="3566160" y="2340720"/>
            <a:ext cx="7863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objects, endpoints, validation — and it dies on restart</a:t>
            </a:r>
            <a:endParaRPr lang="en-IN" sz="1300" b="0" u="none" strike="noStrike">
              <a:solidFill>
                <a:srgbClr val="000000"/>
              </a:solidFill>
              <a:effectLst/>
              <a:uFillTx/>
              <a:latin typeface="Arial"/>
            </a:endParaRPr>
          </a:p>
        </p:txBody>
      </p:sp>
      <p:sp>
        <p:nvSpPr>
          <p:cNvPr id="25" name="Shape 8"/>
          <p:cNvSpPr/>
          <p:nvPr/>
        </p:nvSpPr>
        <p:spPr>
          <a:xfrm>
            <a:off x="548640" y="3200400"/>
            <a:ext cx="639720" cy="63972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 name="Text 9"/>
          <p:cNvSpPr/>
          <p:nvPr/>
        </p:nvSpPr>
        <p:spPr>
          <a:xfrm>
            <a:off x="548640" y="320040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27" name="Shape 10"/>
          <p:cNvSpPr/>
          <p:nvPr/>
        </p:nvSpPr>
        <p:spPr>
          <a:xfrm>
            <a:off x="1463040" y="3017520"/>
            <a:ext cx="10176840" cy="1005480"/>
          </a:xfrm>
          <a:prstGeom prst="roundRect">
            <a:avLst>
              <a:gd name="adj" fmla="val 9091"/>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 name="Text 11"/>
          <p:cNvSpPr/>
          <p:nvPr/>
        </p:nvSpPr>
        <p:spPr>
          <a:xfrm>
            <a:off x="1737360" y="3017520"/>
            <a:ext cx="173700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64748B"/>
                </a:solidFill>
                <a:effectLst/>
                <a:uFillTx/>
                <a:latin typeface="Calibri"/>
                <a:ea typeface="Calibri"/>
              </a:rPr>
              <a:t>FIRST HOUR</a:t>
            </a:r>
            <a:endParaRPr lang="en-IN" sz="1200" b="0" u="none" strike="noStrike">
              <a:solidFill>
                <a:srgbClr val="000000"/>
              </a:solidFill>
              <a:effectLst/>
              <a:uFillTx/>
              <a:latin typeface="Arial"/>
            </a:endParaRPr>
          </a:p>
        </p:txBody>
      </p:sp>
      <p:sp>
        <p:nvSpPr>
          <p:cNvPr id="29" name="Text 12"/>
          <p:cNvSpPr/>
          <p:nvPr/>
        </p:nvSpPr>
        <p:spPr>
          <a:xfrm>
            <a:off x="3566160" y="3136320"/>
            <a:ext cx="7863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93B"/>
                </a:solidFill>
                <a:effectLst/>
                <a:uFillTx/>
                <a:latin typeface="Calibri"/>
                <a:ea typeface="Calibri"/>
              </a:rPr>
              <a:t>a proper API</a:t>
            </a:r>
            <a:endParaRPr lang="en-IN" sz="1800" b="0" u="none" strike="noStrike">
              <a:solidFill>
                <a:srgbClr val="000000"/>
              </a:solidFill>
              <a:effectLst/>
              <a:uFillTx/>
              <a:latin typeface="Arial"/>
            </a:endParaRPr>
          </a:p>
        </p:txBody>
      </p:sp>
      <p:sp>
        <p:nvSpPr>
          <p:cNvPr id="30" name="Text 13"/>
          <p:cNvSpPr/>
          <p:nvPr/>
        </p:nvSpPr>
        <p:spPr>
          <a:xfrm>
            <a:off x="3566160" y="3529440"/>
            <a:ext cx="7863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every verb, real errors, one failure shape</a:t>
            </a:r>
            <a:endParaRPr lang="en-IN" sz="1300" b="0" u="none" strike="noStrike">
              <a:solidFill>
                <a:srgbClr val="000000"/>
              </a:solidFill>
              <a:effectLst/>
              <a:uFillTx/>
              <a:latin typeface="Arial"/>
            </a:endParaRPr>
          </a:p>
        </p:txBody>
      </p:sp>
      <p:sp>
        <p:nvSpPr>
          <p:cNvPr id="31" name="Shape 14"/>
          <p:cNvSpPr/>
          <p:nvPr/>
        </p:nvSpPr>
        <p:spPr>
          <a:xfrm>
            <a:off x="548640" y="4389120"/>
            <a:ext cx="639720" cy="63972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2" name="Text 15"/>
          <p:cNvSpPr/>
          <p:nvPr/>
        </p:nvSpPr>
        <p:spPr>
          <a:xfrm>
            <a:off x="548640" y="438912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33" name="Shape 16"/>
          <p:cNvSpPr/>
          <p:nvPr/>
        </p:nvSpPr>
        <p:spPr>
          <a:xfrm>
            <a:off x="1463040" y="4206240"/>
            <a:ext cx="10176840" cy="1005480"/>
          </a:xfrm>
          <a:prstGeom prst="roundRect">
            <a:avLst>
              <a:gd name="adj" fmla="val 9091"/>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 name="Text 17"/>
          <p:cNvSpPr/>
          <p:nvPr/>
        </p:nvSpPr>
        <p:spPr>
          <a:xfrm>
            <a:off x="1737360" y="4206240"/>
            <a:ext cx="173700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64748B"/>
                </a:solidFill>
                <a:effectLst/>
                <a:uFillTx/>
                <a:latin typeface="Calibri"/>
                <a:ea typeface="Calibri"/>
              </a:rPr>
              <a:t>SECOND HOUR</a:t>
            </a:r>
            <a:endParaRPr lang="en-IN" sz="1200" b="0" u="none" strike="noStrike">
              <a:solidFill>
                <a:srgbClr val="000000"/>
              </a:solidFill>
              <a:effectLst/>
              <a:uFillTx/>
              <a:latin typeface="Arial"/>
            </a:endParaRPr>
          </a:p>
        </p:txBody>
      </p:sp>
      <p:sp>
        <p:nvSpPr>
          <p:cNvPr id="35" name="Text 18"/>
          <p:cNvSpPr/>
          <p:nvPr/>
        </p:nvSpPr>
        <p:spPr>
          <a:xfrm>
            <a:off x="3566160" y="4325040"/>
            <a:ext cx="7863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93B"/>
                </a:solidFill>
                <a:effectLst/>
                <a:uFillTx/>
                <a:latin typeface="Calibri"/>
                <a:ea typeface="Calibri"/>
              </a:rPr>
              <a:t>a real database</a:t>
            </a:r>
            <a:endParaRPr lang="en-IN" sz="1800" b="0" u="none" strike="noStrike">
              <a:solidFill>
                <a:srgbClr val="000000"/>
              </a:solidFill>
              <a:effectLst/>
              <a:uFillTx/>
              <a:latin typeface="Arial"/>
            </a:endParaRPr>
          </a:p>
        </p:txBody>
      </p:sp>
      <p:sp>
        <p:nvSpPr>
          <p:cNvPr id="36" name="Text 19"/>
          <p:cNvSpPr/>
          <p:nvPr/>
        </p:nvSpPr>
        <p:spPr>
          <a:xfrm>
            <a:off x="3566160" y="4718160"/>
            <a:ext cx="7863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SQL, PostgreSQL, SQLAlchemy — it survives anything</a:t>
            </a:r>
            <a:endParaRPr lang="en-IN" sz="1300" b="0" u="none" strike="noStrike">
              <a:solidFill>
                <a:srgbClr val="000000"/>
              </a:solidFill>
              <a:effectLst/>
              <a:uFillTx/>
              <a:latin typeface="Arial"/>
            </a:endParaRPr>
          </a:p>
        </p:txBody>
      </p:sp>
      <p:sp>
        <p:nvSpPr>
          <p:cNvPr id="37" name="Shape 20"/>
          <p:cNvSpPr/>
          <p:nvPr/>
        </p:nvSpPr>
        <p:spPr>
          <a:xfrm>
            <a:off x="548640" y="5669280"/>
            <a:ext cx="11091240" cy="731160"/>
          </a:xfrm>
          <a:prstGeom prst="roundRect">
            <a:avLst>
              <a:gd name="adj" fmla="val 125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 name="Text 21"/>
          <p:cNvSpPr/>
          <p:nvPr/>
        </p:nvSpPr>
        <p:spPr>
          <a:xfrm>
            <a:off x="868680" y="566928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Win condition for today:  </a:t>
            </a:r>
            <a:r>
              <a:rPr lang="en-US" sz="1500" b="0" u="none" strike="noStrike">
                <a:solidFill>
                  <a:srgbClr val="1E293B"/>
                </a:solidFill>
                <a:effectLst/>
                <a:uFillTx/>
                <a:latin typeface="Calibri"/>
                <a:ea typeface="Calibri"/>
              </a:rPr>
              <a:t>restart your server, hit GET /students, and the data is still there.</a:t>
            </a:r>
            <a:endParaRPr lang="en-IN" sz="1500" b="0" u="none" strike="noStrike">
              <a:solidFill>
                <a:srgbClr val="000000"/>
              </a:solidFill>
              <a:effectLst/>
              <a:uFillTx/>
              <a:latin typeface="Arial"/>
            </a:endParaRPr>
          </a:p>
        </p:txBody>
      </p:sp>
      <p:sp>
        <p:nvSpPr>
          <p:cNvPr id="39" name="Text 22"/>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40" name="Text 2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41"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01</a:t>
            </a:r>
            <a:endParaRPr lang="en-IN" sz="9600" b="0" u="none" strike="noStrike">
              <a:solidFill>
                <a:srgbClr val="000000"/>
              </a:solidFill>
              <a:effectLst/>
              <a:uFillTx/>
              <a:latin typeface="Arial"/>
            </a:endParaRPr>
          </a:p>
        </p:txBody>
      </p:sp>
      <p:sp>
        <p:nvSpPr>
          <p:cNvPr id="42"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REST design — nouns and verbs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path is a NOUN. The method is the VERB.</a:t>
            </a:r>
            <a:endParaRPr lang="en-IN" sz="3000" b="0" u="none" strike="noStrike">
              <a:solidFill>
                <a:srgbClr val="000000"/>
              </a:solidFill>
              <a:effectLst/>
              <a:uFillTx/>
              <a:latin typeface="Arial"/>
            </a:endParaRPr>
          </a:p>
        </p:txBody>
      </p:sp>
      <p:sp>
        <p:nvSpPr>
          <p:cNvPr id="44"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Almost every API design mistake is one of these two rules being broken.</a:t>
            </a:r>
            <a:endParaRPr lang="en-IN" sz="1500" b="0" u="none" strike="noStrike">
              <a:solidFill>
                <a:srgbClr val="000000"/>
              </a:solidFill>
              <a:effectLst/>
              <a:uFillTx/>
              <a:latin typeface="Arial"/>
            </a:endParaRPr>
          </a:p>
        </p:txBody>
      </p:sp>
      <p:graphicFrame>
        <p:nvGraphicFramePr>
          <p:cNvPr id="45" name="Table 0"/>
          <p:cNvGraphicFramePr/>
          <p:nvPr/>
        </p:nvGraphicFramePr>
        <p:xfrm>
          <a:off x="548640" y="1645920"/>
          <a:ext cx="11091240" cy="2834280"/>
        </p:xfrm>
        <a:graphic>
          <a:graphicData uri="http://schemas.openxmlformats.org/drawingml/2006/table">
            <a:tbl>
              <a:tblPr/>
              <a:tblGrid>
                <a:gridCol w="3657600"/>
                <a:gridCol w="3291840"/>
                <a:gridCol w="4142160"/>
              </a:tblGrid>
              <a:tr h="56664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Wrong</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Right</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6664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GET /getAllStudents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GET /students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'get' is already the method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6664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POST /createStudent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POST /students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'create' is already POST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6664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GET /deleteStudent?id=1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DELETE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wrong twice - verb in path AND wrong method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6664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POST /updateStudentName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PATCH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partial change is a PATCH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46" name="Shape 2"/>
          <p:cNvSpPr/>
          <p:nvPr/>
        </p:nvSpPr>
        <p:spPr>
          <a:xfrm>
            <a:off x="548640" y="466344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7" name="Text 3"/>
          <p:cNvSpPr/>
          <p:nvPr/>
        </p:nvSpPr>
        <p:spPr>
          <a:xfrm>
            <a:off x="868680" y="466344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/students is the collection.  </a:t>
            </a:r>
            <a:r>
              <a:rPr lang="en-US" sz="1500" b="0" u="none" strike="noStrike">
                <a:solidFill>
                  <a:srgbClr val="1E293B"/>
                </a:solidFill>
                <a:effectLst/>
                <a:uFillTx/>
                <a:latin typeface="Calibri"/>
                <a:ea typeface="Calibri"/>
              </a:rPr>
              <a:t>/students/1 is one item in it. That is why the plural reads correctly in both.</a:t>
            </a:r>
            <a:endParaRPr lang="en-IN" sz="1500" b="0" u="none" strike="noStrike">
              <a:solidFill>
                <a:srgbClr val="000000"/>
              </a:solidFill>
              <a:effectLst/>
              <a:uFillTx/>
              <a:latin typeface="Arial"/>
            </a:endParaRPr>
          </a:p>
        </p:txBody>
      </p:sp>
      <p:sp>
        <p:nvSpPr>
          <p:cNvPr id="48" name="Shape 4"/>
          <p:cNvSpPr/>
          <p:nvPr/>
        </p:nvSpPr>
        <p:spPr>
          <a:xfrm>
            <a:off x="548640" y="5486400"/>
            <a:ext cx="11091240" cy="639720"/>
          </a:xfrm>
          <a:prstGeom prst="roundRect">
            <a:avLst>
              <a:gd name="adj" fmla="val 1428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9" name="Text 5"/>
          <p:cNvSpPr/>
          <p:nvPr/>
        </p:nvSpPr>
        <p:spPr>
          <a:xfrm>
            <a:off x="868680" y="54864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Ask them out loud:  </a:t>
            </a:r>
            <a:r>
              <a:rPr lang="en-US" sz="1500" b="0" u="none" strike="noStrike">
                <a:solidFill>
                  <a:srgbClr val="1E293B"/>
                </a:solidFill>
                <a:effectLst/>
                <a:uFillTx/>
                <a:latin typeface="Calibri"/>
                <a:ea typeface="Calibri"/>
              </a:rPr>
              <a:t>"Fix GET /getAllStudentsList." Then: "why plural, not /student?"</a:t>
            </a:r>
            <a:endParaRPr lang="en-IN" sz="1500" b="0" u="none" strike="noStrike">
              <a:solidFill>
                <a:srgbClr val="000000"/>
              </a:solidFill>
              <a:effectLst/>
              <a:uFillTx/>
              <a:latin typeface="Arial"/>
            </a:endParaRPr>
          </a:p>
        </p:txBody>
      </p:sp>
      <p:sp>
        <p:nvSpPr>
          <p:cNvPr id="50" name="Text 6"/>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51" name="Text 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Five methods, and the word that matters</a:t>
            </a:r>
            <a:endParaRPr lang="en-IN" sz="3000" b="0" u="none" strike="noStrike">
              <a:solidFill>
                <a:srgbClr val="000000"/>
              </a:solidFill>
              <a:effectLst/>
              <a:uFillTx/>
              <a:latin typeface="Arial"/>
            </a:endParaRPr>
          </a:p>
        </p:txBody>
      </p:sp>
      <p:graphicFrame>
        <p:nvGraphicFramePr>
          <p:cNvPr id="53" name="Table 0"/>
          <p:cNvGraphicFramePr/>
          <p:nvPr/>
        </p:nvGraphicFramePr>
        <p:xfrm>
          <a:off x="548640" y="1463040"/>
          <a:ext cx="11091240" cy="3017520"/>
        </p:xfrm>
        <a:graphic>
          <a:graphicData uri="http://schemas.openxmlformats.org/drawingml/2006/table">
            <a:tbl>
              <a:tblPr/>
              <a:tblGrid>
                <a:gridCol w="1828800"/>
                <a:gridCol w="3931920"/>
                <a:gridCol w="3474720"/>
                <a:gridCol w="1856160"/>
              </a:tblGrid>
              <a:tr h="5029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Method</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Means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On one item</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Idempotent?</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GET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read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GET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POST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create something new</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NO</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PUT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replace it entirely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PUT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PATCH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change part of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PATCH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45309"/>
                          </a:solidFill>
                          <a:effectLst/>
                          <a:uFillTx/>
                          <a:latin typeface="Calibri"/>
                          <a:ea typeface="Calibri"/>
                        </a:rPr>
                        <a:t>usually not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DELETE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remove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DELETE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54" name="Shape 1"/>
          <p:cNvSpPr/>
          <p:nvPr/>
        </p:nvSpPr>
        <p:spPr>
          <a:xfrm>
            <a:off x="548640" y="4617720"/>
            <a:ext cx="11091240" cy="959760"/>
          </a:xfrm>
          <a:prstGeom prst="roundRect">
            <a:avLst>
              <a:gd name="adj" fmla="val 952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5" name="Text 2"/>
          <p:cNvSpPr/>
          <p:nvPr/>
        </p:nvSpPr>
        <p:spPr>
          <a:xfrm>
            <a:off x="868680" y="470916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Idempotent = doing it twice is the same as doing it once.</a:t>
            </a:r>
            <a:endParaRPr lang="en-IN" sz="1700" b="0" u="none" strike="noStrike">
              <a:solidFill>
                <a:srgbClr val="000000"/>
              </a:solidFill>
              <a:effectLst/>
              <a:uFillTx/>
              <a:latin typeface="Arial"/>
            </a:endParaRPr>
          </a:p>
        </p:txBody>
      </p:sp>
      <p:sp>
        <p:nvSpPr>
          <p:cNvPr id="56" name="Text 3"/>
          <p:cNvSpPr/>
          <p:nvPr/>
        </p:nvSpPr>
        <p:spPr>
          <a:xfrm>
            <a:off x="868680" y="5074920"/>
            <a:ext cx="10423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Your app sends POST /students. The train goes into a tunnel. The reply is lost. Did it work? Nobody knows — and retrying might create two students. Send PUT /students/1 five times and the student ends up in the same state.</a:t>
            </a:r>
            <a:endParaRPr lang="en-IN" sz="1300" b="0" u="none" strike="noStrike">
              <a:solidFill>
                <a:srgbClr val="000000"/>
              </a:solidFill>
              <a:effectLst/>
              <a:uFillTx/>
              <a:latin typeface="Arial"/>
            </a:endParaRPr>
          </a:p>
        </p:txBody>
      </p:sp>
      <p:sp>
        <p:nvSpPr>
          <p:cNvPr id="57" name="Shape 4"/>
          <p:cNvSpPr/>
          <p:nvPr/>
        </p:nvSpPr>
        <p:spPr>
          <a:xfrm>
            <a:off x="548640" y="5760720"/>
            <a:ext cx="11091240" cy="594000"/>
          </a:xfrm>
          <a:prstGeom prst="roundRect">
            <a:avLst>
              <a:gd name="adj" fmla="val 1538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8" name="Text 5"/>
          <p:cNvSpPr/>
          <p:nvPr/>
        </p:nvSpPr>
        <p:spPr>
          <a:xfrm>
            <a:off x="868680" y="576072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That is why  </a:t>
            </a:r>
            <a:r>
              <a:rPr lang="en-US" sz="1500" b="0" u="none" strike="noStrike">
                <a:solidFill>
                  <a:srgbClr val="1E293B"/>
                </a:solidFill>
                <a:effectLst/>
                <a:uFillTx/>
                <a:latin typeface="Calibri"/>
                <a:ea typeface="Calibri"/>
              </a:rPr>
              <a:t>the retry button on a payment screen is terrifying, and the one on "save profile" is not.</a:t>
            </a:r>
            <a:endParaRPr lang="en-IN" sz="1500" b="0" u="none" strike="noStrike">
              <a:solidFill>
                <a:srgbClr val="000000"/>
              </a:solidFill>
              <a:effectLst/>
              <a:uFillTx/>
              <a:latin typeface="Arial"/>
            </a:endParaRPr>
          </a:p>
        </p:txBody>
      </p:sp>
      <p:sp>
        <p:nvSpPr>
          <p:cNvPr id="59" name="Text 6"/>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60" name="Text 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PUT replaces. PATCH changes.</a:t>
            </a:r>
            <a:endParaRPr lang="en-IN" sz="3000" b="0" u="none" strike="noStrike">
              <a:solidFill>
                <a:srgbClr val="000000"/>
              </a:solidFill>
              <a:effectLst/>
              <a:uFillTx/>
              <a:latin typeface="Arial"/>
            </a:endParaRPr>
          </a:p>
        </p:txBody>
      </p:sp>
      <p:sp>
        <p:nvSpPr>
          <p:cNvPr id="62" name="Shape 1"/>
          <p:cNvSpPr/>
          <p:nvPr/>
        </p:nvSpPr>
        <p:spPr>
          <a:xfrm>
            <a:off x="548640" y="1554480"/>
            <a:ext cx="11091240" cy="685440"/>
          </a:xfrm>
          <a:prstGeom prst="roundRect">
            <a:avLst>
              <a:gd name="adj" fmla="val 8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3" name="Text 2"/>
          <p:cNvSpPr/>
          <p:nvPr/>
        </p:nvSpPr>
        <p:spPr>
          <a:xfrm>
            <a:off x="804600" y="1737360"/>
            <a:ext cx="10579320" cy="319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1E293B"/>
                </a:solidFill>
                <a:effectLst/>
                <a:uFillTx/>
                <a:latin typeface="Courier New"/>
                <a:ea typeface="Courier New"/>
              </a:rPr>
              <a:t>Student 1 = {"id": 1, "name": "Ada", "branch": "CSE", "age": 20}</a:t>
            </a:r>
            <a:endParaRPr lang="en-IN" sz="1400" b="0" u="none" strike="noStrike">
              <a:solidFill>
                <a:srgbClr val="000000"/>
              </a:solidFill>
              <a:effectLst/>
              <a:uFillTx/>
              <a:latin typeface="Arial"/>
            </a:endParaRPr>
          </a:p>
        </p:txBody>
      </p:sp>
      <p:sp>
        <p:nvSpPr>
          <p:cNvPr id="64" name="Shape 3"/>
          <p:cNvSpPr/>
          <p:nvPr/>
        </p:nvSpPr>
        <p:spPr>
          <a:xfrm>
            <a:off x="548640" y="2514600"/>
            <a:ext cx="5394600" cy="1737000"/>
          </a:xfrm>
          <a:prstGeom prst="roundRect">
            <a:avLst>
              <a:gd name="adj" fmla="val 526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5" name="Text 4"/>
          <p:cNvSpPr/>
          <p:nvPr/>
        </p:nvSpPr>
        <p:spPr>
          <a:xfrm>
            <a:off x="822960" y="26974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ourier New"/>
                <a:ea typeface="Courier New"/>
              </a:rPr>
              <a:t>PUT /students/1</a:t>
            </a:r>
            <a:endParaRPr lang="en-IN" sz="1600" b="0" u="none" strike="noStrike">
              <a:solidFill>
                <a:srgbClr val="000000"/>
              </a:solidFill>
              <a:effectLst/>
              <a:uFillTx/>
              <a:latin typeface="Arial"/>
            </a:endParaRPr>
          </a:p>
        </p:txBody>
      </p:sp>
      <p:sp>
        <p:nvSpPr>
          <p:cNvPr id="66" name="Text 5"/>
          <p:cNvSpPr/>
          <p:nvPr/>
        </p:nvSpPr>
        <p:spPr>
          <a:xfrm>
            <a:off x="822960" y="31089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E293B"/>
                </a:solidFill>
                <a:effectLst/>
                <a:uFillTx/>
                <a:latin typeface="Courier New"/>
                <a:ea typeface="Courier New"/>
              </a:rPr>
              <a:t>{"name":"Ada", "branch":"ECE", "age":20}</a:t>
            </a:r>
            <a:endParaRPr lang="en-IN" sz="1100" b="0" u="none" strike="noStrike">
              <a:solidFill>
                <a:srgbClr val="000000"/>
              </a:solidFill>
              <a:effectLst/>
              <a:uFillTx/>
              <a:latin typeface="Arial"/>
            </a:endParaRPr>
          </a:p>
        </p:txBody>
      </p:sp>
      <p:sp>
        <p:nvSpPr>
          <p:cNvPr id="67" name="Text 6"/>
          <p:cNvSpPr/>
          <p:nvPr/>
        </p:nvSpPr>
        <p:spPr>
          <a:xfrm>
            <a:off x="822960" y="35661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"here is the new record"</a:t>
            </a:r>
            <a:endParaRPr lang="en-IN" sz="1400" b="0" u="none" strike="noStrike">
              <a:solidFill>
                <a:srgbClr val="000000"/>
              </a:solidFill>
              <a:effectLst/>
              <a:uFillTx/>
              <a:latin typeface="Arial"/>
            </a:endParaRPr>
          </a:p>
        </p:txBody>
      </p:sp>
      <p:sp>
        <p:nvSpPr>
          <p:cNvPr id="68" name="Shape 7"/>
          <p:cNvSpPr/>
          <p:nvPr/>
        </p:nvSpPr>
        <p:spPr>
          <a:xfrm>
            <a:off x="6245280" y="2514600"/>
            <a:ext cx="5394600" cy="1737000"/>
          </a:xfrm>
          <a:prstGeom prst="roundRect">
            <a:avLst>
              <a:gd name="adj" fmla="val 5263"/>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9" name="Text 8"/>
          <p:cNvSpPr/>
          <p:nvPr/>
        </p:nvSpPr>
        <p:spPr>
          <a:xfrm>
            <a:off x="6519600" y="26974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803D"/>
                </a:solidFill>
                <a:effectLst/>
                <a:uFillTx/>
                <a:latin typeface="Courier New"/>
                <a:ea typeface="Courier New"/>
              </a:rPr>
              <a:t>PATCH /students/1</a:t>
            </a:r>
            <a:endParaRPr lang="en-IN" sz="1600" b="0" u="none" strike="noStrike">
              <a:solidFill>
                <a:srgbClr val="000000"/>
              </a:solidFill>
              <a:effectLst/>
              <a:uFillTx/>
              <a:latin typeface="Arial"/>
            </a:endParaRPr>
          </a:p>
        </p:txBody>
      </p:sp>
      <p:sp>
        <p:nvSpPr>
          <p:cNvPr id="70" name="Text 9"/>
          <p:cNvSpPr/>
          <p:nvPr/>
        </p:nvSpPr>
        <p:spPr>
          <a:xfrm>
            <a:off x="6519600" y="31089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E293B"/>
                </a:solidFill>
                <a:effectLst/>
                <a:uFillTx/>
                <a:latin typeface="Courier New"/>
                <a:ea typeface="Courier New"/>
              </a:rPr>
              <a:t>{"branch": "ECE"}</a:t>
            </a:r>
            <a:endParaRPr lang="en-IN" sz="1100" b="0" u="none" strike="noStrike">
              <a:solidFill>
                <a:srgbClr val="000000"/>
              </a:solidFill>
              <a:effectLst/>
              <a:uFillTx/>
              <a:latin typeface="Arial"/>
            </a:endParaRPr>
          </a:p>
        </p:txBody>
      </p:sp>
      <p:sp>
        <p:nvSpPr>
          <p:cNvPr id="71" name="Text 10"/>
          <p:cNvSpPr/>
          <p:nvPr/>
        </p:nvSpPr>
        <p:spPr>
          <a:xfrm>
            <a:off x="6519600" y="35661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"here is the change"</a:t>
            </a:r>
            <a:endParaRPr lang="en-IN" sz="1400" b="0" u="none" strike="noStrike">
              <a:solidFill>
                <a:srgbClr val="000000"/>
              </a:solidFill>
              <a:effectLst/>
              <a:uFillTx/>
              <a:latin typeface="Arial"/>
            </a:endParaRPr>
          </a:p>
        </p:txBody>
      </p:sp>
      <p:sp>
        <p:nvSpPr>
          <p:cNvPr id="72" name="Shape 11"/>
          <p:cNvSpPr/>
          <p:nvPr/>
        </p:nvSpPr>
        <p:spPr>
          <a:xfrm>
            <a:off x="548640" y="4526280"/>
            <a:ext cx="11091240" cy="731160"/>
          </a:xfrm>
          <a:prstGeom prst="roundRect">
            <a:avLst>
              <a:gd name="adj" fmla="val 1250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3" name="Text 12"/>
          <p:cNvSpPr/>
          <p:nvPr/>
        </p:nvSpPr>
        <p:spPr>
          <a:xfrm>
            <a:off x="868680" y="452628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The trap:  </a:t>
            </a:r>
            <a:r>
              <a:rPr lang="en-US" sz="1500" b="0" u="none" strike="noStrike">
                <a:solidFill>
                  <a:srgbClr val="1E293B"/>
                </a:solidFill>
                <a:effectLst/>
                <a:uFillTx/>
                <a:latin typeface="Calibri"/>
                <a:ea typeface="Calibri"/>
              </a:rPr>
              <a:t>send a PUT with a field missing and a strict PUT WIPES it. That is not a bug — that is what "replace" means.</a:t>
            </a:r>
            <a:endParaRPr lang="en-IN" sz="1500" b="0" u="none" strike="noStrike">
              <a:solidFill>
                <a:srgbClr val="000000"/>
              </a:solidFill>
              <a:effectLst/>
              <a:uFillTx/>
              <a:latin typeface="Arial"/>
            </a:endParaRPr>
          </a:p>
        </p:txBody>
      </p:sp>
      <p:sp>
        <p:nvSpPr>
          <p:cNvPr id="74" name="Shape 13"/>
          <p:cNvSpPr/>
          <p:nvPr/>
        </p:nvSpPr>
        <p:spPr>
          <a:xfrm>
            <a:off x="548640" y="544068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5" name="Text 14"/>
          <p:cNvSpPr/>
          <p:nvPr/>
        </p:nvSpPr>
        <p:spPr>
          <a:xfrm>
            <a:off x="868680" y="544068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For the board:  </a:t>
            </a:r>
            <a:r>
              <a:rPr lang="en-US" sz="1500" b="0" u="none" strike="noStrike">
                <a:solidFill>
                  <a:srgbClr val="1E293B"/>
                </a:solidFill>
                <a:effectLst/>
                <a:uFillTx/>
                <a:latin typeface="Calibri"/>
                <a:ea typeface="Calibri"/>
              </a:rPr>
              <a:t>PUT = here is the new record.   PATCH = here is the change.</a:t>
            </a:r>
            <a:endParaRPr lang="en-IN" sz="1500" b="0" u="none" strike="noStrike">
              <a:solidFill>
                <a:srgbClr val="000000"/>
              </a:solidFill>
              <a:effectLst/>
              <a:uFillTx/>
              <a:latin typeface="Arial"/>
            </a:endParaRPr>
          </a:p>
        </p:txBody>
      </p:sp>
      <p:sp>
        <p:nvSpPr>
          <p:cNvPr id="76" name="Text 15"/>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77"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number is the message</a:t>
            </a:r>
            <a:endParaRPr lang="en-IN" sz="3000" b="0" u="none" strike="noStrike">
              <a:solidFill>
                <a:srgbClr val="000000"/>
              </a:solidFill>
              <a:effectLst/>
              <a:uFillTx/>
              <a:latin typeface="Arial"/>
            </a:endParaRPr>
          </a:p>
        </p:txBody>
      </p:sp>
      <p:sp>
        <p:nvSpPr>
          <p:cNvPr id="79"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Students memorise the numbers and still pick wrong ones. Give them the question each number answers.</a:t>
            </a:r>
            <a:endParaRPr lang="en-IN" sz="1500" b="0" u="none" strike="noStrike">
              <a:solidFill>
                <a:srgbClr val="000000"/>
              </a:solidFill>
              <a:effectLst/>
              <a:uFillTx/>
              <a:latin typeface="Arial"/>
            </a:endParaRPr>
          </a:p>
        </p:txBody>
      </p:sp>
      <p:graphicFrame>
        <p:nvGraphicFramePr>
          <p:cNvPr id="80" name="Table 0"/>
          <p:cNvGraphicFramePr/>
          <p:nvPr/>
        </p:nvGraphicFramePr>
        <p:xfrm>
          <a:off x="548640" y="1737360"/>
          <a:ext cx="11091240" cy="3657600"/>
        </p:xfrm>
        <a:graphic>
          <a:graphicData uri="http://schemas.openxmlformats.org/drawingml/2006/table">
            <a:tbl>
              <a:tblPr/>
              <a:tblGrid>
                <a:gridCol w="1463040"/>
                <a:gridCol w="2743200"/>
                <a:gridCol w="6885360"/>
              </a:tblGrid>
              <a:tr h="45720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Code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Name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Say it as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200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"here you go"</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201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Created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"made it, here it is"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204</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 Content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"done - and there is deliberately nothing to show you"</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B45309"/>
                          </a:solidFill>
                          <a:effectLst/>
                          <a:uFillTx/>
                          <a:latin typeface="Courier New"/>
                          <a:ea typeface="Courier New"/>
                        </a:rPr>
                        <a:t>404</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Not Found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 such thing"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B45309"/>
                          </a:solidFill>
                          <a:effectLst/>
                          <a:uFillTx/>
                          <a:latin typeface="Courier New"/>
                          <a:ea typeface="Courier New"/>
                        </a:rPr>
                        <a:t>409</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Conflict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"that clashes with something that already exists"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B45309"/>
                          </a:solidFill>
                          <a:effectLst/>
                          <a:uFillTx/>
                          <a:latin typeface="Courier New"/>
                          <a:ea typeface="Courier New"/>
                        </a:rPr>
                        <a:t>422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Unprocessable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shape is wrong" - FastAPI sends this for you</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500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Server Error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 broke. Not you."</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81" name="Shape 2"/>
          <p:cNvSpPr/>
          <p:nvPr/>
        </p:nvSpPr>
        <p:spPr>
          <a:xfrm>
            <a:off x="548640" y="5394960"/>
            <a:ext cx="11091240" cy="731160"/>
          </a:xfrm>
          <a:prstGeom prst="roundRect">
            <a:avLst>
              <a:gd name="adj" fmla="val 125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2" name="Text 3"/>
          <p:cNvSpPr/>
          <p:nvPr/>
        </p:nvSpPr>
        <p:spPr>
          <a:xfrm>
            <a:off x="868680" y="539496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The 4 vs 5 rule:  </a:t>
            </a:r>
            <a:r>
              <a:rPr lang="en-US" sz="1500" b="0" u="none" strike="noStrike">
                <a:solidFill>
                  <a:srgbClr val="1E293B"/>
                </a:solidFill>
                <a:effectLst/>
                <a:uFillTx/>
                <a:latin typeface="Calibri"/>
                <a:ea typeface="Calibri"/>
              </a:rPr>
              <a:t>4xx means YOU messed up. 5xx means I messed up. A 500 in your logs is always your bug — never blame the caller.</a:t>
            </a:r>
            <a:endParaRPr lang="en-IN" sz="1500" b="0" u="none" strike="noStrike">
              <a:solidFill>
                <a:srgbClr val="000000"/>
              </a:solidFill>
              <a:effectLst/>
              <a:uFillTx/>
              <a:latin typeface="Arial"/>
            </a:endParaRPr>
          </a:p>
        </p:txBody>
      </p:sp>
      <p:sp>
        <p:nvSpPr>
          <p:cNvPr id="83" name="Text 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84" name="Text 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86"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app sends a request, the network drops, and you do not know if it worked. Which is SAFEST to retry automatically?</a:t>
            </a:r>
            <a:endParaRPr lang="en-IN" sz="2500" b="0" u="none" strike="noStrike">
              <a:solidFill>
                <a:srgbClr val="000000"/>
              </a:solidFill>
              <a:effectLst/>
              <a:uFillTx/>
              <a:latin typeface="Arial"/>
            </a:endParaRPr>
          </a:p>
        </p:txBody>
      </p:sp>
      <p:sp>
        <p:nvSpPr>
          <p:cNvPr id="87"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8"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89"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POST /students</a:t>
            </a:r>
            <a:endParaRPr lang="en-IN" sz="1700" b="0" u="none" strike="noStrike">
              <a:solidFill>
                <a:srgbClr val="000000"/>
              </a:solidFill>
              <a:effectLst/>
              <a:uFillTx/>
              <a:latin typeface="Arial"/>
            </a:endParaRPr>
          </a:p>
        </p:txBody>
      </p:sp>
      <p:sp>
        <p:nvSpPr>
          <p:cNvPr id="90"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1"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92"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PUT /students/1</a:t>
            </a:r>
            <a:endParaRPr lang="en-IN" sz="1700" b="0" u="none" strike="noStrike">
              <a:solidFill>
                <a:srgbClr val="000000"/>
              </a:solidFill>
              <a:effectLst/>
              <a:uFillTx/>
              <a:latin typeface="Arial"/>
            </a:endParaRPr>
          </a:p>
        </p:txBody>
      </p:sp>
      <p:sp>
        <p:nvSpPr>
          <p:cNvPr id="93"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4"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95"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Neither — never retry</a:t>
            </a:r>
            <a:endParaRPr lang="en-IN" sz="1700" b="0" u="none" strike="noStrike">
              <a:solidFill>
                <a:srgbClr val="000000"/>
              </a:solidFill>
              <a:effectLst/>
              <a:uFillTx/>
              <a:latin typeface="Arial"/>
            </a:endParaRPr>
          </a:p>
        </p:txBody>
      </p:sp>
      <p:sp>
        <p:nvSpPr>
          <p:cNvPr id="96"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7"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98"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Both are equally safe</a:t>
            </a:r>
            <a:endParaRPr lang="en-IN" sz="1700" b="0" u="none" strike="noStrike">
              <a:solidFill>
                <a:srgbClr val="000000"/>
              </a:solidFill>
              <a:effectLst/>
              <a:uFillTx/>
              <a:latin typeface="Arial"/>
            </a:endParaRPr>
          </a:p>
        </p:txBody>
      </p:sp>
      <p:sp>
        <p:nvSpPr>
          <p:cNvPr id="99"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100"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01"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02</a:t>
            </a:r>
            <a:endParaRPr lang="en-IN" sz="9600" b="0" u="none" strike="noStrike">
              <a:solidFill>
                <a:srgbClr val="000000"/>
              </a:solidFill>
              <a:effectLst/>
              <a:uFillTx/>
              <a:latin typeface="Arial"/>
            </a:endParaRPr>
          </a:p>
        </p:txBody>
      </p:sp>
      <p:sp>
        <p:nvSpPr>
          <p:cNvPr id="102"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Full CRUD — the other three verbs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PUT — and the trick hiding in PATCH</a:t>
            </a:r>
            <a:endParaRPr lang="en-IN" sz="3000" b="0" u="none" strike="noStrike">
              <a:solidFill>
                <a:srgbClr val="000000"/>
              </a:solidFill>
              <a:effectLst/>
              <a:uFillTx/>
              <a:latin typeface="Arial"/>
            </a:endParaRPr>
          </a:p>
        </p:txBody>
      </p:sp>
      <p:sp>
        <p:nvSpPr>
          <p:cNvPr id="104" name="Shape 1"/>
          <p:cNvSpPr/>
          <p:nvPr/>
        </p:nvSpPr>
        <p:spPr>
          <a:xfrm>
            <a:off x="548640" y="1463040"/>
            <a:ext cx="5577480" cy="1828440"/>
          </a:xfrm>
          <a:prstGeom prst="roundRect">
            <a:avLst>
              <a:gd name="adj" fmla="val 3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5" name="Text 2"/>
          <p:cNvSpPr/>
          <p:nvPr/>
        </p:nvSpPr>
        <p:spPr>
          <a:xfrm>
            <a:off x="804600" y="1645920"/>
            <a:ext cx="5065560" cy="1462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@app.put("/students/{id}")</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def replace(id: int, incoming: StudentIn):</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student = _find(id)</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student.update(incoming.model_dump())</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return student</a:t>
            </a:r>
            <a:endParaRPr lang="en-IN" sz="1150" b="0" u="none" strike="noStrike">
              <a:solidFill>
                <a:srgbClr val="000000"/>
              </a:solidFill>
              <a:effectLst/>
              <a:uFillTx/>
              <a:latin typeface="Arial"/>
            </a:endParaRPr>
          </a:p>
        </p:txBody>
      </p:sp>
      <p:sp>
        <p:nvSpPr>
          <p:cNvPr id="106" name="Shape 3"/>
          <p:cNvSpPr/>
          <p:nvPr/>
        </p:nvSpPr>
        <p:spPr>
          <a:xfrm>
            <a:off x="6336720" y="1463040"/>
            <a:ext cx="5303160" cy="1828440"/>
          </a:xfrm>
          <a:prstGeom prst="roundRect">
            <a:avLst>
              <a:gd name="adj" fmla="val 5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7" name="Text 4"/>
          <p:cNvSpPr/>
          <p:nvPr/>
        </p:nvSpPr>
        <p:spPr>
          <a:xfrm>
            <a:off x="6611040" y="1645920"/>
            <a:ext cx="47545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Every field replaced.</a:t>
            </a:r>
            <a:endParaRPr lang="en-IN" sz="1500" b="0" u="none" strike="noStrike">
              <a:solidFill>
                <a:srgbClr val="000000"/>
              </a:solidFill>
              <a:effectLst/>
              <a:uFillTx/>
              <a:latin typeface="Arial"/>
            </a:endParaRPr>
          </a:p>
        </p:txBody>
      </p:sp>
      <p:sp>
        <p:nvSpPr>
          <p:cNvPr id="108" name="Text 5"/>
          <p:cNvSpPr/>
          <p:nvPr/>
        </p:nvSpPr>
        <p:spPr>
          <a:xfrm>
            <a:off x="6611040" y="2011680"/>
            <a:ext cx="47545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Pydantic already checked the body before your line ran. You still have not written a validation line.</a:t>
            </a:r>
            <a:endParaRPr lang="en-IN" sz="1300" b="0" u="none" strike="noStrike">
              <a:solidFill>
                <a:srgbClr val="000000"/>
              </a:solidFill>
              <a:effectLst/>
              <a:uFillTx/>
              <a:latin typeface="Arial"/>
            </a:endParaRPr>
          </a:p>
        </p:txBody>
      </p:sp>
      <p:sp>
        <p:nvSpPr>
          <p:cNvPr id="109" name="Shape 6"/>
          <p:cNvSpPr/>
          <p:nvPr/>
        </p:nvSpPr>
        <p:spPr>
          <a:xfrm>
            <a:off x="548640" y="3474720"/>
            <a:ext cx="5577480" cy="1874160"/>
          </a:xfrm>
          <a:prstGeom prst="roundRect">
            <a:avLst>
              <a:gd name="adj" fmla="val 292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0" name="Text 7"/>
          <p:cNvSpPr/>
          <p:nvPr/>
        </p:nvSpPr>
        <p:spPr>
          <a:xfrm>
            <a:off x="804600" y="3657600"/>
            <a:ext cx="5065560" cy="1508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class StudentPatch(BaseModel):</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name:   str | None = None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branch: str | None = None</a:t>
            </a:r>
            <a:endParaRPr lang="en-IN" sz="1150" b="0" u="none" strike="noStrike">
              <a:solidFill>
                <a:srgbClr val="000000"/>
              </a:solidFill>
              <a:effectLst/>
              <a:uFillTx/>
              <a:latin typeface="Arial"/>
            </a:endParaRPr>
          </a:p>
          <a:p>
            <a:pPr defTabSz="914400">
              <a:lnSpc>
                <a:spcPct val="115000"/>
              </a:lnSpc>
              <a:tabLst>
                <a:tab pos="0" algn="l"/>
              </a:tabLst>
            </a:pP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student.update(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changes.model_dump(exclude_unset=True))</a:t>
            </a:r>
            <a:endParaRPr lang="en-IN" sz="1150" b="0" u="none" strike="noStrike">
              <a:solidFill>
                <a:srgbClr val="000000"/>
              </a:solidFill>
              <a:effectLst/>
              <a:uFillTx/>
              <a:latin typeface="Arial"/>
            </a:endParaRPr>
          </a:p>
        </p:txBody>
      </p:sp>
      <p:sp>
        <p:nvSpPr>
          <p:cNvPr id="111" name="Shape 8"/>
          <p:cNvSpPr/>
          <p:nvPr/>
        </p:nvSpPr>
        <p:spPr>
          <a:xfrm>
            <a:off x="6336720" y="3474720"/>
            <a:ext cx="5303160" cy="1874160"/>
          </a:xfrm>
          <a:prstGeom prst="roundRect">
            <a:avLst>
              <a:gd name="adj" fmla="val 4878"/>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2" name="Text 9"/>
          <p:cNvSpPr/>
          <p:nvPr/>
        </p:nvSpPr>
        <p:spPr>
          <a:xfrm>
            <a:off x="6611040" y="3657600"/>
            <a:ext cx="47545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Without exclude_unset:</a:t>
            </a:r>
            <a:endParaRPr lang="en-IN" sz="1500" b="0" u="none" strike="noStrike">
              <a:solidFill>
                <a:srgbClr val="000000"/>
              </a:solidFill>
              <a:effectLst/>
              <a:uFillTx/>
              <a:latin typeface="Arial"/>
            </a:endParaRPr>
          </a:p>
        </p:txBody>
      </p:sp>
      <p:sp>
        <p:nvSpPr>
          <p:cNvPr id="113" name="Text 10"/>
          <p:cNvSpPr/>
          <p:nvPr/>
        </p:nvSpPr>
        <p:spPr>
          <a:xfrm>
            <a:off x="6611040" y="4023360"/>
            <a:ext cx="47545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every field they did NOT send arrives as None — and you helpfully erase their name.</a:t>
            </a:r>
            <a:endParaRPr lang="en-IN" sz="1300" b="0" u="none" strike="noStrike">
              <a:solidFill>
                <a:srgbClr val="000000"/>
              </a:solidFill>
              <a:effectLst/>
              <a:uFillTx/>
              <a:latin typeface="Arial"/>
            </a:endParaRPr>
          </a:p>
        </p:txBody>
      </p:sp>
      <p:sp>
        <p:nvSpPr>
          <p:cNvPr id="114" name="Shape 11"/>
          <p:cNvSpPr/>
          <p:nvPr/>
        </p:nvSpPr>
        <p:spPr>
          <a:xfrm>
            <a:off x="548640" y="5532120"/>
            <a:ext cx="11091240" cy="594000"/>
          </a:xfrm>
          <a:prstGeom prst="roundRect">
            <a:avLst>
              <a:gd name="adj" fmla="val 15385"/>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5" name="Text 12"/>
          <p:cNvSpPr/>
          <p:nvPr/>
        </p:nvSpPr>
        <p:spPr>
          <a:xfrm>
            <a:off x="868680" y="553212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Ask BEFORE you run it:  </a:t>
            </a:r>
            <a:r>
              <a:rPr lang="en-US" sz="1500" b="0" u="none" strike="noStrike">
                <a:solidFill>
                  <a:srgbClr val="1E293B"/>
                </a:solidFill>
                <a:effectLst/>
                <a:uFillTx/>
                <a:latin typeface="Calibri"/>
                <a:ea typeface="Calibri"/>
              </a:rPr>
              <a:t>"They send only {"branch": "ECE"}. What happens to name?"</a:t>
            </a:r>
            <a:endParaRPr lang="en-IN" sz="1500" b="0" u="none" strike="noStrike">
              <a:solidFill>
                <a:srgbClr val="000000"/>
              </a:solidFill>
              <a:effectLst/>
              <a:uFillTx/>
              <a:latin typeface="Arial"/>
            </a:endParaRPr>
          </a:p>
        </p:txBody>
      </p:sp>
      <p:sp>
        <p:nvSpPr>
          <p:cNvPr id="116" name="Text 13"/>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117" name="Text 1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DELETE, and the 204 that confuses everyone</a:t>
            </a:r>
            <a:endParaRPr lang="en-IN" sz="3000" b="0" u="none" strike="noStrike">
              <a:solidFill>
                <a:srgbClr val="000000"/>
              </a:solidFill>
              <a:effectLst/>
              <a:uFillTx/>
              <a:latin typeface="Arial"/>
            </a:endParaRPr>
          </a:p>
        </p:txBody>
      </p:sp>
      <p:sp>
        <p:nvSpPr>
          <p:cNvPr id="119" name="Shape 1"/>
          <p:cNvSpPr/>
          <p:nvPr/>
        </p:nvSpPr>
        <p:spPr>
          <a:xfrm>
            <a:off x="548640" y="1554480"/>
            <a:ext cx="6583320" cy="1691280"/>
          </a:xfrm>
          <a:prstGeom prst="roundRect">
            <a:avLst>
              <a:gd name="adj" fmla="val 324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0" name="Text 2"/>
          <p:cNvSpPr/>
          <p:nvPr/>
        </p:nvSpPr>
        <p:spPr>
          <a:xfrm>
            <a:off x="804600" y="1737360"/>
            <a:ext cx="6071400" cy="1325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@app.delete("/students/{id}",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status_code=status.HTTP_204_NO_CONTENT)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delete(id: int):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students.remove(_find(id))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None      # no body. Not an empty one.</a:t>
            </a:r>
            <a:endParaRPr lang="en-IN" sz="1200" b="0" u="none" strike="noStrike">
              <a:solidFill>
                <a:srgbClr val="000000"/>
              </a:solidFill>
              <a:effectLst/>
              <a:uFillTx/>
              <a:latin typeface="Arial"/>
            </a:endParaRPr>
          </a:p>
        </p:txBody>
      </p:sp>
      <p:sp>
        <p:nvSpPr>
          <p:cNvPr id="121" name="Shape 3"/>
          <p:cNvSpPr/>
          <p:nvPr/>
        </p:nvSpPr>
        <p:spPr>
          <a:xfrm>
            <a:off x="7342560" y="1554480"/>
            <a:ext cx="4297320" cy="1691280"/>
          </a:xfrm>
          <a:prstGeom prst="roundRect">
            <a:avLst>
              <a:gd name="adj" fmla="val 540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2" name="Text 4"/>
          <p:cNvSpPr/>
          <p:nvPr/>
        </p:nvSpPr>
        <p:spPr>
          <a:xfrm>
            <a:off x="7616880" y="1691640"/>
            <a:ext cx="37486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5803D"/>
                </a:solidFill>
                <a:effectLst/>
                <a:uFillTx/>
                <a:latin typeface="Calibri"/>
                <a:ea typeface="Calibri"/>
              </a:rPr>
              <a:t>204</a:t>
            </a:r>
            <a:endParaRPr lang="en-IN" sz="3000" b="0" u="none" strike="noStrike">
              <a:solidFill>
                <a:srgbClr val="000000"/>
              </a:solidFill>
              <a:effectLst/>
              <a:uFillTx/>
              <a:latin typeface="Arial"/>
            </a:endParaRPr>
          </a:p>
        </p:txBody>
      </p:sp>
      <p:sp>
        <p:nvSpPr>
          <p:cNvPr id="123" name="Text 5"/>
          <p:cNvSpPr/>
          <p:nvPr/>
        </p:nvSpPr>
        <p:spPr>
          <a:xfrm>
            <a:off x="7616880" y="2194560"/>
            <a:ext cx="3748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"Done — and there is deliberately nothing to show you."</a:t>
            </a:r>
            <a:endParaRPr lang="en-IN" sz="1300" b="0" u="none" strike="noStrike">
              <a:solidFill>
                <a:srgbClr val="000000"/>
              </a:solidFill>
              <a:effectLst/>
              <a:uFillTx/>
              <a:latin typeface="Arial"/>
            </a:endParaRPr>
          </a:p>
        </p:txBody>
      </p:sp>
      <p:sp>
        <p:nvSpPr>
          <p:cNvPr id="124" name="Text 6"/>
          <p:cNvSpPr/>
          <p:nvPr/>
        </p:nvSpPr>
        <p:spPr>
          <a:xfrm>
            <a:off x="548640" y="35204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93B"/>
                </a:solidFill>
                <a:effectLst/>
                <a:uFillTx/>
                <a:latin typeface="Calibri"/>
                <a:ea typeface="Calibri"/>
              </a:rPr>
              <a:t>Three ways to fail, and they are not the same</a:t>
            </a:r>
            <a:endParaRPr lang="en-IN" sz="1900" b="0" u="none" strike="noStrike">
              <a:solidFill>
                <a:srgbClr val="000000"/>
              </a:solidFill>
              <a:effectLst/>
              <a:uFillTx/>
              <a:latin typeface="Arial"/>
            </a:endParaRPr>
          </a:p>
        </p:txBody>
      </p:sp>
      <p:sp>
        <p:nvSpPr>
          <p:cNvPr id="125" name="Shape 7"/>
          <p:cNvSpPr/>
          <p:nvPr/>
        </p:nvSpPr>
        <p:spPr>
          <a:xfrm>
            <a:off x="548640" y="3977640"/>
            <a:ext cx="11091240" cy="502560"/>
          </a:xfrm>
          <a:prstGeom prst="roundRect">
            <a:avLst>
              <a:gd name="adj" fmla="val 1818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6" name="Text 8"/>
          <p:cNvSpPr/>
          <p:nvPr/>
        </p:nvSpPr>
        <p:spPr>
          <a:xfrm>
            <a:off x="822960" y="3977640"/>
            <a:ext cx="822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45309"/>
                </a:solidFill>
                <a:effectLst/>
                <a:uFillTx/>
                <a:latin typeface="Courier New"/>
                <a:ea typeface="Courier New"/>
              </a:rPr>
              <a:t>422</a:t>
            </a:r>
            <a:endParaRPr lang="en-IN" sz="1600" b="0" u="none" strike="noStrike">
              <a:solidFill>
                <a:srgbClr val="000000"/>
              </a:solidFill>
              <a:effectLst/>
              <a:uFillTx/>
              <a:latin typeface="Arial"/>
            </a:endParaRPr>
          </a:p>
        </p:txBody>
      </p:sp>
      <p:sp>
        <p:nvSpPr>
          <p:cNvPr id="127" name="Text 9"/>
          <p:cNvSpPr/>
          <p:nvPr/>
        </p:nvSpPr>
        <p:spPr>
          <a:xfrm>
            <a:off x="1828800" y="3977640"/>
            <a:ext cx="512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the request is MALFORMED</a:t>
            </a:r>
            <a:endParaRPr lang="en-IN" sz="1400" b="0" u="none" strike="noStrike">
              <a:solidFill>
                <a:srgbClr val="000000"/>
              </a:solidFill>
              <a:effectLst/>
              <a:uFillTx/>
              <a:latin typeface="Arial"/>
            </a:endParaRPr>
          </a:p>
        </p:txBody>
      </p:sp>
      <p:sp>
        <p:nvSpPr>
          <p:cNvPr id="128" name="Text 10"/>
          <p:cNvSpPr/>
          <p:nvPr/>
        </p:nvSpPr>
        <p:spPr>
          <a:xfrm>
            <a:off x="7040880" y="3977640"/>
            <a:ext cx="4388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Pydantic said no — your function never ran</a:t>
            </a:r>
            <a:endParaRPr lang="en-IN" sz="1250" b="0" u="none" strike="noStrike">
              <a:solidFill>
                <a:srgbClr val="000000"/>
              </a:solidFill>
              <a:effectLst/>
              <a:uFillTx/>
              <a:latin typeface="Arial"/>
            </a:endParaRPr>
          </a:p>
        </p:txBody>
      </p:sp>
      <p:sp>
        <p:nvSpPr>
          <p:cNvPr id="129" name="Shape 11"/>
          <p:cNvSpPr/>
          <p:nvPr/>
        </p:nvSpPr>
        <p:spPr>
          <a:xfrm>
            <a:off x="548640" y="4544640"/>
            <a:ext cx="11091240" cy="502560"/>
          </a:xfrm>
          <a:prstGeom prst="roundRect">
            <a:avLst>
              <a:gd name="adj" fmla="val 1818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0" name="Text 12"/>
          <p:cNvSpPr/>
          <p:nvPr/>
        </p:nvSpPr>
        <p:spPr>
          <a:xfrm>
            <a:off x="822960" y="4544640"/>
            <a:ext cx="822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4748B"/>
                </a:solidFill>
                <a:effectLst/>
                <a:uFillTx/>
                <a:latin typeface="Courier New"/>
                <a:ea typeface="Courier New"/>
              </a:rPr>
              <a:t>404</a:t>
            </a:r>
            <a:endParaRPr lang="en-IN" sz="1600" b="0" u="none" strike="noStrike">
              <a:solidFill>
                <a:srgbClr val="000000"/>
              </a:solidFill>
              <a:effectLst/>
              <a:uFillTx/>
              <a:latin typeface="Arial"/>
            </a:endParaRPr>
          </a:p>
        </p:txBody>
      </p:sp>
      <p:sp>
        <p:nvSpPr>
          <p:cNvPr id="131" name="Text 13"/>
          <p:cNvSpPr/>
          <p:nvPr/>
        </p:nvSpPr>
        <p:spPr>
          <a:xfrm>
            <a:off x="1828800" y="4544640"/>
            <a:ext cx="512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the request is fine, the thing does not exist</a:t>
            </a:r>
            <a:endParaRPr lang="en-IN" sz="1400" b="0" u="none" strike="noStrike">
              <a:solidFill>
                <a:srgbClr val="000000"/>
              </a:solidFill>
              <a:effectLst/>
              <a:uFillTx/>
              <a:latin typeface="Arial"/>
            </a:endParaRPr>
          </a:p>
        </p:txBody>
      </p:sp>
      <p:sp>
        <p:nvSpPr>
          <p:cNvPr id="132" name="Text 14"/>
          <p:cNvSpPr/>
          <p:nvPr/>
        </p:nvSpPr>
        <p:spPr>
          <a:xfrm>
            <a:off x="7040880" y="4544640"/>
            <a:ext cx="4388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you asked for student 99</a:t>
            </a:r>
            <a:endParaRPr lang="en-IN" sz="1250" b="0" u="none" strike="noStrike">
              <a:solidFill>
                <a:srgbClr val="000000"/>
              </a:solidFill>
              <a:effectLst/>
              <a:uFillTx/>
              <a:latin typeface="Arial"/>
            </a:endParaRPr>
          </a:p>
        </p:txBody>
      </p:sp>
      <p:sp>
        <p:nvSpPr>
          <p:cNvPr id="133" name="Shape 15"/>
          <p:cNvSpPr/>
          <p:nvPr/>
        </p:nvSpPr>
        <p:spPr>
          <a:xfrm>
            <a:off x="548640" y="5111640"/>
            <a:ext cx="11091240" cy="502560"/>
          </a:xfrm>
          <a:prstGeom prst="roundRect">
            <a:avLst>
              <a:gd name="adj" fmla="val 18182"/>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4" name="Text 16"/>
          <p:cNvSpPr/>
          <p:nvPr/>
        </p:nvSpPr>
        <p:spPr>
          <a:xfrm>
            <a:off x="822960" y="5111640"/>
            <a:ext cx="8226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ourier New"/>
                <a:ea typeface="Courier New"/>
              </a:rPr>
              <a:t>409</a:t>
            </a:r>
            <a:endParaRPr lang="en-IN" sz="1600" b="0" u="none" strike="noStrike">
              <a:solidFill>
                <a:srgbClr val="000000"/>
              </a:solidFill>
              <a:effectLst/>
              <a:uFillTx/>
              <a:latin typeface="Arial"/>
            </a:endParaRPr>
          </a:p>
        </p:txBody>
      </p:sp>
      <p:sp>
        <p:nvSpPr>
          <p:cNvPr id="135" name="Text 17"/>
          <p:cNvSpPr/>
          <p:nvPr/>
        </p:nvSpPr>
        <p:spPr>
          <a:xfrm>
            <a:off x="1828800" y="5111640"/>
            <a:ext cx="512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the request is fine, the thing ALREADY exists</a:t>
            </a:r>
            <a:endParaRPr lang="en-IN" sz="1400" b="0" u="none" strike="noStrike">
              <a:solidFill>
                <a:srgbClr val="000000"/>
              </a:solidFill>
              <a:effectLst/>
              <a:uFillTx/>
              <a:latin typeface="Arial"/>
            </a:endParaRPr>
          </a:p>
        </p:txBody>
      </p:sp>
      <p:sp>
        <p:nvSpPr>
          <p:cNvPr id="136" name="Text 18"/>
          <p:cNvSpPr/>
          <p:nvPr/>
        </p:nvSpPr>
        <p:spPr>
          <a:xfrm>
            <a:off x="7040880" y="5111640"/>
            <a:ext cx="4388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that email is taken</a:t>
            </a:r>
            <a:endParaRPr lang="en-IN" sz="1250" b="0" u="none" strike="noStrike">
              <a:solidFill>
                <a:srgbClr val="000000"/>
              </a:solidFill>
              <a:effectLst/>
              <a:uFillTx/>
              <a:latin typeface="Arial"/>
            </a:endParaRPr>
          </a:p>
        </p:txBody>
      </p:sp>
      <p:sp>
        <p:nvSpPr>
          <p:cNvPr id="137" name="Shape 19"/>
          <p:cNvSpPr/>
          <p:nvPr/>
        </p:nvSpPr>
        <p:spPr>
          <a:xfrm>
            <a:off x="548640" y="5760720"/>
            <a:ext cx="11091240" cy="594000"/>
          </a:xfrm>
          <a:prstGeom prst="roundRect">
            <a:avLst>
              <a:gd name="adj" fmla="val 1538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8" name="Text 20"/>
          <p:cNvSpPr/>
          <p:nvPr/>
        </p:nvSpPr>
        <p:spPr>
          <a:xfrm>
            <a:off x="868680" y="576072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Watch for this live:  </a:t>
            </a:r>
            <a:r>
              <a:rPr lang="en-US" sz="1500" b="0" u="none" strike="noStrike">
                <a:solidFill>
                  <a:srgbClr val="1E293B"/>
                </a:solidFill>
                <a:effectLst/>
                <a:uFillTx/>
                <a:latin typeface="Calibri"/>
                <a:ea typeface="Calibri"/>
              </a:rPr>
              <a:t>a 204 endpoint that returns a body raises an error. If a student's DELETE explodes, look for a stray return.</a:t>
            </a:r>
            <a:endParaRPr lang="en-IN" sz="1500" b="0" u="none" strike="noStrike">
              <a:solidFill>
                <a:srgbClr val="000000"/>
              </a:solidFill>
              <a:effectLst/>
              <a:uFillTx/>
              <a:latin typeface="Arial"/>
            </a:endParaRPr>
          </a:p>
        </p:txBody>
      </p:sp>
      <p:sp>
        <p:nvSpPr>
          <p:cNvPr id="139" name="Text 21"/>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140" name="Text 2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42"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A caller sends PATCH /students/1 with only {"branch": "ECE"}. Your code uses model_dump() WITHOUT exclude_unset. What happens?</a:t>
            </a:r>
            <a:endParaRPr lang="en-IN" sz="2500" b="0" u="none" strike="noStrike">
              <a:solidFill>
                <a:srgbClr val="000000"/>
              </a:solidFill>
              <a:effectLst/>
              <a:uFillTx/>
              <a:latin typeface="Arial"/>
            </a:endParaRPr>
          </a:p>
        </p:txBody>
      </p:sp>
      <p:sp>
        <p:nvSpPr>
          <p:cNvPr id="143"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4"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45"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Only branch changes — that is what PATCH means</a:t>
            </a:r>
            <a:endParaRPr lang="en-IN" sz="1700" b="0" u="none" strike="noStrike">
              <a:solidFill>
                <a:srgbClr val="000000"/>
              </a:solidFill>
              <a:effectLst/>
              <a:uFillTx/>
              <a:latin typeface="Arial"/>
            </a:endParaRPr>
          </a:p>
        </p:txBody>
      </p:sp>
      <p:sp>
        <p:nvSpPr>
          <p:cNvPr id="146"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7"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48"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name and age are overwritten with None</a:t>
            </a:r>
            <a:endParaRPr lang="en-IN" sz="1700" b="0" u="none" strike="noStrike">
              <a:solidFill>
                <a:srgbClr val="000000"/>
              </a:solidFill>
              <a:effectLst/>
              <a:uFillTx/>
              <a:latin typeface="Arial"/>
            </a:endParaRPr>
          </a:p>
        </p:txBody>
      </p:sp>
      <p:sp>
        <p:nvSpPr>
          <p:cNvPr id="149"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0"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51"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FastAPI returns 422</a:t>
            </a:r>
            <a:endParaRPr lang="en-IN" sz="1700" b="0" u="none" strike="noStrike">
              <a:solidFill>
                <a:srgbClr val="000000"/>
              </a:solidFill>
              <a:effectLst/>
              <a:uFillTx/>
              <a:latin typeface="Arial"/>
            </a:endParaRPr>
          </a:p>
        </p:txBody>
      </p:sp>
      <p:sp>
        <p:nvSpPr>
          <p:cNvPr id="152"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3"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54"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Nothing changes</a:t>
            </a:r>
            <a:endParaRPr lang="en-IN" sz="1700" b="0" u="none" strike="noStrike">
              <a:solidFill>
                <a:srgbClr val="000000"/>
              </a:solidFill>
              <a:effectLst/>
              <a:uFillTx/>
              <a:latin typeface="Arial"/>
            </a:endParaRPr>
          </a:p>
        </p:txBody>
      </p:sp>
      <p:sp>
        <p:nvSpPr>
          <p:cNvPr id="155"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15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57"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03</a:t>
            </a:r>
            <a:endParaRPr lang="en-IN" sz="9600" b="0" u="none" strike="noStrike">
              <a:solidFill>
                <a:srgbClr val="000000"/>
              </a:solidFill>
              <a:effectLst/>
              <a:uFillTx/>
              <a:latin typeface="Arial"/>
            </a:endParaRPr>
          </a:p>
        </p:txBody>
      </p:sp>
      <p:sp>
        <p:nvSpPr>
          <p:cNvPr id="158"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Errors — one shape, always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Right now your app fails in three different shapes</a:t>
            </a:r>
            <a:endParaRPr lang="en-IN" sz="3000" b="0" u="none" strike="noStrike">
              <a:solidFill>
                <a:srgbClr val="000000"/>
              </a:solidFill>
              <a:effectLst/>
              <a:uFillTx/>
              <a:latin typeface="Arial"/>
            </a:endParaRPr>
          </a:p>
        </p:txBody>
      </p:sp>
      <p:sp>
        <p:nvSpPr>
          <p:cNvPr id="160" name="Shape 1"/>
          <p:cNvSpPr/>
          <p:nvPr/>
        </p:nvSpPr>
        <p:spPr>
          <a:xfrm>
            <a:off x="548640" y="1600200"/>
            <a:ext cx="11091240" cy="603000"/>
          </a:xfrm>
          <a:prstGeom prst="roundRect">
            <a:avLst>
              <a:gd name="adj" fmla="val 1515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1" name="Text 2"/>
          <p:cNvSpPr/>
          <p:nvPr/>
        </p:nvSpPr>
        <p:spPr>
          <a:xfrm>
            <a:off x="822960" y="1600200"/>
            <a:ext cx="402300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alibri"/>
                <a:ea typeface="Calibri"/>
              </a:rPr>
              <a:t>FastAPI's HTTPException</a:t>
            </a:r>
            <a:endParaRPr lang="en-IN" sz="1400" b="0" u="none" strike="noStrike">
              <a:solidFill>
                <a:srgbClr val="000000"/>
              </a:solidFill>
              <a:effectLst/>
              <a:uFillTx/>
              <a:latin typeface="Arial"/>
            </a:endParaRPr>
          </a:p>
        </p:txBody>
      </p:sp>
      <p:sp>
        <p:nvSpPr>
          <p:cNvPr id="162" name="Text 3"/>
          <p:cNvSpPr/>
          <p:nvPr/>
        </p:nvSpPr>
        <p:spPr>
          <a:xfrm>
            <a:off x="5029200" y="1600200"/>
            <a:ext cx="6400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{"detail": "No student with id 99"}</a:t>
            </a:r>
            <a:endParaRPr lang="en-IN" sz="1150" b="0" u="none" strike="noStrike">
              <a:solidFill>
                <a:srgbClr val="000000"/>
              </a:solidFill>
              <a:effectLst/>
              <a:uFillTx/>
              <a:latin typeface="Arial"/>
            </a:endParaRPr>
          </a:p>
        </p:txBody>
      </p:sp>
      <p:sp>
        <p:nvSpPr>
          <p:cNvPr id="163" name="Shape 4"/>
          <p:cNvSpPr/>
          <p:nvPr/>
        </p:nvSpPr>
        <p:spPr>
          <a:xfrm>
            <a:off x="548640" y="2313360"/>
            <a:ext cx="11091240" cy="603000"/>
          </a:xfrm>
          <a:prstGeom prst="roundRect">
            <a:avLst>
              <a:gd name="adj" fmla="val 1515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4" name="Text 5"/>
          <p:cNvSpPr/>
          <p:nvPr/>
        </p:nvSpPr>
        <p:spPr>
          <a:xfrm>
            <a:off x="822960" y="2313360"/>
            <a:ext cx="402300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alibri"/>
                <a:ea typeface="Calibri"/>
              </a:rPr>
              <a:t>Pydantic's validation error</a:t>
            </a:r>
            <a:endParaRPr lang="en-IN" sz="1400" b="0" u="none" strike="noStrike">
              <a:solidFill>
                <a:srgbClr val="000000"/>
              </a:solidFill>
              <a:effectLst/>
              <a:uFillTx/>
              <a:latin typeface="Arial"/>
            </a:endParaRPr>
          </a:p>
        </p:txBody>
      </p:sp>
      <p:sp>
        <p:nvSpPr>
          <p:cNvPr id="165" name="Text 6"/>
          <p:cNvSpPr/>
          <p:nvPr/>
        </p:nvSpPr>
        <p:spPr>
          <a:xfrm>
            <a:off x="5029200" y="2313360"/>
            <a:ext cx="6400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{"detail": [{"loc": [...], "msg": ...}]}</a:t>
            </a:r>
            <a:endParaRPr lang="en-IN" sz="1150" b="0" u="none" strike="noStrike">
              <a:solidFill>
                <a:srgbClr val="000000"/>
              </a:solidFill>
              <a:effectLst/>
              <a:uFillTx/>
              <a:latin typeface="Arial"/>
            </a:endParaRPr>
          </a:p>
        </p:txBody>
      </p:sp>
      <p:sp>
        <p:nvSpPr>
          <p:cNvPr id="166" name="Shape 7"/>
          <p:cNvSpPr/>
          <p:nvPr/>
        </p:nvSpPr>
        <p:spPr>
          <a:xfrm>
            <a:off x="548640" y="3026520"/>
            <a:ext cx="11091240" cy="603000"/>
          </a:xfrm>
          <a:prstGeom prst="roundRect">
            <a:avLst>
              <a:gd name="adj" fmla="val 1515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7" name="Text 8"/>
          <p:cNvSpPr/>
          <p:nvPr/>
        </p:nvSpPr>
        <p:spPr>
          <a:xfrm>
            <a:off x="822960" y="3026520"/>
            <a:ext cx="402300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An actual crash</a:t>
            </a:r>
            <a:endParaRPr lang="en-IN" sz="1400" b="0" u="none" strike="noStrike">
              <a:solidFill>
                <a:srgbClr val="000000"/>
              </a:solidFill>
              <a:effectLst/>
              <a:uFillTx/>
              <a:latin typeface="Arial"/>
            </a:endParaRPr>
          </a:p>
        </p:txBody>
      </p:sp>
      <p:sp>
        <p:nvSpPr>
          <p:cNvPr id="168" name="Text 9"/>
          <p:cNvSpPr/>
          <p:nvPr/>
        </p:nvSpPr>
        <p:spPr>
          <a:xfrm>
            <a:off x="5029200" y="3026520"/>
            <a:ext cx="6400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500, and whatever the stack trace leaks</a:t>
            </a:r>
            <a:endParaRPr lang="en-IN" sz="1150" b="0" u="none" strike="noStrike">
              <a:solidFill>
                <a:srgbClr val="000000"/>
              </a:solidFill>
              <a:effectLst/>
              <a:uFillTx/>
              <a:latin typeface="Arial"/>
            </a:endParaRPr>
          </a:p>
        </p:txBody>
      </p:sp>
      <p:sp>
        <p:nvSpPr>
          <p:cNvPr id="169" name="Text 10"/>
          <p:cNvSpPr/>
          <p:nvPr/>
        </p:nvSpPr>
        <p:spPr>
          <a:xfrm>
            <a:off x="548640" y="3794760"/>
            <a:ext cx="110912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i="1" u="none" strike="noStrike">
                <a:solidFill>
                  <a:srgbClr val="64748B"/>
                </a:solidFill>
                <a:effectLst/>
                <a:uFillTx/>
                <a:latin typeface="Calibri"/>
                <a:ea typeface="Calibri"/>
              </a:rPr>
              <a:t>The person consuming your API now needs three different bits of code to read your failures.</a:t>
            </a:r>
            <a:endParaRPr lang="en-IN" sz="1500" b="0" u="none" strike="noStrike">
              <a:solidFill>
                <a:srgbClr val="000000"/>
              </a:solidFill>
              <a:effectLst/>
              <a:uFillTx/>
              <a:latin typeface="Arial"/>
            </a:endParaRPr>
          </a:p>
        </p:txBody>
      </p:sp>
      <p:sp>
        <p:nvSpPr>
          <p:cNvPr id="170" name="Shape 11"/>
          <p:cNvSpPr/>
          <p:nvPr/>
        </p:nvSpPr>
        <p:spPr>
          <a:xfrm>
            <a:off x="1920240" y="4297680"/>
            <a:ext cx="832068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1" name="Text 12"/>
          <p:cNvSpPr/>
          <p:nvPr/>
        </p:nvSpPr>
        <p:spPr>
          <a:xfrm>
            <a:off x="2176200" y="4480560"/>
            <a:ext cx="780876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"error": { "code": "STUDENT_NOT_FOUND",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"message": "No student with id 99",</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"status": 404 }</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a:t>
            </a:r>
            <a:endParaRPr lang="en-IN" sz="1200" b="0" u="none" strike="noStrike">
              <a:solidFill>
                <a:srgbClr val="000000"/>
              </a:solidFill>
              <a:effectLst/>
              <a:uFillTx/>
              <a:latin typeface="Arial"/>
            </a:endParaRPr>
          </a:p>
        </p:txBody>
      </p:sp>
      <p:sp>
        <p:nvSpPr>
          <p:cNvPr id="172" name="Shape 13"/>
          <p:cNvSpPr/>
          <p:nvPr/>
        </p:nvSpPr>
        <p:spPr>
          <a:xfrm>
            <a:off x="548640" y="5806440"/>
            <a:ext cx="11091240" cy="548280"/>
          </a:xfrm>
          <a:prstGeom prst="roundRect">
            <a:avLst>
              <a:gd name="adj" fmla="val 16667"/>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3" name="Text 14"/>
          <p:cNvSpPr/>
          <p:nvPr/>
        </p:nvSpPr>
        <p:spPr>
          <a:xfrm>
            <a:off x="868680" y="580644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Pick one shape and never deviate.  </a:t>
            </a:r>
            <a:r>
              <a:rPr lang="en-US" sz="1500" b="0" u="none" strike="noStrike">
                <a:solidFill>
                  <a:srgbClr val="1E293B"/>
                </a:solidFill>
                <a:effectLst/>
                <a:uFillTx/>
                <a:latin typeface="Calibri"/>
                <a:ea typeface="Calibri"/>
              </a:rPr>
              <a:t>message is for the human at 2am. code is for the app deciding what to do next.</a:t>
            </a:r>
            <a:endParaRPr lang="en-IN" sz="1500" b="0" u="none" strike="noStrike">
              <a:solidFill>
                <a:srgbClr val="000000"/>
              </a:solidFill>
              <a:effectLst/>
              <a:uFillTx/>
              <a:latin typeface="Arial"/>
            </a:endParaRPr>
          </a:p>
        </p:txBody>
      </p:sp>
      <p:sp>
        <p:nvSpPr>
          <p:cNvPr id="174" name="Text 15"/>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175"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Two handlers, and every failure looks the same</a:t>
            </a:r>
            <a:endParaRPr lang="en-IN" sz="3000" b="0" u="none" strike="noStrike">
              <a:solidFill>
                <a:srgbClr val="000000"/>
              </a:solidFill>
              <a:effectLst/>
              <a:uFillTx/>
              <a:latin typeface="Arial"/>
            </a:endParaRPr>
          </a:p>
        </p:txBody>
      </p:sp>
      <p:sp>
        <p:nvSpPr>
          <p:cNvPr id="177" name="Shape 1"/>
          <p:cNvSpPr/>
          <p:nvPr/>
        </p:nvSpPr>
        <p:spPr>
          <a:xfrm>
            <a:off x="548640" y="1463040"/>
            <a:ext cx="11091240" cy="1691280"/>
          </a:xfrm>
          <a:prstGeom prst="roundRect">
            <a:avLst>
              <a:gd name="adj" fmla="val 324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8" name="Text 2"/>
          <p:cNvSpPr/>
          <p:nvPr/>
        </p:nvSpPr>
        <p:spPr>
          <a:xfrm>
            <a:off x="804600" y="1645920"/>
            <a:ext cx="10579320" cy="1325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@app.exception_handler(StarletteHTTPException)</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async def http_error(request, exc):</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return JSONResponse(status_code=exc.status_code,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content={"error": {"code": CODES[exc.status_code], "message": exc.detail,</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"status": exc.status_code}})</a:t>
            </a:r>
            <a:endParaRPr lang="en-IN" sz="1150" b="0" u="none" strike="noStrike">
              <a:solidFill>
                <a:srgbClr val="000000"/>
              </a:solidFill>
              <a:effectLst/>
              <a:uFillTx/>
              <a:latin typeface="Arial"/>
            </a:endParaRPr>
          </a:p>
        </p:txBody>
      </p:sp>
      <p:sp>
        <p:nvSpPr>
          <p:cNvPr id="179" name="Text 3"/>
          <p:cNvSpPr/>
          <p:nvPr/>
        </p:nvSpPr>
        <p:spPr>
          <a:xfrm>
            <a:off x="548640" y="3246120"/>
            <a:ext cx="11091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 including failures in code you have not written yet.</a:t>
            </a:r>
            <a:endParaRPr lang="en-IN" sz="1400" b="0" u="none" strike="noStrike">
              <a:solidFill>
                <a:srgbClr val="000000"/>
              </a:solidFill>
              <a:effectLst/>
              <a:uFillTx/>
              <a:latin typeface="Arial"/>
            </a:endParaRPr>
          </a:p>
        </p:txBody>
      </p:sp>
      <p:sp>
        <p:nvSpPr>
          <p:cNvPr id="180" name="Shape 4"/>
          <p:cNvSpPr/>
          <p:nvPr/>
        </p:nvSpPr>
        <p:spPr>
          <a:xfrm>
            <a:off x="548640" y="3657600"/>
            <a:ext cx="11091240" cy="1416960"/>
          </a:xfrm>
          <a:prstGeom prst="roundRect">
            <a:avLst>
              <a:gd name="adj" fmla="val 38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1" name="Text 5"/>
          <p:cNvSpPr/>
          <p:nvPr/>
        </p:nvSpPr>
        <p:spPr>
          <a:xfrm>
            <a:off x="804600" y="3840480"/>
            <a:ext cx="10579320" cy="10512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00" b="0" u="none" strike="noStrike">
                <a:solidFill>
                  <a:srgbClr val="1E293B"/>
                </a:solidFill>
                <a:effectLst/>
                <a:uFillTx/>
                <a:latin typeface="Courier New"/>
                <a:ea typeface="Courier New"/>
              </a:rPr>
              <a:t>@app.exception_handler(Exception)                      # the safety net</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async def unhandled(request, exc):</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logger.exception("failed on %s", request.url.path)  # full detail  -&gt; your logs</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return JSONResponse(500, {"error": {"code": "INTERNAL", ...}})   # nothing -&gt; the internet</a:t>
            </a:r>
            <a:endParaRPr lang="en-IN" sz="1100" b="0" u="none" strike="noStrike">
              <a:solidFill>
                <a:srgbClr val="000000"/>
              </a:solidFill>
              <a:effectLst/>
              <a:uFillTx/>
              <a:latin typeface="Arial"/>
            </a:endParaRPr>
          </a:p>
        </p:txBody>
      </p:sp>
      <p:sp>
        <p:nvSpPr>
          <p:cNvPr id="182" name="Shape 6"/>
          <p:cNvSpPr/>
          <p:nvPr/>
        </p:nvSpPr>
        <p:spPr>
          <a:xfrm>
            <a:off x="548640" y="5257800"/>
            <a:ext cx="11091240" cy="685440"/>
          </a:xfrm>
          <a:prstGeom prst="roundRect">
            <a:avLst>
              <a:gd name="adj" fmla="val 1333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3" name="Text 7"/>
          <p:cNvSpPr/>
          <p:nvPr/>
        </p:nvSpPr>
        <p:spPr>
          <a:xfrm>
            <a:off x="868680" y="525780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Never put an exception's raw text in a response.  </a:t>
            </a:r>
            <a:r>
              <a:rPr lang="en-US" sz="1500" b="0" u="none" strike="noStrike">
                <a:solidFill>
                  <a:srgbClr val="1E293B"/>
                </a:solidFill>
                <a:effectLst/>
                <a:uFillTx/>
                <a:latin typeface="Calibri"/>
                <a:ea typeface="Calibri"/>
              </a:rPr>
              <a:t>A stack trace tells an attacker your table names, file paths and library versions.</a:t>
            </a:r>
            <a:endParaRPr lang="en-IN" sz="1500" b="0" u="none" strike="noStrike">
              <a:solidFill>
                <a:srgbClr val="000000"/>
              </a:solidFill>
              <a:effectLst/>
              <a:uFillTx/>
              <a:latin typeface="Arial"/>
            </a:endParaRPr>
          </a:p>
        </p:txBody>
      </p:sp>
      <p:sp>
        <p:nvSpPr>
          <p:cNvPr id="184" name="Text 8"/>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185"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87"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Why does an error response need a machine-readable "code" when it already has a clear "message"?</a:t>
            </a:r>
            <a:endParaRPr lang="en-IN" sz="2500" b="0" u="none" strike="noStrike">
              <a:solidFill>
                <a:srgbClr val="000000"/>
              </a:solidFill>
              <a:effectLst/>
              <a:uFillTx/>
              <a:latin typeface="Arial"/>
            </a:endParaRPr>
          </a:p>
        </p:txBody>
      </p:sp>
      <p:sp>
        <p:nvSpPr>
          <p:cNvPr id="188"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9"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90"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To make the JSON look more professional</a:t>
            </a:r>
            <a:endParaRPr lang="en-IN" sz="1700" b="0" u="none" strike="noStrike">
              <a:solidFill>
                <a:srgbClr val="000000"/>
              </a:solidFill>
              <a:effectLst/>
              <a:uFillTx/>
              <a:latin typeface="Arial"/>
            </a:endParaRPr>
          </a:p>
        </p:txBody>
      </p:sp>
      <p:sp>
        <p:nvSpPr>
          <p:cNvPr id="191"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2"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93"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So the caller can branch on it without parsing English</a:t>
            </a:r>
            <a:endParaRPr lang="en-IN" sz="1700" b="0" u="none" strike="noStrike">
              <a:solidFill>
                <a:srgbClr val="000000"/>
              </a:solidFill>
              <a:effectLst/>
              <a:uFillTx/>
              <a:latin typeface="Arial"/>
            </a:endParaRPr>
          </a:p>
        </p:txBody>
      </p:sp>
      <p:sp>
        <p:nvSpPr>
          <p:cNvPr id="194"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5"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96"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Because FastAPI requires it</a:t>
            </a:r>
            <a:endParaRPr lang="en-IN" sz="1700" b="0" u="none" strike="noStrike">
              <a:solidFill>
                <a:srgbClr val="000000"/>
              </a:solidFill>
              <a:effectLst/>
              <a:uFillTx/>
              <a:latin typeface="Arial"/>
            </a:endParaRPr>
          </a:p>
        </p:txBody>
      </p:sp>
      <p:sp>
        <p:nvSpPr>
          <p:cNvPr id="197"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8"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99"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It makes the response smaller</a:t>
            </a:r>
            <a:endParaRPr lang="en-IN" sz="1700" b="0" u="none" strike="noStrike">
              <a:solidFill>
                <a:srgbClr val="000000"/>
              </a:solidFill>
              <a:effectLst/>
              <a:uFillTx/>
              <a:latin typeface="Arial"/>
            </a:endParaRPr>
          </a:p>
        </p:txBody>
      </p:sp>
      <p:sp>
        <p:nvSpPr>
          <p:cNvPr id="200"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01"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02"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04</a:t>
            </a:r>
            <a:endParaRPr lang="en-IN" sz="9600" b="0" u="none" strike="noStrike">
              <a:solidFill>
                <a:srgbClr val="000000"/>
              </a:solidFill>
              <a:effectLst/>
              <a:uFillTx/>
              <a:latin typeface="Arial"/>
            </a:endParaRPr>
          </a:p>
        </p:txBody>
      </p:sp>
      <p:sp>
        <p:nvSpPr>
          <p:cNvPr id="203"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Depends, routers, and layout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function that runs before your endpoint</a:t>
            </a:r>
            <a:endParaRPr lang="en-IN" sz="3000" b="0" u="none" strike="noStrike">
              <a:solidFill>
                <a:srgbClr val="000000"/>
              </a:solidFill>
              <a:effectLst/>
              <a:uFillTx/>
              <a:latin typeface="Arial"/>
            </a:endParaRPr>
          </a:p>
        </p:txBody>
      </p:sp>
      <p:sp>
        <p:nvSpPr>
          <p:cNvPr id="205" name="Shape 1"/>
          <p:cNvSpPr/>
          <p:nvPr/>
        </p:nvSpPr>
        <p:spPr>
          <a:xfrm>
            <a:off x="548640" y="1463040"/>
            <a:ext cx="11091240" cy="1462680"/>
          </a:xfrm>
          <a:prstGeom prst="roundRect">
            <a:avLst>
              <a:gd name="adj" fmla="val 375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6" name="Text 2"/>
          <p:cNvSpPr/>
          <p:nvPr/>
        </p:nvSpPr>
        <p:spPr>
          <a:xfrm>
            <a:off x="804600" y="1645920"/>
            <a:ext cx="10579320" cy="1096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def get_page(limit: int = 10, offset: int = 0) -&gt; dict: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{"limit": min(limit, 100), "offset": offset}      # one place caps it</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@app.get("/students")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list_students(page: dict = Depends(get_page)):</a:t>
            </a:r>
            <a:endParaRPr lang="en-IN" sz="1200" b="0" u="none" strike="noStrike">
              <a:solidFill>
                <a:srgbClr val="000000"/>
              </a:solidFill>
              <a:effectLst/>
              <a:uFillTx/>
              <a:latin typeface="Arial"/>
            </a:endParaRPr>
          </a:p>
        </p:txBody>
      </p:sp>
      <p:sp>
        <p:nvSpPr>
          <p:cNvPr id="207" name="Shape 3"/>
          <p:cNvSpPr/>
          <p:nvPr/>
        </p:nvSpPr>
        <p:spPr>
          <a:xfrm>
            <a:off x="548640" y="320040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8" name="Text 4"/>
          <p:cNvSpPr/>
          <p:nvPr/>
        </p:nvSpPr>
        <p:spPr>
          <a:xfrm>
            <a:off x="548640" y="32004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209" name="Text 5"/>
          <p:cNvSpPr/>
          <p:nvPr/>
        </p:nvSpPr>
        <p:spPr>
          <a:xfrm>
            <a:off x="1234440" y="3154680"/>
            <a:ext cx="4754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FastAPI calls it for you</a:t>
            </a:r>
            <a:endParaRPr lang="en-IN" sz="1500" b="0" u="none" strike="noStrike">
              <a:solidFill>
                <a:srgbClr val="000000"/>
              </a:solidFill>
              <a:effectLst/>
              <a:uFillTx/>
              <a:latin typeface="Arial"/>
            </a:endParaRPr>
          </a:p>
        </p:txBody>
      </p:sp>
      <p:sp>
        <p:nvSpPr>
          <p:cNvPr id="210" name="Text 6"/>
          <p:cNvSpPr/>
          <p:nvPr/>
        </p:nvSpPr>
        <p:spPr>
          <a:xfrm>
            <a:off x="6126480" y="3154680"/>
            <a:ext cx="5486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you never write get_page(...) yourself</a:t>
            </a:r>
            <a:endParaRPr lang="en-IN" sz="1300" b="0" u="none" strike="noStrike">
              <a:solidFill>
                <a:srgbClr val="000000"/>
              </a:solidFill>
              <a:effectLst/>
              <a:uFillTx/>
              <a:latin typeface="Arial"/>
            </a:endParaRPr>
          </a:p>
        </p:txBody>
      </p:sp>
      <p:sp>
        <p:nvSpPr>
          <p:cNvPr id="211" name="Shape 7"/>
          <p:cNvSpPr/>
          <p:nvPr/>
        </p:nvSpPr>
        <p:spPr>
          <a:xfrm>
            <a:off x="548640" y="385884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2" name="Text 8"/>
          <p:cNvSpPr/>
          <p:nvPr/>
        </p:nvSpPr>
        <p:spPr>
          <a:xfrm>
            <a:off x="548640" y="38588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213" name="Text 9"/>
          <p:cNvSpPr/>
          <p:nvPr/>
        </p:nvSpPr>
        <p:spPr>
          <a:xfrm>
            <a:off x="1234440" y="3813120"/>
            <a:ext cx="4754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its parameters become YOUR parameters</a:t>
            </a:r>
            <a:endParaRPr lang="en-IN" sz="1500" b="0" u="none" strike="noStrike">
              <a:solidFill>
                <a:srgbClr val="000000"/>
              </a:solidFill>
              <a:effectLst/>
              <a:uFillTx/>
              <a:latin typeface="Arial"/>
            </a:endParaRPr>
          </a:p>
        </p:txBody>
      </p:sp>
      <p:sp>
        <p:nvSpPr>
          <p:cNvPr id="214" name="Text 10"/>
          <p:cNvSpPr/>
          <p:nvPr/>
        </p:nvSpPr>
        <p:spPr>
          <a:xfrm>
            <a:off x="6126480" y="3813120"/>
            <a:ext cx="5486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/students?limit=5 still works, and shows up in /docs</a:t>
            </a:r>
            <a:endParaRPr lang="en-IN" sz="1300" b="0" u="none" strike="noStrike">
              <a:solidFill>
                <a:srgbClr val="000000"/>
              </a:solidFill>
              <a:effectLst/>
              <a:uFillTx/>
              <a:latin typeface="Arial"/>
            </a:endParaRPr>
          </a:p>
        </p:txBody>
      </p:sp>
      <p:sp>
        <p:nvSpPr>
          <p:cNvPr id="215" name="Shape 11"/>
          <p:cNvSpPr/>
          <p:nvPr/>
        </p:nvSpPr>
        <p:spPr>
          <a:xfrm>
            <a:off x="548640" y="451728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6" name="Text 12"/>
          <p:cNvSpPr/>
          <p:nvPr/>
        </p:nvSpPr>
        <p:spPr>
          <a:xfrm>
            <a:off x="548640" y="45172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217" name="Text 13"/>
          <p:cNvSpPr/>
          <p:nvPr/>
        </p:nvSpPr>
        <p:spPr>
          <a:xfrm>
            <a:off x="1234440" y="4471560"/>
            <a:ext cx="4754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if it raises, your endpoint never runs</a:t>
            </a:r>
            <a:endParaRPr lang="en-IN" sz="1500" b="0" u="none" strike="noStrike">
              <a:solidFill>
                <a:srgbClr val="000000"/>
              </a:solidFill>
              <a:effectLst/>
              <a:uFillTx/>
              <a:latin typeface="Arial"/>
            </a:endParaRPr>
          </a:p>
        </p:txBody>
      </p:sp>
      <p:sp>
        <p:nvSpPr>
          <p:cNvPr id="218" name="Text 14"/>
          <p:cNvSpPr/>
          <p:nvPr/>
        </p:nvSpPr>
        <p:spPr>
          <a:xfrm>
            <a:off x="6126480" y="4471560"/>
            <a:ext cx="5486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which is how every login you will ever write works</a:t>
            </a:r>
            <a:endParaRPr lang="en-IN" sz="1300" b="0" u="none" strike="noStrike">
              <a:solidFill>
                <a:srgbClr val="000000"/>
              </a:solidFill>
              <a:effectLst/>
              <a:uFillTx/>
              <a:latin typeface="Arial"/>
            </a:endParaRPr>
          </a:p>
        </p:txBody>
      </p:sp>
      <p:sp>
        <p:nvSpPr>
          <p:cNvPr id="219" name="Shape 15"/>
          <p:cNvSpPr/>
          <p:nvPr/>
        </p:nvSpPr>
        <p:spPr>
          <a:xfrm>
            <a:off x="548640" y="5257800"/>
            <a:ext cx="1109124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0" name="Text 16"/>
          <p:cNvSpPr/>
          <p:nvPr/>
        </p:nvSpPr>
        <p:spPr>
          <a:xfrm>
            <a:off x="868680" y="525780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In Module 3 this becomes get_current_user.  </a:t>
            </a:r>
            <a:r>
              <a:rPr lang="en-US" sz="1500" b="0" u="none" strike="noStrike">
                <a:solidFill>
                  <a:srgbClr val="1E293B"/>
                </a:solidFill>
                <a:effectLst/>
                <a:uFillTx/>
                <a:latin typeface="Calibri"/>
                <a:ea typeface="Calibri"/>
              </a:rPr>
              <a:t>In forty minutes it becomes get_db. Same shape, three times.</a:t>
            </a:r>
            <a:endParaRPr lang="en-IN" sz="1500" b="0" u="none" strike="noStrike">
              <a:solidFill>
                <a:srgbClr val="000000"/>
              </a:solidFill>
              <a:effectLst/>
              <a:uFillTx/>
              <a:latin typeface="Arial"/>
            </a:endParaRPr>
          </a:p>
        </p:txBody>
      </p:sp>
      <p:sp>
        <p:nvSpPr>
          <p:cNvPr id="221" name="Text 17"/>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22" name="Text 1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yield — setup, then guaranteed cleanup</a:t>
            </a:r>
            <a:endParaRPr lang="en-IN" sz="3000" b="0" u="none" strike="noStrike">
              <a:solidFill>
                <a:srgbClr val="000000"/>
              </a:solidFill>
              <a:effectLst/>
              <a:uFillTx/>
              <a:latin typeface="Arial"/>
            </a:endParaRPr>
          </a:p>
        </p:txBody>
      </p:sp>
      <p:sp>
        <p:nvSpPr>
          <p:cNvPr id="224" name="Shape 1"/>
          <p:cNvSpPr/>
          <p:nvPr/>
        </p:nvSpPr>
        <p:spPr>
          <a:xfrm>
            <a:off x="548640" y="1554480"/>
            <a:ext cx="6034680" cy="1919880"/>
          </a:xfrm>
          <a:prstGeom prst="roundRect">
            <a:avLst>
              <a:gd name="adj" fmla="val 285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5" name="Text 2"/>
          <p:cNvSpPr/>
          <p:nvPr/>
        </p:nvSpPr>
        <p:spPr>
          <a:xfrm>
            <a:off x="804600" y="1737360"/>
            <a:ext cx="552276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def get_thing():</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thing = open_it()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try:</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yield thing      # endpoint runs HERE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finally:</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thing.close()    # ALWAYS runs</a:t>
            </a:r>
            <a:endParaRPr lang="en-IN" sz="1300" b="0" u="none" strike="noStrike">
              <a:solidFill>
                <a:srgbClr val="000000"/>
              </a:solidFill>
              <a:effectLst/>
              <a:uFillTx/>
              <a:latin typeface="Arial"/>
            </a:endParaRPr>
          </a:p>
        </p:txBody>
      </p:sp>
      <p:sp>
        <p:nvSpPr>
          <p:cNvPr id="226" name="Shape 3"/>
          <p:cNvSpPr/>
          <p:nvPr/>
        </p:nvSpPr>
        <p:spPr>
          <a:xfrm>
            <a:off x="6793920" y="1554480"/>
            <a:ext cx="4845960" cy="1919880"/>
          </a:xfrm>
          <a:prstGeom prst="roundRect">
            <a:avLst>
              <a:gd name="adj" fmla="val 476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7" name="Text 4"/>
          <p:cNvSpPr/>
          <p:nvPr/>
        </p:nvSpPr>
        <p:spPr>
          <a:xfrm>
            <a:off x="7068240" y="1783080"/>
            <a:ext cx="42973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Everything before the yield is setup.</a:t>
            </a:r>
            <a:endParaRPr lang="en-IN" sz="1500" b="0" u="none" strike="noStrike">
              <a:solidFill>
                <a:srgbClr val="000000"/>
              </a:solidFill>
              <a:effectLst/>
              <a:uFillTx/>
              <a:latin typeface="Arial"/>
            </a:endParaRPr>
          </a:p>
        </p:txBody>
      </p:sp>
      <p:sp>
        <p:nvSpPr>
          <p:cNvPr id="228" name="Text 5"/>
          <p:cNvSpPr/>
          <p:nvPr/>
        </p:nvSpPr>
        <p:spPr>
          <a:xfrm>
            <a:off x="7068240" y="2377440"/>
            <a:ext cx="42973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Everything after it is cleanup — and it runs even if the endpoint raised an exception.</a:t>
            </a:r>
            <a:endParaRPr lang="en-IN" sz="1350" b="0" u="none" strike="noStrike">
              <a:solidFill>
                <a:srgbClr val="000000"/>
              </a:solidFill>
              <a:effectLst/>
              <a:uFillTx/>
              <a:latin typeface="Arial"/>
            </a:endParaRPr>
          </a:p>
        </p:txBody>
      </p:sp>
      <p:sp>
        <p:nvSpPr>
          <p:cNvPr id="229" name="Text 6"/>
          <p:cNvSpPr/>
          <p:nvPr/>
        </p:nvSpPr>
        <p:spPr>
          <a:xfrm>
            <a:off x="548640" y="37033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93B"/>
                </a:solidFill>
                <a:effectLst/>
                <a:uFillTx/>
                <a:latin typeface="Calibri"/>
                <a:ea typeface="Calibri"/>
              </a:rPr>
              <a:t>The layout that survives past 200 lines</a:t>
            </a:r>
            <a:endParaRPr lang="en-IN" sz="1900" b="0" u="none" strike="noStrike">
              <a:solidFill>
                <a:srgbClr val="000000"/>
              </a:solidFill>
              <a:effectLst/>
              <a:uFillTx/>
              <a:latin typeface="Arial"/>
            </a:endParaRPr>
          </a:p>
        </p:txBody>
      </p:sp>
      <p:sp>
        <p:nvSpPr>
          <p:cNvPr id="230" name="Shape 7"/>
          <p:cNvSpPr/>
          <p:nvPr/>
        </p:nvSpPr>
        <p:spPr>
          <a:xfrm>
            <a:off x="548640" y="4114800"/>
            <a:ext cx="6034680" cy="1645560"/>
          </a:xfrm>
          <a:prstGeom prst="roundRect">
            <a:avLst>
              <a:gd name="adj" fmla="val 333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1" name="Text 8"/>
          <p:cNvSpPr/>
          <p:nvPr/>
        </p:nvSpPr>
        <p:spPr>
          <a:xfrm>
            <a:off x="804600" y="4297680"/>
            <a:ext cx="5522760" cy="12798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00" b="0" u="none" strike="noStrike">
                <a:solidFill>
                  <a:srgbClr val="1E293B"/>
                </a:solidFill>
                <a:effectLst/>
                <a:uFillTx/>
                <a:latin typeface="Courier New"/>
                <a:ea typeface="Courier New"/>
              </a:rPr>
              <a:t>course_api/</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main.py        &lt;- app + wiring</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database.py    &lt;- engine, get_db</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models.py      &lt;- DATABASE tables</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schemas.py     &lt;- API shapes</a:t>
            </a:r>
            <a:endParaRPr lang="en-IN" sz="1100" b="0" u="none" strike="noStrike">
              <a:solidFill>
                <a:srgbClr val="000000"/>
              </a:solidFill>
              <a:effectLst/>
              <a:uFillTx/>
              <a:latin typeface="Arial"/>
            </a:endParaRPr>
          </a:p>
          <a:p>
            <a:pPr defTabSz="914400">
              <a:lnSpc>
                <a:spcPct val="115000"/>
              </a:lnSpc>
              <a:tabLst>
                <a:tab pos="0" algn="l"/>
              </a:tabLst>
            </a:pPr>
            <a:r>
              <a:rPr lang="en-US" sz="1100" b="0" u="none" strike="noStrike">
                <a:solidFill>
                  <a:srgbClr val="1E293B"/>
                </a:solidFill>
                <a:effectLst/>
                <a:uFillTx/>
                <a:latin typeface="Courier New"/>
                <a:ea typeface="Courier New"/>
              </a:rPr>
              <a:t>|- routers/</a:t>
            </a:r>
            <a:endParaRPr lang="en-IN" sz="1100" b="0" u="none" strike="noStrike">
              <a:solidFill>
                <a:srgbClr val="000000"/>
              </a:solidFill>
              <a:effectLst/>
              <a:uFillTx/>
              <a:latin typeface="Arial"/>
            </a:endParaRPr>
          </a:p>
        </p:txBody>
      </p:sp>
      <p:sp>
        <p:nvSpPr>
          <p:cNvPr id="232" name="Shape 9"/>
          <p:cNvSpPr/>
          <p:nvPr/>
        </p:nvSpPr>
        <p:spPr>
          <a:xfrm>
            <a:off x="6793920" y="4114800"/>
            <a:ext cx="4845960" cy="1645560"/>
          </a:xfrm>
          <a:prstGeom prst="roundRect">
            <a:avLst>
              <a:gd name="adj" fmla="val 555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3" name="Text 10"/>
          <p:cNvSpPr/>
          <p:nvPr/>
        </p:nvSpPr>
        <p:spPr>
          <a:xfrm>
            <a:off x="7068240" y="4297680"/>
            <a:ext cx="42973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45309"/>
                </a:solidFill>
                <a:effectLst/>
                <a:uFillTx/>
                <a:latin typeface="Calibri"/>
                <a:ea typeface="Calibri"/>
              </a:rPr>
              <a:t>Why two files for one Student?</a:t>
            </a:r>
            <a:endParaRPr lang="en-IN" sz="1450" b="0" u="none" strike="noStrike">
              <a:solidFill>
                <a:srgbClr val="000000"/>
              </a:solidFill>
              <a:effectLst/>
              <a:uFillTx/>
              <a:latin typeface="Arial"/>
            </a:endParaRPr>
          </a:p>
        </p:txBody>
      </p:sp>
      <p:sp>
        <p:nvSpPr>
          <p:cNvPr id="234" name="Text 11"/>
          <p:cNvSpPr/>
          <p:nvPr/>
        </p:nvSpPr>
        <p:spPr>
          <a:xfrm>
            <a:off x="7068240" y="4663440"/>
            <a:ext cx="429732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database row has a password hash, an internal id, a created_at. The API response must never contain the first of those.</a:t>
            </a:r>
            <a:endParaRPr lang="en-IN" sz="1250" b="0" u="none" strike="noStrike">
              <a:solidFill>
                <a:srgbClr val="000000"/>
              </a:solidFill>
              <a:effectLst/>
              <a:uFillTx/>
              <a:latin typeface="Arial"/>
            </a:endParaRPr>
          </a:p>
        </p:txBody>
      </p:sp>
      <p:sp>
        <p:nvSpPr>
          <p:cNvPr id="235" name="Text 12"/>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36"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38"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database session dependency uses yield. An endpoint using it raises a 404. What happens to the session?</a:t>
            </a:r>
            <a:endParaRPr lang="en-IN" sz="2500" b="0" u="none" strike="noStrike">
              <a:solidFill>
                <a:srgbClr val="000000"/>
              </a:solidFill>
              <a:effectLst/>
              <a:uFillTx/>
              <a:latin typeface="Arial"/>
            </a:endParaRPr>
          </a:p>
        </p:txBody>
      </p:sp>
      <p:sp>
        <p:nvSpPr>
          <p:cNvPr id="239"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0"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41"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It leaks — cleanup only runs on success</a:t>
            </a:r>
            <a:endParaRPr lang="en-IN" sz="1700" b="0" u="none" strike="noStrike">
              <a:solidFill>
                <a:srgbClr val="000000"/>
              </a:solidFill>
              <a:effectLst/>
              <a:uFillTx/>
              <a:latin typeface="Arial"/>
            </a:endParaRPr>
          </a:p>
        </p:txBody>
      </p:sp>
      <p:sp>
        <p:nvSpPr>
          <p:cNvPr id="242"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3"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44"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It is closed, because finally always runs</a:t>
            </a:r>
            <a:endParaRPr lang="en-IN" sz="1700" b="0" u="none" strike="noStrike">
              <a:solidFill>
                <a:srgbClr val="000000"/>
              </a:solidFill>
              <a:effectLst/>
              <a:uFillTx/>
              <a:latin typeface="Arial"/>
            </a:endParaRPr>
          </a:p>
        </p:txBody>
      </p:sp>
      <p:sp>
        <p:nvSpPr>
          <p:cNvPr id="245"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6"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47"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FastAPI restarts the connection pool</a:t>
            </a:r>
            <a:endParaRPr lang="en-IN" sz="1700" b="0" u="none" strike="noStrike">
              <a:solidFill>
                <a:srgbClr val="000000"/>
              </a:solidFill>
              <a:effectLst/>
              <a:uFillTx/>
              <a:latin typeface="Arial"/>
            </a:endParaRPr>
          </a:p>
        </p:txBody>
      </p:sp>
      <p:sp>
        <p:nvSpPr>
          <p:cNvPr id="248"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9"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50"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404 is swallowed by the dependency</a:t>
            </a:r>
            <a:endParaRPr lang="en-IN" sz="1700" b="0" u="none" strike="noStrike">
              <a:solidFill>
                <a:srgbClr val="000000"/>
              </a:solidFill>
              <a:effectLst/>
              <a:uFillTx/>
              <a:latin typeface="Arial"/>
            </a:endParaRPr>
          </a:p>
        </p:txBody>
      </p:sp>
      <p:sp>
        <p:nvSpPr>
          <p:cNvPr id="251"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52"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53"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05</a:t>
            </a:r>
            <a:endParaRPr lang="en-IN" sz="9600" b="0" u="none" strike="noStrike">
              <a:solidFill>
                <a:srgbClr val="000000"/>
              </a:solidFill>
              <a:effectLst/>
              <a:uFillTx/>
              <a:latin typeface="Arial"/>
            </a:endParaRPr>
          </a:p>
        </p:txBody>
      </p:sp>
      <p:sp>
        <p:nvSpPr>
          <p:cNvPr id="254"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SQL — the half you run in Colab</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Why not just save it to a file?</a:t>
            </a:r>
            <a:endParaRPr lang="en-IN" sz="3000" b="0" u="none" strike="noStrike">
              <a:solidFill>
                <a:srgbClr val="000000"/>
              </a:solidFill>
              <a:effectLst/>
              <a:uFillTx/>
              <a:latin typeface="Arial"/>
            </a:endParaRPr>
          </a:p>
        </p:txBody>
      </p:sp>
      <p:sp>
        <p:nvSpPr>
          <p:cNvPr id="256"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Ask it before you answer it — let them argue for a minute.</a:t>
            </a:r>
            <a:endParaRPr lang="en-IN" sz="1500" b="0" u="none" strike="noStrike">
              <a:solidFill>
                <a:srgbClr val="000000"/>
              </a:solidFill>
              <a:effectLst/>
              <a:uFillTx/>
              <a:latin typeface="Arial"/>
            </a:endParaRPr>
          </a:p>
        </p:txBody>
      </p:sp>
      <p:graphicFrame>
        <p:nvGraphicFramePr>
          <p:cNvPr id="257" name="Table 0"/>
          <p:cNvGraphicFramePr/>
          <p:nvPr/>
        </p:nvGraphicFramePr>
        <p:xfrm>
          <a:off x="548640" y="1828800"/>
          <a:ext cx="11091240" cy="3108600"/>
        </p:xfrm>
        <a:graphic>
          <a:graphicData uri="http://schemas.openxmlformats.org/drawingml/2006/table">
            <a:tbl>
              <a:tblPr/>
              <a:tblGrid>
                <a:gridCol w="4572000"/>
                <a:gridCol w="3108960"/>
                <a:gridCol w="3410640"/>
              </a:tblGrid>
              <a:tr h="6217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The problem</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A file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A database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Two requests save at once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one corrupted file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both handled, safely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Find the CSE students among 100,000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read all 100,000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goes straight to them</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Power cut halfway through a write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half a file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all of it, or none of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Someone saves a duplicate email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accepts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REFUSES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258" name="Shape 2"/>
          <p:cNvSpPr/>
          <p:nvPr/>
        </p:nvSpPr>
        <p:spPr>
          <a:xfrm>
            <a:off x="548640" y="4754880"/>
            <a:ext cx="11091240" cy="731160"/>
          </a:xfrm>
          <a:prstGeom prst="roundRect">
            <a:avLst>
              <a:gd name="adj" fmla="val 125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9" name="Text 3"/>
          <p:cNvSpPr/>
          <p:nvPr/>
        </p:nvSpPr>
        <p:spPr>
          <a:xfrm>
            <a:off x="868680" y="475488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A database is not a fancy file.  </a:t>
            </a:r>
            <a:r>
              <a:rPr lang="en-US" sz="1500" b="0" u="none" strike="noStrike">
                <a:solidFill>
                  <a:srgbClr val="1E293B"/>
                </a:solidFill>
                <a:effectLst/>
                <a:uFillTx/>
                <a:latin typeface="Calibri"/>
                <a:ea typeface="Calibri"/>
              </a:rPr>
              <a:t>It is a program whose entire job is to be careful with your data while many people touch it at once.</a:t>
            </a:r>
            <a:endParaRPr lang="en-IN" sz="1500" b="0" u="none" strike="noStrike">
              <a:solidFill>
                <a:srgbClr val="000000"/>
              </a:solidFill>
              <a:effectLst/>
              <a:uFillTx/>
              <a:latin typeface="Arial"/>
            </a:endParaRPr>
          </a:p>
        </p:txBody>
      </p:sp>
      <p:sp>
        <p:nvSpPr>
          <p:cNvPr id="260" name="Shape 4"/>
          <p:cNvSpPr/>
          <p:nvPr/>
        </p:nvSpPr>
        <p:spPr>
          <a:xfrm>
            <a:off x="548640" y="5669280"/>
            <a:ext cx="11091240" cy="594000"/>
          </a:xfrm>
          <a:prstGeom prst="roundRect">
            <a:avLst>
              <a:gd name="adj" fmla="val 1538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1" name="Text 5"/>
          <p:cNvSpPr/>
          <p:nvPr/>
        </p:nvSpPr>
        <p:spPr>
          <a:xfrm>
            <a:off x="868680" y="566928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last row is the one to dwell on:  </a:t>
            </a:r>
            <a:r>
              <a:rPr lang="en-US" sz="1500" b="0" u="none" strike="noStrike">
                <a:solidFill>
                  <a:srgbClr val="1E293B"/>
                </a:solidFill>
                <a:effectLst/>
                <a:uFillTx/>
                <a:latin typeface="Calibri"/>
                <a:ea typeface="Calibri"/>
              </a:rPr>
              <a:t>a file cannot refuse anything. That is what constraints are for.</a:t>
            </a:r>
            <a:endParaRPr lang="en-IN" sz="1500" b="0" u="none" strike="noStrike">
              <a:solidFill>
                <a:srgbClr val="000000"/>
              </a:solidFill>
              <a:effectLst/>
              <a:uFillTx/>
              <a:latin typeface="Arial"/>
            </a:endParaRPr>
          </a:p>
        </p:txBody>
      </p:sp>
      <p:sp>
        <p:nvSpPr>
          <p:cNvPr id="262" name="Text 6"/>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63" name="Text 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table is a class. A row is an object.</a:t>
            </a:r>
            <a:endParaRPr lang="en-IN" sz="3000" b="0" u="none" strike="noStrike">
              <a:solidFill>
                <a:srgbClr val="000000"/>
              </a:solidFill>
              <a:effectLst/>
              <a:uFillTx/>
              <a:latin typeface="Arial"/>
            </a:endParaRPr>
          </a:p>
        </p:txBody>
      </p:sp>
      <p:sp>
        <p:nvSpPr>
          <p:cNvPr id="265"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You already know how to model data. This is a second syntax for it.</a:t>
            </a:r>
            <a:endParaRPr lang="en-IN" sz="1500" b="0" u="none" strike="noStrike">
              <a:solidFill>
                <a:srgbClr val="000000"/>
              </a:solidFill>
              <a:effectLst/>
              <a:uFillTx/>
              <a:latin typeface="Arial"/>
            </a:endParaRPr>
          </a:p>
        </p:txBody>
      </p:sp>
      <p:graphicFrame>
        <p:nvGraphicFramePr>
          <p:cNvPr id="266" name="Table 0"/>
          <p:cNvGraphicFramePr/>
          <p:nvPr/>
        </p:nvGraphicFramePr>
        <p:xfrm>
          <a:off x="548640" y="1828800"/>
          <a:ext cx="5851800" cy="2743200"/>
        </p:xfrm>
        <a:graphic>
          <a:graphicData uri="http://schemas.openxmlformats.org/drawingml/2006/table">
            <a:tbl>
              <a:tblPr/>
              <a:tblGrid>
                <a:gridCol w="2743200"/>
                <a:gridCol w="3108960"/>
              </a:tblGrid>
              <a:tr h="45720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Python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SQL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class Student: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CREATE TABLE students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one object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one ROW</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self.name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COLUMN called name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age: int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age INTEGER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57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Field(min_length=2)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NOT NULL / UNIQUE / CHECK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267" name="Shape 2"/>
          <p:cNvSpPr/>
          <p:nvPr/>
        </p:nvSpPr>
        <p:spPr>
          <a:xfrm>
            <a:off x="6675120" y="1828800"/>
            <a:ext cx="4964760" cy="2742840"/>
          </a:xfrm>
          <a:prstGeom prst="roundRect">
            <a:avLst>
              <a:gd name="adj" fmla="val 2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8" name="Text 3"/>
          <p:cNvSpPr/>
          <p:nvPr/>
        </p:nvSpPr>
        <p:spPr>
          <a:xfrm>
            <a:off x="6931080" y="2011680"/>
            <a:ext cx="4452840" cy="2377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CREATE TABLE students (</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id     INTEGER PRIMARY KEY,</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name   TEXT    NOT NULL,</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branch TEXT    DEFAULT 'CSE',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email  TEXT    NOT NULL UNIQUE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a:t>
            </a:r>
            <a:endParaRPr lang="en-IN" sz="1200" b="0" u="none" strike="noStrike">
              <a:solidFill>
                <a:srgbClr val="000000"/>
              </a:solidFill>
              <a:effectLst/>
              <a:uFillTx/>
              <a:latin typeface="Arial"/>
            </a:endParaRPr>
          </a:p>
        </p:txBody>
      </p:sp>
      <p:sp>
        <p:nvSpPr>
          <p:cNvPr id="269" name="Shape 4"/>
          <p:cNvSpPr/>
          <p:nvPr/>
        </p:nvSpPr>
        <p:spPr>
          <a:xfrm>
            <a:off x="548640" y="4892040"/>
            <a:ext cx="11091240" cy="685440"/>
          </a:xfrm>
          <a:prstGeom prst="roundRect">
            <a:avLst>
              <a:gd name="adj" fmla="val 13333"/>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0" name="Text 5"/>
          <p:cNvSpPr/>
          <p:nvPr/>
        </p:nvSpPr>
        <p:spPr>
          <a:xfrm>
            <a:off x="868680" y="489204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The difference from Pydantic:  </a:t>
            </a:r>
            <a:r>
              <a:rPr lang="en-US" sz="1500" b="0" u="none" strike="noStrike">
                <a:solidFill>
                  <a:srgbClr val="1E293B"/>
                </a:solidFill>
                <a:effectLst/>
                <a:uFillTx/>
                <a:latin typeface="Calibri"/>
                <a:ea typeface="Calibri"/>
              </a:rPr>
              <a:t>the DATABASE enforces these — so they hold even if someone bypasses your API completely.</a:t>
            </a:r>
            <a:endParaRPr lang="en-IN" sz="1500" b="0" u="none" strike="noStrike">
              <a:solidFill>
                <a:srgbClr val="000000"/>
              </a:solidFill>
              <a:effectLst/>
              <a:uFillTx/>
              <a:latin typeface="Arial"/>
            </a:endParaRPr>
          </a:p>
        </p:txBody>
      </p:sp>
      <p:sp>
        <p:nvSpPr>
          <p:cNvPr id="271" name="Shape 6"/>
          <p:cNvSpPr/>
          <p:nvPr/>
        </p:nvSpPr>
        <p:spPr>
          <a:xfrm>
            <a:off x="548640" y="5760720"/>
            <a:ext cx="11091240" cy="594000"/>
          </a:xfrm>
          <a:prstGeom prst="roundRect">
            <a:avLst>
              <a:gd name="adj" fmla="val 1538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2" name="Text 7"/>
          <p:cNvSpPr/>
          <p:nvPr/>
        </p:nvSpPr>
        <p:spPr>
          <a:xfrm>
            <a:off x="868680" y="576072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PRIMARY KEY  </a:t>
            </a:r>
            <a:r>
              <a:rPr lang="en-US" sz="1500" b="0" u="none" strike="noStrike">
                <a:solidFill>
                  <a:srgbClr val="1E293B"/>
                </a:solidFill>
                <a:effectLst/>
                <a:uFillTx/>
                <a:latin typeface="Calibri"/>
                <a:ea typeface="Calibri"/>
              </a:rPr>
              <a:t>identifies a row forever  ·  NOT NULL must have a value  ·  UNIQUE no duplicates</a:t>
            </a:r>
            <a:endParaRPr lang="en-IN" sz="1500" b="0" u="none" strike="noStrike">
              <a:solidFill>
                <a:srgbClr val="000000"/>
              </a:solidFill>
              <a:effectLst/>
              <a:uFillTx/>
              <a:latin typeface="Arial"/>
            </a:endParaRPr>
          </a:p>
        </p:txBody>
      </p:sp>
      <p:sp>
        <p:nvSpPr>
          <p:cNvPr id="273" name="Text 8"/>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74"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Four verbs, and one habit that saves you</a:t>
            </a:r>
            <a:endParaRPr lang="en-IN" sz="3000" b="0" u="none" strike="noStrike">
              <a:solidFill>
                <a:srgbClr val="000000"/>
              </a:solidFill>
              <a:effectLst/>
              <a:uFillTx/>
              <a:latin typeface="Arial"/>
            </a:endParaRPr>
          </a:p>
        </p:txBody>
      </p:sp>
      <p:sp>
        <p:nvSpPr>
          <p:cNvPr id="276" name="Shape 1"/>
          <p:cNvSpPr/>
          <p:nvPr/>
        </p:nvSpPr>
        <p:spPr>
          <a:xfrm>
            <a:off x="548640" y="1463040"/>
            <a:ext cx="11091240" cy="2011320"/>
          </a:xfrm>
          <a:prstGeom prst="roundRect">
            <a:avLst>
              <a:gd name="adj" fmla="val 272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7" name="Text 2"/>
          <p:cNvSpPr/>
          <p:nvPr/>
        </p:nvSpPr>
        <p:spPr>
          <a:xfrm>
            <a:off x="804600" y="1645920"/>
            <a:ext cx="10579320" cy="1645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INSERT INTO students (name, branch, age) VALUES ('Ada', 'CSE', 20);</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SELECT name, branch FROM students WHERE branch = 'CSE' ORDER BY age DESC LIMIT 10;</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UPDATE students SET branch = 'ECE' WHERE id = 1;</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DELETE FROM students WHERE id = 1;</a:t>
            </a:r>
            <a:endParaRPr lang="en-IN" sz="1300" b="0" u="none" strike="noStrike">
              <a:solidFill>
                <a:srgbClr val="000000"/>
              </a:solidFill>
              <a:effectLst/>
              <a:uFillTx/>
              <a:latin typeface="Arial"/>
            </a:endParaRPr>
          </a:p>
        </p:txBody>
      </p:sp>
      <p:sp>
        <p:nvSpPr>
          <p:cNvPr id="278" name="Shape 3"/>
          <p:cNvSpPr/>
          <p:nvPr/>
        </p:nvSpPr>
        <p:spPr>
          <a:xfrm>
            <a:off x="548640" y="3657600"/>
            <a:ext cx="11091240" cy="1279800"/>
          </a:xfrm>
          <a:prstGeom prst="roundRect">
            <a:avLst>
              <a:gd name="adj" fmla="val 714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9" name="Text 4"/>
          <p:cNvSpPr/>
          <p:nvPr/>
        </p:nvSpPr>
        <p:spPr>
          <a:xfrm>
            <a:off x="868680" y="3794760"/>
            <a:ext cx="10423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ourier New"/>
                <a:ea typeface="Courier New"/>
              </a:rPr>
              <a:t>UPDATE students SET branch = 'ECE';</a:t>
            </a:r>
            <a:endParaRPr lang="en-IN" sz="1700" b="0" u="none" strike="noStrike">
              <a:solidFill>
                <a:srgbClr val="000000"/>
              </a:solidFill>
              <a:effectLst/>
              <a:uFillTx/>
              <a:latin typeface="Arial"/>
            </a:endParaRPr>
          </a:p>
        </p:txBody>
      </p:sp>
      <p:sp>
        <p:nvSpPr>
          <p:cNvPr id="280" name="Text 5"/>
          <p:cNvSpPr/>
          <p:nvPr/>
        </p:nvSpPr>
        <p:spPr>
          <a:xfrm>
            <a:off x="868680" y="420624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No WHERE. That changes EVERY ROW IN THE TABLE. There is no undo and no confirmation. Same for DELETE FROM students;</a:t>
            </a:r>
            <a:endParaRPr lang="en-IN" sz="1450" b="0" u="none" strike="noStrike">
              <a:solidFill>
                <a:srgbClr val="000000"/>
              </a:solidFill>
              <a:effectLst/>
              <a:uFillTx/>
              <a:latin typeface="Arial"/>
            </a:endParaRPr>
          </a:p>
        </p:txBody>
      </p:sp>
      <p:sp>
        <p:nvSpPr>
          <p:cNvPr id="281" name="Shape 6"/>
          <p:cNvSpPr/>
          <p:nvPr/>
        </p:nvSpPr>
        <p:spPr>
          <a:xfrm>
            <a:off x="548640" y="5120640"/>
            <a:ext cx="11091240" cy="639720"/>
          </a:xfrm>
          <a:prstGeom prst="roundRect">
            <a:avLst>
              <a:gd name="adj" fmla="val 1428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2" name="Text 7"/>
          <p:cNvSpPr/>
          <p:nvPr/>
        </p:nvSpPr>
        <p:spPr>
          <a:xfrm>
            <a:off x="868680" y="512064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habit:  </a:t>
            </a:r>
            <a:r>
              <a:rPr lang="en-US" sz="1500" b="0" u="none" strike="noStrike">
                <a:solidFill>
                  <a:srgbClr val="1E293B"/>
                </a:solidFill>
                <a:effectLst/>
                <a:uFillTx/>
                <a:latin typeface="Calibri"/>
                <a:ea typeface="Calibri"/>
              </a:rPr>
              <a:t>write the WHERE first, THEN go back and write the UPDATE. Make them say it back to you.</a:t>
            </a:r>
            <a:endParaRPr lang="en-IN" sz="1500" b="0" u="none" strike="noStrike">
              <a:solidFill>
                <a:srgbClr val="000000"/>
              </a:solidFill>
              <a:effectLst/>
              <a:uFillTx/>
              <a:latin typeface="Arial"/>
            </a:endParaRPr>
          </a:p>
        </p:txBody>
      </p:sp>
      <p:sp>
        <p:nvSpPr>
          <p:cNvPr id="283" name="Shape 8"/>
          <p:cNvSpPr/>
          <p:nvPr/>
        </p:nvSpPr>
        <p:spPr>
          <a:xfrm>
            <a:off x="548640" y="5897880"/>
            <a:ext cx="11091240" cy="548280"/>
          </a:xfrm>
          <a:prstGeom prst="roundRect">
            <a:avLst>
              <a:gd name="adj" fmla="val 1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4" name="Text 9"/>
          <p:cNvSpPr/>
          <p:nvPr/>
        </p:nvSpPr>
        <p:spPr>
          <a:xfrm>
            <a:off x="868680" y="589788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Try it in the notebook:  </a:t>
            </a:r>
            <a:r>
              <a:rPr lang="en-US" sz="1500" b="0" u="none" strike="noStrike">
                <a:solidFill>
                  <a:srgbClr val="1E293B"/>
                </a:solidFill>
                <a:effectLst/>
                <a:uFillTx/>
                <a:latin typeface="Calibri"/>
                <a:ea typeface="Calibri"/>
              </a:rPr>
              <a:t>change 'CSE' to 'cse' and re-run. Zero rows — string comparison is case-sensitive.</a:t>
            </a:r>
            <a:endParaRPr lang="en-IN" sz="1500" b="0" u="none" strike="noStrike">
              <a:solidFill>
                <a:srgbClr val="000000"/>
              </a:solidFill>
              <a:effectLst/>
              <a:uFillTx/>
              <a:latin typeface="Arial"/>
            </a:endParaRPr>
          </a:p>
        </p:txBody>
      </p:sp>
      <p:sp>
        <p:nvSpPr>
          <p:cNvPr id="285" name="Text 10"/>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286"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foreign key is a column holding another table's key</a:t>
            </a:r>
            <a:endParaRPr lang="en-IN" sz="3000" b="0" u="none" strike="noStrike">
              <a:solidFill>
                <a:srgbClr val="000000"/>
              </a:solidFill>
              <a:effectLst/>
              <a:uFillTx/>
              <a:latin typeface="Arial"/>
            </a:endParaRPr>
          </a:p>
        </p:txBody>
      </p:sp>
      <p:sp>
        <p:nvSpPr>
          <p:cNvPr id="288" name="Shape 1"/>
          <p:cNvSpPr/>
          <p:nvPr/>
        </p:nvSpPr>
        <p:spPr>
          <a:xfrm>
            <a:off x="548640" y="1508760"/>
            <a:ext cx="5943240" cy="1599840"/>
          </a:xfrm>
          <a:prstGeom prst="roundRect">
            <a:avLst>
              <a:gd name="adj" fmla="val 342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9" name="Text 2"/>
          <p:cNvSpPr/>
          <p:nvPr/>
        </p:nvSpPr>
        <p:spPr>
          <a:xfrm>
            <a:off x="804600" y="1691640"/>
            <a:ext cx="5431320" cy="1234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CREATE TABLE enrolled (</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id          INTEGER PRIMARY KEY,</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name        TEXT NOT NULL,</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course_code TEXT REFERENCES courses(code)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t>
            </a:r>
            <a:endParaRPr lang="en-IN" sz="1150" b="0" u="none" strike="noStrike">
              <a:solidFill>
                <a:srgbClr val="000000"/>
              </a:solidFill>
              <a:effectLst/>
              <a:uFillTx/>
              <a:latin typeface="Arial"/>
            </a:endParaRPr>
          </a:p>
        </p:txBody>
      </p:sp>
      <p:sp>
        <p:nvSpPr>
          <p:cNvPr id="290" name="Shape 3"/>
          <p:cNvSpPr/>
          <p:nvPr/>
        </p:nvSpPr>
        <p:spPr>
          <a:xfrm>
            <a:off x="6702480" y="1508760"/>
            <a:ext cx="4937400" cy="1599840"/>
          </a:xfrm>
          <a:prstGeom prst="roundRect">
            <a:avLst>
              <a:gd name="adj" fmla="val 571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1" name="Text 4"/>
          <p:cNvSpPr/>
          <p:nvPr/>
        </p:nvSpPr>
        <p:spPr>
          <a:xfrm>
            <a:off x="6976800" y="169164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Module 1, remember?</a:t>
            </a:r>
            <a:endParaRPr lang="en-IN" sz="1500" b="0" u="none" strike="noStrike">
              <a:solidFill>
                <a:srgbClr val="000000"/>
              </a:solidFill>
              <a:effectLst/>
              <a:uFillTx/>
              <a:latin typeface="Arial"/>
            </a:endParaRPr>
          </a:p>
        </p:txBody>
      </p:sp>
      <p:sp>
        <p:nvSpPr>
          <p:cNvPr id="292" name="Text 5"/>
          <p:cNvSpPr/>
          <p:nvPr/>
        </p:nvSpPr>
        <p:spPr>
          <a:xfrm>
            <a:off x="6976800" y="205740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ourier New"/>
                <a:ea typeface="Courier New"/>
              </a:rPr>
              <a:t>self.courses = []</a:t>
            </a:r>
            <a:endParaRPr lang="en-IN" sz="1400" b="0" u="none" strike="noStrike">
              <a:solidFill>
                <a:srgbClr val="000000"/>
              </a:solidFill>
              <a:effectLst/>
              <a:uFillTx/>
              <a:latin typeface="Arial"/>
            </a:endParaRPr>
          </a:p>
        </p:txBody>
      </p:sp>
      <p:sp>
        <p:nvSpPr>
          <p:cNvPr id="293" name="Text 6"/>
          <p:cNvSpPr/>
          <p:nvPr/>
        </p:nvSpPr>
        <p:spPr>
          <a:xfrm>
            <a:off x="6976800" y="2423160"/>
            <a:ext cx="43887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Student HAS courses" — written down permanently. A database calls it a RELATIONSHIP.</a:t>
            </a:r>
            <a:endParaRPr lang="en-IN" sz="1250" b="0" u="none" strike="noStrike">
              <a:solidFill>
                <a:srgbClr val="000000"/>
              </a:solidFill>
              <a:effectLst/>
              <a:uFillTx/>
              <a:latin typeface="Arial"/>
            </a:endParaRPr>
          </a:p>
        </p:txBody>
      </p:sp>
      <p:sp>
        <p:nvSpPr>
          <p:cNvPr id="294" name="Shape 7"/>
          <p:cNvSpPr/>
          <p:nvPr/>
        </p:nvSpPr>
        <p:spPr>
          <a:xfrm>
            <a:off x="548640" y="3337560"/>
            <a:ext cx="11091240" cy="1234080"/>
          </a:xfrm>
          <a:prstGeom prst="roundRect">
            <a:avLst>
              <a:gd name="adj" fmla="val 444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5" name="Text 8"/>
          <p:cNvSpPr/>
          <p:nvPr/>
        </p:nvSpPr>
        <p:spPr>
          <a:xfrm>
            <a:off x="804600" y="3520440"/>
            <a:ext cx="10579320" cy="868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SELECT enrolled.name, courses.title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FROM enrolled</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JOIN courses ON enrolled.course_code = courses.code;</a:t>
            </a:r>
            <a:endParaRPr lang="en-IN" sz="1300" b="0" u="none" strike="noStrike">
              <a:solidFill>
                <a:srgbClr val="000000"/>
              </a:solidFill>
              <a:effectLst/>
              <a:uFillTx/>
              <a:latin typeface="Arial"/>
            </a:endParaRPr>
          </a:p>
        </p:txBody>
      </p:sp>
      <p:sp>
        <p:nvSpPr>
          <p:cNvPr id="296" name="Shape 9"/>
          <p:cNvSpPr/>
          <p:nvPr/>
        </p:nvSpPr>
        <p:spPr>
          <a:xfrm>
            <a:off x="548640" y="4754880"/>
            <a:ext cx="11091240" cy="685440"/>
          </a:xfrm>
          <a:prstGeom prst="roundRect">
            <a:avLst>
              <a:gd name="adj" fmla="val 13333"/>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7" name="Text 10"/>
          <p:cNvSpPr/>
          <p:nvPr/>
        </p:nvSpPr>
        <p:spPr>
          <a:xfrm>
            <a:off x="868680" y="475488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Read it out loud, in this order:  </a:t>
            </a:r>
            <a:r>
              <a:rPr lang="en-US" sz="1500" b="0" u="none" strike="noStrike">
                <a:solidFill>
                  <a:srgbClr val="1E293B"/>
                </a:solidFill>
                <a:effectLst/>
                <a:uFillTx/>
                <a:latin typeface="Calibri"/>
                <a:ea typeface="Calibri"/>
              </a:rPr>
              <a:t>"take enrolled, glue on the course whose code matches, then give me these two columns."</a:t>
            </a:r>
            <a:endParaRPr lang="en-IN" sz="1500" b="0" u="none" strike="noStrike">
              <a:solidFill>
                <a:srgbClr val="000000"/>
              </a:solidFill>
              <a:effectLst/>
              <a:uFillTx/>
              <a:latin typeface="Arial"/>
            </a:endParaRPr>
          </a:p>
        </p:txBody>
      </p:sp>
      <p:sp>
        <p:nvSpPr>
          <p:cNvPr id="298" name="Shape 11"/>
          <p:cNvSpPr/>
          <p:nvPr/>
        </p:nvSpPr>
        <p:spPr>
          <a:xfrm>
            <a:off x="548640" y="5623560"/>
            <a:ext cx="11091240" cy="639720"/>
          </a:xfrm>
          <a:prstGeom prst="roundRect">
            <a:avLst>
              <a:gd name="adj" fmla="val 14286"/>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9" name="Text 12"/>
          <p:cNvSpPr/>
          <p:nvPr/>
        </p:nvSpPr>
        <p:spPr>
          <a:xfrm>
            <a:off x="868680" y="562356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Then demo the refusal:  </a:t>
            </a:r>
            <a:r>
              <a:rPr lang="en-US" sz="1500" b="0" u="none" strike="noStrike">
                <a:solidFill>
                  <a:srgbClr val="1E293B"/>
                </a:solidFill>
                <a:effectLst/>
                <a:uFillTx/>
                <a:latin typeface="Calibri"/>
                <a:ea typeface="Calibri"/>
              </a:rPr>
              <a:t>insert a student pointing at a course that does not exist. The database says no. A list cannot do that.</a:t>
            </a:r>
            <a:endParaRPr lang="en-IN" sz="1500" b="0" u="none" strike="noStrike">
              <a:solidFill>
                <a:srgbClr val="000000"/>
              </a:solidFill>
              <a:effectLst/>
              <a:uFillTx/>
              <a:latin typeface="Arial"/>
            </a:endParaRPr>
          </a:p>
        </p:txBody>
      </p:sp>
      <p:sp>
        <p:nvSpPr>
          <p:cNvPr id="300" name="Text 13"/>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01" name="Text 1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303"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 run: UPDATE students SET branch = 'ECE'  — and nothing else. What did you just do?</a:t>
            </a:r>
            <a:endParaRPr lang="en-IN" sz="2500" b="0" u="none" strike="noStrike">
              <a:solidFill>
                <a:srgbClr val="000000"/>
              </a:solidFill>
              <a:effectLst/>
              <a:uFillTx/>
              <a:latin typeface="Arial"/>
            </a:endParaRPr>
          </a:p>
        </p:txBody>
      </p:sp>
      <p:sp>
        <p:nvSpPr>
          <p:cNvPr id="304"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05"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306"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Updated nothing — it is missing a WHERE</a:t>
            </a:r>
            <a:endParaRPr lang="en-IN" sz="1700" b="0" u="none" strike="noStrike">
              <a:solidFill>
                <a:srgbClr val="000000"/>
              </a:solidFill>
              <a:effectLst/>
              <a:uFillTx/>
              <a:latin typeface="Arial"/>
            </a:endParaRPr>
          </a:p>
        </p:txBody>
      </p:sp>
      <p:sp>
        <p:nvSpPr>
          <p:cNvPr id="307"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08"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309"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Updated the first row only</a:t>
            </a:r>
            <a:endParaRPr lang="en-IN" sz="1700" b="0" u="none" strike="noStrike">
              <a:solidFill>
                <a:srgbClr val="000000"/>
              </a:solidFill>
              <a:effectLst/>
              <a:uFillTx/>
              <a:latin typeface="Arial"/>
            </a:endParaRPr>
          </a:p>
        </p:txBody>
      </p:sp>
      <p:sp>
        <p:nvSpPr>
          <p:cNvPr id="310"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1"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312"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Updated EVERY row in the table</a:t>
            </a:r>
            <a:endParaRPr lang="en-IN" sz="1700" b="0" u="none" strike="noStrike">
              <a:solidFill>
                <a:srgbClr val="000000"/>
              </a:solidFill>
              <a:effectLst/>
              <a:uFillTx/>
              <a:latin typeface="Arial"/>
            </a:endParaRPr>
          </a:p>
        </p:txBody>
      </p:sp>
      <p:sp>
        <p:nvSpPr>
          <p:cNvPr id="313"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4"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315"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SQL rejects it as invalid</a:t>
            </a:r>
            <a:endParaRPr lang="en-IN" sz="1700" b="0" u="none" strike="noStrike">
              <a:solidFill>
                <a:srgbClr val="000000"/>
              </a:solidFill>
              <a:effectLst/>
              <a:uFillTx/>
              <a:latin typeface="Arial"/>
            </a:endParaRPr>
          </a:p>
        </p:txBody>
      </p:sp>
      <p:sp>
        <p:nvSpPr>
          <p:cNvPr id="316"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17"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18"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06</a:t>
            </a:r>
            <a:endParaRPr lang="en-IN" sz="9600" b="0" u="none" strike="noStrike">
              <a:solidFill>
                <a:srgbClr val="000000"/>
              </a:solidFill>
              <a:effectLst/>
              <a:uFillTx/>
              <a:latin typeface="Arial"/>
            </a:endParaRPr>
          </a:p>
        </p:txBody>
      </p:sp>
      <p:sp>
        <p:nvSpPr>
          <p:cNvPr id="319"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PostgreSQL and SQLAlchemy</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entire database installation</a:t>
            </a:r>
            <a:endParaRPr lang="en-IN" sz="3000" b="0" u="none" strike="noStrike">
              <a:solidFill>
                <a:srgbClr val="000000"/>
              </a:solidFill>
              <a:effectLst/>
              <a:uFillTx/>
              <a:latin typeface="Arial"/>
            </a:endParaRPr>
          </a:p>
        </p:txBody>
      </p:sp>
      <p:sp>
        <p:nvSpPr>
          <p:cNvPr id="321" name="Shape 1"/>
          <p:cNvSpPr/>
          <p:nvPr/>
        </p:nvSpPr>
        <p:spPr>
          <a:xfrm>
            <a:off x="2834640" y="1554480"/>
            <a:ext cx="6674760" cy="639720"/>
          </a:xfrm>
          <a:prstGeom prst="roundRect">
            <a:avLst>
              <a:gd name="adj" fmla="val 85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2" name="Text 2"/>
          <p:cNvSpPr/>
          <p:nvPr/>
        </p:nvSpPr>
        <p:spPr>
          <a:xfrm>
            <a:off x="3090600" y="1737360"/>
            <a:ext cx="6162840" cy="2739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2200" b="0" u="none" strike="noStrike">
                <a:solidFill>
                  <a:srgbClr val="1E293B"/>
                </a:solidFill>
                <a:effectLst/>
                <a:uFillTx/>
                <a:latin typeface="Courier New"/>
                <a:ea typeface="Courier New"/>
              </a:rPr>
              <a:t>docker compose up -d</a:t>
            </a:r>
            <a:endParaRPr lang="en-IN" sz="2200" b="0" u="none" strike="noStrike">
              <a:solidFill>
                <a:srgbClr val="000000"/>
              </a:solidFill>
              <a:effectLst/>
              <a:uFillTx/>
              <a:latin typeface="Arial"/>
            </a:endParaRPr>
          </a:p>
        </p:txBody>
      </p:sp>
      <p:sp>
        <p:nvSpPr>
          <p:cNvPr id="323" name="Text 3"/>
          <p:cNvSpPr/>
          <p:nvPr/>
        </p:nvSpPr>
        <p:spPr>
          <a:xfrm>
            <a:off x="548640" y="2331720"/>
            <a:ext cx="110912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i="1" u="none" strike="noStrike">
                <a:solidFill>
                  <a:srgbClr val="64748B"/>
                </a:solidFill>
                <a:effectLst/>
                <a:uFillTx/>
                <a:latin typeface="Calibri"/>
                <a:ea typeface="Calibri"/>
              </a:rPr>
              <a:t>No installer. No service. No config file. No version fight with the laptop next to you.</a:t>
            </a:r>
            <a:endParaRPr lang="en-IN" sz="1500" b="0" u="none" strike="noStrike">
              <a:solidFill>
                <a:srgbClr val="000000"/>
              </a:solidFill>
              <a:effectLst/>
              <a:uFillTx/>
              <a:latin typeface="Arial"/>
            </a:endParaRPr>
          </a:p>
        </p:txBody>
      </p:sp>
      <p:sp>
        <p:nvSpPr>
          <p:cNvPr id="324" name="Shape 4"/>
          <p:cNvSpPr/>
          <p:nvPr/>
        </p:nvSpPr>
        <p:spPr>
          <a:xfrm>
            <a:off x="548640" y="2834640"/>
            <a:ext cx="676620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5" name="Text 5"/>
          <p:cNvSpPr/>
          <p:nvPr/>
        </p:nvSpPr>
        <p:spPr>
          <a:xfrm>
            <a:off x="804600" y="3017520"/>
            <a:ext cx="625428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services: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db:</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image: postgres:18</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environment: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POSTGRES_USER: lpu</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POSTGRES_PASSWORD: lpu</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POSTGRES_DB: lpudb</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ports: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 "5432:5432"</a:t>
            </a:r>
            <a:endParaRPr lang="en-IN" sz="1150" b="0" u="none" strike="noStrike">
              <a:solidFill>
                <a:srgbClr val="000000"/>
              </a:solidFill>
              <a:effectLst/>
              <a:uFillTx/>
              <a:latin typeface="Arial"/>
            </a:endParaRPr>
          </a:p>
        </p:txBody>
      </p:sp>
      <p:sp>
        <p:nvSpPr>
          <p:cNvPr id="326" name="Shape 6"/>
          <p:cNvSpPr/>
          <p:nvPr/>
        </p:nvSpPr>
        <p:spPr>
          <a:xfrm>
            <a:off x="7525440" y="2834640"/>
            <a:ext cx="4114440" cy="2285640"/>
          </a:xfrm>
          <a:prstGeom prst="roundRect">
            <a:avLst>
              <a:gd name="adj" fmla="val 4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7" name="Text 7"/>
          <p:cNvSpPr/>
          <p:nvPr/>
        </p:nvSpPr>
        <p:spPr>
          <a:xfrm>
            <a:off x="7799760" y="3017520"/>
            <a:ext cx="35658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ourier New"/>
                <a:ea typeface="Courier New"/>
              </a:rPr>
              <a:t>ports: "5432:5432"</a:t>
            </a:r>
            <a:endParaRPr lang="en-IN" sz="1300" b="0" u="none" strike="noStrike">
              <a:solidFill>
                <a:srgbClr val="000000"/>
              </a:solidFill>
              <a:effectLst/>
              <a:uFillTx/>
              <a:latin typeface="Arial"/>
            </a:endParaRPr>
          </a:p>
        </p:txBody>
      </p:sp>
      <p:sp>
        <p:nvSpPr>
          <p:cNvPr id="328" name="Text 8"/>
          <p:cNvSpPr/>
          <p:nvPr/>
        </p:nvSpPr>
        <p:spPr>
          <a:xfrm>
            <a:off x="7799760" y="3383280"/>
            <a:ext cx="3565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LEFT is your laptop.</a:t>
            </a:r>
            <a:endParaRPr lang="en-IN"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E293B"/>
                </a:solidFill>
                <a:effectLst/>
                <a:uFillTx/>
                <a:latin typeface="Calibri"/>
                <a:ea typeface="Calibri"/>
              </a:rPr>
              <a:t>RIGHT is inside the box.</a:t>
            </a:r>
            <a:endParaRPr lang="en-IN" sz="1300" b="0" u="none" strike="noStrike">
              <a:solidFill>
                <a:srgbClr val="000000"/>
              </a:solidFill>
              <a:effectLst/>
              <a:uFillTx/>
              <a:latin typeface="Arial"/>
            </a:endParaRPr>
          </a:p>
        </p:txBody>
      </p:sp>
      <p:sp>
        <p:nvSpPr>
          <p:cNvPr id="329" name="Text 9"/>
          <p:cNvSpPr/>
          <p:nvPr/>
        </p:nvSpPr>
        <p:spPr>
          <a:xfrm>
            <a:off x="7799760" y="4023360"/>
            <a:ext cx="3565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You did not install PostgreSQL. You rented a copy that came ready.</a:t>
            </a:r>
            <a:endParaRPr lang="en-IN" sz="1300" b="0" u="none" strike="noStrike">
              <a:solidFill>
                <a:srgbClr val="000000"/>
              </a:solidFill>
              <a:effectLst/>
              <a:uFillTx/>
              <a:latin typeface="Arial"/>
            </a:endParaRPr>
          </a:p>
        </p:txBody>
      </p:sp>
      <p:sp>
        <p:nvSpPr>
          <p:cNvPr id="330" name="Shape 10"/>
          <p:cNvSpPr/>
          <p:nvPr/>
        </p:nvSpPr>
        <p:spPr>
          <a:xfrm>
            <a:off x="548640" y="5303520"/>
            <a:ext cx="11091240" cy="731160"/>
          </a:xfrm>
          <a:prstGeom prst="roundRect">
            <a:avLst>
              <a:gd name="adj" fmla="val 1250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1" name="Text 11"/>
          <p:cNvSpPr/>
          <p:nvPr/>
        </p:nvSpPr>
        <p:spPr>
          <a:xfrm>
            <a:off x="868680" y="530352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PostgreSQL 18 moved its data directory.  </a:t>
            </a:r>
            <a:r>
              <a:rPr lang="en-US" sz="1500" b="0" u="none" strike="noStrike">
                <a:solidFill>
                  <a:srgbClr val="1E293B"/>
                </a:solidFill>
                <a:effectLst/>
                <a:uFillTx/>
                <a:latin typeface="Calibri"/>
                <a:ea typeface="Calibri"/>
              </a:rPr>
              <a:t>Mount the volume at /var/lib/postgresql — NOT /data. Get it wrong and the data silently vanishes on the next down.</a:t>
            </a:r>
            <a:endParaRPr lang="en-IN" sz="1500" b="0" u="none" strike="noStrike">
              <a:solidFill>
                <a:srgbClr val="000000"/>
              </a:solidFill>
              <a:effectLst/>
              <a:uFillTx/>
              <a:latin typeface="Arial"/>
            </a:endParaRPr>
          </a:p>
        </p:txBody>
      </p:sp>
      <p:sp>
        <p:nvSpPr>
          <p:cNvPr id="332" name="Text 12"/>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33"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Engine, Session, and the dependency you already know</a:t>
            </a:r>
            <a:endParaRPr lang="en-IN" sz="3000" b="0" u="none" strike="noStrike">
              <a:solidFill>
                <a:srgbClr val="000000"/>
              </a:solidFill>
              <a:effectLst/>
              <a:uFillTx/>
              <a:latin typeface="Arial"/>
            </a:endParaRPr>
          </a:p>
        </p:txBody>
      </p:sp>
      <p:sp>
        <p:nvSpPr>
          <p:cNvPr id="335" name="Shape 1"/>
          <p:cNvSpPr/>
          <p:nvPr/>
        </p:nvSpPr>
        <p:spPr>
          <a:xfrm>
            <a:off x="548640" y="1463040"/>
            <a:ext cx="11091240" cy="2148480"/>
          </a:xfrm>
          <a:prstGeom prst="roundRect">
            <a:avLst>
              <a:gd name="adj" fmla="val 255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6" name="Text 2"/>
          <p:cNvSpPr/>
          <p:nvPr/>
        </p:nvSpPr>
        <p:spPr>
          <a:xfrm>
            <a:off x="804600" y="1645920"/>
            <a:ext cx="10579320" cy="17827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engine = create_engine(DATABASE_URL, echo=True)     # echo prints the SQL. Teach with it ON.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SessionLocal = sessionmaker(bind=engine)</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get_db():</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db = SessionLocal()</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try:</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yield db          # &lt;- the shape from twenty minutes ago</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finally:</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db.close()</a:t>
            </a:r>
            <a:endParaRPr lang="en-IN" sz="1200" b="0" u="none" strike="noStrike">
              <a:solidFill>
                <a:srgbClr val="000000"/>
              </a:solidFill>
              <a:effectLst/>
              <a:uFillTx/>
              <a:latin typeface="Arial"/>
            </a:endParaRPr>
          </a:p>
        </p:txBody>
      </p:sp>
      <p:sp>
        <p:nvSpPr>
          <p:cNvPr id="337" name="Shape 3"/>
          <p:cNvSpPr/>
          <p:nvPr/>
        </p:nvSpPr>
        <p:spPr>
          <a:xfrm>
            <a:off x="548640" y="3794760"/>
            <a:ext cx="1109124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8" name="Text 4"/>
          <p:cNvSpPr/>
          <p:nvPr/>
        </p:nvSpPr>
        <p:spPr>
          <a:xfrm>
            <a:off x="822960" y="3794760"/>
            <a:ext cx="18284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ourier New"/>
                <a:ea typeface="Courier New"/>
              </a:rPr>
              <a:t>Engine</a:t>
            </a:r>
            <a:endParaRPr lang="en-IN" sz="1500" b="0" u="none" strike="noStrike">
              <a:solidFill>
                <a:srgbClr val="000000"/>
              </a:solidFill>
              <a:effectLst/>
              <a:uFillTx/>
              <a:latin typeface="Arial"/>
            </a:endParaRPr>
          </a:p>
        </p:txBody>
      </p:sp>
      <p:sp>
        <p:nvSpPr>
          <p:cNvPr id="339" name="Text 5"/>
          <p:cNvSpPr/>
          <p:nvPr/>
        </p:nvSpPr>
        <p:spPr>
          <a:xfrm>
            <a:off x="2834640" y="3794760"/>
            <a:ext cx="85950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the connection pool — one per app, made once</a:t>
            </a:r>
            <a:endParaRPr lang="en-IN" sz="1400" b="0" u="none" strike="noStrike">
              <a:solidFill>
                <a:srgbClr val="000000"/>
              </a:solidFill>
              <a:effectLst/>
              <a:uFillTx/>
              <a:latin typeface="Arial"/>
            </a:endParaRPr>
          </a:p>
        </p:txBody>
      </p:sp>
      <p:sp>
        <p:nvSpPr>
          <p:cNvPr id="340" name="Shape 6"/>
          <p:cNvSpPr/>
          <p:nvPr/>
        </p:nvSpPr>
        <p:spPr>
          <a:xfrm>
            <a:off x="548640" y="4398120"/>
            <a:ext cx="1109124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1" name="Text 7"/>
          <p:cNvSpPr/>
          <p:nvPr/>
        </p:nvSpPr>
        <p:spPr>
          <a:xfrm>
            <a:off x="822960" y="4398120"/>
            <a:ext cx="18284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891B2"/>
                </a:solidFill>
                <a:effectLst/>
                <a:uFillTx/>
                <a:latin typeface="Courier New"/>
                <a:ea typeface="Courier New"/>
              </a:rPr>
              <a:t>Session</a:t>
            </a:r>
            <a:endParaRPr lang="en-IN" sz="1500" b="0" u="none" strike="noStrike">
              <a:solidFill>
                <a:srgbClr val="000000"/>
              </a:solidFill>
              <a:effectLst/>
              <a:uFillTx/>
              <a:latin typeface="Arial"/>
            </a:endParaRPr>
          </a:p>
        </p:txBody>
      </p:sp>
      <p:sp>
        <p:nvSpPr>
          <p:cNvPr id="342" name="Text 8"/>
          <p:cNvSpPr/>
          <p:nvPr/>
        </p:nvSpPr>
        <p:spPr>
          <a:xfrm>
            <a:off x="2834640" y="4398120"/>
            <a:ext cx="85950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one unit of work — ONE PER REQUEST</a:t>
            </a:r>
            <a:endParaRPr lang="en-IN" sz="1400" b="0" u="none" strike="noStrike">
              <a:solidFill>
                <a:srgbClr val="000000"/>
              </a:solidFill>
              <a:effectLst/>
              <a:uFillTx/>
              <a:latin typeface="Arial"/>
            </a:endParaRPr>
          </a:p>
        </p:txBody>
      </p:sp>
      <p:sp>
        <p:nvSpPr>
          <p:cNvPr id="343" name="Shape 9"/>
          <p:cNvSpPr/>
          <p:nvPr/>
        </p:nvSpPr>
        <p:spPr>
          <a:xfrm>
            <a:off x="548640" y="5001840"/>
            <a:ext cx="11091240" cy="529920"/>
          </a:xfrm>
          <a:prstGeom prst="roundRect">
            <a:avLst>
              <a:gd name="adj" fmla="val 1724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4" name="Text 10"/>
          <p:cNvSpPr/>
          <p:nvPr/>
        </p:nvSpPr>
        <p:spPr>
          <a:xfrm>
            <a:off x="822960" y="5001840"/>
            <a:ext cx="18284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ourier New"/>
                <a:ea typeface="Courier New"/>
              </a:rPr>
              <a:t>get_db</a:t>
            </a:r>
            <a:endParaRPr lang="en-IN" sz="1500" b="0" u="none" strike="noStrike">
              <a:solidFill>
                <a:srgbClr val="000000"/>
              </a:solidFill>
              <a:effectLst/>
              <a:uFillTx/>
              <a:latin typeface="Arial"/>
            </a:endParaRPr>
          </a:p>
        </p:txBody>
      </p:sp>
      <p:sp>
        <p:nvSpPr>
          <p:cNvPr id="345" name="Text 11"/>
          <p:cNvSpPr/>
          <p:nvPr/>
        </p:nvSpPr>
        <p:spPr>
          <a:xfrm>
            <a:off x="2834640" y="5001840"/>
            <a:ext cx="85950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hands a session to an endpoint, and guarantees it closes</a:t>
            </a:r>
            <a:endParaRPr lang="en-IN" sz="1400" b="0" u="none" strike="noStrike">
              <a:solidFill>
                <a:srgbClr val="000000"/>
              </a:solidFill>
              <a:effectLst/>
              <a:uFillTx/>
              <a:latin typeface="Arial"/>
            </a:endParaRPr>
          </a:p>
        </p:txBody>
      </p:sp>
      <p:sp>
        <p:nvSpPr>
          <p:cNvPr id="346" name="Shape 12"/>
          <p:cNvSpPr/>
          <p:nvPr/>
        </p:nvSpPr>
        <p:spPr>
          <a:xfrm>
            <a:off x="548640" y="566928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7" name="Text 13"/>
          <p:cNvSpPr/>
          <p:nvPr/>
        </p:nvSpPr>
        <p:spPr>
          <a:xfrm>
            <a:off x="868680" y="566928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This is why Depends mattered.  </a:t>
            </a:r>
            <a:r>
              <a:rPr lang="en-US" sz="1500" b="0" u="none" strike="noStrike">
                <a:solidFill>
                  <a:srgbClr val="1E293B"/>
                </a:solidFill>
                <a:effectLst/>
                <a:uFillTx/>
                <a:latin typeface="Calibri"/>
                <a:ea typeface="Calibri"/>
              </a:rPr>
              <a:t>That yield shape you saw twenty minutes ago? This is what it was for.</a:t>
            </a:r>
            <a:endParaRPr lang="en-IN" sz="1500" b="0" u="none" strike="noStrike">
              <a:solidFill>
                <a:srgbClr val="000000"/>
              </a:solidFill>
              <a:effectLst/>
              <a:uFillTx/>
              <a:latin typeface="Arial"/>
            </a:endParaRPr>
          </a:p>
        </p:txBody>
      </p:sp>
      <p:sp>
        <p:nvSpPr>
          <p:cNvPr id="348"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49"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Same endpoints. Same /docs. Different storage.</a:t>
            </a:r>
            <a:endParaRPr lang="en-IN" sz="3000" b="0" u="none" strike="noStrike">
              <a:solidFill>
                <a:srgbClr val="000000"/>
              </a:solidFill>
              <a:effectLst/>
              <a:uFillTx/>
              <a:latin typeface="Arial"/>
            </a:endParaRPr>
          </a:p>
        </p:txBody>
      </p:sp>
      <p:sp>
        <p:nvSpPr>
          <p:cNvPr id="351" name="Shape 1"/>
          <p:cNvSpPr/>
          <p:nvPr/>
        </p:nvSpPr>
        <p:spPr>
          <a:xfrm>
            <a:off x="548640" y="1463040"/>
            <a:ext cx="1109124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2" name="Text 2"/>
          <p:cNvSpPr/>
          <p:nvPr/>
        </p:nvSpPr>
        <p:spPr>
          <a:xfrm>
            <a:off x="804600" y="1645920"/>
            <a:ext cx="1057932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class Student(Base):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__tablename__ = "students"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id:    Mapped[int] = mapped_column(Integer, primary_key=True)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name:  Mapped[str] = mapped_column(String(80), nullable=False)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email: Mapped[str] = mapped_column(String(120), unique=True)</a:t>
            </a:r>
            <a:endParaRPr lang="en-IN" sz="1200" b="0" u="none" strike="noStrike">
              <a:solidFill>
                <a:srgbClr val="000000"/>
              </a:solidFill>
              <a:effectLst/>
              <a:uFillTx/>
              <a:latin typeface="Arial"/>
            </a:endParaRPr>
          </a:p>
        </p:txBody>
      </p:sp>
      <p:sp>
        <p:nvSpPr>
          <p:cNvPr id="353" name="Shape 3"/>
          <p:cNvSpPr/>
          <p:nvPr/>
        </p:nvSpPr>
        <p:spPr>
          <a:xfrm>
            <a:off x="548640" y="2971800"/>
            <a:ext cx="11091240" cy="1691280"/>
          </a:xfrm>
          <a:prstGeom prst="roundRect">
            <a:avLst>
              <a:gd name="adj" fmla="val 324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4" name="Text 4"/>
          <p:cNvSpPr/>
          <p:nvPr/>
        </p:nvSpPr>
        <p:spPr>
          <a:xfrm>
            <a:off x="804600" y="3154680"/>
            <a:ext cx="10579320" cy="1325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@app.post("/students", status_code=201, response_model=StudentOut)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def create_student(incoming: StudentIn, db: Session = Depends(get_db)):</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student = Student(**incoming.model_dump())</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db.add(student)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db.commit()             # nothing is real until this line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db.refresh(student)     # the DATABASE assigned the id - this is how Python learns it</a:t>
            </a:r>
            <a:endParaRPr lang="en-IN" sz="1150" b="0" u="none" strike="noStrike">
              <a:solidFill>
                <a:srgbClr val="000000"/>
              </a:solidFill>
              <a:effectLst/>
              <a:uFillTx/>
              <a:latin typeface="Arial"/>
            </a:endParaRPr>
          </a:p>
        </p:txBody>
      </p:sp>
      <p:sp>
        <p:nvSpPr>
          <p:cNvPr id="355" name="Shape 5"/>
          <p:cNvSpPr/>
          <p:nvPr/>
        </p:nvSpPr>
        <p:spPr>
          <a:xfrm>
            <a:off x="548640" y="4800600"/>
            <a:ext cx="11091240" cy="639720"/>
          </a:xfrm>
          <a:prstGeom prst="roundRect">
            <a:avLst>
              <a:gd name="adj" fmla="val 1428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6" name="Text 6"/>
          <p:cNvSpPr/>
          <p:nvPr/>
        </p:nvSpPr>
        <p:spPr>
          <a:xfrm>
            <a:off x="868680" y="48006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Mapped[...] + mapped_column(...) is SQLAlchemy 2.x.  </a:t>
            </a:r>
            <a:r>
              <a:rPr lang="en-US" sz="1500" b="0" u="none" strike="noStrike">
                <a:solidFill>
                  <a:srgbClr val="1E293B"/>
                </a:solidFill>
                <a:effectLst/>
                <a:uFillTx/>
                <a:latin typeface="Calibri"/>
                <a:ea typeface="Calibri"/>
              </a:rPr>
              <a:t>Anything online using Column(...) and declarative_base() is 1.x-era. Do not mix them.</a:t>
            </a:r>
            <a:endParaRPr lang="en-IN" sz="1500" b="0" u="none" strike="noStrike">
              <a:solidFill>
                <a:srgbClr val="000000"/>
              </a:solidFill>
              <a:effectLst/>
              <a:uFillTx/>
              <a:latin typeface="Arial"/>
            </a:endParaRPr>
          </a:p>
        </p:txBody>
      </p:sp>
      <p:sp>
        <p:nvSpPr>
          <p:cNvPr id="357" name="Shape 7"/>
          <p:cNvSpPr/>
          <p:nvPr/>
        </p:nvSpPr>
        <p:spPr>
          <a:xfrm>
            <a:off x="548640" y="5577840"/>
            <a:ext cx="11091240" cy="685440"/>
          </a:xfrm>
          <a:prstGeom prst="roundRect">
            <a:avLst>
              <a:gd name="adj" fmla="val 1333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8" name="Text 8"/>
          <p:cNvSpPr/>
          <p:nvPr/>
        </p:nvSpPr>
        <p:spPr>
          <a:xfrm>
            <a:off x="868680" y="557784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create_all never ALTERS an existing table.  </a:t>
            </a:r>
            <a:r>
              <a:rPr lang="en-US" sz="1500" b="0" u="none" strike="noStrike">
                <a:solidFill>
                  <a:srgbClr val="1E293B"/>
                </a:solidFill>
                <a:effectLst/>
                <a:uFillTx/>
                <a:latin typeface="Calibri"/>
                <a:ea typeface="Calibri"/>
              </a:rPr>
              <a:t>Add a column and it will not appear — that is a migration's job (Alembic). In class: docker compose down -v.</a:t>
            </a:r>
            <a:endParaRPr lang="en-IN" sz="1500" b="0" u="none" strike="noStrike">
              <a:solidFill>
                <a:srgbClr val="000000"/>
              </a:solidFill>
              <a:effectLst/>
              <a:uFillTx/>
              <a:latin typeface="Arial"/>
            </a:endParaRPr>
          </a:p>
        </p:txBody>
      </p:sp>
      <p:sp>
        <p:nvSpPr>
          <p:cNvPr id="359" name="Text 9"/>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60" name="Text 1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Text 0"/>
          <p:cNvSpPr/>
          <p:nvPr/>
        </p:nvSpPr>
        <p:spPr>
          <a:xfrm>
            <a:off x="914400" y="1737360"/>
            <a:ext cx="1035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400" b="1" u="none" strike="noStrike">
                <a:solidFill>
                  <a:srgbClr val="64748B"/>
                </a:solidFill>
                <a:effectLst/>
                <a:uFillTx/>
                <a:latin typeface="Calibri"/>
                <a:ea typeface="Calibri"/>
              </a:rPr>
              <a:t>Add a student.</a:t>
            </a:r>
            <a:endParaRPr lang="en-IN" sz="3400" b="0" u="none" strike="noStrike">
              <a:solidFill>
                <a:srgbClr val="000000"/>
              </a:solidFill>
              <a:effectLst/>
              <a:uFillTx/>
              <a:latin typeface="Arial"/>
            </a:endParaRPr>
          </a:p>
        </p:txBody>
      </p:sp>
      <p:sp>
        <p:nvSpPr>
          <p:cNvPr id="362" name="Text 1"/>
          <p:cNvSpPr/>
          <p:nvPr/>
        </p:nvSpPr>
        <p:spPr>
          <a:xfrm>
            <a:off x="914400" y="2468880"/>
            <a:ext cx="1035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400" b="1" u="none" strike="noStrike">
                <a:solidFill>
                  <a:srgbClr val="64748B"/>
                </a:solidFill>
                <a:effectLst/>
                <a:uFillTx/>
                <a:latin typeface="Calibri"/>
                <a:ea typeface="Calibri"/>
              </a:rPr>
              <a:t>Ctrl+C the server.</a:t>
            </a:r>
            <a:endParaRPr lang="en-IN" sz="3400" b="0" u="none" strike="noStrike">
              <a:solidFill>
                <a:srgbClr val="000000"/>
              </a:solidFill>
              <a:effectLst/>
              <a:uFillTx/>
              <a:latin typeface="Arial"/>
            </a:endParaRPr>
          </a:p>
        </p:txBody>
      </p:sp>
      <p:sp>
        <p:nvSpPr>
          <p:cNvPr id="363" name="Text 2"/>
          <p:cNvSpPr/>
          <p:nvPr/>
        </p:nvSpPr>
        <p:spPr>
          <a:xfrm>
            <a:off x="914400" y="3200400"/>
            <a:ext cx="1035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400" b="1" u="none" strike="noStrike">
                <a:solidFill>
                  <a:srgbClr val="64748B"/>
                </a:solidFill>
                <a:effectLst/>
                <a:uFillTx/>
                <a:latin typeface="Calibri"/>
                <a:ea typeface="Calibri"/>
              </a:rPr>
              <a:t>Start it again.</a:t>
            </a:r>
            <a:endParaRPr lang="en-IN" sz="3400" b="0" u="none" strike="noStrike">
              <a:solidFill>
                <a:srgbClr val="000000"/>
              </a:solidFill>
              <a:effectLst/>
              <a:uFillTx/>
              <a:latin typeface="Arial"/>
            </a:endParaRPr>
          </a:p>
        </p:txBody>
      </p:sp>
      <p:sp>
        <p:nvSpPr>
          <p:cNvPr id="364" name="Text 3"/>
          <p:cNvSpPr/>
          <p:nvPr/>
        </p:nvSpPr>
        <p:spPr>
          <a:xfrm>
            <a:off x="914400" y="4114800"/>
            <a:ext cx="10359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200" b="1" u="none" strike="noStrike">
                <a:solidFill>
                  <a:srgbClr val="15803D"/>
                </a:solidFill>
                <a:effectLst/>
                <a:uFillTx/>
                <a:latin typeface="Calibri"/>
                <a:ea typeface="Calibri"/>
              </a:rPr>
              <a:t>It is still there.</a:t>
            </a:r>
            <a:endParaRPr lang="en-IN" sz="5200" b="0" u="none" strike="noStrike">
              <a:solidFill>
                <a:srgbClr val="000000"/>
              </a:solidFill>
              <a:effectLst/>
              <a:uFillTx/>
              <a:latin typeface="Arial"/>
            </a:endParaRPr>
          </a:p>
        </p:txBody>
      </p:sp>
      <p:sp>
        <p:nvSpPr>
          <p:cNvPr id="365" name="Text 4"/>
          <p:cNvSpPr/>
          <p:nvPr/>
        </p:nvSpPr>
        <p:spPr>
          <a:xfrm>
            <a:off x="914400" y="5212080"/>
            <a:ext cx="103597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i="1" u="none" strike="noStrike">
                <a:solidFill>
                  <a:srgbClr val="64748B"/>
                </a:solidFill>
                <a:effectLst/>
                <a:uFillTx/>
                <a:latin typeface="Calibri"/>
                <a:ea typeface="Calibri"/>
              </a:rPr>
              <a:t>Every student does this on their own machine, right now.</a:t>
            </a:r>
            <a:endParaRPr lang="en-IN" sz="1600" b="0" u="none" strike="noStrike">
              <a:solidFill>
                <a:srgbClr val="000000"/>
              </a:solidFill>
              <a:effectLst/>
              <a:uFillTx/>
              <a:latin typeface="Arial"/>
            </a:endParaRPr>
          </a:p>
        </p:txBody>
      </p:sp>
      <p:sp>
        <p:nvSpPr>
          <p:cNvPr id="366" name="Text 5"/>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67" name="Text 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369"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 create a student and return it, but the response shows "id": null. Which line is missing?</a:t>
            </a:r>
            <a:endParaRPr lang="en-IN" sz="2500" b="0" u="none" strike="noStrike">
              <a:solidFill>
                <a:srgbClr val="000000"/>
              </a:solidFill>
              <a:effectLst/>
              <a:uFillTx/>
              <a:latin typeface="Arial"/>
            </a:endParaRPr>
          </a:p>
        </p:txBody>
      </p:sp>
      <p:sp>
        <p:nvSpPr>
          <p:cNvPr id="370"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1"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372"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db.add(student)</a:t>
            </a:r>
            <a:endParaRPr lang="en-IN" sz="1700" b="0" u="none" strike="noStrike">
              <a:solidFill>
                <a:srgbClr val="000000"/>
              </a:solidFill>
              <a:effectLst/>
              <a:uFillTx/>
              <a:latin typeface="Arial"/>
            </a:endParaRPr>
          </a:p>
        </p:txBody>
      </p:sp>
      <p:sp>
        <p:nvSpPr>
          <p:cNvPr id="373"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4"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375"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db.commit()</a:t>
            </a:r>
            <a:endParaRPr lang="en-IN" sz="1700" b="0" u="none" strike="noStrike">
              <a:solidFill>
                <a:srgbClr val="000000"/>
              </a:solidFill>
              <a:effectLst/>
              <a:uFillTx/>
              <a:latin typeface="Arial"/>
            </a:endParaRPr>
          </a:p>
        </p:txBody>
      </p:sp>
      <p:sp>
        <p:nvSpPr>
          <p:cNvPr id="376"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7"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378"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db.refresh(student)</a:t>
            </a:r>
            <a:endParaRPr lang="en-IN" sz="1700" b="0" u="none" strike="noStrike">
              <a:solidFill>
                <a:srgbClr val="000000"/>
              </a:solidFill>
              <a:effectLst/>
              <a:uFillTx/>
              <a:latin typeface="Arial"/>
            </a:endParaRPr>
          </a:p>
        </p:txBody>
      </p:sp>
      <p:sp>
        <p:nvSpPr>
          <p:cNvPr id="379"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80"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381"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response_model=StudentOut</a:t>
            </a:r>
            <a:endParaRPr lang="en-IN" sz="1700" b="0" u="none" strike="noStrike">
              <a:solidFill>
                <a:srgbClr val="000000"/>
              </a:solidFill>
              <a:effectLst/>
              <a:uFillTx/>
              <a:latin typeface="Arial"/>
            </a:endParaRPr>
          </a:p>
        </p:txBody>
      </p:sp>
      <p:sp>
        <p:nvSpPr>
          <p:cNvPr id="382"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8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84"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07</a:t>
            </a:r>
            <a:endParaRPr lang="en-IN" sz="9600" b="0" u="none" strike="noStrike">
              <a:solidFill>
                <a:srgbClr val="000000"/>
              </a:solidFill>
              <a:effectLst/>
              <a:uFillTx/>
              <a:latin typeface="Arial"/>
            </a:endParaRPr>
          </a:p>
        </p:txBody>
      </p:sp>
      <p:sp>
        <p:nvSpPr>
          <p:cNvPr id="385"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Relationships — one course, many students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Two different things, and students merge them</a:t>
            </a:r>
            <a:endParaRPr lang="en-IN" sz="3000" b="0" u="none" strike="noStrike">
              <a:solidFill>
                <a:srgbClr val="000000"/>
              </a:solidFill>
              <a:effectLst/>
              <a:uFillTx/>
              <a:latin typeface="Arial"/>
            </a:endParaRPr>
          </a:p>
        </p:txBody>
      </p:sp>
      <p:sp>
        <p:nvSpPr>
          <p:cNvPr id="387" name="Shape 1"/>
          <p:cNvSpPr/>
          <p:nvPr/>
        </p:nvSpPr>
        <p:spPr>
          <a:xfrm>
            <a:off x="548640" y="1463040"/>
            <a:ext cx="11091240" cy="1919880"/>
          </a:xfrm>
          <a:prstGeom prst="roundRect">
            <a:avLst>
              <a:gd name="adj" fmla="val 285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8" name="Text 2"/>
          <p:cNvSpPr/>
          <p:nvPr/>
        </p:nvSpPr>
        <p:spPr>
          <a:xfrm>
            <a:off x="804600" y="1645920"/>
            <a:ext cx="1057932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class Course(Base):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code:     Mapped[str] = mapped_column(String(10), primary_key=True)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students: Mapped[list["Student"]] = relationship(back_populates="course")</a:t>
            </a:r>
            <a:endParaRPr lang="en-IN" sz="1150" b="0" u="none" strike="noStrike">
              <a:solidFill>
                <a:srgbClr val="000000"/>
              </a:solidFill>
              <a:effectLst/>
              <a:uFillTx/>
              <a:latin typeface="Arial"/>
            </a:endParaRPr>
          </a:p>
          <a:p>
            <a:pPr defTabSz="914400">
              <a:lnSpc>
                <a:spcPct val="115000"/>
              </a:lnSpc>
              <a:tabLst>
                <a:tab pos="0" algn="l"/>
              </a:tabLst>
            </a:pP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class Student(Base):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course_code: Mapped[str | None] = mapped_column(ForeignKey("courses.code"))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course:      Mapped["Course | None"] = relationship(back_populates="students")</a:t>
            </a:r>
            <a:endParaRPr lang="en-IN" sz="1150" b="0" u="none" strike="noStrike">
              <a:solidFill>
                <a:srgbClr val="000000"/>
              </a:solidFill>
              <a:effectLst/>
              <a:uFillTx/>
              <a:latin typeface="Arial"/>
            </a:endParaRPr>
          </a:p>
        </p:txBody>
      </p:sp>
      <p:sp>
        <p:nvSpPr>
          <p:cNvPr id="389" name="Shape 3"/>
          <p:cNvSpPr/>
          <p:nvPr/>
        </p:nvSpPr>
        <p:spPr>
          <a:xfrm>
            <a:off x="548640" y="3566160"/>
            <a:ext cx="5394600" cy="1371240"/>
          </a:xfrm>
          <a:prstGeom prst="roundRect">
            <a:avLst>
              <a:gd name="adj" fmla="val 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0" name="Text 4"/>
          <p:cNvSpPr/>
          <p:nvPr/>
        </p:nvSpPr>
        <p:spPr>
          <a:xfrm>
            <a:off x="822960" y="370332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ourier New"/>
                <a:ea typeface="Courier New"/>
              </a:rPr>
              <a:t>ForeignKey</a:t>
            </a:r>
            <a:endParaRPr lang="en-IN" sz="1700" b="0" u="none" strike="noStrike">
              <a:solidFill>
                <a:srgbClr val="000000"/>
              </a:solidFill>
              <a:effectLst/>
              <a:uFillTx/>
              <a:latin typeface="Arial"/>
            </a:endParaRPr>
          </a:p>
        </p:txBody>
      </p:sp>
      <p:sp>
        <p:nvSpPr>
          <p:cNvPr id="391" name="Text 5"/>
          <p:cNvSpPr/>
          <p:nvPr/>
        </p:nvSpPr>
        <p:spPr>
          <a:xfrm>
            <a:off x="822960" y="4114800"/>
            <a:ext cx="48459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A real COLUMN in the database. It is what actually stores the link — and what lets the database refuse nonsense.</a:t>
            </a:r>
            <a:endParaRPr lang="en-IN" sz="1300" b="0" u="none" strike="noStrike">
              <a:solidFill>
                <a:srgbClr val="000000"/>
              </a:solidFill>
              <a:effectLst/>
              <a:uFillTx/>
              <a:latin typeface="Arial"/>
            </a:endParaRPr>
          </a:p>
        </p:txBody>
      </p:sp>
      <p:sp>
        <p:nvSpPr>
          <p:cNvPr id="392" name="Shape 6"/>
          <p:cNvSpPr/>
          <p:nvPr/>
        </p:nvSpPr>
        <p:spPr>
          <a:xfrm>
            <a:off x="6245280" y="3566160"/>
            <a:ext cx="5394600" cy="1371240"/>
          </a:xfrm>
          <a:prstGeom prst="roundRect">
            <a:avLst>
              <a:gd name="adj" fmla="val 6667"/>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3" name="Text 7"/>
          <p:cNvSpPr/>
          <p:nvPr/>
        </p:nvSpPr>
        <p:spPr>
          <a:xfrm>
            <a:off x="6519600" y="370332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803D"/>
                </a:solidFill>
                <a:effectLst/>
                <a:uFillTx/>
                <a:latin typeface="Courier New"/>
                <a:ea typeface="Courier New"/>
              </a:rPr>
              <a:t>relationship()</a:t>
            </a:r>
            <a:endParaRPr lang="en-IN" sz="1700" b="0" u="none" strike="noStrike">
              <a:solidFill>
                <a:srgbClr val="000000"/>
              </a:solidFill>
              <a:effectLst/>
              <a:uFillTx/>
              <a:latin typeface="Arial"/>
            </a:endParaRPr>
          </a:p>
        </p:txBody>
      </p:sp>
      <p:sp>
        <p:nvSpPr>
          <p:cNvPr id="394" name="Text 8"/>
          <p:cNvSpPr/>
          <p:nvPr/>
        </p:nvSpPr>
        <p:spPr>
          <a:xfrm>
            <a:off x="6519600" y="4114800"/>
            <a:ext cx="48459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NO column at all. Python convenience — it makes course.students and student.course work.</a:t>
            </a:r>
            <a:endParaRPr lang="en-IN" sz="1300" b="0" u="none" strike="noStrike">
              <a:solidFill>
                <a:srgbClr val="000000"/>
              </a:solidFill>
              <a:effectLst/>
              <a:uFillTx/>
              <a:latin typeface="Arial"/>
            </a:endParaRPr>
          </a:p>
        </p:txBody>
      </p:sp>
      <p:sp>
        <p:nvSpPr>
          <p:cNvPr id="395" name="Shape 9"/>
          <p:cNvSpPr/>
          <p:nvPr/>
        </p:nvSpPr>
        <p:spPr>
          <a:xfrm>
            <a:off x="548640" y="5074920"/>
            <a:ext cx="11091240" cy="776880"/>
          </a:xfrm>
          <a:prstGeom prst="roundRect">
            <a:avLst>
              <a:gd name="adj" fmla="val 705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6" name="Text 10"/>
          <p:cNvSpPr/>
          <p:nvPr/>
        </p:nvSpPr>
        <p:spPr>
          <a:xfrm>
            <a:off x="804600" y="5257800"/>
            <a:ext cx="1057932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course = db.get(Course, "CSE101")</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for student in course.students:      # SQLAlchemy runs the JOIN for you</a:t>
            </a:r>
            <a:endParaRPr lang="en-IN" sz="1250" b="0" u="none" strike="noStrike">
              <a:solidFill>
                <a:srgbClr val="000000"/>
              </a:solidFill>
              <a:effectLst/>
              <a:uFillTx/>
              <a:latin typeface="Arial"/>
            </a:endParaRPr>
          </a:p>
        </p:txBody>
      </p:sp>
      <p:sp>
        <p:nvSpPr>
          <p:cNvPr id="397" name="Text 11"/>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398"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Build it: the Course API on PostgreSQL</a:t>
            </a:r>
            <a:endParaRPr lang="en-IN" sz="3000" b="0" u="none" strike="noStrike">
              <a:solidFill>
                <a:srgbClr val="000000"/>
              </a:solidFill>
              <a:effectLst/>
              <a:uFillTx/>
              <a:latin typeface="Arial"/>
            </a:endParaRPr>
          </a:p>
        </p:txBody>
      </p:sp>
      <p:sp>
        <p:nvSpPr>
          <p:cNvPr id="400" name="Shape 1"/>
          <p:cNvSpPr/>
          <p:nvPr/>
        </p:nvSpPr>
        <p:spPr>
          <a:xfrm>
            <a:off x="548640" y="1463040"/>
            <a:ext cx="11091240" cy="1051200"/>
          </a:xfrm>
          <a:prstGeom prst="roundRect">
            <a:avLst>
              <a:gd name="adj" fmla="val 869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1" name="Text 2"/>
          <p:cNvSpPr/>
          <p:nvPr/>
        </p:nvSpPr>
        <p:spPr>
          <a:xfrm>
            <a:off x="868680" y="146304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A course has a code, a title and seats. A student has a name, an email, and belongs to ONE course.</a:t>
            </a:r>
            <a:endParaRPr lang="en-IN" sz="1600" b="0" u="none" strike="noStrike">
              <a:solidFill>
                <a:srgbClr val="000000"/>
              </a:solidFill>
              <a:effectLst/>
              <a:uFillTx/>
              <a:latin typeface="Arial"/>
            </a:endParaRPr>
          </a:p>
        </p:txBody>
      </p:sp>
      <p:sp>
        <p:nvSpPr>
          <p:cNvPr id="402" name="Shape 3"/>
          <p:cNvSpPr/>
          <p:nvPr/>
        </p:nvSpPr>
        <p:spPr>
          <a:xfrm>
            <a:off x="548640" y="269748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3" name="Text 4"/>
          <p:cNvSpPr/>
          <p:nvPr/>
        </p:nvSpPr>
        <p:spPr>
          <a:xfrm>
            <a:off x="822960" y="2697480"/>
            <a:ext cx="20113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alibri"/>
                <a:ea typeface="Calibri"/>
              </a:rPr>
              <a:t>Endpoints</a:t>
            </a:r>
            <a:endParaRPr lang="en-IN" sz="1400" b="0" u="none" strike="noStrike">
              <a:solidFill>
                <a:srgbClr val="000000"/>
              </a:solidFill>
              <a:effectLst/>
              <a:uFillTx/>
              <a:latin typeface="Arial"/>
            </a:endParaRPr>
          </a:p>
        </p:txBody>
      </p:sp>
      <p:sp>
        <p:nvSpPr>
          <p:cNvPr id="404" name="Text 5"/>
          <p:cNvSpPr/>
          <p:nvPr/>
        </p:nvSpPr>
        <p:spPr>
          <a:xfrm>
            <a:off x="2926080" y="2697480"/>
            <a:ext cx="850356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list courses · create a course · get one course WITH its students · add a student · delete a student</a:t>
            </a:r>
            <a:endParaRPr lang="en-IN" sz="1300" b="0" u="none" strike="noStrike">
              <a:solidFill>
                <a:srgbClr val="000000"/>
              </a:solidFill>
              <a:effectLst/>
              <a:uFillTx/>
              <a:latin typeface="Arial"/>
            </a:endParaRPr>
          </a:p>
        </p:txBody>
      </p:sp>
      <p:sp>
        <p:nvSpPr>
          <p:cNvPr id="405" name="Shape 6"/>
          <p:cNvSpPr/>
          <p:nvPr/>
        </p:nvSpPr>
        <p:spPr>
          <a:xfrm>
            <a:off x="548640" y="335592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6" name="Text 7"/>
          <p:cNvSpPr/>
          <p:nvPr/>
        </p:nvSpPr>
        <p:spPr>
          <a:xfrm>
            <a:off x="822960" y="3355920"/>
            <a:ext cx="20113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alibri"/>
                <a:ea typeface="Calibri"/>
              </a:rPr>
              <a:t>Status codes</a:t>
            </a:r>
            <a:endParaRPr lang="en-IN" sz="1400" b="0" u="none" strike="noStrike">
              <a:solidFill>
                <a:srgbClr val="000000"/>
              </a:solidFill>
              <a:effectLst/>
              <a:uFillTx/>
              <a:latin typeface="Arial"/>
            </a:endParaRPr>
          </a:p>
        </p:txBody>
      </p:sp>
      <p:sp>
        <p:nvSpPr>
          <p:cNvPr id="407" name="Text 8"/>
          <p:cNvSpPr/>
          <p:nvPr/>
        </p:nvSpPr>
        <p:spPr>
          <a:xfrm>
            <a:off x="2926080" y="3355920"/>
            <a:ext cx="850356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404 for a course that does not exist · 409 for a duplicate code or email · 204 from the delete</a:t>
            </a:r>
            <a:endParaRPr lang="en-IN" sz="1300" b="0" u="none" strike="noStrike">
              <a:solidFill>
                <a:srgbClr val="000000"/>
              </a:solidFill>
              <a:effectLst/>
              <a:uFillTx/>
              <a:latin typeface="Arial"/>
            </a:endParaRPr>
          </a:p>
        </p:txBody>
      </p:sp>
      <p:sp>
        <p:nvSpPr>
          <p:cNvPr id="408" name="Shape 9"/>
          <p:cNvSpPr/>
          <p:nvPr/>
        </p:nvSpPr>
        <p:spPr>
          <a:xfrm>
            <a:off x="548640" y="401436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9" name="Text 10"/>
          <p:cNvSpPr/>
          <p:nvPr/>
        </p:nvSpPr>
        <p:spPr>
          <a:xfrm>
            <a:off x="822960" y="4014360"/>
            <a:ext cx="20113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alibri"/>
                <a:ea typeface="Calibri"/>
              </a:rPr>
              <a:t>Structure</a:t>
            </a:r>
            <a:endParaRPr lang="en-IN" sz="1400" b="0" u="none" strike="noStrike">
              <a:solidFill>
                <a:srgbClr val="000000"/>
              </a:solidFill>
              <a:effectLst/>
              <a:uFillTx/>
              <a:latin typeface="Arial"/>
            </a:endParaRPr>
          </a:p>
        </p:txBody>
      </p:sp>
      <p:sp>
        <p:nvSpPr>
          <p:cNvPr id="410" name="Text 11"/>
          <p:cNvSpPr/>
          <p:nvPr/>
        </p:nvSpPr>
        <p:spPr>
          <a:xfrm>
            <a:off x="2926080" y="4014360"/>
            <a:ext cx="850356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routers/ · models.py · schemas.py · database.py</a:t>
            </a:r>
            <a:endParaRPr lang="en-IN" sz="1300" b="0" u="none" strike="noStrike">
              <a:solidFill>
                <a:srgbClr val="000000"/>
              </a:solidFill>
              <a:effectLst/>
              <a:uFillTx/>
              <a:latin typeface="Arial"/>
            </a:endParaRPr>
          </a:p>
        </p:txBody>
      </p:sp>
      <p:sp>
        <p:nvSpPr>
          <p:cNvPr id="411" name="Shape 12"/>
          <p:cNvSpPr/>
          <p:nvPr/>
        </p:nvSpPr>
        <p:spPr>
          <a:xfrm>
            <a:off x="548640" y="4672440"/>
            <a:ext cx="11091240" cy="566640"/>
          </a:xfrm>
          <a:prstGeom prst="roundRect">
            <a:avLst>
              <a:gd name="adj" fmla="val 16129"/>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2" name="Text 13"/>
          <p:cNvSpPr/>
          <p:nvPr/>
        </p:nvSpPr>
        <p:spPr>
          <a:xfrm>
            <a:off x="822960" y="4672440"/>
            <a:ext cx="20113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5803D"/>
                </a:solidFill>
                <a:effectLst/>
                <a:uFillTx/>
                <a:latin typeface="Calibri"/>
                <a:ea typeface="Calibri"/>
              </a:rPr>
              <a:t>Then</a:t>
            </a:r>
            <a:endParaRPr lang="en-IN" sz="1400" b="0" u="none" strike="noStrike">
              <a:solidFill>
                <a:srgbClr val="000000"/>
              </a:solidFill>
              <a:effectLst/>
              <a:uFillTx/>
              <a:latin typeface="Arial"/>
            </a:endParaRPr>
          </a:p>
        </p:txBody>
      </p:sp>
      <p:sp>
        <p:nvSpPr>
          <p:cNvPr id="413" name="Text 14"/>
          <p:cNvSpPr/>
          <p:nvPr/>
        </p:nvSpPr>
        <p:spPr>
          <a:xfrm>
            <a:off x="2926080" y="4672440"/>
            <a:ext cx="850356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restart it, and prove the data is still there</a:t>
            </a:r>
            <a:endParaRPr lang="en-IN" sz="1300" b="0" u="none" strike="noStrike">
              <a:solidFill>
                <a:srgbClr val="000000"/>
              </a:solidFill>
              <a:effectLst/>
              <a:uFillTx/>
              <a:latin typeface="Arial"/>
            </a:endParaRPr>
          </a:p>
        </p:txBody>
      </p:sp>
      <p:sp>
        <p:nvSpPr>
          <p:cNvPr id="414" name="Shape 15"/>
          <p:cNvSpPr/>
          <p:nvPr/>
        </p:nvSpPr>
        <p:spPr>
          <a:xfrm>
            <a:off x="548640" y="5486400"/>
            <a:ext cx="11091240" cy="639720"/>
          </a:xfrm>
          <a:prstGeom prst="roundRect">
            <a:avLst>
              <a:gd name="adj" fmla="val 1428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5" name="Text 16"/>
          <p:cNvSpPr/>
          <p:nvPr/>
        </p:nvSpPr>
        <p:spPr>
          <a:xfrm>
            <a:off x="868680" y="54864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Blank folder. No starter code.  </a:t>
            </a:r>
            <a:r>
              <a:rPr lang="en-US" sz="1500" b="0" u="none" strike="noStrike">
                <a:solidFill>
                  <a:srgbClr val="1E293B"/>
                </a:solidFill>
                <a:effectLst/>
                <a:uFillTx/>
                <a:latin typeface="Calibri"/>
                <a:ea typeface="Calibri"/>
              </a:rPr>
              <a:t>Everything you need is on the slides behind you and in your own two files from this morning.</a:t>
            </a:r>
            <a:endParaRPr lang="en-IN" sz="1500" b="0" u="none" strike="noStrike">
              <a:solidFill>
                <a:srgbClr val="000000"/>
              </a:solidFill>
              <a:effectLst/>
              <a:uFillTx/>
              <a:latin typeface="Arial"/>
            </a:endParaRPr>
          </a:p>
        </p:txBody>
      </p:sp>
      <p:sp>
        <p:nvSpPr>
          <p:cNvPr id="416" name="Text 17"/>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417" name="Text 1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What you can do now that you could not this morning</a:t>
            </a:r>
            <a:endParaRPr lang="en-IN" sz="3000" b="0" u="none" strike="noStrike">
              <a:solidFill>
                <a:srgbClr val="000000"/>
              </a:solidFill>
              <a:effectLst/>
              <a:uFillTx/>
              <a:latin typeface="Arial"/>
            </a:endParaRPr>
          </a:p>
        </p:txBody>
      </p:sp>
      <p:sp>
        <p:nvSpPr>
          <p:cNvPr id="419" name="Shape 1"/>
          <p:cNvSpPr/>
          <p:nvPr/>
        </p:nvSpPr>
        <p:spPr>
          <a:xfrm>
            <a:off x="548640" y="1554480"/>
            <a:ext cx="11091240" cy="621360"/>
          </a:xfrm>
          <a:prstGeom prst="roundRect">
            <a:avLst>
              <a:gd name="adj" fmla="val 1470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0" name="Text 2"/>
          <p:cNvSpPr/>
          <p:nvPr/>
        </p:nvSpPr>
        <p:spPr>
          <a:xfrm>
            <a:off x="822960" y="1554480"/>
            <a:ext cx="301716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Design an endpoint</a:t>
            </a:r>
            <a:endParaRPr lang="en-IN" sz="1450" b="0" u="none" strike="noStrike">
              <a:solidFill>
                <a:srgbClr val="000000"/>
              </a:solidFill>
              <a:effectLst/>
              <a:uFillTx/>
              <a:latin typeface="Arial"/>
            </a:endParaRPr>
          </a:p>
        </p:txBody>
      </p:sp>
      <p:sp>
        <p:nvSpPr>
          <p:cNvPr id="421" name="Text 3"/>
          <p:cNvSpPr/>
          <p:nvPr/>
        </p:nvSpPr>
        <p:spPr>
          <a:xfrm>
            <a:off x="4023360" y="1554480"/>
            <a:ext cx="74062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a noun for the path, a verb for the method — and defend the choice</a:t>
            </a:r>
            <a:endParaRPr lang="en-IN" sz="1350" b="0" u="none" strike="noStrike">
              <a:solidFill>
                <a:srgbClr val="000000"/>
              </a:solidFill>
              <a:effectLst/>
              <a:uFillTx/>
              <a:latin typeface="Arial"/>
            </a:endParaRPr>
          </a:p>
        </p:txBody>
      </p:sp>
      <p:sp>
        <p:nvSpPr>
          <p:cNvPr id="422" name="Shape 4"/>
          <p:cNvSpPr/>
          <p:nvPr/>
        </p:nvSpPr>
        <p:spPr>
          <a:xfrm>
            <a:off x="548640" y="2286000"/>
            <a:ext cx="11091240" cy="621360"/>
          </a:xfrm>
          <a:prstGeom prst="roundRect">
            <a:avLst>
              <a:gd name="adj" fmla="val 1470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3" name="Text 5"/>
          <p:cNvSpPr/>
          <p:nvPr/>
        </p:nvSpPr>
        <p:spPr>
          <a:xfrm>
            <a:off x="822960" y="2286000"/>
            <a:ext cx="301716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Every verb, properly</a:t>
            </a:r>
            <a:endParaRPr lang="en-IN" sz="1450" b="0" u="none" strike="noStrike">
              <a:solidFill>
                <a:srgbClr val="000000"/>
              </a:solidFill>
              <a:effectLst/>
              <a:uFillTx/>
              <a:latin typeface="Arial"/>
            </a:endParaRPr>
          </a:p>
        </p:txBody>
      </p:sp>
      <p:sp>
        <p:nvSpPr>
          <p:cNvPr id="424" name="Text 6"/>
          <p:cNvSpPr/>
          <p:nvPr/>
        </p:nvSpPr>
        <p:spPr>
          <a:xfrm>
            <a:off x="4023360" y="2286000"/>
            <a:ext cx="74062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PUT vs PATCH, exclude_unset, 204, and 404 vs 409 vs 422</a:t>
            </a:r>
            <a:endParaRPr lang="en-IN" sz="1350" b="0" u="none" strike="noStrike">
              <a:solidFill>
                <a:srgbClr val="000000"/>
              </a:solidFill>
              <a:effectLst/>
              <a:uFillTx/>
              <a:latin typeface="Arial"/>
            </a:endParaRPr>
          </a:p>
        </p:txBody>
      </p:sp>
      <p:sp>
        <p:nvSpPr>
          <p:cNvPr id="425" name="Shape 7"/>
          <p:cNvSpPr/>
          <p:nvPr/>
        </p:nvSpPr>
        <p:spPr>
          <a:xfrm>
            <a:off x="548640" y="3017520"/>
            <a:ext cx="11091240" cy="621360"/>
          </a:xfrm>
          <a:prstGeom prst="roundRect">
            <a:avLst>
              <a:gd name="adj" fmla="val 1470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6" name="Text 8"/>
          <p:cNvSpPr/>
          <p:nvPr/>
        </p:nvSpPr>
        <p:spPr>
          <a:xfrm>
            <a:off x="822960" y="3017520"/>
            <a:ext cx="301716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891B2"/>
                </a:solidFill>
                <a:effectLst/>
                <a:uFillTx/>
                <a:latin typeface="Calibri"/>
                <a:ea typeface="Calibri"/>
              </a:rPr>
              <a:t>Fail in one shape</a:t>
            </a:r>
            <a:endParaRPr lang="en-IN" sz="1450" b="0" u="none" strike="noStrike">
              <a:solidFill>
                <a:srgbClr val="000000"/>
              </a:solidFill>
              <a:effectLst/>
              <a:uFillTx/>
              <a:latin typeface="Arial"/>
            </a:endParaRPr>
          </a:p>
        </p:txBody>
      </p:sp>
      <p:sp>
        <p:nvSpPr>
          <p:cNvPr id="427" name="Text 9"/>
          <p:cNvSpPr/>
          <p:nvPr/>
        </p:nvSpPr>
        <p:spPr>
          <a:xfrm>
            <a:off x="4023360" y="3017520"/>
            <a:ext cx="74062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one envelope, a machine-readable code, and nothing leaked</a:t>
            </a:r>
            <a:endParaRPr lang="en-IN" sz="1350" b="0" u="none" strike="noStrike">
              <a:solidFill>
                <a:srgbClr val="000000"/>
              </a:solidFill>
              <a:effectLst/>
              <a:uFillTx/>
              <a:latin typeface="Arial"/>
            </a:endParaRPr>
          </a:p>
        </p:txBody>
      </p:sp>
      <p:sp>
        <p:nvSpPr>
          <p:cNvPr id="428" name="Shape 10"/>
          <p:cNvSpPr/>
          <p:nvPr/>
        </p:nvSpPr>
        <p:spPr>
          <a:xfrm>
            <a:off x="548640" y="3749040"/>
            <a:ext cx="11091240" cy="621360"/>
          </a:xfrm>
          <a:prstGeom prst="roundRect">
            <a:avLst>
              <a:gd name="adj" fmla="val 1470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9" name="Text 11"/>
          <p:cNvSpPr/>
          <p:nvPr/>
        </p:nvSpPr>
        <p:spPr>
          <a:xfrm>
            <a:off x="822960" y="3749040"/>
            <a:ext cx="301716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891B2"/>
                </a:solidFill>
                <a:effectLst/>
                <a:uFillTx/>
                <a:latin typeface="Calibri"/>
                <a:ea typeface="Calibri"/>
              </a:rPr>
              <a:t>Write SQL</a:t>
            </a:r>
            <a:endParaRPr lang="en-IN" sz="1450" b="0" u="none" strike="noStrike">
              <a:solidFill>
                <a:srgbClr val="000000"/>
              </a:solidFill>
              <a:effectLst/>
              <a:uFillTx/>
              <a:latin typeface="Arial"/>
            </a:endParaRPr>
          </a:p>
        </p:txBody>
      </p:sp>
      <p:sp>
        <p:nvSpPr>
          <p:cNvPr id="430" name="Text 12"/>
          <p:cNvSpPr/>
          <p:nvPr/>
        </p:nvSpPr>
        <p:spPr>
          <a:xfrm>
            <a:off x="4023360" y="3749040"/>
            <a:ext cx="74062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CREATE, INSERT, SELECT … WHERE, UPDATE, DELETE, JOIN — and always a WHERE</a:t>
            </a:r>
            <a:endParaRPr lang="en-IN" sz="1350" b="0" u="none" strike="noStrike">
              <a:solidFill>
                <a:srgbClr val="000000"/>
              </a:solidFill>
              <a:effectLst/>
              <a:uFillTx/>
              <a:latin typeface="Arial"/>
            </a:endParaRPr>
          </a:p>
        </p:txBody>
      </p:sp>
      <p:sp>
        <p:nvSpPr>
          <p:cNvPr id="431" name="Shape 13"/>
          <p:cNvSpPr/>
          <p:nvPr/>
        </p:nvSpPr>
        <p:spPr>
          <a:xfrm>
            <a:off x="548640" y="4480560"/>
            <a:ext cx="11091240" cy="621360"/>
          </a:xfrm>
          <a:prstGeom prst="roundRect">
            <a:avLst>
              <a:gd name="adj" fmla="val 1470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2" name="Text 14"/>
          <p:cNvSpPr/>
          <p:nvPr/>
        </p:nvSpPr>
        <p:spPr>
          <a:xfrm>
            <a:off x="822960" y="4480560"/>
            <a:ext cx="301716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5803D"/>
                </a:solidFill>
                <a:effectLst/>
                <a:uFillTx/>
                <a:latin typeface="Calibri"/>
                <a:ea typeface="Calibri"/>
              </a:rPr>
              <a:t>Run a real database</a:t>
            </a:r>
            <a:endParaRPr lang="en-IN" sz="1450" b="0" u="none" strike="noStrike">
              <a:solidFill>
                <a:srgbClr val="000000"/>
              </a:solidFill>
              <a:effectLst/>
              <a:uFillTx/>
              <a:latin typeface="Arial"/>
            </a:endParaRPr>
          </a:p>
        </p:txBody>
      </p:sp>
      <p:sp>
        <p:nvSpPr>
          <p:cNvPr id="433" name="Text 15"/>
          <p:cNvSpPr/>
          <p:nvPr/>
        </p:nvSpPr>
        <p:spPr>
          <a:xfrm>
            <a:off x="4023360" y="4480560"/>
            <a:ext cx="74062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one command, and a connection URL you can read</a:t>
            </a:r>
            <a:endParaRPr lang="en-IN" sz="1350" b="0" u="none" strike="noStrike">
              <a:solidFill>
                <a:srgbClr val="000000"/>
              </a:solidFill>
              <a:effectLst/>
              <a:uFillTx/>
              <a:latin typeface="Arial"/>
            </a:endParaRPr>
          </a:p>
        </p:txBody>
      </p:sp>
      <p:sp>
        <p:nvSpPr>
          <p:cNvPr id="434" name="Shape 16"/>
          <p:cNvSpPr/>
          <p:nvPr/>
        </p:nvSpPr>
        <p:spPr>
          <a:xfrm>
            <a:off x="548640" y="5212080"/>
            <a:ext cx="11091240" cy="621360"/>
          </a:xfrm>
          <a:prstGeom prst="roundRect">
            <a:avLst>
              <a:gd name="adj" fmla="val 1470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5" name="Text 17"/>
          <p:cNvSpPr/>
          <p:nvPr/>
        </p:nvSpPr>
        <p:spPr>
          <a:xfrm>
            <a:off x="822960" y="5212080"/>
            <a:ext cx="301716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5803D"/>
                </a:solidFill>
                <a:effectLst/>
                <a:uFillTx/>
                <a:latin typeface="Calibri"/>
                <a:ea typeface="Calibri"/>
              </a:rPr>
              <a:t>Put an API on it</a:t>
            </a:r>
            <a:endParaRPr lang="en-IN" sz="1450" b="0" u="none" strike="noStrike">
              <a:solidFill>
                <a:srgbClr val="000000"/>
              </a:solidFill>
              <a:effectLst/>
              <a:uFillTx/>
              <a:latin typeface="Arial"/>
            </a:endParaRPr>
          </a:p>
        </p:txBody>
      </p:sp>
      <p:sp>
        <p:nvSpPr>
          <p:cNvPr id="436" name="Text 18"/>
          <p:cNvSpPr/>
          <p:nvPr/>
        </p:nvSpPr>
        <p:spPr>
          <a:xfrm>
            <a:off x="4023360" y="5212080"/>
            <a:ext cx="74062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models, a session through Depends, and data that survives a restart</a:t>
            </a:r>
            <a:endParaRPr lang="en-IN" sz="1350" b="0" u="none" strike="noStrike">
              <a:solidFill>
                <a:srgbClr val="000000"/>
              </a:solidFill>
              <a:effectLst/>
              <a:uFillTx/>
              <a:latin typeface="Arial"/>
            </a:endParaRPr>
          </a:p>
        </p:txBody>
      </p:sp>
      <p:sp>
        <p:nvSpPr>
          <p:cNvPr id="437" name="Shape 19"/>
          <p:cNvSpPr/>
          <p:nvPr/>
        </p:nvSpPr>
        <p:spPr>
          <a:xfrm>
            <a:off x="548640" y="594360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8" name="Text 20"/>
          <p:cNvSpPr/>
          <p:nvPr/>
        </p:nvSpPr>
        <p:spPr>
          <a:xfrm>
            <a:off x="868680" y="59436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Next time:  </a:t>
            </a:r>
            <a:r>
              <a:rPr lang="en-US" sz="1500" b="0" u="none" strike="noStrike">
                <a:solidFill>
                  <a:srgbClr val="1E293B"/>
                </a:solidFill>
                <a:effectLst/>
                <a:uFillTx/>
                <a:latin typeface="Calibri"/>
                <a:ea typeface="Calibri"/>
              </a:rPr>
              <a:t>anyone on the internet can DELETE /students/1. How does your API know who is asking?</a:t>
            </a:r>
            <a:endParaRPr lang="en-IN" sz="1500" b="0" u="none" strike="noStrike">
              <a:solidFill>
                <a:srgbClr val="000000"/>
              </a:solidFill>
              <a:effectLst/>
              <a:uFillTx/>
              <a:latin typeface="Arial"/>
            </a:endParaRPr>
          </a:p>
        </p:txBody>
      </p:sp>
      <p:sp>
        <p:nvSpPr>
          <p:cNvPr id="439" name="Text 21"/>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APIs &amp; Databases  ·  REST  ·  CRUD  ·  SQL  ·  PostgreSQL  ·  SQLAlchemy</a:t>
            </a:r>
            <a:endParaRPr lang="en-IN" sz="900" b="0" u="none" strike="noStrike">
              <a:solidFill>
                <a:srgbClr val="000000"/>
              </a:solidFill>
              <a:effectLst/>
              <a:uFillTx/>
              <a:latin typeface="Arial"/>
            </a:endParaRPr>
          </a:p>
        </p:txBody>
      </p:sp>
      <p:sp>
        <p:nvSpPr>
          <p:cNvPr id="440" name="Text 2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2026-08-04T02:20:44Z</dcterms:created>
  <dc:creator>Bhupendra Dahal</dc:creator>
  <dc:description/>
  <dc:language>en-IN</dc:language>
  <cp:lastModifiedBy>Bhupendra Dahal</cp:lastModifiedBy>
  <dcterms:modified xsi:type="dcterms:W3CDTF">2026-08-04T02:20:44Z</dcterms:modified>
  <cp:revision>1</cp:revision>
  <dc:subject>PptxGenJS Presentation</dc:subject>
  <dc:title>APIs &amp; Databases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37</vt:r8>
  </property>
  <property fmtid="{D5CDD505-2E9C-101B-9397-08002B2CF9AE}" pid="3" name="PresentationFormat">
    <vt:lpwstr>On-screen Show (16:9)</vt:lpwstr>
  </property>
  <property fmtid="{D5CDD505-2E9C-101B-9397-08002B2CF9AE}" pid="4" name="Slides">
    <vt:r8>37</vt:r8>
  </property>
</Properties>
</file>